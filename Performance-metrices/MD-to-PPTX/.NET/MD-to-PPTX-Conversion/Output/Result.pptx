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 id="507" r:id="rId257"/>
    <p:sldId id="508" r:id="rId258"/>
    <p:sldId id="509" r:id="rId259"/>
    <p:sldId id="510" r:id="rId260"/>
    <p:sldId id="511" r:id="rId261"/>
    <p:sldId id="512" r:id="rId262"/>
    <p:sldId id="513" r:id="rId263"/>
    <p:sldId id="514" r:id="rId264"/>
    <p:sldId id="515" r:id="rId265"/>
    <p:sldId id="516" r:id="rId266"/>
    <p:sldId id="517" r:id="rId267"/>
    <p:sldId id="518" r:id="rId268"/>
    <p:sldId id="519" r:id="rId269"/>
    <p:sldId id="520" r:id="rId270"/>
    <p:sldId id="521" r:id="rId271"/>
    <p:sldId id="522" r:id="rId272"/>
    <p:sldId id="523" r:id="rId273"/>
    <p:sldId id="524" r:id="rId274"/>
    <p:sldId id="525" r:id="rId275"/>
    <p:sldId id="526" r:id="rId276"/>
    <p:sldId id="527" r:id="rId277"/>
    <p:sldId id="528" r:id="rId278"/>
    <p:sldId id="529" r:id="rId279"/>
    <p:sldId id="530" r:id="rId280"/>
    <p:sldId id="531" r:id="rId281"/>
    <p:sldId id="532" r:id="rId282"/>
    <p:sldId id="533" r:id="rId283"/>
    <p:sldId id="534" r:id="rId284"/>
    <p:sldId id="535" r:id="rId285"/>
    <p:sldId id="536" r:id="rId286"/>
    <p:sldId id="537" r:id="rId287"/>
    <p:sldId id="538" r:id="rId288"/>
    <p:sldId id="539" r:id="rId289"/>
    <p:sldId id="540" r:id="rId290"/>
    <p:sldId id="541" r:id="rId291"/>
    <p:sldId id="542" r:id="rId292"/>
    <p:sldId id="543" r:id="rId293"/>
    <p:sldId id="544" r:id="rId294"/>
    <p:sldId id="545" r:id="rId295"/>
    <p:sldId id="546" r:id="rId296"/>
    <p:sldId id="547" r:id="rId297"/>
    <p:sldId id="548" r:id="rId298"/>
    <p:sldId id="549" r:id="rId299"/>
    <p:sldId id="550" r:id="rId300"/>
    <p:sldId id="551" r:id="rId301"/>
    <p:sldId id="552" r:id="rId302"/>
    <p:sldId id="553" r:id="rId303"/>
    <p:sldId id="554" r:id="rId304"/>
    <p:sldId id="555" r:id="rId305"/>
    <p:sldId id="556" r:id="rId306"/>
    <p:sldId id="557" r:id="rId307"/>
    <p:sldId id="558" r:id="rId308"/>
    <p:sldId id="559" r:id="rId309"/>
    <p:sldId id="560" r:id="rId310"/>
    <p:sldId id="561" r:id="rId311"/>
    <p:sldId id="562" r:id="rId312"/>
    <p:sldId id="563" r:id="rId313"/>
    <p:sldId id="564" r:id="rId314"/>
    <p:sldId id="565" r:id="rId315"/>
    <p:sldId id="566" r:id="rId316"/>
    <p:sldId id="567" r:id="rId317"/>
    <p:sldId id="568" r:id="rId318"/>
    <p:sldId id="569" r:id="rId319"/>
    <p:sldId id="570" r:id="rId320"/>
    <p:sldId id="571" r:id="rId321"/>
    <p:sldId id="572" r:id="rId322"/>
    <p:sldId id="573" r:id="rId323"/>
    <p:sldId id="574" r:id="rId324"/>
    <p:sldId id="575" r:id="rId325"/>
    <p:sldId id="576" r:id="rId326"/>
    <p:sldId id="577" r:id="rId327"/>
    <p:sldId id="578" r:id="rId328"/>
    <p:sldId id="579" r:id="rId329"/>
    <p:sldId id="580" r:id="rId330"/>
    <p:sldId id="581" r:id="rId331"/>
    <p:sldId id="582" r:id="rId332"/>
    <p:sldId id="583" r:id="rId333"/>
    <p:sldId id="584" r:id="rId334"/>
    <p:sldId id="585" r:id="rId335"/>
    <p:sldId id="586" r:id="rId336"/>
    <p:sldId id="587" r:id="rId337"/>
    <p:sldId id="588" r:id="rId338"/>
    <p:sldId id="589" r:id="rId339"/>
    <p:sldId id="590" r:id="rId340"/>
    <p:sldId id="591" r:id="rId341"/>
    <p:sldId id="592" r:id="rId342"/>
    <p:sldId id="593" r:id="rId343"/>
    <p:sldId id="594" r:id="rId344"/>
    <p:sldId id="595" r:id="rId345"/>
    <p:sldId id="596" r:id="rId346"/>
    <p:sldId id="597" r:id="rId347"/>
    <p:sldId id="598" r:id="rId348"/>
    <p:sldId id="599" r:id="rId349"/>
    <p:sldId id="600" r:id="rId350"/>
    <p:sldId id="601" r:id="rId351"/>
    <p:sldId id="602" r:id="rId352"/>
    <p:sldId id="603" r:id="rId353"/>
    <p:sldId id="604" r:id="rId354"/>
    <p:sldId id="605" r:id="rId355"/>
    <p:sldId id="606" r:id="rId356"/>
    <p:sldId id="607" r:id="rId357"/>
    <p:sldId id="608" r:id="rId358"/>
    <p:sldId id="609" r:id="rId359"/>
    <p:sldId id="610" r:id="rId360"/>
    <p:sldId id="611" r:id="rId361"/>
    <p:sldId id="612" r:id="rId362"/>
    <p:sldId id="613" r:id="rId363"/>
    <p:sldId id="614" r:id="rId364"/>
    <p:sldId id="615" r:id="rId365"/>
    <p:sldId id="616" r:id="rId366"/>
    <p:sldId id="617" r:id="rId367"/>
    <p:sldId id="618" r:id="rId368"/>
    <p:sldId id="619" r:id="rId369"/>
    <p:sldId id="620" r:id="rId370"/>
    <p:sldId id="621" r:id="rId371"/>
    <p:sldId id="622" r:id="rId372"/>
    <p:sldId id="623" r:id="rId373"/>
    <p:sldId id="624" r:id="rId374"/>
    <p:sldId id="625" r:id="rId375"/>
    <p:sldId id="626" r:id="rId376"/>
    <p:sldId id="627" r:id="rId377"/>
    <p:sldId id="628" r:id="rId378"/>
    <p:sldId id="629" r:id="rId379"/>
    <p:sldId id="630" r:id="rId380"/>
    <p:sldId id="631" r:id="rId381"/>
    <p:sldId id="632" r:id="rId382"/>
    <p:sldId id="633" r:id="rId383"/>
    <p:sldId id="634" r:id="rId384"/>
    <p:sldId id="635" r:id="rId385"/>
    <p:sldId id="636" r:id="rId386"/>
    <p:sldId id="637" r:id="rId387"/>
    <p:sldId id="638" r:id="rId388"/>
    <p:sldId id="639" r:id="rId389"/>
    <p:sldId id="640" r:id="rId390"/>
    <p:sldId id="641" r:id="rId391"/>
    <p:sldId id="642" r:id="rId392"/>
    <p:sldId id="643" r:id="rId393"/>
    <p:sldId id="644" r:id="rId394"/>
    <p:sldId id="645" r:id="rId395"/>
    <p:sldId id="646" r:id="rId396"/>
    <p:sldId id="647" r:id="rId397"/>
    <p:sldId id="648" r:id="rId398"/>
    <p:sldId id="649" r:id="rId399"/>
    <p:sldId id="650" r:id="rId400"/>
    <p:sldId id="651" r:id="rId401"/>
    <p:sldId id="652" r:id="rId402"/>
    <p:sldId id="653" r:id="rId403"/>
    <p:sldId id="654" r:id="rId404"/>
    <p:sldId id="655" r:id="rId405"/>
    <p:sldId id="656" r:id="rId406"/>
    <p:sldId id="657" r:id="rId407"/>
    <p:sldId id="658" r:id="rId408"/>
    <p:sldId id="659" r:id="rId409"/>
    <p:sldId id="660" r:id="rId410"/>
    <p:sldId id="661" r:id="rId411"/>
    <p:sldId id="662" r:id="rId412"/>
    <p:sldId id="663" r:id="rId413"/>
    <p:sldId id="664" r:id="rId414"/>
    <p:sldId id="665" r:id="rId415"/>
    <p:sldId id="666" r:id="rId416"/>
    <p:sldId id="667" r:id="rId417"/>
    <p:sldId id="668" r:id="rId418"/>
    <p:sldId id="669" r:id="rId419"/>
    <p:sldId id="670" r:id="rId420"/>
    <p:sldId id="671" r:id="rId421"/>
    <p:sldId id="672" r:id="rId422"/>
    <p:sldId id="673" r:id="rId423"/>
    <p:sldId id="674" r:id="rId424"/>
    <p:sldId id="675" r:id="rId425"/>
    <p:sldId id="676" r:id="rId426"/>
    <p:sldId id="677" r:id="rId427"/>
    <p:sldId id="678" r:id="rId428"/>
    <p:sldId id="679" r:id="rId429"/>
    <p:sldId id="680" r:id="rId430"/>
    <p:sldId id="681" r:id="rId431"/>
    <p:sldId id="682" r:id="rId432"/>
    <p:sldId id="683" r:id="rId433"/>
    <p:sldId id="684" r:id="rId434"/>
    <p:sldId id="685" r:id="rId435"/>
    <p:sldId id="686" r:id="rId436"/>
    <p:sldId id="687" r:id="rId437"/>
    <p:sldId id="688" r:id="rId438"/>
    <p:sldId id="689" r:id="rId439"/>
    <p:sldId id="690" r:id="rId440"/>
    <p:sldId id="691" r:id="rId441"/>
    <p:sldId id="692" r:id="rId442"/>
    <p:sldId id="693" r:id="rId443"/>
    <p:sldId id="694" r:id="rId444"/>
    <p:sldId id="695" r:id="rId445"/>
    <p:sldId id="696" r:id="rId446"/>
    <p:sldId id="697" r:id="rId447"/>
    <p:sldId id="698" r:id="rId448"/>
    <p:sldId id="699" r:id="rId449"/>
    <p:sldId id="700" r:id="rId450"/>
    <p:sldId id="701" r:id="rId451"/>
    <p:sldId id="702" r:id="rId452"/>
    <p:sldId id="703" r:id="rId453"/>
    <p:sldId id="704" r:id="rId454"/>
    <p:sldId id="705" r:id="rId455"/>
    <p:sldId id="706" r:id="rId456"/>
    <p:sldId id="707" r:id="rId457"/>
    <p:sldId id="708" r:id="rId458"/>
    <p:sldId id="709" r:id="rId459"/>
    <p:sldId id="710" r:id="rId460"/>
    <p:sldId id="711" r:id="rId461"/>
    <p:sldId id="712" r:id="rId462"/>
    <p:sldId id="713" r:id="rId463"/>
    <p:sldId id="714" r:id="rId464"/>
    <p:sldId id="715" r:id="rId465"/>
    <p:sldId id="716" r:id="rId466"/>
    <p:sldId id="717" r:id="rId467"/>
    <p:sldId id="718" r:id="rId468"/>
    <p:sldId id="719" r:id="rId469"/>
    <p:sldId id="720" r:id="rId470"/>
    <p:sldId id="721" r:id="rId471"/>
    <p:sldId id="722" r:id="rId472"/>
    <p:sldId id="723" r:id="rId473"/>
    <p:sldId id="724" r:id="rId474"/>
    <p:sldId id="725" r:id="rId475"/>
    <p:sldId id="726" r:id="rId476"/>
    <p:sldId id="727" r:id="rId477"/>
    <p:sldId id="728" r:id="rId478"/>
    <p:sldId id="729" r:id="rId479"/>
    <p:sldId id="730" r:id="rId480"/>
    <p:sldId id="731" r:id="rId481"/>
    <p:sldId id="732" r:id="rId482"/>
    <p:sldId id="733" r:id="rId483"/>
    <p:sldId id="734" r:id="rId484"/>
    <p:sldId id="735" r:id="rId485"/>
    <p:sldId id="736" r:id="rId486"/>
    <p:sldId id="737" r:id="rId487"/>
    <p:sldId id="738" r:id="rId488"/>
    <p:sldId id="739" r:id="rId489"/>
    <p:sldId id="740" r:id="rId490"/>
    <p:sldId id="741" r:id="rId491"/>
    <p:sldId id="742" r:id="rId492"/>
    <p:sldId id="743" r:id="rId493"/>
    <p:sldId id="744" r:id="rId494"/>
    <p:sldId id="745" r:id="rId495"/>
    <p:sldId id="746" r:id="rId496"/>
    <p:sldId id="747" r:id="rId497"/>
    <p:sldId id="748" r:id="rId498"/>
    <p:sldId id="749" r:id="rId499"/>
    <p:sldId id="750" r:id="rId500"/>
    <p:sldId id="751" r:id="rId501"/>
    <p:sldId id="752" r:id="rId502"/>
    <p:sldId id="753" r:id="rId503"/>
    <p:sldId id="754" r:id="rId504"/>
    <p:sldId id="755" r:id="rId505"/>
    <p:sldId id="756" r:id="rId506"/>
    <p:sldId id="757" r:id="rId507"/>
    <p:sldId id="758" r:id="rId508"/>
    <p:sldId id="759" r:id="rId509"/>
    <p:sldId id="760" r:id="rId510"/>
    <p:sldId id="761" r:id="rId511"/>
    <p:sldId id="762" r:id="rId512"/>
    <p:sldId id="763" r:id="rId513"/>
    <p:sldId id="764" r:id="rId514"/>
    <p:sldId id="765" r:id="rId515"/>
    <p:sldId id="766" r:id="rId516"/>
    <p:sldId id="767" r:id="rId517"/>
    <p:sldId id="768" r:id="rId518"/>
    <p:sldId id="769" r:id="rId519"/>
    <p:sldId id="770" r:id="rId520"/>
    <p:sldId id="771" r:id="rId521"/>
    <p:sldId id="772" r:id="rId522"/>
    <p:sldId id="773" r:id="rId523"/>
    <p:sldId id="774" r:id="rId524"/>
    <p:sldId id="775" r:id="rId525"/>
    <p:sldId id="776" r:id="rId526"/>
    <p:sldId id="777" r:id="rId527"/>
    <p:sldId id="778" r:id="rId528"/>
    <p:sldId id="779" r:id="rId529"/>
    <p:sldId id="780" r:id="rId530"/>
    <p:sldId id="781" r:id="rId531"/>
    <p:sldId id="782" r:id="rId532"/>
    <p:sldId id="783" r:id="rId533"/>
    <p:sldId id="784" r:id="rId534"/>
    <p:sldId id="785" r:id="rId535"/>
    <p:sldId id="786" r:id="rId536"/>
    <p:sldId id="787" r:id="rId537"/>
    <p:sldId id="788" r:id="rId538"/>
    <p:sldId id="789" r:id="rId539"/>
    <p:sldId id="790" r:id="rId540"/>
    <p:sldId id="791" r:id="rId541"/>
    <p:sldId id="792" r:id="rId542"/>
    <p:sldId id="793" r:id="rId543"/>
    <p:sldId id="794" r:id="rId544"/>
    <p:sldId id="795" r:id="rId545"/>
    <p:sldId id="796" r:id="rId546"/>
    <p:sldId id="797" r:id="rId547"/>
    <p:sldId id="798" r:id="rId548"/>
    <p:sldId id="799" r:id="rId549"/>
    <p:sldId id="800" r:id="rId550"/>
    <p:sldId id="801" r:id="rId551"/>
    <p:sldId id="802" r:id="rId552"/>
    <p:sldId id="803" r:id="rId553"/>
    <p:sldId id="804" r:id="rId554"/>
    <p:sldId id="805" r:id="rId555"/>
    <p:sldId id="806" r:id="rId556"/>
    <p:sldId id="807" r:id="rId557"/>
    <p:sldId id="808" r:id="rId558"/>
    <p:sldId id="809" r:id="rId559"/>
    <p:sldId id="810" r:id="rId560"/>
    <p:sldId id="811" r:id="rId561"/>
    <p:sldId id="812" r:id="rId562"/>
    <p:sldId id="813" r:id="rId563"/>
    <p:sldId id="814" r:id="rId564"/>
    <p:sldId id="815" r:id="rId565"/>
    <p:sldId id="816" r:id="rId566"/>
    <p:sldId id="817" r:id="rId567"/>
    <p:sldId id="818" r:id="rId568"/>
    <p:sldId id="819" r:id="rId569"/>
    <p:sldId id="820" r:id="rId570"/>
    <p:sldId id="821" r:id="rId571"/>
    <p:sldId id="822" r:id="rId572"/>
    <p:sldId id="823" r:id="rId573"/>
    <p:sldId id="824" r:id="rId574"/>
    <p:sldId id="825" r:id="rId575"/>
    <p:sldId id="826" r:id="rId576"/>
    <p:sldId id="827" r:id="rId577"/>
    <p:sldId id="828" r:id="rId578"/>
    <p:sldId id="829" r:id="rId579"/>
    <p:sldId id="830" r:id="rId580"/>
    <p:sldId id="831" r:id="rId581"/>
    <p:sldId id="832" r:id="rId582"/>
    <p:sldId id="833" r:id="rId583"/>
    <p:sldId id="834" r:id="rId584"/>
    <p:sldId id="835" r:id="rId585"/>
    <p:sldId id="836" r:id="rId586"/>
    <p:sldId id="837" r:id="rId587"/>
    <p:sldId id="838" r:id="rId588"/>
    <p:sldId id="839" r:id="rId589"/>
    <p:sldId id="840" r:id="rId590"/>
    <p:sldId id="841" r:id="rId591"/>
    <p:sldId id="842" r:id="rId592"/>
    <p:sldId id="843" r:id="rId593"/>
    <p:sldId id="844" r:id="rId594"/>
    <p:sldId id="845" r:id="rId595"/>
    <p:sldId id="846" r:id="rId596"/>
    <p:sldId id="847" r:id="rId597"/>
    <p:sldId id="848" r:id="rId598"/>
    <p:sldId id="849" r:id="rId599"/>
    <p:sldId id="850" r:id="rId600"/>
    <p:sldId id="851" r:id="rId601"/>
    <p:sldId id="852" r:id="rId602"/>
    <p:sldId id="853" r:id="rId603"/>
    <p:sldId id="854" r:id="rId604"/>
    <p:sldId id="855" r:id="rId605"/>
  </p:sldIdLst>
  <p:sldSz cx="12192000" cy="6858000" type="custom"/>
  <p:notesSz cx="6858000" cy="9144000"/>
  <p:defaultText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6200" cy="76200"/>
</p:viewPr>
</file>

<file path=ppt/_rels/presentation.xml.rels>&#65279;<?xml version="1.0" encoding="utf-8" standalone="yes"?><Relationships xmlns="http://schemas.openxmlformats.org/package/2006/relationships"><Relationship Id="rId3" Type="http://schemas.openxmlformats.org/officeDocument/2006/relationships/viewProps" Target="viewProps.xml" /><Relationship Id="rId2" Type="http://schemas.openxmlformats.org/officeDocument/2006/relationships/presProps" Target="presProps.xml" /><Relationship Id="rId1" Type="http://schemas.openxmlformats.org/officeDocument/2006/relationships/slideMaster" Target="slideMasters/slideMaster1.xml" /><Relationship Id="rId5" Type="http://schemas.openxmlformats.org/officeDocument/2006/relationships/tableStyles" Target="tableStyles.xml" /><Relationship Id="rId4" Type="http://schemas.openxmlformats.org/officeDocument/2006/relationships/theme" Target="theme/theme1.xml" /><Relationship Id="rId6" Type="http://schemas.openxmlformats.org/officeDocument/2006/relationships/slide" Target="slides/slide1.xml" /><Relationship Id="rId7" Type="http://schemas.openxmlformats.org/officeDocument/2006/relationships/slide" Target="slides/slide2.xml" /><Relationship Id="rId8" Type="http://schemas.openxmlformats.org/officeDocument/2006/relationships/slide" Target="slides/slide3.xml" /><Relationship Id="rId9" Type="http://schemas.openxmlformats.org/officeDocument/2006/relationships/slide" Target="slides/slide4.xml" /><Relationship Id="rId10" Type="http://schemas.openxmlformats.org/officeDocument/2006/relationships/slide" Target="slides/slide5.xml" /><Relationship Id="rId11" Type="http://schemas.openxmlformats.org/officeDocument/2006/relationships/slide" Target="slides/slide6.xml" /><Relationship Id="rId12" Type="http://schemas.openxmlformats.org/officeDocument/2006/relationships/slide" Target="slides/slide7.xml" /><Relationship Id="rId13" Type="http://schemas.openxmlformats.org/officeDocument/2006/relationships/slide" Target="slides/slide8.xml" /><Relationship Id="rId14" Type="http://schemas.openxmlformats.org/officeDocument/2006/relationships/slide" Target="slides/slide9.xml" /><Relationship Id="rId15" Type="http://schemas.openxmlformats.org/officeDocument/2006/relationships/slide" Target="slides/slide10.xml" /><Relationship Id="rId16" Type="http://schemas.openxmlformats.org/officeDocument/2006/relationships/slide" Target="slides/slide11.xml" /><Relationship Id="rId17" Type="http://schemas.openxmlformats.org/officeDocument/2006/relationships/slide" Target="slides/slide12.xml" /><Relationship Id="rId18" Type="http://schemas.openxmlformats.org/officeDocument/2006/relationships/slide" Target="slides/slide13.xml" /><Relationship Id="rId19" Type="http://schemas.openxmlformats.org/officeDocument/2006/relationships/slide" Target="slides/slide14.xml" /><Relationship Id="rId20" Type="http://schemas.openxmlformats.org/officeDocument/2006/relationships/slide" Target="slides/slide15.xml" /><Relationship Id="rId21" Type="http://schemas.openxmlformats.org/officeDocument/2006/relationships/slide" Target="slides/slide16.xml" /><Relationship Id="rId22" Type="http://schemas.openxmlformats.org/officeDocument/2006/relationships/slide" Target="slides/slide17.xml" /><Relationship Id="rId23" Type="http://schemas.openxmlformats.org/officeDocument/2006/relationships/slide" Target="slides/slide18.xml" /><Relationship Id="rId24" Type="http://schemas.openxmlformats.org/officeDocument/2006/relationships/slide" Target="slides/slide19.xml" /><Relationship Id="rId25" Type="http://schemas.openxmlformats.org/officeDocument/2006/relationships/slide" Target="slides/slide20.xml" /><Relationship Id="rId26" Type="http://schemas.openxmlformats.org/officeDocument/2006/relationships/slide" Target="slides/slide21.xml" /><Relationship Id="rId27" Type="http://schemas.openxmlformats.org/officeDocument/2006/relationships/slide" Target="slides/slide22.xml" /><Relationship Id="rId28" Type="http://schemas.openxmlformats.org/officeDocument/2006/relationships/slide" Target="slides/slide23.xml" /><Relationship Id="rId29" Type="http://schemas.openxmlformats.org/officeDocument/2006/relationships/slide" Target="slides/slide24.xml" /><Relationship Id="rId30" Type="http://schemas.openxmlformats.org/officeDocument/2006/relationships/slide" Target="slides/slide25.xml" /><Relationship Id="rId31" Type="http://schemas.openxmlformats.org/officeDocument/2006/relationships/slide" Target="slides/slide26.xml" /><Relationship Id="rId32" Type="http://schemas.openxmlformats.org/officeDocument/2006/relationships/slide" Target="slides/slide27.xml" /><Relationship Id="rId33" Type="http://schemas.openxmlformats.org/officeDocument/2006/relationships/slide" Target="slides/slide28.xml" /><Relationship Id="rId34" Type="http://schemas.openxmlformats.org/officeDocument/2006/relationships/slide" Target="slides/slide29.xml" /><Relationship Id="rId35" Type="http://schemas.openxmlformats.org/officeDocument/2006/relationships/slide" Target="slides/slide30.xml" /><Relationship Id="rId36" Type="http://schemas.openxmlformats.org/officeDocument/2006/relationships/slide" Target="slides/slide31.xml" /><Relationship Id="rId37" Type="http://schemas.openxmlformats.org/officeDocument/2006/relationships/slide" Target="slides/slide32.xml" /><Relationship Id="rId38" Type="http://schemas.openxmlformats.org/officeDocument/2006/relationships/slide" Target="slides/slide33.xml" /><Relationship Id="rId39" Type="http://schemas.openxmlformats.org/officeDocument/2006/relationships/slide" Target="slides/slide34.xml" /><Relationship Id="rId40" Type="http://schemas.openxmlformats.org/officeDocument/2006/relationships/slide" Target="slides/slide35.xml" /><Relationship Id="rId41" Type="http://schemas.openxmlformats.org/officeDocument/2006/relationships/slide" Target="slides/slide36.xml" /><Relationship Id="rId42" Type="http://schemas.openxmlformats.org/officeDocument/2006/relationships/slide" Target="slides/slide37.xml" /><Relationship Id="rId43" Type="http://schemas.openxmlformats.org/officeDocument/2006/relationships/slide" Target="slides/slide38.xml" /><Relationship Id="rId44" Type="http://schemas.openxmlformats.org/officeDocument/2006/relationships/slide" Target="slides/slide39.xml" /><Relationship Id="rId45" Type="http://schemas.openxmlformats.org/officeDocument/2006/relationships/slide" Target="slides/slide40.xml" /><Relationship Id="rId46" Type="http://schemas.openxmlformats.org/officeDocument/2006/relationships/slide" Target="slides/slide41.xml" /><Relationship Id="rId47" Type="http://schemas.openxmlformats.org/officeDocument/2006/relationships/slide" Target="slides/slide42.xml" /><Relationship Id="rId48" Type="http://schemas.openxmlformats.org/officeDocument/2006/relationships/slide" Target="slides/slide43.xml" /><Relationship Id="rId49" Type="http://schemas.openxmlformats.org/officeDocument/2006/relationships/slide" Target="slides/slide44.xml" /><Relationship Id="rId50" Type="http://schemas.openxmlformats.org/officeDocument/2006/relationships/slide" Target="slides/slide45.xml" /><Relationship Id="rId51" Type="http://schemas.openxmlformats.org/officeDocument/2006/relationships/slide" Target="slides/slide46.xml" /><Relationship Id="rId52" Type="http://schemas.openxmlformats.org/officeDocument/2006/relationships/slide" Target="slides/slide47.xml" /><Relationship Id="rId53" Type="http://schemas.openxmlformats.org/officeDocument/2006/relationships/slide" Target="slides/slide48.xml" /><Relationship Id="rId54" Type="http://schemas.openxmlformats.org/officeDocument/2006/relationships/slide" Target="slides/slide49.xml" /><Relationship Id="rId55" Type="http://schemas.openxmlformats.org/officeDocument/2006/relationships/slide" Target="slides/slide50.xml" /><Relationship Id="rId56" Type="http://schemas.openxmlformats.org/officeDocument/2006/relationships/slide" Target="slides/slide51.xml" /><Relationship Id="rId57" Type="http://schemas.openxmlformats.org/officeDocument/2006/relationships/slide" Target="slides/slide52.xml" /><Relationship Id="rId58" Type="http://schemas.openxmlformats.org/officeDocument/2006/relationships/slide" Target="slides/slide53.xml" /><Relationship Id="rId59" Type="http://schemas.openxmlformats.org/officeDocument/2006/relationships/slide" Target="slides/slide54.xml" /><Relationship Id="rId60" Type="http://schemas.openxmlformats.org/officeDocument/2006/relationships/slide" Target="slides/slide55.xml" /><Relationship Id="rId61" Type="http://schemas.openxmlformats.org/officeDocument/2006/relationships/slide" Target="slides/slide56.xml" /><Relationship Id="rId62" Type="http://schemas.openxmlformats.org/officeDocument/2006/relationships/slide" Target="slides/slide57.xml" /><Relationship Id="rId63" Type="http://schemas.openxmlformats.org/officeDocument/2006/relationships/slide" Target="slides/slide58.xml" /><Relationship Id="rId64" Type="http://schemas.openxmlformats.org/officeDocument/2006/relationships/slide" Target="slides/slide59.xml" /><Relationship Id="rId65" Type="http://schemas.openxmlformats.org/officeDocument/2006/relationships/slide" Target="slides/slide60.xml" /><Relationship Id="rId66" Type="http://schemas.openxmlformats.org/officeDocument/2006/relationships/slide" Target="slides/slide61.xml" /><Relationship Id="rId67" Type="http://schemas.openxmlformats.org/officeDocument/2006/relationships/slide" Target="slides/slide62.xml" /><Relationship Id="rId68" Type="http://schemas.openxmlformats.org/officeDocument/2006/relationships/slide" Target="slides/slide63.xml" /><Relationship Id="rId69" Type="http://schemas.openxmlformats.org/officeDocument/2006/relationships/slide" Target="slides/slide64.xml" /><Relationship Id="rId70" Type="http://schemas.openxmlformats.org/officeDocument/2006/relationships/slide" Target="slides/slide65.xml" /><Relationship Id="rId71" Type="http://schemas.openxmlformats.org/officeDocument/2006/relationships/slide" Target="slides/slide66.xml" /><Relationship Id="rId72" Type="http://schemas.openxmlformats.org/officeDocument/2006/relationships/slide" Target="slides/slide67.xml" /><Relationship Id="rId73" Type="http://schemas.openxmlformats.org/officeDocument/2006/relationships/slide" Target="slides/slide68.xml" /><Relationship Id="rId74" Type="http://schemas.openxmlformats.org/officeDocument/2006/relationships/slide" Target="slides/slide69.xml" /><Relationship Id="rId75" Type="http://schemas.openxmlformats.org/officeDocument/2006/relationships/slide" Target="slides/slide70.xml" /><Relationship Id="rId76" Type="http://schemas.openxmlformats.org/officeDocument/2006/relationships/slide" Target="slides/slide71.xml" /><Relationship Id="rId77" Type="http://schemas.openxmlformats.org/officeDocument/2006/relationships/slide" Target="slides/slide72.xml" /><Relationship Id="rId78" Type="http://schemas.openxmlformats.org/officeDocument/2006/relationships/slide" Target="slides/slide73.xml" /><Relationship Id="rId79" Type="http://schemas.openxmlformats.org/officeDocument/2006/relationships/slide" Target="slides/slide74.xml" /><Relationship Id="rId80" Type="http://schemas.openxmlformats.org/officeDocument/2006/relationships/slide" Target="slides/slide75.xml" /><Relationship Id="rId81" Type="http://schemas.openxmlformats.org/officeDocument/2006/relationships/slide" Target="slides/slide76.xml" /><Relationship Id="rId82" Type="http://schemas.openxmlformats.org/officeDocument/2006/relationships/slide" Target="slides/slide77.xml" /><Relationship Id="rId83" Type="http://schemas.openxmlformats.org/officeDocument/2006/relationships/slide" Target="slides/slide78.xml" /><Relationship Id="rId84" Type="http://schemas.openxmlformats.org/officeDocument/2006/relationships/slide" Target="slides/slide79.xml" /><Relationship Id="rId85" Type="http://schemas.openxmlformats.org/officeDocument/2006/relationships/slide" Target="slides/slide80.xml" /><Relationship Id="rId86" Type="http://schemas.openxmlformats.org/officeDocument/2006/relationships/slide" Target="slides/slide81.xml" /><Relationship Id="rId87" Type="http://schemas.openxmlformats.org/officeDocument/2006/relationships/slide" Target="slides/slide82.xml" /><Relationship Id="rId88" Type="http://schemas.openxmlformats.org/officeDocument/2006/relationships/slide" Target="slides/slide83.xml" /><Relationship Id="rId89" Type="http://schemas.openxmlformats.org/officeDocument/2006/relationships/slide" Target="slides/slide84.xml" /><Relationship Id="rId90" Type="http://schemas.openxmlformats.org/officeDocument/2006/relationships/slide" Target="slides/slide85.xml" /><Relationship Id="rId91" Type="http://schemas.openxmlformats.org/officeDocument/2006/relationships/slide" Target="slides/slide86.xml" /><Relationship Id="rId92" Type="http://schemas.openxmlformats.org/officeDocument/2006/relationships/slide" Target="slides/slide87.xml" /><Relationship Id="rId93" Type="http://schemas.openxmlformats.org/officeDocument/2006/relationships/slide" Target="slides/slide88.xml" /><Relationship Id="rId94" Type="http://schemas.openxmlformats.org/officeDocument/2006/relationships/slide" Target="slides/slide89.xml" /><Relationship Id="rId95" Type="http://schemas.openxmlformats.org/officeDocument/2006/relationships/slide" Target="slides/slide90.xml" /><Relationship Id="rId96" Type="http://schemas.openxmlformats.org/officeDocument/2006/relationships/slide" Target="slides/slide91.xml" /><Relationship Id="rId97" Type="http://schemas.openxmlformats.org/officeDocument/2006/relationships/slide" Target="slides/slide92.xml" /><Relationship Id="rId98" Type="http://schemas.openxmlformats.org/officeDocument/2006/relationships/slide" Target="slides/slide93.xml" /><Relationship Id="rId99" Type="http://schemas.openxmlformats.org/officeDocument/2006/relationships/slide" Target="slides/slide94.xml" /><Relationship Id="rId100" Type="http://schemas.openxmlformats.org/officeDocument/2006/relationships/slide" Target="slides/slide95.xml" /><Relationship Id="rId101" Type="http://schemas.openxmlformats.org/officeDocument/2006/relationships/slide" Target="slides/slide96.xml" /><Relationship Id="rId102" Type="http://schemas.openxmlformats.org/officeDocument/2006/relationships/slide" Target="slides/slide97.xml" /><Relationship Id="rId103" Type="http://schemas.openxmlformats.org/officeDocument/2006/relationships/slide" Target="slides/slide98.xml" /><Relationship Id="rId104" Type="http://schemas.openxmlformats.org/officeDocument/2006/relationships/slide" Target="slides/slide99.xml" /><Relationship Id="rId105" Type="http://schemas.openxmlformats.org/officeDocument/2006/relationships/slide" Target="slides/slide100.xml" /><Relationship Id="rId106" Type="http://schemas.openxmlformats.org/officeDocument/2006/relationships/slide" Target="slides/slide101.xml" /><Relationship Id="rId107" Type="http://schemas.openxmlformats.org/officeDocument/2006/relationships/slide" Target="slides/slide102.xml" /><Relationship Id="rId108" Type="http://schemas.openxmlformats.org/officeDocument/2006/relationships/slide" Target="slides/slide103.xml" /><Relationship Id="rId109" Type="http://schemas.openxmlformats.org/officeDocument/2006/relationships/slide" Target="slides/slide104.xml" /><Relationship Id="rId110" Type="http://schemas.openxmlformats.org/officeDocument/2006/relationships/slide" Target="slides/slide105.xml" /><Relationship Id="rId111" Type="http://schemas.openxmlformats.org/officeDocument/2006/relationships/slide" Target="slides/slide106.xml" /><Relationship Id="rId112" Type="http://schemas.openxmlformats.org/officeDocument/2006/relationships/slide" Target="slides/slide107.xml" /><Relationship Id="rId113" Type="http://schemas.openxmlformats.org/officeDocument/2006/relationships/slide" Target="slides/slide108.xml" /><Relationship Id="rId114" Type="http://schemas.openxmlformats.org/officeDocument/2006/relationships/slide" Target="slides/slide109.xml" /><Relationship Id="rId115" Type="http://schemas.openxmlformats.org/officeDocument/2006/relationships/slide" Target="slides/slide110.xml" /><Relationship Id="rId116" Type="http://schemas.openxmlformats.org/officeDocument/2006/relationships/slide" Target="slides/slide111.xml" /><Relationship Id="rId117" Type="http://schemas.openxmlformats.org/officeDocument/2006/relationships/slide" Target="slides/slide112.xml" /><Relationship Id="rId118" Type="http://schemas.openxmlformats.org/officeDocument/2006/relationships/slide" Target="slides/slide113.xml" /><Relationship Id="rId119" Type="http://schemas.openxmlformats.org/officeDocument/2006/relationships/slide" Target="slides/slide114.xml" /><Relationship Id="rId120" Type="http://schemas.openxmlformats.org/officeDocument/2006/relationships/slide" Target="slides/slide115.xml" /><Relationship Id="rId121" Type="http://schemas.openxmlformats.org/officeDocument/2006/relationships/slide" Target="slides/slide116.xml" /><Relationship Id="rId122" Type="http://schemas.openxmlformats.org/officeDocument/2006/relationships/slide" Target="slides/slide117.xml" /><Relationship Id="rId123" Type="http://schemas.openxmlformats.org/officeDocument/2006/relationships/slide" Target="slides/slide118.xml" /><Relationship Id="rId124" Type="http://schemas.openxmlformats.org/officeDocument/2006/relationships/slide" Target="slides/slide119.xml" /><Relationship Id="rId125" Type="http://schemas.openxmlformats.org/officeDocument/2006/relationships/slide" Target="slides/slide120.xml" /><Relationship Id="rId126" Type="http://schemas.openxmlformats.org/officeDocument/2006/relationships/slide" Target="slides/slide121.xml" /><Relationship Id="rId127" Type="http://schemas.openxmlformats.org/officeDocument/2006/relationships/slide" Target="slides/slide122.xml" /><Relationship Id="rId128" Type="http://schemas.openxmlformats.org/officeDocument/2006/relationships/slide" Target="slides/slide123.xml" /><Relationship Id="rId129" Type="http://schemas.openxmlformats.org/officeDocument/2006/relationships/slide" Target="slides/slide124.xml" /><Relationship Id="rId130" Type="http://schemas.openxmlformats.org/officeDocument/2006/relationships/slide" Target="slides/slide125.xml" /><Relationship Id="rId131" Type="http://schemas.openxmlformats.org/officeDocument/2006/relationships/slide" Target="slides/slide126.xml" /><Relationship Id="rId132" Type="http://schemas.openxmlformats.org/officeDocument/2006/relationships/slide" Target="slides/slide127.xml" /><Relationship Id="rId133" Type="http://schemas.openxmlformats.org/officeDocument/2006/relationships/slide" Target="slides/slide128.xml" /><Relationship Id="rId134" Type="http://schemas.openxmlformats.org/officeDocument/2006/relationships/slide" Target="slides/slide129.xml" /><Relationship Id="rId135" Type="http://schemas.openxmlformats.org/officeDocument/2006/relationships/slide" Target="slides/slide130.xml" /><Relationship Id="rId136" Type="http://schemas.openxmlformats.org/officeDocument/2006/relationships/slide" Target="slides/slide131.xml" /><Relationship Id="rId137" Type="http://schemas.openxmlformats.org/officeDocument/2006/relationships/slide" Target="slides/slide132.xml" /><Relationship Id="rId138" Type="http://schemas.openxmlformats.org/officeDocument/2006/relationships/slide" Target="slides/slide133.xml" /><Relationship Id="rId139" Type="http://schemas.openxmlformats.org/officeDocument/2006/relationships/slide" Target="slides/slide134.xml" /><Relationship Id="rId140" Type="http://schemas.openxmlformats.org/officeDocument/2006/relationships/slide" Target="slides/slide135.xml" /><Relationship Id="rId141" Type="http://schemas.openxmlformats.org/officeDocument/2006/relationships/slide" Target="slides/slide136.xml" /><Relationship Id="rId142" Type="http://schemas.openxmlformats.org/officeDocument/2006/relationships/slide" Target="slides/slide137.xml" /><Relationship Id="rId143" Type="http://schemas.openxmlformats.org/officeDocument/2006/relationships/slide" Target="slides/slide138.xml" /><Relationship Id="rId144" Type="http://schemas.openxmlformats.org/officeDocument/2006/relationships/slide" Target="slides/slide139.xml" /><Relationship Id="rId145" Type="http://schemas.openxmlformats.org/officeDocument/2006/relationships/slide" Target="slides/slide140.xml" /><Relationship Id="rId146" Type="http://schemas.openxmlformats.org/officeDocument/2006/relationships/slide" Target="slides/slide141.xml" /><Relationship Id="rId147" Type="http://schemas.openxmlformats.org/officeDocument/2006/relationships/slide" Target="slides/slide142.xml" /><Relationship Id="rId148" Type="http://schemas.openxmlformats.org/officeDocument/2006/relationships/slide" Target="slides/slide143.xml" /><Relationship Id="rId149" Type="http://schemas.openxmlformats.org/officeDocument/2006/relationships/slide" Target="slides/slide144.xml" /><Relationship Id="rId150" Type="http://schemas.openxmlformats.org/officeDocument/2006/relationships/slide" Target="slides/slide145.xml" /><Relationship Id="rId151" Type="http://schemas.openxmlformats.org/officeDocument/2006/relationships/slide" Target="slides/slide146.xml" /><Relationship Id="rId152" Type="http://schemas.openxmlformats.org/officeDocument/2006/relationships/slide" Target="slides/slide147.xml" /><Relationship Id="rId153" Type="http://schemas.openxmlformats.org/officeDocument/2006/relationships/slide" Target="slides/slide148.xml" /><Relationship Id="rId154" Type="http://schemas.openxmlformats.org/officeDocument/2006/relationships/slide" Target="slides/slide149.xml" /><Relationship Id="rId155" Type="http://schemas.openxmlformats.org/officeDocument/2006/relationships/slide" Target="slides/slide150.xml" /><Relationship Id="rId156" Type="http://schemas.openxmlformats.org/officeDocument/2006/relationships/slide" Target="slides/slide151.xml" /><Relationship Id="rId157" Type="http://schemas.openxmlformats.org/officeDocument/2006/relationships/slide" Target="slides/slide152.xml" /><Relationship Id="rId158" Type="http://schemas.openxmlformats.org/officeDocument/2006/relationships/slide" Target="slides/slide153.xml" /><Relationship Id="rId159" Type="http://schemas.openxmlformats.org/officeDocument/2006/relationships/slide" Target="slides/slide154.xml" /><Relationship Id="rId160" Type="http://schemas.openxmlformats.org/officeDocument/2006/relationships/slide" Target="slides/slide155.xml" /><Relationship Id="rId161" Type="http://schemas.openxmlformats.org/officeDocument/2006/relationships/slide" Target="slides/slide156.xml" /><Relationship Id="rId162" Type="http://schemas.openxmlformats.org/officeDocument/2006/relationships/slide" Target="slides/slide157.xml" /><Relationship Id="rId163" Type="http://schemas.openxmlformats.org/officeDocument/2006/relationships/slide" Target="slides/slide158.xml" /><Relationship Id="rId164" Type="http://schemas.openxmlformats.org/officeDocument/2006/relationships/slide" Target="slides/slide159.xml" /><Relationship Id="rId165" Type="http://schemas.openxmlformats.org/officeDocument/2006/relationships/slide" Target="slides/slide160.xml" /><Relationship Id="rId166" Type="http://schemas.openxmlformats.org/officeDocument/2006/relationships/slide" Target="slides/slide161.xml" /><Relationship Id="rId167" Type="http://schemas.openxmlformats.org/officeDocument/2006/relationships/slide" Target="slides/slide162.xml" /><Relationship Id="rId168" Type="http://schemas.openxmlformats.org/officeDocument/2006/relationships/slide" Target="slides/slide163.xml" /><Relationship Id="rId169" Type="http://schemas.openxmlformats.org/officeDocument/2006/relationships/slide" Target="slides/slide164.xml" /><Relationship Id="rId170" Type="http://schemas.openxmlformats.org/officeDocument/2006/relationships/slide" Target="slides/slide165.xml" /><Relationship Id="rId171" Type="http://schemas.openxmlformats.org/officeDocument/2006/relationships/slide" Target="slides/slide166.xml" /><Relationship Id="rId172" Type="http://schemas.openxmlformats.org/officeDocument/2006/relationships/slide" Target="slides/slide167.xml" /><Relationship Id="rId173" Type="http://schemas.openxmlformats.org/officeDocument/2006/relationships/slide" Target="slides/slide168.xml" /><Relationship Id="rId174" Type="http://schemas.openxmlformats.org/officeDocument/2006/relationships/slide" Target="slides/slide169.xml" /><Relationship Id="rId175" Type="http://schemas.openxmlformats.org/officeDocument/2006/relationships/slide" Target="slides/slide170.xml" /><Relationship Id="rId176" Type="http://schemas.openxmlformats.org/officeDocument/2006/relationships/slide" Target="slides/slide171.xml" /><Relationship Id="rId177" Type="http://schemas.openxmlformats.org/officeDocument/2006/relationships/slide" Target="slides/slide172.xml" /><Relationship Id="rId178" Type="http://schemas.openxmlformats.org/officeDocument/2006/relationships/slide" Target="slides/slide173.xml" /><Relationship Id="rId179" Type="http://schemas.openxmlformats.org/officeDocument/2006/relationships/slide" Target="slides/slide174.xml" /><Relationship Id="rId180" Type="http://schemas.openxmlformats.org/officeDocument/2006/relationships/slide" Target="slides/slide175.xml" /><Relationship Id="rId181" Type="http://schemas.openxmlformats.org/officeDocument/2006/relationships/slide" Target="slides/slide176.xml" /><Relationship Id="rId182" Type="http://schemas.openxmlformats.org/officeDocument/2006/relationships/slide" Target="slides/slide177.xml" /><Relationship Id="rId183" Type="http://schemas.openxmlformats.org/officeDocument/2006/relationships/slide" Target="slides/slide178.xml" /><Relationship Id="rId184" Type="http://schemas.openxmlformats.org/officeDocument/2006/relationships/slide" Target="slides/slide179.xml" /><Relationship Id="rId185" Type="http://schemas.openxmlformats.org/officeDocument/2006/relationships/slide" Target="slides/slide180.xml" /><Relationship Id="rId186" Type="http://schemas.openxmlformats.org/officeDocument/2006/relationships/slide" Target="slides/slide181.xml" /><Relationship Id="rId187" Type="http://schemas.openxmlformats.org/officeDocument/2006/relationships/slide" Target="slides/slide182.xml" /><Relationship Id="rId188" Type="http://schemas.openxmlformats.org/officeDocument/2006/relationships/slide" Target="slides/slide183.xml" /><Relationship Id="rId189" Type="http://schemas.openxmlformats.org/officeDocument/2006/relationships/slide" Target="slides/slide184.xml" /><Relationship Id="rId190" Type="http://schemas.openxmlformats.org/officeDocument/2006/relationships/slide" Target="slides/slide185.xml" /><Relationship Id="rId191" Type="http://schemas.openxmlformats.org/officeDocument/2006/relationships/slide" Target="slides/slide186.xml" /><Relationship Id="rId192" Type="http://schemas.openxmlformats.org/officeDocument/2006/relationships/slide" Target="slides/slide187.xml" /><Relationship Id="rId193" Type="http://schemas.openxmlformats.org/officeDocument/2006/relationships/slide" Target="slides/slide188.xml" /><Relationship Id="rId194" Type="http://schemas.openxmlformats.org/officeDocument/2006/relationships/slide" Target="slides/slide189.xml" /><Relationship Id="rId195" Type="http://schemas.openxmlformats.org/officeDocument/2006/relationships/slide" Target="slides/slide190.xml" /><Relationship Id="rId196" Type="http://schemas.openxmlformats.org/officeDocument/2006/relationships/slide" Target="slides/slide191.xml" /><Relationship Id="rId197" Type="http://schemas.openxmlformats.org/officeDocument/2006/relationships/slide" Target="slides/slide192.xml" /><Relationship Id="rId198" Type="http://schemas.openxmlformats.org/officeDocument/2006/relationships/slide" Target="slides/slide193.xml" /><Relationship Id="rId199" Type="http://schemas.openxmlformats.org/officeDocument/2006/relationships/slide" Target="slides/slide194.xml" /><Relationship Id="rId200" Type="http://schemas.openxmlformats.org/officeDocument/2006/relationships/slide" Target="slides/slide195.xml" /><Relationship Id="rId201" Type="http://schemas.openxmlformats.org/officeDocument/2006/relationships/slide" Target="slides/slide196.xml" /><Relationship Id="rId202" Type="http://schemas.openxmlformats.org/officeDocument/2006/relationships/slide" Target="slides/slide197.xml" /><Relationship Id="rId203" Type="http://schemas.openxmlformats.org/officeDocument/2006/relationships/slide" Target="slides/slide198.xml" /><Relationship Id="rId204" Type="http://schemas.openxmlformats.org/officeDocument/2006/relationships/slide" Target="slides/slide199.xml" /><Relationship Id="rId205" Type="http://schemas.openxmlformats.org/officeDocument/2006/relationships/slide" Target="slides/slide200.xml" /><Relationship Id="rId206" Type="http://schemas.openxmlformats.org/officeDocument/2006/relationships/slide" Target="slides/slide201.xml" /><Relationship Id="rId207" Type="http://schemas.openxmlformats.org/officeDocument/2006/relationships/slide" Target="slides/slide202.xml" /><Relationship Id="rId208" Type="http://schemas.openxmlformats.org/officeDocument/2006/relationships/slide" Target="slides/slide203.xml" /><Relationship Id="rId209" Type="http://schemas.openxmlformats.org/officeDocument/2006/relationships/slide" Target="slides/slide204.xml" /><Relationship Id="rId210" Type="http://schemas.openxmlformats.org/officeDocument/2006/relationships/slide" Target="slides/slide205.xml" /><Relationship Id="rId211" Type="http://schemas.openxmlformats.org/officeDocument/2006/relationships/slide" Target="slides/slide206.xml" /><Relationship Id="rId212" Type="http://schemas.openxmlformats.org/officeDocument/2006/relationships/slide" Target="slides/slide207.xml" /><Relationship Id="rId213" Type="http://schemas.openxmlformats.org/officeDocument/2006/relationships/slide" Target="slides/slide208.xml" /><Relationship Id="rId214" Type="http://schemas.openxmlformats.org/officeDocument/2006/relationships/slide" Target="slides/slide209.xml" /><Relationship Id="rId215" Type="http://schemas.openxmlformats.org/officeDocument/2006/relationships/slide" Target="slides/slide210.xml" /><Relationship Id="rId216" Type="http://schemas.openxmlformats.org/officeDocument/2006/relationships/slide" Target="slides/slide211.xml" /><Relationship Id="rId217" Type="http://schemas.openxmlformats.org/officeDocument/2006/relationships/slide" Target="slides/slide212.xml" /><Relationship Id="rId218" Type="http://schemas.openxmlformats.org/officeDocument/2006/relationships/slide" Target="slides/slide213.xml" /><Relationship Id="rId219" Type="http://schemas.openxmlformats.org/officeDocument/2006/relationships/slide" Target="slides/slide214.xml" /><Relationship Id="rId220" Type="http://schemas.openxmlformats.org/officeDocument/2006/relationships/slide" Target="slides/slide215.xml" /><Relationship Id="rId221" Type="http://schemas.openxmlformats.org/officeDocument/2006/relationships/slide" Target="slides/slide216.xml" /><Relationship Id="rId222" Type="http://schemas.openxmlformats.org/officeDocument/2006/relationships/slide" Target="slides/slide217.xml" /><Relationship Id="rId223" Type="http://schemas.openxmlformats.org/officeDocument/2006/relationships/slide" Target="slides/slide218.xml" /><Relationship Id="rId224" Type="http://schemas.openxmlformats.org/officeDocument/2006/relationships/slide" Target="slides/slide219.xml" /><Relationship Id="rId225" Type="http://schemas.openxmlformats.org/officeDocument/2006/relationships/slide" Target="slides/slide220.xml" /><Relationship Id="rId226" Type="http://schemas.openxmlformats.org/officeDocument/2006/relationships/slide" Target="slides/slide221.xml" /><Relationship Id="rId227" Type="http://schemas.openxmlformats.org/officeDocument/2006/relationships/slide" Target="slides/slide222.xml" /><Relationship Id="rId228" Type="http://schemas.openxmlformats.org/officeDocument/2006/relationships/slide" Target="slides/slide223.xml" /><Relationship Id="rId229" Type="http://schemas.openxmlformats.org/officeDocument/2006/relationships/slide" Target="slides/slide224.xml" /><Relationship Id="rId230" Type="http://schemas.openxmlformats.org/officeDocument/2006/relationships/slide" Target="slides/slide225.xml" /><Relationship Id="rId231" Type="http://schemas.openxmlformats.org/officeDocument/2006/relationships/slide" Target="slides/slide226.xml" /><Relationship Id="rId232" Type="http://schemas.openxmlformats.org/officeDocument/2006/relationships/slide" Target="slides/slide227.xml" /><Relationship Id="rId233" Type="http://schemas.openxmlformats.org/officeDocument/2006/relationships/slide" Target="slides/slide228.xml" /><Relationship Id="rId234" Type="http://schemas.openxmlformats.org/officeDocument/2006/relationships/slide" Target="slides/slide229.xml" /><Relationship Id="rId235" Type="http://schemas.openxmlformats.org/officeDocument/2006/relationships/slide" Target="slides/slide230.xml" /><Relationship Id="rId236" Type="http://schemas.openxmlformats.org/officeDocument/2006/relationships/slide" Target="slides/slide231.xml" /><Relationship Id="rId237" Type="http://schemas.openxmlformats.org/officeDocument/2006/relationships/slide" Target="slides/slide232.xml" /><Relationship Id="rId238" Type="http://schemas.openxmlformats.org/officeDocument/2006/relationships/slide" Target="slides/slide233.xml" /><Relationship Id="rId239" Type="http://schemas.openxmlformats.org/officeDocument/2006/relationships/slide" Target="slides/slide234.xml" /><Relationship Id="rId240" Type="http://schemas.openxmlformats.org/officeDocument/2006/relationships/slide" Target="slides/slide235.xml" /><Relationship Id="rId241" Type="http://schemas.openxmlformats.org/officeDocument/2006/relationships/slide" Target="slides/slide236.xml" /><Relationship Id="rId242" Type="http://schemas.openxmlformats.org/officeDocument/2006/relationships/slide" Target="slides/slide237.xml" /><Relationship Id="rId243" Type="http://schemas.openxmlformats.org/officeDocument/2006/relationships/slide" Target="slides/slide238.xml" /><Relationship Id="rId244" Type="http://schemas.openxmlformats.org/officeDocument/2006/relationships/slide" Target="slides/slide239.xml" /><Relationship Id="rId245" Type="http://schemas.openxmlformats.org/officeDocument/2006/relationships/slide" Target="slides/slide240.xml" /><Relationship Id="rId246" Type="http://schemas.openxmlformats.org/officeDocument/2006/relationships/slide" Target="slides/slide241.xml" /><Relationship Id="rId247" Type="http://schemas.openxmlformats.org/officeDocument/2006/relationships/slide" Target="slides/slide242.xml" /><Relationship Id="rId248" Type="http://schemas.openxmlformats.org/officeDocument/2006/relationships/slide" Target="slides/slide243.xml" /><Relationship Id="rId249" Type="http://schemas.openxmlformats.org/officeDocument/2006/relationships/slide" Target="slides/slide244.xml" /><Relationship Id="rId250" Type="http://schemas.openxmlformats.org/officeDocument/2006/relationships/slide" Target="slides/slide245.xml" /><Relationship Id="rId251" Type="http://schemas.openxmlformats.org/officeDocument/2006/relationships/slide" Target="slides/slide246.xml" /><Relationship Id="rId252" Type="http://schemas.openxmlformats.org/officeDocument/2006/relationships/slide" Target="slides/slide247.xml" /><Relationship Id="rId253" Type="http://schemas.openxmlformats.org/officeDocument/2006/relationships/slide" Target="slides/slide248.xml" /><Relationship Id="rId254" Type="http://schemas.openxmlformats.org/officeDocument/2006/relationships/slide" Target="slides/slide249.xml" /><Relationship Id="rId255" Type="http://schemas.openxmlformats.org/officeDocument/2006/relationships/slide" Target="slides/slide250.xml" /><Relationship Id="rId256" Type="http://schemas.openxmlformats.org/officeDocument/2006/relationships/slide" Target="slides/slide251.xml" /><Relationship Id="rId257" Type="http://schemas.openxmlformats.org/officeDocument/2006/relationships/slide" Target="slides/slide252.xml" /><Relationship Id="rId258" Type="http://schemas.openxmlformats.org/officeDocument/2006/relationships/slide" Target="slides/slide253.xml" /><Relationship Id="rId259" Type="http://schemas.openxmlformats.org/officeDocument/2006/relationships/slide" Target="slides/slide254.xml" /><Relationship Id="rId260" Type="http://schemas.openxmlformats.org/officeDocument/2006/relationships/slide" Target="slides/slide255.xml" /><Relationship Id="rId261" Type="http://schemas.openxmlformats.org/officeDocument/2006/relationships/slide" Target="slides/slide256.xml" /><Relationship Id="rId262" Type="http://schemas.openxmlformats.org/officeDocument/2006/relationships/slide" Target="slides/slide257.xml" /><Relationship Id="rId263" Type="http://schemas.openxmlformats.org/officeDocument/2006/relationships/slide" Target="slides/slide258.xml" /><Relationship Id="rId264" Type="http://schemas.openxmlformats.org/officeDocument/2006/relationships/slide" Target="slides/slide259.xml" /><Relationship Id="rId265" Type="http://schemas.openxmlformats.org/officeDocument/2006/relationships/slide" Target="slides/slide260.xml" /><Relationship Id="rId266" Type="http://schemas.openxmlformats.org/officeDocument/2006/relationships/slide" Target="slides/slide261.xml" /><Relationship Id="rId267" Type="http://schemas.openxmlformats.org/officeDocument/2006/relationships/slide" Target="slides/slide262.xml" /><Relationship Id="rId268" Type="http://schemas.openxmlformats.org/officeDocument/2006/relationships/slide" Target="slides/slide263.xml" /><Relationship Id="rId269" Type="http://schemas.openxmlformats.org/officeDocument/2006/relationships/slide" Target="slides/slide264.xml" /><Relationship Id="rId270" Type="http://schemas.openxmlformats.org/officeDocument/2006/relationships/slide" Target="slides/slide265.xml" /><Relationship Id="rId271" Type="http://schemas.openxmlformats.org/officeDocument/2006/relationships/slide" Target="slides/slide266.xml" /><Relationship Id="rId272" Type="http://schemas.openxmlformats.org/officeDocument/2006/relationships/slide" Target="slides/slide267.xml" /><Relationship Id="rId273" Type="http://schemas.openxmlformats.org/officeDocument/2006/relationships/slide" Target="slides/slide268.xml" /><Relationship Id="rId274" Type="http://schemas.openxmlformats.org/officeDocument/2006/relationships/slide" Target="slides/slide269.xml" /><Relationship Id="rId275" Type="http://schemas.openxmlformats.org/officeDocument/2006/relationships/slide" Target="slides/slide270.xml" /><Relationship Id="rId276" Type="http://schemas.openxmlformats.org/officeDocument/2006/relationships/slide" Target="slides/slide271.xml" /><Relationship Id="rId277" Type="http://schemas.openxmlformats.org/officeDocument/2006/relationships/slide" Target="slides/slide272.xml" /><Relationship Id="rId278" Type="http://schemas.openxmlformats.org/officeDocument/2006/relationships/slide" Target="slides/slide273.xml" /><Relationship Id="rId279" Type="http://schemas.openxmlformats.org/officeDocument/2006/relationships/slide" Target="slides/slide274.xml" /><Relationship Id="rId280" Type="http://schemas.openxmlformats.org/officeDocument/2006/relationships/slide" Target="slides/slide275.xml" /><Relationship Id="rId281" Type="http://schemas.openxmlformats.org/officeDocument/2006/relationships/slide" Target="slides/slide276.xml" /><Relationship Id="rId282" Type="http://schemas.openxmlformats.org/officeDocument/2006/relationships/slide" Target="slides/slide277.xml" /><Relationship Id="rId283" Type="http://schemas.openxmlformats.org/officeDocument/2006/relationships/slide" Target="slides/slide278.xml" /><Relationship Id="rId284" Type="http://schemas.openxmlformats.org/officeDocument/2006/relationships/slide" Target="slides/slide279.xml" /><Relationship Id="rId285" Type="http://schemas.openxmlformats.org/officeDocument/2006/relationships/slide" Target="slides/slide280.xml" /><Relationship Id="rId286" Type="http://schemas.openxmlformats.org/officeDocument/2006/relationships/slide" Target="slides/slide281.xml" /><Relationship Id="rId287" Type="http://schemas.openxmlformats.org/officeDocument/2006/relationships/slide" Target="slides/slide282.xml" /><Relationship Id="rId288" Type="http://schemas.openxmlformats.org/officeDocument/2006/relationships/slide" Target="slides/slide283.xml" /><Relationship Id="rId289" Type="http://schemas.openxmlformats.org/officeDocument/2006/relationships/slide" Target="slides/slide284.xml" /><Relationship Id="rId290" Type="http://schemas.openxmlformats.org/officeDocument/2006/relationships/slide" Target="slides/slide285.xml" /><Relationship Id="rId291" Type="http://schemas.openxmlformats.org/officeDocument/2006/relationships/slide" Target="slides/slide286.xml" /><Relationship Id="rId292" Type="http://schemas.openxmlformats.org/officeDocument/2006/relationships/slide" Target="slides/slide287.xml" /><Relationship Id="rId293" Type="http://schemas.openxmlformats.org/officeDocument/2006/relationships/slide" Target="slides/slide288.xml" /><Relationship Id="rId294" Type="http://schemas.openxmlformats.org/officeDocument/2006/relationships/slide" Target="slides/slide289.xml" /><Relationship Id="rId295" Type="http://schemas.openxmlformats.org/officeDocument/2006/relationships/slide" Target="slides/slide290.xml" /><Relationship Id="rId296" Type="http://schemas.openxmlformats.org/officeDocument/2006/relationships/slide" Target="slides/slide291.xml" /><Relationship Id="rId297" Type="http://schemas.openxmlformats.org/officeDocument/2006/relationships/slide" Target="slides/slide292.xml" /><Relationship Id="rId298" Type="http://schemas.openxmlformats.org/officeDocument/2006/relationships/slide" Target="slides/slide293.xml" /><Relationship Id="rId299" Type="http://schemas.openxmlformats.org/officeDocument/2006/relationships/slide" Target="slides/slide294.xml" /><Relationship Id="rId300" Type="http://schemas.openxmlformats.org/officeDocument/2006/relationships/slide" Target="slides/slide295.xml" /><Relationship Id="rId301" Type="http://schemas.openxmlformats.org/officeDocument/2006/relationships/slide" Target="slides/slide296.xml" /><Relationship Id="rId302" Type="http://schemas.openxmlformats.org/officeDocument/2006/relationships/slide" Target="slides/slide297.xml" /><Relationship Id="rId303" Type="http://schemas.openxmlformats.org/officeDocument/2006/relationships/slide" Target="slides/slide298.xml" /><Relationship Id="rId304" Type="http://schemas.openxmlformats.org/officeDocument/2006/relationships/slide" Target="slides/slide299.xml" /><Relationship Id="rId305" Type="http://schemas.openxmlformats.org/officeDocument/2006/relationships/slide" Target="slides/slide300.xml" /><Relationship Id="rId306" Type="http://schemas.openxmlformats.org/officeDocument/2006/relationships/slide" Target="slides/slide301.xml" /><Relationship Id="rId307" Type="http://schemas.openxmlformats.org/officeDocument/2006/relationships/slide" Target="slides/slide302.xml" /><Relationship Id="rId308" Type="http://schemas.openxmlformats.org/officeDocument/2006/relationships/slide" Target="slides/slide303.xml" /><Relationship Id="rId309" Type="http://schemas.openxmlformats.org/officeDocument/2006/relationships/slide" Target="slides/slide304.xml" /><Relationship Id="rId310" Type="http://schemas.openxmlformats.org/officeDocument/2006/relationships/slide" Target="slides/slide305.xml" /><Relationship Id="rId311" Type="http://schemas.openxmlformats.org/officeDocument/2006/relationships/slide" Target="slides/slide306.xml" /><Relationship Id="rId312" Type="http://schemas.openxmlformats.org/officeDocument/2006/relationships/slide" Target="slides/slide307.xml" /><Relationship Id="rId313" Type="http://schemas.openxmlformats.org/officeDocument/2006/relationships/slide" Target="slides/slide308.xml" /><Relationship Id="rId314" Type="http://schemas.openxmlformats.org/officeDocument/2006/relationships/slide" Target="slides/slide309.xml" /><Relationship Id="rId315" Type="http://schemas.openxmlformats.org/officeDocument/2006/relationships/slide" Target="slides/slide310.xml" /><Relationship Id="rId316" Type="http://schemas.openxmlformats.org/officeDocument/2006/relationships/slide" Target="slides/slide311.xml" /><Relationship Id="rId317" Type="http://schemas.openxmlformats.org/officeDocument/2006/relationships/slide" Target="slides/slide312.xml" /><Relationship Id="rId318" Type="http://schemas.openxmlformats.org/officeDocument/2006/relationships/slide" Target="slides/slide313.xml" /><Relationship Id="rId319" Type="http://schemas.openxmlformats.org/officeDocument/2006/relationships/slide" Target="slides/slide314.xml" /><Relationship Id="rId320" Type="http://schemas.openxmlformats.org/officeDocument/2006/relationships/slide" Target="slides/slide315.xml" /><Relationship Id="rId321" Type="http://schemas.openxmlformats.org/officeDocument/2006/relationships/slide" Target="slides/slide316.xml" /><Relationship Id="rId322" Type="http://schemas.openxmlformats.org/officeDocument/2006/relationships/slide" Target="slides/slide317.xml" /><Relationship Id="rId323" Type="http://schemas.openxmlformats.org/officeDocument/2006/relationships/slide" Target="slides/slide318.xml" /><Relationship Id="rId324" Type="http://schemas.openxmlformats.org/officeDocument/2006/relationships/slide" Target="slides/slide319.xml" /><Relationship Id="rId325" Type="http://schemas.openxmlformats.org/officeDocument/2006/relationships/slide" Target="slides/slide320.xml" /><Relationship Id="rId326" Type="http://schemas.openxmlformats.org/officeDocument/2006/relationships/slide" Target="slides/slide321.xml" /><Relationship Id="rId327" Type="http://schemas.openxmlformats.org/officeDocument/2006/relationships/slide" Target="slides/slide322.xml" /><Relationship Id="rId328" Type="http://schemas.openxmlformats.org/officeDocument/2006/relationships/slide" Target="slides/slide323.xml" /><Relationship Id="rId329" Type="http://schemas.openxmlformats.org/officeDocument/2006/relationships/slide" Target="slides/slide324.xml" /><Relationship Id="rId330" Type="http://schemas.openxmlformats.org/officeDocument/2006/relationships/slide" Target="slides/slide325.xml" /><Relationship Id="rId331" Type="http://schemas.openxmlformats.org/officeDocument/2006/relationships/slide" Target="slides/slide326.xml" /><Relationship Id="rId332" Type="http://schemas.openxmlformats.org/officeDocument/2006/relationships/slide" Target="slides/slide327.xml" /><Relationship Id="rId333" Type="http://schemas.openxmlformats.org/officeDocument/2006/relationships/slide" Target="slides/slide328.xml" /><Relationship Id="rId334" Type="http://schemas.openxmlformats.org/officeDocument/2006/relationships/slide" Target="slides/slide329.xml" /><Relationship Id="rId335" Type="http://schemas.openxmlformats.org/officeDocument/2006/relationships/slide" Target="slides/slide330.xml" /><Relationship Id="rId336" Type="http://schemas.openxmlformats.org/officeDocument/2006/relationships/slide" Target="slides/slide331.xml" /><Relationship Id="rId337" Type="http://schemas.openxmlformats.org/officeDocument/2006/relationships/slide" Target="slides/slide332.xml" /><Relationship Id="rId338" Type="http://schemas.openxmlformats.org/officeDocument/2006/relationships/slide" Target="slides/slide333.xml" /><Relationship Id="rId339" Type="http://schemas.openxmlformats.org/officeDocument/2006/relationships/slide" Target="slides/slide334.xml" /><Relationship Id="rId340" Type="http://schemas.openxmlformats.org/officeDocument/2006/relationships/slide" Target="slides/slide335.xml" /><Relationship Id="rId341" Type="http://schemas.openxmlformats.org/officeDocument/2006/relationships/slide" Target="slides/slide336.xml" /><Relationship Id="rId342" Type="http://schemas.openxmlformats.org/officeDocument/2006/relationships/slide" Target="slides/slide337.xml" /><Relationship Id="rId343" Type="http://schemas.openxmlformats.org/officeDocument/2006/relationships/slide" Target="slides/slide338.xml" /><Relationship Id="rId344" Type="http://schemas.openxmlformats.org/officeDocument/2006/relationships/slide" Target="slides/slide339.xml" /><Relationship Id="rId345" Type="http://schemas.openxmlformats.org/officeDocument/2006/relationships/slide" Target="slides/slide340.xml" /><Relationship Id="rId346" Type="http://schemas.openxmlformats.org/officeDocument/2006/relationships/slide" Target="slides/slide341.xml" /><Relationship Id="rId347" Type="http://schemas.openxmlformats.org/officeDocument/2006/relationships/slide" Target="slides/slide342.xml" /><Relationship Id="rId348" Type="http://schemas.openxmlformats.org/officeDocument/2006/relationships/slide" Target="slides/slide343.xml" /><Relationship Id="rId349" Type="http://schemas.openxmlformats.org/officeDocument/2006/relationships/slide" Target="slides/slide344.xml" /><Relationship Id="rId350" Type="http://schemas.openxmlformats.org/officeDocument/2006/relationships/slide" Target="slides/slide345.xml" /><Relationship Id="rId351" Type="http://schemas.openxmlformats.org/officeDocument/2006/relationships/slide" Target="slides/slide346.xml" /><Relationship Id="rId352" Type="http://schemas.openxmlformats.org/officeDocument/2006/relationships/slide" Target="slides/slide347.xml" /><Relationship Id="rId353" Type="http://schemas.openxmlformats.org/officeDocument/2006/relationships/slide" Target="slides/slide348.xml" /><Relationship Id="rId354" Type="http://schemas.openxmlformats.org/officeDocument/2006/relationships/slide" Target="slides/slide349.xml" /><Relationship Id="rId355" Type="http://schemas.openxmlformats.org/officeDocument/2006/relationships/slide" Target="slides/slide350.xml" /><Relationship Id="rId356" Type="http://schemas.openxmlformats.org/officeDocument/2006/relationships/slide" Target="slides/slide351.xml" /><Relationship Id="rId357" Type="http://schemas.openxmlformats.org/officeDocument/2006/relationships/slide" Target="slides/slide352.xml" /><Relationship Id="rId358" Type="http://schemas.openxmlformats.org/officeDocument/2006/relationships/slide" Target="slides/slide353.xml" /><Relationship Id="rId359" Type="http://schemas.openxmlformats.org/officeDocument/2006/relationships/slide" Target="slides/slide354.xml" /><Relationship Id="rId360" Type="http://schemas.openxmlformats.org/officeDocument/2006/relationships/slide" Target="slides/slide355.xml" /><Relationship Id="rId361" Type="http://schemas.openxmlformats.org/officeDocument/2006/relationships/slide" Target="slides/slide356.xml" /><Relationship Id="rId362" Type="http://schemas.openxmlformats.org/officeDocument/2006/relationships/slide" Target="slides/slide357.xml" /><Relationship Id="rId363" Type="http://schemas.openxmlformats.org/officeDocument/2006/relationships/slide" Target="slides/slide358.xml" /><Relationship Id="rId364" Type="http://schemas.openxmlformats.org/officeDocument/2006/relationships/slide" Target="slides/slide359.xml" /><Relationship Id="rId365" Type="http://schemas.openxmlformats.org/officeDocument/2006/relationships/slide" Target="slides/slide360.xml" /><Relationship Id="rId366" Type="http://schemas.openxmlformats.org/officeDocument/2006/relationships/slide" Target="slides/slide361.xml" /><Relationship Id="rId367" Type="http://schemas.openxmlformats.org/officeDocument/2006/relationships/slide" Target="slides/slide362.xml" /><Relationship Id="rId368" Type="http://schemas.openxmlformats.org/officeDocument/2006/relationships/slide" Target="slides/slide363.xml" /><Relationship Id="rId369" Type="http://schemas.openxmlformats.org/officeDocument/2006/relationships/slide" Target="slides/slide364.xml" /><Relationship Id="rId370" Type="http://schemas.openxmlformats.org/officeDocument/2006/relationships/slide" Target="slides/slide365.xml" /><Relationship Id="rId371" Type="http://schemas.openxmlformats.org/officeDocument/2006/relationships/slide" Target="slides/slide366.xml" /><Relationship Id="rId372" Type="http://schemas.openxmlformats.org/officeDocument/2006/relationships/slide" Target="slides/slide367.xml" /><Relationship Id="rId373" Type="http://schemas.openxmlformats.org/officeDocument/2006/relationships/slide" Target="slides/slide368.xml" /><Relationship Id="rId374" Type="http://schemas.openxmlformats.org/officeDocument/2006/relationships/slide" Target="slides/slide369.xml" /><Relationship Id="rId375" Type="http://schemas.openxmlformats.org/officeDocument/2006/relationships/slide" Target="slides/slide370.xml" /><Relationship Id="rId376" Type="http://schemas.openxmlformats.org/officeDocument/2006/relationships/slide" Target="slides/slide371.xml" /><Relationship Id="rId377" Type="http://schemas.openxmlformats.org/officeDocument/2006/relationships/slide" Target="slides/slide372.xml" /><Relationship Id="rId378" Type="http://schemas.openxmlformats.org/officeDocument/2006/relationships/slide" Target="slides/slide373.xml" /><Relationship Id="rId379" Type="http://schemas.openxmlformats.org/officeDocument/2006/relationships/slide" Target="slides/slide374.xml" /><Relationship Id="rId380" Type="http://schemas.openxmlformats.org/officeDocument/2006/relationships/slide" Target="slides/slide375.xml" /><Relationship Id="rId381" Type="http://schemas.openxmlformats.org/officeDocument/2006/relationships/slide" Target="slides/slide376.xml" /><Relationship Id="rId382" Type="http://schemas.openxmlformats.org/officeDocument/2006/relationships/slide" Target="slides/slide377.xml" /><Relationship Id="rId383" Type="http://schemas.openxmlformats.org/officeDocument/2006/relationships/slide" Target="slides/slide378.xml" /><Relationship Id="rId384" Type="http://schemas.openxmlformats.org/officeDocument/2006/relationships/slide" Target="slides/slide379.xml" /><Relationship Id="rId385" Type="http://schemas.openxmlformats.org/officeDocument/2006/relationships/slide" Target="slides/slide380.xml" /><Relationship Id="rId386" Type="http://schemas.openxmlformats.org/officeDocument/2006/relationships/slide" Target="slides/slide381.xml" /><Relationship Id="rId387" Type="http://schemas.openxmlformats.org/officeDocument/2006/relationships/slide" Target="slides/slide382.xml" /><Relationship Id="rId388" Type="http://schemas.openxmlformats.org/officeDocument/2006/relationships/slide" Target="slides/slide383.xml" /><Relationship Id="rId389" Type="http://schemas.openxmlformats.org/officeDocument/2006/relationships/slide" Target="slides/slide384.xml" /><Relationship Id="rId390" Type="http://schemas.openxmlformats.org/officeDocument/2006/relationships/slide" Target="slides/slide385.xml" /><Relationship Id="rId391" Type="http://schemas.openxmlformats.org/officeDocument/2006/relationships/slide" Target="slides/slide386.xml" /><Relationship Id="rId392" Type="http://schemas.openxmlformats.org/officeDocument/2006/relationships/slide" Target="slides/slide387.xml" /><Relationship Id="rId393" Type="http://schemas.openxmlformats.org/officeDocument/2006/relationships/slide" Target="slides/slide388.xml" /><Relationship Id="rId394" Type="http://schemas.openxmlformats.org/officeDocument/2006/relationships/slide" Target="slides/slide389.xml" /><Relationship Id="rId395" Type="http://schemas.openxmlformats.org/officeDocument/2006/relationships/slide" Target="slides/slide390.xml" /><Relationship Id="rId396" Type="http://schemas.openxmlformats.org/officeDocument/2006/relationships/slide" Target="slides/slide391.xml" /><Relationship Id="rId397" Type="http://schemas.openxmlformats.org/officeDocument/2006/relationships/slide" Target="slides/slide392.xml" /><Relationship Id="rId398" Type="http://schemas.openxmlformats.org/officeDocument/2006/relationships/slide" Target="slides/slide393.xml" /><Relationship Id="rId399" Type="http://schemas.openxmlformats.org/officeDocument/2006/relationships/slide" Target="slides/slide394.xml" /><Relationship Id="rId400" Type="http://schemas.openxmlformats.org/officeDocument/2006/relationships/slide" Target="slides/slide395.xml" /><Relationship Id="rId401" Type="http://schemas.openxmlformats.org/officeDocument/2006/relationships/slide" Target="slides/slide396.xml" /><Relationship Id="rId402" Type="http://schemas.openxmlformats.org/officeDocument/2006/relationships/slide" Target="slides/slide397.xml" /><Relationship Id="rId403" Type="http://schemas.openxmlformats.org/officeDocument/2006/relationships/slide" Target="slides/slide398.xml" /><Relationship Id="rId404" Type="http://schemas.openxmlformats.org/officeDocument/2006/relationships/slide" Target="slides/slide399.xml" /><Relationship Id="rId405" Type="http://schemas.openxmlformats.org/officeDocument/2006/relationships/slide" Target="slides/slide400.xml" /><Relationship Id="rId406" Type="http://schemas.openxmlformats.org/officeDocument/2006/relationships/slide" Target="slides/slide401.xml" /><Relationship Id="rId407" Type="http://schemas.openxmlformats.org/officeDocument/2006/relationships/slide" Target="slides/slide402.xml" /><Relationship Id="rId408" Type="http://schemas.openxmlformats.org/officeDocument/2006/relationships/slide" Target="slides/slide403.xml" /><Relationship Id="rId409" Type="http://schemas.openxmlformats.org/officeDocument/2006/relationships/slide" Target="slides/slide404.xml" /><Relationship Id="rId410" Type="http://schemas.openxmlformats.org/officeDocument/2006/relationships/slide" Target="slides/slide405.xml" /><Relationship Id="rId411" Type="http://schemas.openxmlformats.org/officeDocument/2006/relationships/slide" Target="slides/slide406.xml" /><Relationship Id="rId412" Type="http://schemas.openxmlformats.org/officeDocument/2006/relationships/slide" Target="slides/slide407.xml" /><Relationship Id="rId413" Type="http://schemas.openxmlformats.org/officeDocument/2006/relationships/slide" Target="slides/slide408.xml" /><Relationship Id="rId414" Type="http://schemas.openxmlformats.org/officeDocument/2006/relationships/slide" Target="slides/slide409.xml" /><Relationship Id="rId415" Type="http://schemas.openxmlformats.org/officeDocument/2006/relationships/slide" Target="slides/slide410.xml" /><Relationship Id="rId416" Type="http://schemas.openxmlformats.org/officeDocument/2006/relationships/slide" Target="slides/slide411.xml" /><Relationship Id="rId417" Type="http://schemas.openxmlformats.org/officeDocument/2006/relationships/slide" Target="slides/slide412.xml" /><Relationship Id="rId418" Type="http://schemas.openxmlformats.org/officeDocument/2006/relationships/slide" Target="slides/slide413.xml" /><Relationship Id="rId419" Type="http://schemas.openxmlformats.org/officeDocument/2006/relationships/slide" Target="slides/slide414.xml" /><Relationship Id="rId420" Type="http://schemas.openxmlformats.org/officeDocument/2006/relationships/slide" Target="slides/slide415.xml" /><Relationship Id="rId421" Type="http://schemas.openxmlformats.org/officeDocument/2006/relationships/slide" Target="slides/slide416.xml" /><Relationship Id="rId422" Type="http://schemas.openxmlformats.org/officeDocument/2006/relationships/slide" Target="slides/slide417.xml" /><Relationship Id="rId423" Type="http://schemas.openxmlformats.org/officeDocument/2006/relationships/slide" Target="slides/slide418.xml" /><Relationship Id="rId424" Type="http://schemas.openxmlformats.org/officeDocument/2006/relationships/slide" Target="slides/slide419.xml" /><Relationship Id="rId425" Type="http://schemas.openxmlformats.org/officeDocument/2006/relationships/slide" Target="slides/slide420.xml" /><Relationship Id="rId426" Type="http://schemas.openxmlformats.org/officeDocument/2006/relationships/slide" Target="slides/slide421.xml" /><Relationship Id="rId427" Type="http://schemas.openxmlformats.org/officeDocument/2006/relationships/slide" Target="slides/slide422.xml" /><Relationship Id="rId428" Type="http://schemas.openxmlformats.org/officeDocument/2006/relationships/slide" Target="slides/slide423.xml" /><Relationship Id="rId429" Type="http://schemas.openxmlformats.org/officeDocument/2006/relationships/slide" Target="slides/slide424.xml" /><Relationship Id="rId430" Type="http://schemas.openxmlformats.org/officeDocument/2006/relationships/slide" Target="slides/slide425.xml" /><Relationship Id="rId431" Type="http://schemas.openxmlformats.org/officeDocument/2006/relationships/slide" Target="slides/slide426.xml" /><Relationship Id="rId432" Type="http://schemas.openxmlformats.org/officeDocument/2006/relationships/slide" Target="slides/slide427.xml" /><Relationship Id="rId433" Type="http://schemas.openxmlformats.org/officeDocument/2006/relationships/slide" Target="slides/slide428.xml" /><Relationship Id="rId434" Type="http://schemas.openxmlformats.org/officeDocument/2006/relationships/slide" Target="slides/slide429.xml" /><Relationship Id="rId435" Type="http://schemas.openxmlformats.org/officeDocument/2006/relationships/slide" Target="slides/slide430.xml" /><Relationship Id="rId436" Type="http://schemas.openxmlformats.org/officeDocument/2006/relationships/slide" Target="slides/slide431.xml" /><Relationship Id="rId437" Type="http://schemas.openxmlformats.org/officeDocument/2006/relationships/slide" Target="slides/slide432.xml" /><Relationship Id="rId438" Type="http://schemas.openxmlformats.org/officeDocument/2006/relationships/slide" Target="slides/slide433.xml" /><Relationship Id="rId439" Type="http://schemas.openxmlformats.org/officeDocument/2006/relationships/slide" Target="slides/slide434.xml" /><Relationship Id="rId440" Type="http://schemas.openxmlformats.org/officeDocument/2006/relationships/slide" Target="slides/slide435.xml" /><Relationship Id="rId441" Type="http://schemas.openxmlformats.org/officeDocument/2006/relationships/slide" Target="slides/slide436.xml" /><Relationship Id="rId442" Type="http://schemas.openxmlformats.org/officeDocument/2006/relationships/slide" Target="slides/slide437.xml" /><Relationship Id="rId443" Type="http://schemas.openxmlformats.org/officeDocument/2006/relationships/slide" Target="slides/slide438.xml" /><Relationship Id="rId444" Type="http://schemas.openxmlformats.org/officeDocument/2006/relationships/slide" Target="slides/slide439.xml" /><Relationship Id="rId445" Type="http://schemas.openxmlformats.org/officeDocument/2006/relationships/slide" Target="slides/slide440.xml" /><Relationship Id="rId446" Type="http://schemas.openxmlformats.org/officeDocument/2006/relationships/slide" Target="slides/slide441.xml" /><Relationship Id="rId447" Type="http://schemas.openxmlformats.org/officeDocument/2006/relationships/slide" Target="slides/slide442.xml" /><Relationship Id="rId448" Type="http://schemas.openxmlformats.org/officeDocument/2006/relationships/slide" Target="slides/slide443.xml" /><Relationship Id="rId449" Type="http://schemas.openxmlformats.org/officeDocument/2006/relationships/slide" Target="slides/slide444.xml" /><Relationship Id="rId450" Type="http://schemas.openxmlformats.org/officeDocument/2006/relationships/slide" Target="slides/slide445.xml" /><Relationship Id="rId451" Type="http://schemas.openxmlformats.org/officeDocument/2006/relationships/slide" Target="slides/slide446.xml" /><Relationship Id="rId452" Type="http://schemas.openxmlformats.org/officeDocument/2006/relationships/slide" Target="slides/slide447.xml" /><Relationship Id="rId453" Type="http://schemas.openxmlformats.org/officeDocument/2006/relationships/slide" Target="slides/slide448.xml" /><Relationship Id="rId454" Type="http://schemas.openxmlformats.org/officeDocument/2006/relationships/slide" Target="slides/slide449.xml" /><Relationship Id="rId455" Type="http://schemas.openxmlformats.org/officeDocument/2006/relationships/slide" Target="slides/slide450.xml" /><Relationship Id="rId456" Type="http://schemas.openxmlformats.org/officeDocument/2006/relationships/slide" Target="slides/slide451.xml" /><Relationship Id="rId457" Type="http://schemas.openxmlformats.org/officeDocument/2006/relationships/slide" Target="slides/slide452.xml" /><Relationship Id="rId458" Type="http://schemas.openxmlformats.org/officeDocument/2006/relationships/slide" Target="slides/slide453.xml" /><Relationship Id="rId459" Type="http://schemas.openxmlformats.org/officeDocument/2006/relationships/slide" Target="slides/slide454.xml" /><Relationship Id="rId460" Type="http://schemas.openxmlformats.org/officeDocument/2006/relationships/slide" Target="slides/slide455.xml" /><Relationship Id="rId461" Type="http://schemas.openxmlformats.org/officeDocument/2006/relationships/slide" Target="slides/slide456.xml" /><Relationship Id="rId462" Type="http://schemas.openxmlformats.org/officeDocument/2006/relationships/slide" Target="slides/slide457.xml" /><Relationship Id="rId463" Type="http://schemas.openxmlformats.org/officeDocument/2006/relationships/slide" Target="slides/slide458.xml" /><Relationship Id="rId464" Type="http://schemas.openxmlformats.org/officeDocument/2006/relationships/slide" Target="slides/slide459.xml" /><Relationship Id="rId465" Type="http://schemas.openxmlformats.org/officeDocument/2006/relationships/slide" Target="slides/slide460.xml" /><Relationship Id="rId466" Type="http://schemas.openxmlformats.org/officeDocument/2006/relationships/slide" Target="slides/slide461.xml" /><Relationship Id="rId467" Type="http://schemas.openxmlformats.org/officeDocument/2006/relationships/slide" Target="slides/slide462.xml" /><Relationship Id="rId468" Type="http://schemas.openxmlformats.org/officeDocument/2006/relationships/slide" Target="slides/slide463.xml" /><Relationship Id="rId469" Type="http://schemas.openxmlformats.org/officeDocument/2006/relationships/slide" Target="slides/slide464.xml" /><Relationship Id="rId470" Type="http://schemas.openxmlformats.org/officeDocument/2006/relationships/slide" Target="slides/slide465.xml" /><Relationship Id="rId471" Type="http://schemas.openxmlformats.org/officeDocument/2006/relationships/slide" Target="slides/slide466.xml" /><Relationship Id="rId472" Type="http://schemas.openxmlformats.org/officeDocument/2006/relationships/slide" Target="slides/slide467.xml" /><Relationship Id="rId473" Type="http://schemas.openxmlformats.org/officeDocument/2006/relationships/slide" Target="slides/slide468.xml" /><Relationship Id="rId474" Type="http://schemas.openxmlformats.org/officeDocument/2006/relationships/slide" Target="slides/slide469.xml" /><Relationship Id="rId475" Type="http://schemas.openxmlformats.org/officeDocument/2006/relationships/slide" Target="slides/slide470.xml" /><Relationship Id="rId476" Type="http://schemas.openxmlformats.org/officeDocument/2006/relationships/slide" Target="slides/slide471.xml" /><Relationship Id="rId477" Type="http://schemas.openxmlformats.org/officeDocument/2006/relationships/slide" Target="slides/slide472.xml" /><Relationship Id="rId478" Type="http://schemas.openxmlformats.org/officeDocument/2006/relationships/slide" Target="slides/slide473.xml" /><Relationship Id="rId479" Type="http://schemas.openxmlformats.org/officeDocument/2006/relationships/slide" Target="slides/slide474.xml" /><Relationship Id="rId480" Type="http://schemas.openxmlformats.org/officeDocument/2006/relationships/slide" Target="slides/slide475.xml" /><Relationship Id="rId481" Type="http://schemas.openxmlformats.org/officeDocument/2006/relationships/slide" Target="slides/slide476.xml" /><Relationship Id="rId482" Type="http://schemas.openxmlformats.org/officeDocument/2006/relationships/slide" Target="slides/slide477.xml" /><Relationship Id="rId483" Type="http://schemas.openxmlformats.org/officeDocument/2006/relationships/slide" Target="slides/slide478.xml" /><Relationship Id="rId484" Type="http://schemas.openxmlformats.org/officeDocument/2006/relationships/slide" Target="slides/slide479.xml" /><Relationship Id="rId485" Type="http://schemas.openxmlformats.org/officeDocument/2006/relationships/slide" Target="slides/slide480.xml" /><Relationship Id="rId486" Type="http://schemas.openxmlformats.org/officeDocument/2006/relationships/slide" Target="slides/slide481.xml" /><Relationship Id="rId487" Type="http://schemas.openxmlformats.org/officeDocument/2006/relationships/slide" Target="slides/slide482.xml" /><Relationship Id="rId488" Type="http://schemas.openxmlformats.org/officeDocument/2006/relationships/slide" Target="slides/slide483.xml" /><Relationship Id="rId489" Type="http://schemas.openxmlformats.org/officeDocument/2006/relationships/slide" Target="slides/slide484.xml" /><Relationship Id="rId490" Type="http://schemas.openxmlformats.org/officeDocument/2006/relationships/slide" Target="slides/slide485.xml" /><Relationship Id="rId491" Type="http://schemas.openxmlformats.org/officeDocument/2006/relationships/slide" Target="slides/slide486.xml" /><Relationship Id="rId492" Type="http://schemas.openxmlformats.org/officeDocument/2006/relationships/slide" Target="slides/slide487.xml" /><Relationship Id="rId493" Type="http://schemas.openxmlformats.org/officeDocument/2006/relationships/slide" Target="slides/slide488.xml" /><Relationship Id="rId494" Type="http://schemas.openxmlformats.org/officeDocument/2006/relationships/slide" Target="slides/slide489.xml" /><Relationship Id="rId495" Type="http://schemas.openxmlformats.org/officeDocument/2006/relationships/slide" Target="slides/slide490.xml" /><Relationship Id="rId496" Type="http://schemas.openxmlformats.org/officeDocument/2006/relationships/slide" Target="slides/slide491.xml" /><Relationship Id="rId497" Type="http://schemas.openxmlformats.org/officeDocument/2006/relationships/slide" Target="slides/slide492.xml" /><Relationship Id="rId498" Type="http://schemas.openxmlformats.org/officeDocument/2006/relationships/slide" Target="slides/slide493.xml" /><Relationship Id="rId499" Type="http://schemas.openxmlformats.org/officeDocument/2006/relationships/slide" Target="slides/slide494.xml" /><Relationship Id="rId500" Type="http://schemas.openxmlformats.org/officeDocument/2006/relationships/slide" Target="slides/slide495.xml" /><Relationship Id="rId501" Type="http://schemas.openxmlformats.org/officeDocument/2006/relationships/slide" Target="slides/slide496.xml" /><Relationship Id="rId502" Type="http://schemas.openxmlformats.org/officeDocument/2006/relationships/slide" Target="slides/slide497.xml" /><Relationship Id="rId503" Type="http://schemas.openxmlformats.org/officeDocument/2006/relationships/slide" Target="slides/slide498.xml" /><Relationship Id="rId504" Type="http://schemas.openxmlformats.org/officeDocument/2006/relationships/slide" Target="slides/slide499.xml" /><Relationship Id="rId505" Type="http://schemas.openxmlformats.org/officeDocument/2006/relationships/slide" Target="slides/slide500.xml" /><Relationship Id="rId506" Type="http://schemas.openxmlformats.org/officeDocument/2006/relationships/slide" Target="slides/slide501.xml" /><Relationship Id="rId507" Type="http://schemas.openxmlformats.org/officeDocument/2006/relationships/slide" Target="slides/slide502.xml" /><Relationship Id="rId508" Type="http://schemas.openxmlformats.org/officeDocument/2006/relationships/slide" Target="slides/slide503.xml" /><Relationship Id="rId509" Type="http://schemas.openxmlformats.org/officeDocument/2006/relationships/slide" Target="slides/slide504.xml" /><Relationship Id="rId510" Type="http://schemas.openxmlformats.org/officeDocument/2006/relationships/slide" Target="slides/slide505.xml" /><Relationship Id="rId511" Type="http://schemas.openxmlformats.org/officeDocument/2006/relationships/slide" Target="slides/slide506.xml" /><Relationship Id="rId512" Type="http://schemas.openxmlformats.org/officeDocument/2006/relationships/slide" Target="slides/slide507.xml" /><Relationship Id="rId513" Type="http://schemas.openxmlformats.org/officeDocument/2006/relationships/slide" Target="slides/slide508.xml" /><Relationship Id="rId514" Type="http://schemas.openxmlformats.org/officeDocument/2006/relationships/slide" Target="slides/slide509.xml" /><Relationship Id="rId515" Type="http://schemas.openxmlformats.org/officeDocument/2006/relationships/slide" Target="slides/slide510.xml" /><Relationship Id="rId516" Type="http://schemas.openxmlformats.org/officeDocument/2006/relationships/slide" Target="slides/slide511.xml" /><Relationship Id="rId517" Type="http://schemas.openxmlformats.org/officeDocument/2006/relationships/slide" Target="slides/slide512.xml" /><Relationship Id="rId518" Type="http://schemas.openxmlformats.org/officeDocument/2006/relationships/slide" Target="slides/slide513.xml" /><Relationship Id="rId519" Type="http://schemas.openxmlformats.org/officeDocument/2006/relationships/slide" Target="slides/slide514.xml" /><Relationship Id="rId520" Type="http://schemas.openxmlformats.org/officeDocument/2006/relationships/slide" Target="slides/slide515.xml" /><Relationship Id="rId521" Type="http://schemas.openxmlformats.org/officeDocument/2006/relationships/slide" Target="slides/slide516.xml" /><Relationship Id="rId522" Type="http://schemas.openxmlformats.org/officeDocument/2006/relationships/slide" Target="slides/slide517.xml" /><Relationship Id="rId523" Type="http://schemas.openxmlformats.org/officeDocument/2006/relationships/slide" Target="slides/slide518.xml" /><Relationship Id="rId524" Type="http://schemas.openxmlformats.org/officeDocument/2006/relationships/slide" Target="slides/slide519.xml" /><Relationship Id="rId525" Type="http://schemas.openxmlformats.org/officeDocument/2006/relationships/slide" Target="slides/slide520.xml" /><Relationship Id="rId526" Type="http://schemas.openxmlformats.org/officeDocument/2006/relationships/slide" Target="slides/slide521.xml" /><Relationship Id="rId527" Type="http://schemas.openxmlformats.org/officeDocument/2006/relationships/slide" Target="slides/slide522.xml" /><Relationship Id="rId528" Type="http://schemas.openxmlformats.org/officeDocument/2006/relationships/slide" Target="slides/slide523.xml" /><Relationship Id="rId529" Type="http://schemas.openxmlformats.org/officeDocument/2006/relationships/slide" Target="slides/slide524.xml" /><Relationship Id="rId530" Type="http://schemas.openxmlformats.org/officeDocument/2006/relationships/slide" Target="slides/slide525.xml" /><Relationship Id="rId531" Type="http://schemas.openxmlformats.org/officeDocument/2006/relationships/slide" Target="slides/slide526.xml" /><Relationship Id="rId532" Type="http://schemas.openxmlformats.org/officeDocument/2006/relationships/slide" Target="slides/slide527.xml" /><Relationship Id="rId533" Type="http://schemas.openxmlformats.org/officeDocument/2006/relationships/slide" Target="slides/slide528.xml" /><Relationship Id="rId534" Type="http://schemas.openxmlformats.org/officeDocument/2006/relationships/slide" Target="slides/slide529.xml" /><Relationship Id="rId535" Type="http://schemas.openxmlformats.org/officeDocument/2006/relationships/slide" Target="slides/slide530.xml" /><Relationship Id="rId536" Type="http://schemas.openxmlformats.org/officeDocument/2006/relationships/slide" Target="slides/slide531.xml" /><Relationship Id="rId537" Type="http://schemas.openxmlformats.org/officeDocument/2006/relationships/slide" Target="slides/slide532.xml" /><Relationship Id="rId538" Type="http://schemas.openxmlformats.org/officeDocument/2006/relationships/slide" Target="slides/slide533.xml" /><Relationship Id="rId539" Type="http://schemas.openxmlformats.org/officeDocument/2006/relationships/slide" Target="slides/slide534.xml" /><Relationship Id="rId540" Type="http://schemas.openxmlformats.org/officeDocument/2006/relationships/slide" Target="slides/slide535.xml" /><Relationship Id="rId541" Type="http://schemas.openxmlformats.org/officeDocument/2006/relationships/slide" Target="slides/slide536.xml" /><Relationship Id="rId542" Type="http://schemas.openxmlformats.org/officeDocument/2006/relationships/slide" Target="slides/slide537.xml" /><Relationship Id="rId543" Type="http://schemas.openxmlformats.org/officeDocument/2006/relationships/slide" Target="slides/slide538.xml" /><Relationship Id="rId544" Type="http://schemas.openxmlformats.org/officeDocument/2006/relationships/slide" Target="slides/slide539.xml" /><Relationship Id="rId545" Type="http://schemas.openxmlformats.org/officeDocument/2006/relationships/slide" Target="slides/slide540.xml" /><Relationship Id="rId546" Type="http://schemas.openxmlformats.org/officeDocument/2006/relationships/slide" Target="slides/slide541.xml" /><Relationship Id="rId547" Type="http://schemas.openxmlformats.org/officeDocument/2006/relationships/slide" Target="slides/slide542.xml" /><Relationship Id="rId548" Type="http://schemas.openxmlformats.org/officeDocument/2006/relationships/slide" Target="slides/slide543.xml" /><Relationship Id="rId549" Type="http://schemas.openxmlformats.org/officeDocument/2006/relationships/slide" Target="slides/slide544.xml" /><Relationship Id="rId550" Type="http://schemas.openxmlformats.org/officeDocument/2006/relationships/slide" Target="slides/slide545.xml" /><Relationship Id="rId551" Type="http://schemas.openxmlformats.org/officeDocument/2006/relationships/slide" Target="slides/slide546.xml" /><Relationship Id="rId552" Type="http://schemas.openxmlformats.org/officeDocument/2006/relationships/slide" Target="slides/slide547.xml" /><Relationship Id="rId553" Type="http://schemas.openxmlformats.org/officeDocument/2006/relationships/slide" Target="slides/slide548.xml" /><Relationship Id="rId554" Type="http://schemas.openxmlformats.org/officeDocument/2006/relationships/slide" Target="slides/slide549.xml" /><Relationship Id="rId555" Type="http://schemas.openxmlformats.org/officeDocument/2006/relationships/slide" Target="slides/slide550.xml" /><Relationship Id="rId556" Type="http://schemas.openxmlformats.org/officeDocument/2006/relationships/slide" Target="slides/slide551.xml" /><Relationship Id="rId557" Type="http://schemas.openxmlformats.org/officeDocument/2006/relationships/slide" Target="slides/slide552.xml" /><Relationship Id="rId558" Type="http://schemas.openxmlformats.org/officeDocument/2006/relationships/slide" Target="slides/slide553.xml" /><Relationship Id="rId559" Type="http://schemas.openxmlformats.org/officeDocument/2006/relationships/slide" Target="slides/slide554.xml" /><Relationship Id="rId560" Type="http://schemas.openxmlformats.org/officeDocument/2006/relationships/slide" Target="slides/slide555.xml" /><Relationship Id="rId561" Type="http://schemas.openxmlformats.org/officeDocument/2006/relationships/slide" Target="slides/slide556.xml" /><Relationship Id="rId562" Type="http://schemas.openxmlformats.org/officeDocument/2006/relationships/slide" Target="slides/slide557.xml" /><Relationship Id="rId563" Type="http://schemas.openxmlformats.org/officeDocument/2006/relationships/slide" Target="slides/slide558.xml" /><Relationship Id="rId564" Type="http://schemas.openxmlformats.org/officeDocument/2006/relationships/slide" Target="slides/slide559.xml" /><Relationship Id="rId565" Type="http://schemas.openxmlformats.org/officeDocument/2006/relationships/slide" Target="slides/slide560.xml" /><Relationship Id="rId566" Type="http://schemas.openxmlformats.org/officeDocument/2006/relationships/slide" Target="slides/slide561.xml" /><Relationship Id="rId567" Type="http://schemas.openxmlformats.org/officeDocument/2006/relationships/slide" Target="slides/slide562.xml" /><Relationship Id="rId568" Type="http://schemas.openxmlformats.org/officeDocument/2006/relationships/slide" Target="slides/slide563.xml" /><Relationship Id="rId569" Type="http://schemas.openxmlformats.org/officeDocument/2006/relationships/slide" Target="slides/slide564.xml" /><Relationship Id="rId570" Type="http://schemas.openxmlformats.org/officeDocument/2006/relationships/slide" Target="slides/slide565.xml" /><Relationship Id="rId571" Type="http://schemas.openxmlformats.org/officeDocument/2006/relationships/slide" Target="slides/slide566.xml" /><Relationship Id="rId572" Type="http://schemas.openxmlformats.org/officeDocument/2006/relationships/slide" Target="slides/slide567.xml" /><Relationship Id="rId573" Type="http://schemas.openxmlformats.org/officeDocument/2006/relationships/slide" Target="slides/slide568.xml" /><Relationship Id="rId574" Type="http://schemas.openxmlformats.org/officeDocument/2006/relationships/slide" Target="slides/slide569.xml" /><Relationship Id="rId575" Type="http://schemas.openxmlformats.org/officeDocument/2006/relationships/slide" Target="slides/slide570.xml" /><Relationship Id="rId576" Type="http://schemas.openxmlformats.org/officeDocument/2006/relationships/slide" Target="slides/slide571.xml" /><Relationship Id="rId577" Type="http://schemas.openxmlformats.org/officeDocument/2006/relationships/slide" Target="slides/slide572.xml" /><Relationship Id="rId578" Type="http://schemas.openxmlformats.org/officeDocument/2006/relationships/slide" Target="slides/slide573.xml" /><Relationship Id="rId579" Type="http://schemas.openxmlformats.org/officeDocument/2006/relationships/slide" Target="slides/slide574.xml" /><Relationship Id="rId580" Type="http://schemas.openxmlformats.org/officeDocument/2006/relationships/slide" Target="slides/slide575.xml" /><Relationship Id="rId581" Type="http://schemas.openxmlformats.org/officeDocument/2006/relationships/slide" Target="slides/slide576.xml" /><Relationship Id="rId582" Type="http://schemas.openxmlformats.org/officeDocument/2006/relationships/slide" Target="slides/slide577.xml" /><Relationship Id="rId583" Type="http://schemas.openxmlformats.org/officeDocument/2006/relationships/slide" Target="slides/slide578.xml" /><Relationship Id="rId584" Type="http://schemas.openxmlformats.org/officeDocument/2006/relationships/slide" Target="slides/slide579.xml" /><Relationship Id="rId585" Type="http://schemas.openxmlformats.org/officeDocument/2006/relationships/slide" Target="slides/slide580.xml" /><Relationship Id="rId586" Type="http://schemas.openxmlformats.org/officeDocument/2006/relationships/slide" Target="slides/slide581.xml" /><Relationship Id="rId587" Type="http://schemas.openxmlformats.org/officeDocument/2006/relationships/slide" Target="slides/slide582.xml" /><Relationship Id="rId588" Type="http://schemas.openxmlformats.org/officeDocument/2006/relationships/slide" Target="slides/slide583.xml" /><Relationship Id="rId589" Type="http://schemas.openxmlformats.org/officeDocument/2006/relationships/slide" Target="slides/slide584.xml" /><Relationship Id="rId590" Type="http://schemas.openxmlformats.org/officeDocument/2006/relationships/slide" Target="slides/slide585.xml" /><Relationship Id="rId591" Type="http://schemas.openxmlformats.org/officeDocument/2006/relationships/slide" Target="slides/slide586.xml" /><Relationship Id="rId592" Type="http://schemas.openxmlformats.org/officeDocument/2006/relationships/slide" Target="slides/slide587.xml" /><Relationship Id="rId593" Type="http://schemas.openxmlformats.org/officeDocument/2006/relationships/slide" Target="slides/slide588.xml" /><Relationship Id="rId594" Type="http://schemas.openxmlformats.org/officeDocument/2006/relationships/slide" Target="slides/slide589.xml" /><Relationship Id="rId595" Type="http://schemas.openxmlformats.org/officeDocument/2006/relationships/slide" Target="slides/slide590.xml" /><Relationship Id="rId596" Type="http://schemas.openxmlformats.org/officeDocument/2006/relationships/slide" Target="slides/slide591.xml" /><Relationship Id="rId597" Type="http://schemas.openxmlformats.org/officeDocument/2006/relationships/slide" Target="slides/slide592.xml" /><Relationship Id="rId598" Type="http://schemas.openxmlformats.org/officeDocument/2006/relationships/slide" Target="slides/slide593.xml" /><Relationship Id="rId599" Type="http://schemas.openxmlformats.org/officeDocument/2006/relationships/slide" Target="slides/slide594.xml" /><Relationship Id="rId600" Type="http://schemas.openxmlformats.org/officeDocument/2006/relationships/slide" Target="slides/slide595.xml" /><Relationship Id="rId601" Type="http://schemas.openxmlformats.org/officeDocument/2006/relationships/slide" Target="slides/slide596.xml" /><Relationship Id="rId602" Type="http://schemas.openxmlformats.org/officeDocument/2006/relationships/slide" Target="slides/slide597.xml" /><Relationship Id="rId603" Type="http://schemas.openxmlformats.org/officeDocument/2006/relationships/slide" Target="slides/slide598.xml" /><Relationship Id="rId604" Type="http://schemas.openxmlformats.org/officeDocument/2006/relationships/slide" Target="slides/slide599.xml" /><Relationship Id="rId605" Type="http://schemas.openxmlformats.org/officeDocument/2006/relationships/slide" Target="slides/slide600.xml"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ln>
            <a:headEnd type="none"/>
            <a:tailEnd type="none"/>
          </a:ln>
        </p:spPr>
        <p:txBody>
          <a:bodyPr anchor="b" wrap="square"/>
          <a:lstStyle>
            <a:lvl1pPr algn="ctr">
              <a:defRPr sz="6000" dirty="0"/>
            </a:lvl1pPr>
          </a:lstStyle>
          <a:p>
            <a:pPr/>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pPr/>
            <a:r>
              <a:rPr lang="en-US" dirty="0"/>
              <a:t>Click to edit Master subtitle style</a:t>
            </a:r>
            <a:endParaRPr lang="en-US" dirty="0"/>
          </a:p>
        </p:txBody>
      </p:sp>
      <p:sp>
        <p:nvSpPr>
          <p:cNvPr id="4" name="Date Placeholder 3"/>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5" name="Footer Placeholder 4"/>
          <p:cNvSpPr>
            <a:spLocks noGrp="1"/>
          </p:cNvSpPr>
          <p:nvPr>
            <p:ph type="ftr" sz="quarter" idx="11"/>
          </p:nvPr>
        </p:nvSpPr>
        <p:spPr>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US" dirty="0"/>
          </a:p>
        </p:txBody>
      </p:sp>
      <p:sp>
        <p:nvSpPr>
          <p:cNvPr id="3" name="Content Placeholder 2"/>
          <p:cNvSpPr>
            <a:spLocks noGrp="1"/>
          </p:cNvSpPr>
          <p:nvPr>
            <p:ph idx="1"/>
          </p:nvPr>
        </p:nvSpPr>
        <p:spPr>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Date Placeholder 3"/>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5" name="Footer Placeholder 4"/>
          <p:cNvSpPr>
            <a:spLocks noGrp="1"/>
          </p:cNvSpPr>
          <p:nvPr>
            <p:ph type="ftr" sz="quarter" idx="11"/>
          </p:nvPr>
        </p:nvSpPr>
        <p:spPr>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ln>
            <a:headEnd type="none"/>
            <a:tailEnd type="none"/>
          </a:ln>
        </p:spPr>
        <p:txBody>
          <a:bodyPr anchor="b" wrap="square"/>
          <a:lstStyle>
            <a:lvl1pPr>
              <a:defRPr sz="6000" dirty="0"/>
            </a:lvl1pPr>
          </a:lstStyle>
          <a:p>
            <a:pPr/>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a:ln>
            <a:headEnd type="none"/>
            <a:tailEnd type="none"/>
          </a:ln>
        </p:spPr>
        <p:txBody>
          <a:bodyPr wrap="square"/>
          <a:lstStyle>
            <a:lvl1pPr marL="0" indent="0">
              <a:buNone/>
              <a:defRPr sz="2400" dirty="0">
                <a:solidFill>
                  <a:schemeClr val="tx1">
                    <a:tint val="75000"/>
                  </a:schemeClr>
                </a:solidFill>
              </a:defRPr>
            </a:lvl1pPr>
            <a:lvl2pPr marL="457200" indent="0">
              <a:buNone/>
              <a:defRPr sz="2000" dirty="0">
                <a:solidFill>
                  <a:schemeClr val="tx1">
                    <a:tint val="75000"/>
                  </a:schemeClr>
                </a:solidFill>
              </a:defRPr>
            </a:lvl2pPr>
            <a:lvl3pPr marL="914400" indent="0">
              <a:buNone/>
              <a:defRPr sz="1800" dirty="0">
                <a:solidFill>
                  <a:schemeClr val="tx1">
                    <a:tint val="75000"/>
                  </a:schemeClr>
                </a:solidFill>
              </a:defRPr>
            </a:lvl3pPr>
            <a:lvl4pPr marL="1371600" indent="0">
              <a:buNone/>
              <a:defRPr sz="1600" dirty="0">
                <a:solidFill>
                  <a:schemeClr val="tx1">
                    <a:tint val="75000"/>
                  </a:schemeClr>
                </a:solidFill>
              </a:defRPr>
            </a:lvl4pPr>
            <a:lvl5pPr marL="1828800" indent="0">
              <a:buNone/>
              <a:defRPr sz="1600" dirty="0">
                <a:solidFill>
                  <a:schemeClr val="tx1">
                    <a:tint val="75000"/>
                  </a:schemeClr>
                </a:solidFill>
              </a:defRPr>
            </a:lvl5pPr>
            <a:lvl6pPr marL="2286000" indent="0">
              <a:buNone/>
              <a:defRPr sz="1600" dirty="0">
                <a:solidFill>
                  <a:schemeClr val="tx1">
                    <a:tint val="75000"/>
                  </a:schemeClr>
                </a:solidFill>
              </a:defRPr>
            </a:lvl6pPr>
            <a:lvl7pPr marL="2743200" indent="0">
              <a:buNone/>
              <a:defRPr sz="1600" dirty="0">
                <a:solidFill>
                  <a:schemeClr val="tx1">
                    <a:tint val="75000"/>
                  </a:schemeClr>
                </a:solidFill>
              </a:defRPr>
            </a:lvl7pPr>
            <a:lvl8pPr marL="3200400" indent="0">
              <a:buNone/>
              <a:defRPr sz="1600" dirty="0">
                <a:solidFill>
                  <a:schemeClr val="tx1">
                    <a:tint val="75000"/>
                  </a:schemeClr>
                </a:solidFill>
              </a:defRPr>
            </a:lvl8pPr>
            <a:lvl9pPr marL="3657600" indent="0">
              <a:buNone/>
              <a:defRPr sz="1600" dirty="0">
                <a:solidFill>
                  <a:schemeClr val="tx1">
                    <a:tint val="75000"/>
                  </a:schemeClr>
                </a:solidFill>
              </a:defRPr>
            </a:lvl9pPr>
          </a:lstStyle>
          <a:p>
            <a:pPr/>
            <a:r>
              <a:rPr lang="en-US" dirty="0"/>
              <a:t>Click to edit Master text styles</a:t>
            </a:r>
          </a:p>
        </p:txBody>
      </p:sp>
      <p:sp>
        <p:nvSpPr>
          <p:cNvPr id="4" name="Date Placeholder 3"/>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5" name="Footer Placeholder 4"/>
          <p:cNvSpPr>
            <a:spLocks noGrp="1"/>
          </p:cNvSpPr>
          <p:nvPr>
            <p:ph type="ftr" sz="quarter" idx="11"/>
          </p:nvPr>
        </p:nvSpPr>
        <p:spPr>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US" dirty="0"/>
          </a:p>
        </p:txBody>
      </p:sp>
      <p:sp>
        <p:nvSpPr>
          <p:cNvPr id="3" name="Content Placeholder 2"/>
          <p:cNvSpPr>
            <a:spLocks noGrp="1"/>
          </p:cNvSpPr>
          <p:nvPr>
            <p:ph sz="half" idx="1"/>
          </p:nvPr>
        </p:nvSpPr>
        <p:spPr>
          <a:xfrm>
            <a:off x="838200" y="1825625"/>
            <a:ext cx="5181600" cy="435133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5" name="Date Placeholder 4"/>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6" name="Footer Placeholder 5"/>
          <p:cNvSpPr>
            <a:spLocks noGrp="1"/>
          </p:cNvSpPr>
          <p:nvPr>
            <p:ph type="ftr" sz="quarter" idx="11"/>
          </p:nvPr>
        </p:nvSpPr>
        <p:spPr>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ln>
            <a:headEnd type="none"/>
            <a:tailEnd type="none"/>
          </a:ln>
        </p:spPr>
        <p:txBody>
          <a:bodyPr wrap="square"/>
          <a:lstStyle/>
          <a:p>
            <a:pPr/>
            <a:r>
              <a:rPr lang="en-US" dirty="0"/>
              <a:t>Click to edit Master title style</a:t>
            </a:r>
            <a:endParaRPr lang="en-US" dirty="0"/>
          </a:p>
        </p:txBody>
      </p:sp>
      <p:sp>
        <p:nvSpPr>
          <p:cNvPr id="3" name="Text Placeholder 2"/>
          <p:cNvSpPr>
            <a:spLocks noGrp="1"/>
          </p:cNvSpPr>
          <p:nvPr>
            <p:ph type="body" idx="1"/>
          </p:nvPr>
        </p:nvSpPr>
        <p:spPr>
          <a:xfrm>
            <a:off x="839788" y="1681163"/>
            <a:ext cx="5157787" cy="823912"/>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4" name="Content Placeholder 3"/>
          <p:cNvSpPr>
            <a:spLocks noGrp="1"/>
          </p:cNvSpPr>
          <p:nvPr>
            <p:ph sz="half" idx="2"/>
          </p:nvPr>
        </p:nvSpPr>
        <p:spPr>
          <a:xfrm>
            <a:off x="839788" y="2505075"/>
            <a:ext cx="5157787" cy="36845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5" name="Text Placeholder 4"/>
          <p:cNvSpPr>
            <a:spLocks noGrp="1"/>
          </p:cNvSpPr>
          <p:nvPr>
            <p:ph type="body" sz="quarter" idx="3"/>
          </p:nvPr>
        </p:nvSpPr>
        <p:spPr>
          <a:xfrm>
            <a:off x="6172200" y="1681163"/>
            <a:ext cx="5183188" cy="823912"/>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6" name="Content Placeholder 5"/>
          <p:cNvSpPr>
            <a:spLocks noGrp="1"/>
          </p:cNvSpPr>
          <p:nvPr>
            <p:ph sz="quarter" idx="4"/>
          </p:nvPr>
        </p:nvSpPr>
        <p:spPr>
          <a:xfrm>
            <a:off x="6172200" y="2505075"/>
            <a:ext cx="5183188" cy="36845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7" name="Date Placeholder 6"/>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8" name="Footer Placeholder 7"/>
          <p:cNvSpPr>
            <a:spLocks noGrp="1"/>
          </p:cNvSpPr>
          <p:nvPr>
            <p:ph type="ftr" sz="quarter" idx="11"/>
          </p:nvPr>
        </p:nvSpPr>
        <p:spPr>
          <a:ln>
            <a:headEnd type="none"/>
            <a:tailEnd type="none"/>
          </a:ln>
        </p:spPr>
        <p:txBody>
          <a:bodyPr wrap="square"/>
          <a:lstStyle/>
          <a:p>
            <a:pPr/>
            <a:endParaRPr lang="en-US" dirty="0"/>
          </a:p>
        </p:txBody>
      </p:sp>
      <p:sp>
        <p:nvSpPr>
          <p:cNvPr id="9" name="Slide Number Placeholder 8"/>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US" dirty="0"/>
          </a:p>
        </p:txBody>
      </p:sp>
      <p:sp>
        <p:nvSpPr>
          <p:cNvPr id="3" name="Date Placeholder 2"/>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4" name="Footer Placeholder 3"/>
          <p:cNvSpPr>
            <a:spLocks noGrp="1"/>
          </p:cNvSpPr>
          <p:nvPr>
            <p:ph type="ftr" sz="quarter" idx="11"/>
          </p:nvPr>
        </p:nvSpPr>
        <p:spPr>
          <a:ln>
            <a:headEnd type="none"/>
            <a:tailEnd type="none"/>
          </a:ln>
        </p:spPr>
        <p:txBody>
          <a:bodyPr wrap="square"/>
          <a:lstStyle/>
          <a:p>
            <a:pPr/>
            <a:endParaRPr lang="en-US" dirty="0"/>
          </a:p>
        </p:txBody>
      </p:sp>
      <p:sp>
        <p:nvSpPr>
          <p:cNvPr id="5" name="Slide Number Placeholder 4"/>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3" name="Footer Placeholder 2"/>
          <p:cNvSpPr>
            <a:spLocks noGrp="1"/>
          </p:cNvSpPr>
          <p:nvPr>
            <p:ph type="ftr" sz="quarter" idx="11"/>
          </p:nvPr>
        </p:nvSpPr>
        <p:spPr>
          <a:ln>
            <a:headEnd type="none"/>
            <a:tailEnd type="none"/>
          </a:ln>
        </p:spPr>
        <p:txBody>
          <a:bodyPr wrap="square"/>
          <a:lstStyle/>
          <a:p>
            <a:pPr/>
            <a:endParaRPr lang="en-US" dirty="0"/>
          </a:p>
        </p:txBody>
      </p:sp>
      <p:sp>
        <p:nvSpPr>
          <p:cNvPr id="4" name="Slide Number Placeholder 3"/>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ln>
            <a:headEnd type="none"/>
            <a:tailEnd type="none"/>
          </a:ln>
        </p:spPr>
        <p:txBody>
          <a:bodyPr anchor="b" wrap="square"/>
          <a:lstStyle>
            <a:lvl1pPr>
              <a:defRPr sz="3200" dirty="0"/>
            </a:lvl1pPr>
          </a:lstStyle>
          <a:p>
            <a:pPr/>
            <a:r>
              <a:rPr lang="en-US" dirty="0"/>
              <a:t>Click to edit Master title style</a:t>
            </a:r>
            <a:endParaRPr lang="en-US" dirty="0"/>
          </a:p>
        </p:txBody>
      </p:sp>
      <p:sp>
        <p:nvSpPr>
          <p:cNvPr id="3" name="Content Placeholder 2"/>
          <p:cNvSpPr>
            <a:spLocks noGrp="1"/>
          </p:cNvSpPr>
          <p:nvPr>
            <p:ph idx="1"/>
          </p:nvPr>
        </p:nvSpPr>
        <p:spPr>
          <a:xfrm>
            <a:off x="5183188" y="987425"/>
            <a:ext cx="6172200" cy="4873625"/>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Text Placeholder 3"/>
          <p:cNvSpPr>
            <a:spLocks noGrp="1"/>
          </p:cNvSpPr>
          <p:nvPr>
            <p:ph type="body" sz="half" idx="2"/>
          </p:nvPr>
        </p:nvSpPr>
        <p:spPr>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6" name="Footer Placeholder 5"/>
          <p:cNvSpPr>
            <a:spLocks noGrp="1"/>
          </p:cNvSpPr>
          <p:nvPr>
            <p:ph type="ftr" sz="quarter" idx="11"/>
          </p:nvPr>
        </p:nvSpPr>
        <p:spPr>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ln>
            <a:headEnd type="none"/>
            <a:tailEnd type="none"/>
          </a:ln>
        </p:spPr>
        <p:txBody>
          <a:bodyPr anchor="b" wrap="square"/>
          <a:lstStyle>
            <a:lvl1pPr>
              <a:defRPr sz="3200" dirty="0"/>
            </a:lvl1pPr>
          </a:lstStyle>
          <a:p>
            <a:pPr/>
            <a:r>
              <a:rPr lang="en-US" dirty="0"/>
              <a:t>Click to edit Master title style</a:t>
            </a:r>
            <a:endParaRPr lang="en-US" dirty="0"/>
          </a:p>
        </p:txBody>
      </p:sp>
      <p:sp>
        <p:nvSpPr>
          <p:cNvPr id="3" name="Picture Placeholder 2"/>
          <p:cNvSpPr>
            <a:spLocks noGrp="1"/>
          </p:cNvSpPr>
          <p:nvPr>
            <p:ph type="pic" idx="1"/>
          </p:nvPr>
        </p:nvSpPr>
        <p:spPr>
          <a:xfrm>
            <a:off x="5183188" y="987425"/>
            <a:ext cx="6172200" cy="4873625"/>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pPr/>
            <a:endParaRPr lang="en-US" dirty="0"/>
          </a:p>
        </p:txBody>
      </p:sp>
      <p:sp>
        <p:nvSpPr>
          <p:cNvPr id="4" name="Text Placeholder 3"/>
          <p:cNvSpPr>
            <a:spLocks noGrp="1"/>
          </p:cNvSpPr>
          <p:nvPr>
            <p:ph type="body" sz="half" idx="2"/>
          </p:nvPr>
        </p:nvSpPr>
        <p:spPr>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6" name="Footer Placeholder 5"/>
          <p:cNvSpPr>
            <a:spLocks noGrp="1"/>
          </p:cNvSpPr>
          <p:nvPr>
            <p:ph type="ftr" sz="quarter" idx="11"/>
          </p:nvPr>
        </p:nvSpPr>
        <p:spPr>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US" dirty="0"/>
          </a:p>
        </p:txBody>
      </p:sp>
      <p:sp>
        <p:nvSpPr>
          <p:cNvPr id="3" name="Vertical Text Placeholder 2"/>
          <p:cNvSpPr>
            <a:spLocks noGrp="1"/>
          </p:cNvSpPr>
          <p:nvPr>
            <p:ph type="body" orient="vert" idx="1"/>
          </p:nvPr>
        </p:nvSpPr>
        <p:spPr>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Date Placeholder 3"/>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5" name="Footer Placeholder 4"/>
          <p:cNvSpPr>
            <a:spLocks noGrp="1"/>
          </p:cNvSpPr>
          <p:nvPr>
            <p:ph type="ftr" sz="quarter" idx="11"/>
          </p:nvPr>
        </p:nvSpPr>
        <p:spPr>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ln>
            <a:headEnd type="none"/>
            <a:tailEnd type="none"/>
          </a:ln>
        </p:spPr>
        <p:txBody>
          <a:bodyPr vert="eaVert" wrap="square"/>
          <a:lstStyle/>
          <a:p>
            <a:pPr/>
            <a:r>
              <a:rPr lang="en-US" dirty="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Date Placeholder 3"/>
          <p:cNvSpPr>
            <a:spLocks noGrp="1"/>
          </p:cNvSpPr>
          <p:nvPr>
            <p:ph type="dt" sz="half" idx="10"/>
          </p:nvPr>
        </p:nvSpPr>
        <p:spPr>
          <a:ln>
            <a:headEnd type="none"/>
            <a:tailEnd type="none"/>
          </a:ln>
        </p:spPr>
        <p:txBody>
          <a:bodyPr wrap="square"/>
          <a:lstStyle/>
          <a:p>
            <a:pPr/>
            <a:fld id="{D4630D1D-EC81-4D12-BBAE-7AD5C46FE905}" type="datetimeFigureOut">
              <a:rPr lang="en-US" dirty="0"/>
              <a:t>7/8/2015</a:t>
            </a:fld>
            <a:endParaRPr lang="en-US" dirty="0"/>
          </a:p>
        </p:txBody>
      </p:sp>
      <p:sp>
        <p:nvSpPr>
          <p:cNvPr id="5" name="Footer Placeholder 4"/>
          <p:cNvSpPr>
            <a:spLocks noGrp="1"/>
          </p:cNvSpPr>
          <p:nvPr>
            <p:ph type="ftr" sz="quarter" idx="11"/>
          </p:nvPr>
        </p:nvSpPr>
        <p:spPr>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a:ln>
            <a:headEnd type="none"/>
            <a:tailEnd type="none"/>
          </a:ln>
        </p:spPr>
        <p:txBody>
          <a:bodyPr wrap="square"/>
          <a:lstStyle/>
          <a:p>
            <a:pPr/>
            <a:fld id="{E1CC4C9C-B29E-4E68-9F89-CA7A1621DE94}" type="slidenum">
              <a:rPr lang="en-US" dirty="0"/>
              <a:t>‹#›</a:t>
            </a:fld>
            <a:endParaRPr lang="en-US" dirty="0"/>
          </a:p>
        </p:txBody>
      </p:sp>
    </p:spTree>
  </p:cSld>
  <p:clrMapOvr>
    <a:masterClrMapping/>
  </p:clrMapOvr>
</p:sldLayout>
</file>

<file path=ppt/slideMasters/_rels/slideMaster1.xml.rels>&#65279;<?xml version="1.0" encoding="utf-8" standalone="yes"?><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pp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a:ln>
            <a:headEnd type="none"/>
            <a:tailEnd type="none"/>
          </a:ln>
        </p:spPr>
        <p:txBody>
          <a:bodyPr lIns="91440" tIns="45720" rIns="91440" bIns="45720" anchor="ctr" wrap="square">
            <a:normAutofit/>
          </a:bodyPr>
          <a:lstStyle/>
          <a:p>
            <a:pPr/>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a:ln>
            <a:headEnd type="none"/>
            <a:tailEnd type="none"/>
          </a:ln>
        </p:spPr>
        <p:txBody>
          <a:bodyPr lIns="91440" tIns="45720" rIns="91440" bIns="45720" wrap="square">
            <a:normAutofit/>
          </a:body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a:ln>
            <a:headEnd type="none"/>
            <a:tailEnd type="none"/>
          </a:ln>
        </p:spPr>
        <p:txBody>
          <a:bodyPr lIns="91440" tIns="45720" rIns="91440" bIns="45720" anchor="ctr" wrap="square"/>
          <a:lstStyle>
            <a:lvl1pPr algn="l">
              <a:defRPr sz="1200" dirty="0">
                <a:solidFill>
                  <a:schemeClr val="tx1">
                    <a:tint val="75000"/>
                  </a:schemeClr>
                </a:solidFill>
              </a:defRPr>
            </a:lvl1pPr>
          </a:lstStyle>
          <a:p>
            <a:pPr/>
            <a:fld id="{D4630D1D-EC81-4D12-BBAE-7AD5C46FE905}" type="datetimeFigureOut">
              <a:rPr lang="en-US" dirty="0"/>
              <a:t>7/8/2015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a:ln>
            <a:headEnd type="none"/>
            <a:tailEnd type="none"/>
          </a:ln>
        </p:spPr>
        <p:txBody>
          <a:bodyPr lIns="91440" tIns="45720" rIns="91440" bIns="45720" anchor="ctr" wrap="square"/>
          <a:lstStyle>
            <a:lvl1pPr algn="ctr">
              <a:defRPr sz="1200" dirty="0">
                <a:solidFill>
                  <a:schemeClr val="tx1">
                    <a:tint val="75000"/>
                  </a:schemeClr>
                </a:solidFill>
              </a:defRPr>
            </a:lvl1pPr>
          </a:lstStyle>
          <a:p>
            <a:pP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a:ln>
            <a:headEnd type="none"/>
            <a:tailEnd type="none"/>
          </a:ln>
        </p:spPr>
        <p:txBody>
          <a:bodyPr lIns="91440" tIns="45720" rIns="91440" bIns="45720" anchor="ctr" wrap="square"/>
          <a:lstStyle>
            <a:lvl1pPr algn="r">
              <a:defRPr sz="1200" dirty="0">
                <a:solidFill>
                  <a:schemeClr val="tx1">
                    <a:tint val="75000"/>
                  </a:schemeClr>
                </a:solidFill>
              </a:defRPr>
            </a:lvl1pPr>
          </a:lstStyle>
          <a:p>
            <a:pPr/>
            <a:fld id="{E1CC4C9C-B29E-4E68-9F89-CA7A1621DE94}" type="slidenum">
              <a:rPr lang="en-US" dirty="0"/>
              <a:t>‹#›</a:t>
            </a:fld>
            <a:endParaRPr lang="en-US" dirty="0"/>
          </a:p>
        </p:txBody>
      </p:sp>
      <p:sp>
        <p:nvSpPr>
          <p:cNvPr id="7" name="SyncfusionLicense"/>
          <p:cNvSpPr txBox="1">
            <a:spLocks noChangeArrowheads="1"/>
          </p:cNvSpPr>
          <p:nvPr/>
        </p:nvSpPr>
        <p:spPr>
          <a:xfrm rot="19980000">
            <a:off x="3206750" y="3111500"/>
            <a:ext cx="5778500" cy="635000"/>
          </a:xfrm>
          <a:prstGeom prst="rect">
            <a:avLst/>
          </a:prstGeom>
          <a:ln>
            <a:headEnd type="none"/>
            <a:tailEnd type="none"/>
          </a:ln>
        </p:spPr>
        <p:txBody>
          <a:bodyPr anchor="ctr" wrap="square">
            <a:spAutoFit/>
          </a:bodyPr>
          <a:lstStyle/>
          <a:p>
            <a:pPr algn="ctr" defTabSz="914400">
              <a:defRPr sz="1800" dirty="0">
                <a:solidFill>
                  <a:srgbClr val="FF0000"/>
                </a:solidFill>
              </a:defRPr>
            </a:pPr>
            <a:r>
              <a:rPr/>
              <a:t>Created with a trial version of Syncfusion PowerPoint library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rtl="0" algn="l" defTabSz="914400">
        <a:lnSpc>
          <a:spcPct val="90000"/>
        </a:lnSpc>
        <a:spcBef>
          <a:spcPct val="0"/>
        </a:spcBef>
        <a:buNone/>
        <a:defRPr sz="4400" kern="1200" dirty="0">
          <a:solidFill>
            <a:schemeClr val="tx1"/>
          </a:solidFill>
          <a:latin typeface="+mj-lt"/>
          <a:ea typeface="+mj-ea"/>
          <a:cs typeface="+mj-cs"/>
        </a:defRPr>
      </a:lvl1pPr>
    </p:titleStyle>
    <p:bodyStyle>
      <a:lvl1pPr marL="228600" indent="-228600" rtl="0" algn="l" defTabSz="914400">
        <a:lnSpc>
          <a:spcPct val="90000"/>
        </a:lnSpc>
        <a:spcBef>
          <a:spcPts val="1000"/>
        </a:spcBef>
        <a:buFont typeface="Arial"/>
        <a:buChar char="•"/>
        <a:defRPr sz="2800" kern="1200" dirty="0">
          <a:solidFill>
            <a:schemeClr val="tx1"/>
          </a:solidFill>
          <a:latin typeface="+mn-lt"/>
          <a:ea typeface="+mn-ea"/>
          <a:cs typeface="+mn-cs"/>
        </a:defRPr>
      </a:lvl1pPr>
      <a:lvl2pPr marL="685800" indent="-228600" rtl="0" algn="l" defTabSz="914400">
        <a:lnSpc>
          <a:spcPct val="90000"/>
        </a:lnSpc>
        <a:spcBef>
          <a:spcPts val="500"/>
        </a:spcBef>
        <a:buFont typeface="Arial"/>
        <a:buChar char="•"/>
        <a:defRPr sz="2400" kern="1200" dirty="0">
          <a:solidFill>
            <a:schemeClr val="tx1"/>
          </a:solidFill>
          <a:latin typeface="+mn-lt"/>
          <a:ea typeface="+mn-ea"/>
          <a:cs typeface="+mn-cs"/>
        </a:defRPr>
      </a:lvl2pPr>
      <a:lvl3pPr marL="1143000" indent="-228600" rtl="0" algn="l" defTabSz="914400">
        <a:lnSpc>
          <a:spcPct val="90000"/>
        </a:lnSpc>
        <a:spcBef>
          <a:spcPts val="500"/>
        </a:spcBef>
        <a:buFont typeface="Arial"/>
        <a:buChar char="•"/>
        <a:defRPr sz="2000" kern="1200" dirty="0">
          <a:solidFill>
            <a:schemeClr val="tx1"/>
          </a:solidFill>
          <a:latin typeface="+mn-lt"/>
          <a:ea typeface="+mn-ea"/>
          <a:cs typeface="+mn-cs"/>
        </a:defRPr>
      </a:lvl3pPr>
      <a:lvl4pPr marL="1600200" indent="-228600" rtl="0" algn="l" defTabSz="914400">
        <a:lnSpc>
          <a:spcPct val="90000"/>
        </a:lnSpc>
        <a:spcBef>
          <a:spcPts val="500"/>
        </a:spcBef>
        <a:buFont typeface="Arial"/>
        <a:buChar char="•"/>
        <a:defRPr sz="1800" kern="1200" dirty="0">
          <a:solidFill>
            <a:schemeClr val="tx1"/>
          </a:solidFill>
          <a:latin typeface="+mn-lt"/>
          <a:ea typeface="+mn-ea"/>
          <a:cs typeface="+mn-cs"/>
        </a:defRPr>
      </a:lvl4pPr>
      <a:lvl5pPr marL="2057400" indent="-228600" rtl="0" algn="l" defTabSz="914400">
        <a:lnSpc>
          <a:spcPct val="90000"/>
        </a:lnSpc>
        <a:spcBef>
          <a:spcPts val="500"/>
        </a:spcBef>
        <a:buFont typeface="Arial"/>
        <a:buChar char="•"/>
        <a:defRPr sz="1800" kern="1200" dirty="0">
          <a:solidFill>
            <a:schemeClr val="tx1"/>
          </a:solidFill>
          <a:latin typeface="+mn-lt"/>
          <a:ea typeface="+mn-ea"/>
          <a:cs typeface="+mn-cs"/>
        </a:defRPr>
      </a:lvl5pPr>
      <a:lvl6pPr marL="2514600" indent="-228600" rtl="0" algn="l" defTabSz="914400">
        <a:lnSpc>
          <a:spcPct val="90000"/>
        </a:lnSpc>
        <a:spcBef>
          <a:spcPts val="500"/>
        </a:spcBef>
        <a:buFont typeface="Arial"/>
        <a:buChar char="•"/>
        <a:defRPr sz="1800" kern="1200" dirty="0">
          <a:solidFill>
            <a:schemeClr val="tx1"/>
          </a:solidFill>
          <a:latin typeface="+mn-lt"/>
          <a:ea typeface="+mn-ea"/>
          <a:cs typeface="+mn-cs"/>
        </a:defRPr>
      </a:lvl6pPr>
      <a:lvl7pPr marL="2971800" indent="-228600" rtl="0" algn="l" defTabSz="914400">
        <a:lnSpc>
          <a:spcPct val="90000"/>
        </a:lnSpc>
        <a:spcBef>
          <a:spcPts val="500"/>
        </a:spcBef>
        <a:buFont typeface="Arial"/>
        <a:buChar char="•"/>
        <a:defRPr sz="1800" kern="1200" dirty="0">
          <a:solidFill>
            <a:schemeClr val="tx1"/>
          </a:solidFill>
          <a:latin typeface="+mn-lt"/>
          <a:ea typeface="+mn-ea"/>
          <a:cs typeface="+mn-cs"/>
        </a:defRPr>
      </a:lvl7pPr>
      <a:lvl8pPr marL="3429000" indent="-228600" rtl="0" algn="l" defTabSz="914400">
        <a:lnSpc>
          <a:spcPct val="90000"/>
        </a:lnSpc>
        <a:spcBef>
          <a:spcPts val="500"/>
        </a:spcBef>
        <a:buFont typeface="Arial"/>
        <a:buChar char="•"/>
        <a:defRPr sz="1800" kern="1200" dirty="0">
          <a:solidFill>
            <a:schemeClr val="tx1"/>
          </a:solidFill>
          <a:latin typeface="+mn-lt"/>
          <a:ea typeface="+mn-ea"/>
          <a:cs typeface="+mn-cs"/>
        </a:defRPr>
      </a:lvl8pPr>
      <a:lvl9pPr marL="3886200" indent="-228600" rtl="0" algn="l" defTabSz="91440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www.syncfusion.com/account/claim-license-key?pl=cG93ZXJwb2ludA==&amp;vs=MzQuMS4zMw==" TargetMode="Externa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go.microsoft.com/fwlink/?LinkId=214445" TargetMode="External" /><Relationship Id="rId3" Type="http://schemas.openxmlformats.org/officeDocument/2006/relationships/hyperlink" Target="http://go.microsoft.com/fwlink/?LinkId=214445" TargetMode="External" /><Relationship Id="rId4" Type="http://schemas.openxmlformats.org/officeDocument/2006/relationships/hyperlink" Target="http://go.microsoft.com/fwlink/?LinkId=214445" TargetMode="External" /><Relationship Id="rId5" Type="http://schemas.openxmlformats.org/officeDocument/2006/relationships/hyperlink" Target="http://go.microsoft.com/fwlink/?LinkId=214448" TargetMode="External" /><Relationship Id="rId6" Type="http://schemas.openxmlformats.org/officeDocument/2006/relationships/hyperlink" Target="http://go.microsoft.com/fwlink/?LinkId=214448" TargetMode="External" /><Relationship Id="rId7" Type="http://schemas.openxmlformats.org/officeDocument/2006/relationships/hyperlink" Target="http://go.microsoft.com/fwlink/?LinkId=214448" TargetMode="External" /><Relationship Id="rId8" Type="http://schemas.openxmlformats.org/officeDocument/2006/relationships/hyperlink" Target="mailto:iplg@microsoft.com" TargetMode="External" /><Relationship Id="rId9" Type="http://schemas.openxmlformats.org/officeDocument/2006/relationships/hyperlink" Target="https://msdn.microsoft.com/en-us/openspecifications/dn750984" TargetMode="External" /><Relationship Id="rId10" Type="http://schemas.openxmlformats.org/officeDocument/2006/relationships/hyperlink" Target="https://msdn.microsoft.com/en-us/openspecifications/dn750984" TargetMode="External" /><Relationship Id="rId11" Type="http://schemas.openxmlformats.org/officeDocument/2006/relationships/hyperlink" Target="http://www.microsoft.com/trademarks" TargetMode="Ex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mailto:dochelp@microsoft.com" TargetMode="Externa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png"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4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7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8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0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1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2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3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4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5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mailto:dochelp@microsoft.com" TargetMode="External" /></Relationships>
</file>

<file path=ppt/slides/_rels/slide27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7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8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8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8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go.microsoft.com/fwlink/?LinkId=214445" TargetMode="External" /><Relationship Id="rId3" Type="http://schemas.openxmlformats.org/officeDocument/2006/relationships/hyperlink" Target="http://go.microsoft.com/fwlink/?LinkId=214445" TargetMode="External" /><Relationship Id="rId4" Type="http://schemas.openxmlformats.org/officeDocument/2006/relationships/hyperlink" Target="http://go.microsoft.com/fwlink/?LinkId=214445" TargetMode="External" /><Relationship Id="rId5" Type="http://schemas.openxmlformats.org/officeDocument/2006/relationships/hyperlink" Target="http://go.microsoft.com/fwlink/?LinkId=214448" TargetMode="External" /><Relationship Id="rId6" Type="http://schemas.openxmlformats.org/officeDocument/2006/relationships/hyperlink" Target="http://go.microsoft.com/fwlink/?LinkId=214448" TargetMode="External" /><Relationship Id="rId7" Type="http://schemas.openxmlformats.org/officeDocument/2006/relationships/hyperlink" Target="http://go.microsoft.com/fwlink/?LinkId=214448" TargetMode="External" /><Relationship Id="rId8" Type="http://schemas.openxmlformats.org/officeDocument/2006/relationships/hyperlink" Target="mailto:iplg@microsoft.com" TargetMode="External" /><Relationship Id="rId9" Type="http://schemas.openxmlformats.org/officeDocument/2006/relationships/hyperlink" Target="https://msdn.microsoft.com/en-us/openspecifications/dn750984" TargetMode="External" /><Relationship Id="rId10" Type="http://schemas.openxmlformats.org/officeDocument/2006/relationships/hyperlink" Target="https://msdn.microsoft.com/en-us/openspecifications/dn750984" TargetMode="External" /><Relationship Id="rId11" Type="http://schemas.openxmlformats.org/officeDocument/2006/relationships/hyperlink" Target="http://www.microsoft.com/trademarks" TargetMode="External" /></Relationships>
</file>

<file path=ppt/slides/_rels/slide28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mailto:dochelp@microsoft.com" TargetMode="External" /></Relationships>
</file>

<file path=ppt/slides/_rels/slide28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jpeg" /><Relationship Id="rId3" Type="http://schemas.openxmlformats.org/officeDocument/2006/relationships/image" Target="../media/image5.png" /></Relationships>
</file>

<file path=ppt/slides/_rels/slide28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jpeg" /></Relationships>
</file>

<file path=ppt/slides/_rels/slide28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8.jpeg" /></Relationships>
</file>

<file path=ppt/slides/_rels/slide28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8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8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9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9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9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9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9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go.microsoft.com/fwlink/?LinkId=200054" TargetMode="External" /><Relationship Id="rId3" Type="http://schemas.openxmlformats.org/officeDocument/2006/relationships/hyperlink" Target="https://go.microsoft.com/fwlink/?LinkId=90598" TargetMode="External" /></Relationships>
</file>

<file path=ppt/slides/_rels/slide29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go.microsoft.com/fwlink/?LinkId=90453" TargetMode="External" /><Relationship Id="rId3" Type="http://schemas.openxmlformats.org/officeDocument/2006/relationships/hyperlink" Target="https://go.microsoft.com/fwlink/?LinkId=90602" TargetMode="External" /><Relationship Id="rId4" Type="http://schemas.openxmlformats.org/officeDocument/2006/relationships/hyperlink" Target="https://go.microsoft.com/fwlink/?LinkId=90317" TargetMode="External" /></Relationships>
</file>

<file path=ppt/slides/_rels/slide29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go.microsoft.com/fwlink/?linkid=850906" TargetMode="External" /><Relationship Id="rId3" Type="http://schemas.openxmlformats.org/officeDocument/2006/relationships/hyperlink" Target="mailto:dochelp@microsoft.com" TargetMode="External" /><Relationship Id="rId4" Type="http://schemas.openxmlformats.org/officeDocument/2006/relationships/hyperlink" Target="https://go.microsoft.com/fwlink/?LinkId=200054" TargetMode="External" /><Relationship Id="rId5" Type="http://schemas.openxmlformats.org/officeDocument/2006/relationships/hyperlink" Target="https://go.microsoft.com/fwlink/?LinkId=90317" TargetMode="External" /><Relationship Id="rId6" Type="http://schemas.openxmlformats.org/officeDocument/2006/relationships/hyperlink" Target="https://go.microsoft.com/fwlink/?LinkId=191840" TargetMode="External" /><Relationship Id="rId7" Type="http://schemas.openxmlformats.org/officeDocument/2006/relationships/hyperlink" Target="https://go.microsoft.com/fwlink/?LinkId=90608" TargetMode="External" /></Relationships>
</file>

<file path=ppt/slides/_rels/slide29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go.microsoft.com/fwlink/?LinkId=90610" TargetMode="External" /><Relationship Id="rId3" Type="http://schemas.openxmlformats.org/officeDocument/2006/relationships/hyperlink" Target="https://go.microsoft.com/fwlink/?LinkId=200054" TargetMode="External" /></Relationships>
</file>

<file path=ppt/slides/_rels/slide29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go.microsoft.com/fwlink/?LinkId=200054" TargetMode="External" /><Relationship Id="rId3" Type="http://schemas.openxmlformats.org/officeDocument/2006/relationships/hyperlink" Target="https://go.microsoft.com/fwlink/?LinkId=90608" TargetMode="External" /><Relationship Id="rId4" Type="http://schemas.openxmlformats.org/officeDocument/2006/relationships/hyperlink" Target="https://go.microsoft.com/fwlink/?LinkId=90610" TargetMode="External" /><Relationship Id="rId5" Type="http://schemas.openxmlformats.org/officeDocument/2006/relationships/hyperlink" Target="https://go.microsoft.com/fwlink/?LinkId=191840" TargetMode="External" /></Relationships>
</file>

<file path=ppt/slides/_rels/slide29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0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go.microsoft.com/fwlink/?LinkId=200054" TargetMode="External" /></Relationships>
</file>

<file path=ppt/slides/_rels/slide30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go.microsoft.com/fwlink/?LinkId=90608" TargetMode="External" /><Relationship Id="rId3" Type="http://schemas.openxmlformats.org/officeDocument/2006/relationships/hyperlink" Target="https://go.microsoft.com/fwlink/?LinkId=90610" TargetMode="External" /><Relationship Id="rId4" Type="http://schemas.openxmlformats.org/officeDocument/2006/relationships/hyperlink" Target="https://go.microsoft.com/fwlink/?LinkId=191840" TargetMode="External" /></Relationships>
</file>

<file path=ppt/slides/_rels/slide30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go.microsoft.com/fwlink/?LinkId=200054" TargetMode="External" /></Relationships>
</file>

<file path=ppt/slides/_rels/slide30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7.jpeg" /><Relationship Id="rId3" Type="http://schemas.openxmlformats.org/officeDocument/2006/relationships/image" Target="../media/image8.jpeg" /></Relationships>
</file>

<file path=ppt/slides/_rels/slide30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1.png" /><Relationship Id="rId3" Type="http://schemas.openxmlformats.org/officeDocument/2006/relationships/image" Target="../media/image12.png" /></Relationships>
</file>

<file path=ppt/slides/_rels/slide30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3.png" /><Relationship Id="rId3" Type="http://schemas.openxmlformats.org/officeDocument/2006/relationships/image" Target="../media/image14.png" /></Relationships>
</file>

<file path=ppt/slides/_rels/slide30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5.jpeg" /><Relationship Id="rId3" Type="http://schemas.openxmlformats.org/officeDocument/2006/relationships/image" Target="../media/image16.jpeg" /></Relationships>
</file>

<file path=ppt/slides/_rels/slide30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0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0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7.png" /></Relationships>
</file>

<file path=ppt/slides/_rels/slide31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1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2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8.png" /></Relationships>
</file>

<file path=ppt/slides/_rels/slide32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9.png" /></Relationships>
</file>

<file path=ppt/slides/_rels/slide32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s>
</file>

<file path=ppt/slides/_rels/slide32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2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2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2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s>
</file>

<file path=ppt/slides/_rels/slide33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png" /></Relationships>
</file>

<file path=ppt/slides/_rels/slide34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4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5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6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0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1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2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5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6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7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8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9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0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1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2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3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4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5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6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7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8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mailto:dochelp@microsoft.com" TargetMode="External" /></Relationships>
</file>

<file path=ppt/slides/_rels/slide59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9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0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s://www.syncfusion.com/account/claim-license-key?pl=cG93ZXJwb2ludA==&amp;vs=MzQuMS4zMw=="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1" i="0" strike="noStrike" dirty="0"/>
              <a:t>[MS-CUSTOMUI]:</a:t>
            </a:r>
            <a:r>
              <a:rPr b="0" i="0" strike="noStrike" dirty="0"/>
              <a:t> </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1" i="0" strike="noStrike" dirty="0"/>
              <a:t>Custom </a:t>
            </a:r>
            <a:r>
              <a:rPr b="1" i="0" strike="noStrike" dirty="0"/>
              <a:t>UI </a:t>
            </a:r>
            <a:r>
              <a:rPr b="1" i="0" strike="noStrike" dirty="0"/>
              <a:t>XML </a:t>
            </a:r>
            <a:r>
              <a:rPr b="1" i="0" strike="noStrike" dirty="0"/>
              <a:t>Markup </a:t>
            </a:r>
            <a:r>
              <a:rPr b="1" i="0" strike="noStrike" dirty="0"/>
              <a:t>Specification</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Intellectual </a:t>
            </a:r>
            <a:r>
              <a:rPr b="0" i="0" strike="noStrike" dirty="0"/>
              <a:t>Property </a:t>
            </a:r>
            <a:r>
              <a:rPr b="0" i="0" strike="noStrike" dirty="0"/>
              <a:t>Rights </a:t>
            </a:r>
            <a:r>
              <a:rPr b="0" i="0" strike="noStrike" dirty="0"/>
              <a:t>Notice </a:t>
            </a:r>
            <a:r>
              <a:rPr b="0" i="0" strike="noStrike" dirty="0"/>
              <a:t>for </a:t>
            </a:r>
            <a:r>
              <a:rPr b="0" i="0" strike="noStrike" dirty="0"/>
              <a:t>Open </a:t>
            </a:r>
            <a:r>
              <a:rPr b="0" i="0" strike="noStrike" dirty="0"/>
              <a:t>Specifications </a:t>
            </a:r>
            <a:r>
              <a:rPr b="0" i="0" strike="noStrike" dirty="0"/>
              <a:t>Documentation</a:t>
            </a:r>
          </a:p>
        </p:txBody>
      </p:sp>
      <p:sp>
        <p:nvSpPr>
          <p:cNvPr id="5" name="TextBox5"/>
          <p:cNvSpPr txBox="1">
            <a:spLocks noChangeArrowheads="1"/>
          </p:cNvSpPr>
          <p:nvPr/>
        </p:nvSpPr>
        <p:spPr>
          <a:xfrm rot="0">
            <a:off x="508000" y="1544320"/>
            <a:ext cx="11176000" cy="960120"/>
          </a:xfrm>
          <a:prstGeom prst="rect">
            <a:avLst/>
          </a:prstGeom>
          <a:ln>
            <a:headEnd type="none"/>
            <a:tailEnd type="none"/>
          </a:ln>
        </p:spPr>
        <p:txBody>
          <a:bodyPr wrap="square">
            <a:spAutoFit/>
          </a:bodyPr>
          <a:lstStyle/>
          <a:p>
            <a:pPr lvl="1" indent="283464" algn="l" defTabSz="914400">
              <a:buChar char="•"/>
            </a:pPr>
            <a:r>
              <a:rPr b="1" i="0" strike="noStrike" dirty="0"/>
              <a:t>Technical </a:t>
            </a:r>
            <a:r>
              <a:rPr b="1" i="0" strike="noStrike" dirty="0"/>
              <a:t>Documentation.</a:t>
            </a:r>
            <a:r>
              <a:rPr b="0" i="0" strike="noStrike" dirty="0"/>
              <a:t> </a:t>
            </a:r>
            <a:r>
              <a:rPr b="0" i="0" strike="noStrike" dirty="0"/>
              <a:t>Microsoft </a:t>
            </a:r>
            <a:r>
              <a:rPr b="0" i="0" strike="noStrike" dirty="0"/>
              <a:t>publishes </a:t>
            </a:r>
            <a:r>
              <a:rPr b="0" i="0" strike="noStrike" dirty="0"/>
              <a:t>Open </a:t>
            </a:r>
            <a:r>
              <a:rPr b="0" i="0" strike="noStrike" dirty="0"/>
              <a:t>Specifications </a:t>
            </a:r>
            <a:r>
              <a:rPr b="0" i="0" strike="noStrike" dirty="0"/>
              <a:t>documentation </a:t>
            </a:r>
            <a:r>
              <a:rPr b="0" i="0" strike="noStrike" dirty="0"/>
              <a:t>(“this </a:t>
            </a:r>
            <a:r>
              <a:rPr b="0" i="0" strike="noStrike" dirty="0"/>
              <a:t>documentation”) </a:t>
            </a:r>
            <a:r>
              <a:rPr b="0" i="0" strike="noStrike" dirty="0"/>
              <a:t>for </a:t>
            </a:r>
            <a:r>
              <a:rPr b="0" i="0" strike="noStrike" dirty="0"/>
              <a:t>protocols, </a:t>
            </a:r>
            <a:r>
              <a:rPr b="0" i="0" strike="noStrike" dirty="0"/>
              <a:t>file </a:t>
            </a:r>
            <a:r>
              <a:rPr b="0" i="0" strike="noStrike" dirty="0"/>
              <a:t>formats, </a:t>
            </a:r>
            <a:r>
              <a:rPr b="0" i="0" strike="noStrike" dirty="0"/>
              <a:t>data </a:t>
            </a:r>
            <a:r>
              <a:rPr b="0" i="0" strike="noStrike" dirty="0"/>
              <a:t>portability, </a:t>
            </a:r>
            <a:r>
              <a:rPr b="0" i="0" strike="noStrike" dirty="0"/>
              <a:t>computer </a:t>
            </a:r>
            <a:r>
              <a:rPr b="0" i="0" strike="noStrike" dirty="0"/>
              <a:t>languages, </a:t>
            </a:r>
            <a:r>
              <a:rPr b="0" i="0" strike="noStrike" dirty="0"/>
              <a:t>and </a:t>
            </a:r>
            <a:r>
              <a:rPr b="0" i="0" strike="noStrike" dirty="0"/>
              <a:t>standards </a:t>
            </a:r>
            <a:r>
              <a:rPr b="0" i="0" strike="noStrike" dirty="0"/>
              <a:t>support. </a:t>
            </a:r>
            <a:r>
              <a:rPr b="0" i="0" strike="noStrike" dirty="0"/>
              <a:t>Additionally, </a:t>
            </a:r>
            <a:r>
              <a:rPr b="0" i="0" strike="noStrike" dirty="0"/>
              <a:t>overview </a:t>
            </a:r>
            <a:r>
              <a:rPr b="0" i="0" strike="noStrike" dirty="0"/>
              <a:t>documents </a:t>
            </a:r>
            <a:r>
              <a:rPr b="0" i="0" strike="noStrike" dirty="0"/>
              <a:t>cover </a:t>
            </a:r>
            <a:r>
              <a:rPr b="0" i="0" strike="noStrike" dirty="0"/>
              <a:t>inter-protocol </a:t>
            </a:r>
            <a:r>
              <a:rPr b="0" i="0" strike="noStrike" dirty="0"/>
              <a:t>relationships </a:t>
            </a:r>
            <a:r>
              <a:rPr b="0" i="0" strike="noStrike" dirty="0"/>
              <a:t>and </a:t>
            </a:r>
            <a:r>
              <a:rPr b="0" i="0" strike="noStrike" dirty="0"/>
              <a:t>interactions. </a:t>
            </a:r>
          </a:p>
        </p:txBody>
      </p:sp>
      <p:sp>
        <p:nvSpPr>
          <p:cNvPr id="6" name="TextBox6"/>
          <p:cNvSpPr txBox="1">
            <a:spLocks noChangeArrowheads="1"/>
          </p:cNvSpPr>
          <p:nvPr/>
        </p:nvSpPr>
        <p:spPr>
          <a:xfrm rot="0">
            <a:off x="508000" y="2529840"/>
            <a:ext cx="11176000" cy="2560320"/>
          </a:xfrm>
          <a:prstGeom prst="rect">
            <a:avLst/>
          </a:prstGeom>
          <a:ln>
            <a:headEnd type="none"/>
            <a:tailEnd type="none"/>
          </a:ln>
        </p:spPr>
        <p:txBody>
          <a:bodyPr wrap="square">
            <a:spAutoFit/>
          </a:bodyPr>
          <a:lstStyle/>
          <a:p>
            <a:pPr lvl="1" indent="283464" algn="l" defTabSz="914400">
              <a:buChar char="•"/>
            </a:pPr>
            <a:r>
              <a:rPr b="1" i="0" strike="noStrike" dirty="0"/>
              <a:t>Copyrights</a:t>
            </a:r>
            <a:r>
              <a:rPr b="0" i="0" strike="noStrike" dirty="0"/>
              <a:t>. </a:t>
            </a:r>
            <a:r>
              <a:rPr b="0" i="0" strike="noStrike" dirty="0"/>
              <a:t>This </a:t>
            </a:r>
            <a:r>
              <a:rPr b="0" i="0" strike="noStrike" dirty="0"/>
              <a:t>documentation </a:t>
            </a:r>
            <a:r>
              <a:rPr b="0" i="0" strike="noStrike" dirty="0"/>
              <a:t>is </a:t>
            </a:r>
            <a:r>
              <a:rPr b="0" i="0" strike="noStrike" dirty="0"/>
              <a:t>covered </a:t>
            </a:r>
            <a:r>
              <a:rPr b="0" i="0" strike="noStrike" dirty="0"/>
              <a:t>by </a:t>
            </a:r>
            <a:r>
              <a:rPr b="0" i="0" strike="noStrike" dirty="0"/>
              <a:t>Microsoft </a:t>
            </a:r>
            <a:r>
              <a:rPr b="0" i="0" strike="noStrike" dirty="0"/>
              <a:t>copyrights. </a:t>
            </a:r>
            <a:r>
              <a:rPr b="0" i="0" strike="noStrike" dirty="0"/>
              <a:t>Regardless </a:t>
            </a:r>
            <a:r>
              <a:rPr b="0" i="0" strike="noStrike" dirty="0"/>
              <a:t>of </a:t>
            </a:r>
            <a:r>
              <a:rPr b="0" i="0" strike="noStrike" dirty="0"/>
              <a:t>any </a:t>
            </a:r>
            <a:r>
              <a:rPr b="0" i="0" strike="noStrike" dirty="0"/>
              <a:t>other </a:t>
            </a:r>
            <a:r>
              <a:rPr b="0" i="0" strike="noStrike" dirty="0"/>
              <a:t>terms </a:t>
            </a:r>
            <a:r>
              <a:rPr b="0" i="0" strike="noStrike" dirty="0"/>
              <a:t>that </a:t>
            </a:r>
            <a:r>
              <a:rPr b="0" i="0" strike="noStrike" dirty="0"/>
              <a:t>are </a:t>
            </a:r>
            <a:r>
              <a:rPr b="0" i="0" strike="noStrike" dirty="0"/>
              <a:t>contained </a:t>
            </a:r>
            <a:r>
              <a:rPr b="0" i="0" strike="noStrike" dirty="0"/>
              <a:t>in </a:t>
            </a:r>
            <a:r>
              <a:rPr b="0" i="0" strike="noStrike" dirty="0"/>
              <a:t>the </a:t>
            </a:r>
            <a:r>
              <a:rPr b="0" i="0" strike="noStrike" dirty="0"/>
              <a:t>terms </a:t>
            </a:r>
            <a:r>
              <a:rPr b="0" i="0" strike="noStrike" dirty="0"/>
              <a:t>of </a:t>
            </a:r>
            <a:r>
              <a:rPr b="0" i="0" strike="noStrike" dirty="0"/>
              <a:t>use </a:t>
            </a:r>
            <a:r>
              <a:rPr b="0" i="0" strike="noStrike" dirty="0"/>
              <a:t>for </a:t>
            </a:r>
            <a:r>
              <a:rPr b="0" i="0" strike="noStrike" dirty="0"/>
              <a:t>the </a:t>
            </a:r>
            <a:r>
              <a:rPr b="0" i="0" strike="noStrike" dirty="0"/>
              <a:t>Microsoft </a:t>
            </a:r>
            <a:r>
              <a:rPr b="0" i="0" strike="noStrike" dirty="0"/>
              <a:t>website </a:t>
            </a:r>
            <a:r>
              <a:rPr b="0" i="0" strike="noStrike" dirty="0"/>
              <a:t>that </a:t>
            </a:r>
            <a:r>
              <a:rPr b="0" i="0" strike="noStrike" dirty="0"/>
              <a:t>hosts </a:t>
            </a:r>
            <a:r>
              <a:rPr b="0" i="0" strike="noStrike" dirty="0"/>
              <a:t>this </a:t>
            </a:r>
            <a:r>
              <a:rPr b="0" i="0" strike="noStrike" dirty="0"/>
              <a:t>documentation, </a:t>
            </a:r>
            <a:r>
              <a:rPr b="0" i="0" strike="noStrike" dirty="0"/>
              <a:t>you </a:t>
            </a:r>
            <a:r>
              <a:rPr b="0" i="0" strike="noStrike" dirty="0"/>
              <a:t>can </a:t>
            </a:r>
            <a:r>
              <a:rPr b="0" i="0" strike="noStrike" dirty="0"/>
              <a:t>make </a:t>
            </a:r>
            <a:r>
              <a:rPr b="0" i="0" strike="noStrike" dirty="0"/>
              <a:t>copies </a:t>
            </a:r>
            <a:r>
              <a:rPr b="0" i="0" strike="noStrike" dirty="0"/>
              <a:t>of </a:t>
            </a:r>
            <a:r>
              <a:rPr b="0" i="0" strike="noStrike" dirty="0"/>
              <a:t>it </a:t>
            </a:r>
            <a:r>
              <a:rPr b="0" i="0" strike="noStrike" dirty="0"/>
              <a:t>in </a:t>
            </a:r>
            <a:r>
              <a:rPr b="0" i="0" strike="noStrike" dirty="0"/>
              <a:t>order </a:t>
            </a:r>
            <a:r>
              <a:rPr b="0" i="0" strike="noStrike" dirty="0"/>
              <a:t>to </a:t>
            </a:r>
            <a:r>
              <a:rPr b="0" i="0" strike="noStrike" dirty="0"/>
              <a:t>develop </a:t>
            </a:r>
            <a:r>
              <a:rPr b="0" i="0" strike="noStrike" dirty="0"/>
              <a:t>implementations </a:t>
            </a:r>
            <a:r>
              <a:rPr b="0" i="0" strike="noStrike" dirty="0"/>
              <a:t>of </a:t>
            </a:r>
            <a:r>
              <a:rPr b="0" i="0" strike="noStrike" dirty="0"/>
              <a:t>the </a:t>
            </a:r>
            <a:r>
              <a:rPr b="0" i="0" strike="noStrike" dirty="0"/>
              <a:t>technologies </a:t>
            </a:r>
            <a:r>
              <a:rPr b="0" i="0" strike="noStrike" dirty="0"/>
              <a:t>that </a:t>
            </a:r>
            <a:r>
              <a:rPr b="0" i="0" strike="noStrike" dirty="0"/>
              <a:t>are </a:t>
            </a:r>
            <a:r>
              <a:rPr b="0" i="0" strike="noStrike" dirty="0"/>
              <a:t>described </a:t>
            </a:r>
            <a:r>
              <a:rPr b="0" i="0" strike="noStrike" dirty="0"/>
              <a:t>in </a:t>
            </a:r>
            <a:r>
              <a:rPr b="0" i="0" strike="noStrike" dirty="0"/>
              <a:t>this </a:t>
            </a:r>
            <a:r>
              <a:rPr b="0" i="0" strike="noStrike" dirty="0"/>
              <a:t>documentation </a:t>
            </a:r>
            <a:r>
              <a:rPr b="0" i="0" strike="noStrike" dirty="0"/>
              <a:t>and </a:t>
            </a:r>
            <a:r>
              <a:rPr b="0" i="0" strike="noStrike" dirty="0"/>
              <a:t>can </a:t>
            </a:r>
            <a:r>
              <a:rPr b="0" i="0" strike="noStrike" dirty="0"/>
              <a:t>distribute </a:t>
            </a:r>
            <a:r>
              <a:rPr b="0" i="0" strike="noStrike" dirty="0"/>
              <a:t>portions </a:t>
            </a:r>
            <a:r>
              <a:rPr b="0" i="0" strike="noStrike" dirty="0"/>
              <a:t>of </a:t>
            </a:r>
            <a:r>
              <a:rPr b="0" i="0" strike="noStrike" dirty="0"/>
              <a:t>it </a:t>
            </a:r>
            <a:r>
              <a:rPr b="0" i="0" strike="noStrike" dirty="0"/>
              <a:t>in </a:t>
            </a:r>
            <a:r>
              <a:rPr b="0" i="0" strike="noStrike" dirty="0"/>
              <a:t>your </a:t>
            </a:r>
            <a:r>
              <a:rPr b="0" i="0" strike="noStrike" dirty="0"/>
              <a:t>implementations </a:t>
            </a:r>
            <a:r>
              <a:rPr b="0" i="0" strike="noStrike" dirty="0"/>
              <a:t>that </a:t>
            </a:r>
            <a:r>
              <a:rPr b="0" i="0" strike="noStrike" dirty="0"/>
              <a:t>use </a:t>
            </a:r>
            <a:r>
              <a:rPr b="0" i="0" strike="noStrike" dirty="0"/>
              <a:t>these </a:t>
            </a:r>
            <a:r>
              <a:rPr b="0" i="0" strike="noStrike" dirty="0"/>
              <a:t>technologies </a:t>
            </a:r>
            <a:r>
              <a:rPr b="0" i="0" strike="noStrike" dirty="0"/>
              <a:t>or </a:t>
            </a:r>
            <a:r>
              <a:rPr b="0" i="0" strike="noStrike" dirty="0"/>
              <a:t>in </a:t>
            </a:r>
            <a:r>
              <a:rPr b="0" i="0" strike="noStrike" dirty="0"/>
              <a:t>your </a:t>
            </a:r>
            <a:r>
              <a:rPr b="0" i="0" strike="noStrike" dirty="0"/>
              <a:t>documentation </a:t>
            </a:r>
            <a:r>
              <a:rPr b="0" i="0" strike="noStrike" dirty="0"/>
              <a:t>as </a:t>
            </a:r>
            <a:r>
              <a:rPr b="0" i="0" strike="noStrike" dirty="0"/>
              <a:t>necessary </a:t>
            </a:r>
            <a:r>
              <a:rPr b="0" i="0" strike="noStrike" dirty="0"/>
              <a:t>to </a:t>
            </a:r>
            <a:r>
              <a:rPr b="0" i="0" strike="noStrike" dirty="0"/>
              <a:t>properly </a:t>
            </a:r>
            <a:r>
              <a:rPr b="0" i="0" strike="noStrike" dirty="0"/>
              <a:t>document </a:t>
            </a:r>
            <a:r>
              <a:rPr b="0" i="0" strike="noStrike" dirty="0"/>
              <a:t>the </a:t>
            </a:r>
            <a:r>
              <a:rPr b="0" i="0" strike="noStrike" dirty="0"/>
              <a:t>implementation. </a:t>
            </a:r>
            <a:r>
              <a:rPr b="0" i="0" strike="noStrike" dirty="0"/>
              <a:t>You </a:t>
            </a:r>
            <a:r>
              <a:rPr b="0" i="0" strike="noStrike" dirty="0"/>
              <a:t>can </a:t>
            </a:r>
            <a:r>
              <a:rPr b="0" i="0" strike="noStrike" dirty="0"/>
              <a:t>also </a:t>
            </a:r>
            <a:r>
              <a:rPr b="0" i="0" strike="noStrike" dirty="0"/>
              <a:t>distribute </a:t>
            </a:r>
            <a:r>
              <a:rPr b="0" i="0" strike="noStrike" dirty="0"/>
              <a:t>in </a:t>
            </a:r>
            <a:r>
              <a:rPr b="0" i="0" strike="noStrike" dirty="0"/>
              <a:t>your </a:t>
            </a:r>
            <a:r>
              <a:rPr b="0" i="0" strike="noStrike" dirty="0"/>
              <a:t>implementation, </a:t>
            </a:r>
            <a:r>
              <a:rPr b="0" i="0" strike="noStrike" dirty="0"/>
              <a:t>with </a:t>
            </a:r>
            <a:r>
              <a:rPr b="0" i="0" strike="noStrike" dirty="0"/>
              <a:t>or </a:t>
            </a:r>
            <a:r>
              <a:rPr b="0" i="0" strike="noStrike" dirty="0"/>
              <a:t>without </a:t>
            </a:r>
            <a:r>
              <a:rPr b="0" i="0" strike="noStrike" dirty="0"/>
              <a:t>modification, </a:t>
            </a:r>
            <a:r>
              <a:rPr b="0" i="0" strike="noStrike" dirty="0"/>
              <a:t>any </a:t>
            </a:r>
            <a:r>
              <a:rPr b="0" i="0" strike="noStrike" dirty="0"/>
              <a:t>schemas, </a:t>
            </a:r>
            <a:r>
              <a:rPr b="0" i="0" strike="noStrike" dirty="0"/>
              <a:t>IDLs, </a:t>
            </a:r>
            <a:r>
              <a:rPr b="0" i="0" strike="noStrike" dirty="0"/>
              <a:t>or </a:t>
            </a:r>
            <a:r>
              <a:rPr b="0" i="0" strike="noStrike" dirty="0"/>
              <a:t>code </a:t>
            </a:r>
            <a:r>
              <a:rPr b="0" i="0" strike="noStrike" dirty="0"/>
              <a:t>samples </a:t>
            </a:r>
            <a:r>
              <a:rPr b="0" i="0" strike="noStrike" dirty="0"/>
              <a:t>that </a:t>
            </a:r>
            <a:r>
              <a:rPr b="0" i="0" strike="noStrike" dirty="0"/>
              <a:t>are </a:t>
            </a:r>
            <a:r>
              <a:rPr b="0" i="0" strike="noStrike" dirty="0"/>
              <a:t>included </a:t>
            </a:r>
            <a:r>
              <a:rPr b="0" i="0" strike="noStrike" dirty="0"/>
              <a:t>in </a:t>
            </a:r>
            <a:r>
              <a:rPr b="0" i="0" strike="noStrike" dirty="0"/>
              <a:t>the </a:t>
            </a:r>
            <a:r>
              <a:rPr b="0" i="0" strike="noStrike" dirty="0"/>
              <a:t>documentation. </a:t>
            </a:r>
            <a:r>
              <a:rPr b="0" i="0" strike="noStrike" dirty="0"/>
              <a:t>This </a:t>
            </a:r>
            <a:r>
              <a:rPr b="0" i="0" strike="noStrike" dirty="0"/>
              <a:t>permission </a:t>
            </a:r>
            <a:r>
              <a:rPr b="0" i="0" strike="noStrike" dirty="0"/>
              <a:t>also </a:t>
            </a:r>
            <a:r>
              <a:rPr b="0" i="0" strike="noStrike" dirty="0"/>
              <a:t>applies </a:t>
            </a:r>
            <a:r>
              <a:rPr b="0" i="0" strike="noStrike" dirty="0"/>
              <a:t>to </a:t>
            </a:r>
            <a:r>
              <a:rPr b="0" i="0" strike="noStrike" dirty="0"/>
              <a:t>any </a:t>
            </a:r>
            <a:r>
              <a:rPr b="0" i="0" strike="noStrike" dirty="0"/>
              <a:t>documents </a:t>
            </a:r>
            <a:r>
              <a:rPr b="0" i="0" strike="noStrike" dirty="0"/>
              <a:t>that </a:t>
            </a:r>
            <a:r>
              <a:rPr b="0" i="0" strike="noStrike" dirty="0"/>
              <a:t>are </a:t>
            </a:r>
            <a:r>
              <a:rPr b="0" i="0" strike="noStrike" dirty="0"/>
              <a:t>referenced </a:t>
            </a:r>
            <a:r>
              <a:rPr b="0" i="0" strike="noStrike" dirty="0"/>
              <a:t>in </a:t>
            </a:r>
            <a:r>
              <a:rPr b="0" i="0" strike="noStrike" dirty="0"/>
              <a:t>the </a:t>
            </a:r>
            <a:r>
              <a:rPr b="0" i="0" strike="noStrike" dirty="0"/>
              <a:t>Open </a:t>
            </a:r>
            <a:r>
              <a:rPr b="0" i="0" strike="noStrike" dirty="0"/>
              <a:t>Specifications </a:t>
            </a:r>
            <a:r>
              <a:rPr b="0" i="0" strike="noStrike" dirty="0"/>
              <a:t>documentation. </a:t>
            </a:r>
          </a:p>
        </p:txBody>
      </p:sp>
      <p:sp>
        <p:nvSpPr>
          <p:cNvPr id="7" name="TextBox7"/>
          <p:cNvSpPr txBox="1">
            <a:spLocks noChangeArrowheads="1"/>
          </p:cNvSpPr>
          <p:nvPr/>
        </p:nvSpPr>
        <p:spPr>
          <a:xfrm rot="0">
            <a:off x="508000" y="5115560"/>
            <a:ext cx="11176000" cy="320040"/>
          </a:xfrm>
          <a:prstGeom prst="rect">
            <a:avLst/>
          </a:prstGeom>
          <a:ln>
            <a:headEnd type="none"/>
            <a:tailEnd type="none"/>
          </a:ln>
        </p:spPr>
        <p:txBody>
          <a:bodyPr wrap="square">
            <a:spAutoFit/>
          </a:bodyPr>
          <a:lstStyle/>
          <a:p>
            <a:pPr lvl="1" indent="283464" algn="l" defTabSz="914400">
              <a:buChar char="•"/>
            </a:pPr>
            <a:r>
              <a:rPr b="1" i="0" strike="noStrike" dirty="0"/>
              <a:t>No </a:t>
            </a:r>
            <a:r>
              <a:rPr b="1" i="0" strike="noStrike" dirty="0"/>
              <a:t>Trade </a:t>
            </a:r>
            <a:r>
              <a:rPr b="1" i="0" strike="noStrike" dirty="0"/>
              <a:t>Secrets</a:t>
            </a:r>
            <a:r>
              <a:rPr b="0" i="0" strike="noStrike" dirty="0"/>
              <a:t>. </a:t>
            </a:r>
            <a:r>
              <a:rPr b="0" i="0" strike="noStrike" dirty="0"/>
              <a:t>Microsoft </a:t>
            </a:r>
            <a:r>
              <a:rPr b="0" i="0" strike="noStrike" dirty="0"/>
              <a:t>does </a:t>
            </a:r>
            <a:r>
              <a:rPr b="0" i="0" strike="noStrike" dirty="0"/>
              <a:t>not </a:t>
            </a:r>
            <a:r>
              <a:rPr b="0" i="0" strike="noStrike" dirty="0"/>
              <a:t>claim </a:t>
            </a:r>
            <a:r>
              <a:rPr b="0" i="0" strike="noStrike" dirty="0"/>
              <a:t>any </a:t>
            </a:r>
            <a:r>
              <a:rPr b="0" i="0" strike="noStrike" dirty="0"/>
              <a:t>trade </a:t>
            </a:r>
            <a:r>
              <a:rPr b="0" i="0" strike="noStrike" dirty="0"/>
              <a:t>secret </a:t>
            </a:r>
            <a:r>
              <a:rPr b="0" i="0" strike="noStrike" dirty="0"/>
              <a:t>rights </a:t>
            </a:r>
            <a:r>
              <a:rPr b="0" i="0" strike="noStrike" dirty="0"/>
              <a:t>in </a:t>
            </a:r>
            <a:r>
              <a:rPr b="0" i="0" strike="noStrike" dirty="0"/>
              <a:t>this </a:t>
            </a:r>
            <a:r>
              <a:rPr b="0" i="0" strike="noStrike" dirty="0"/>
              <a:t>documentation. </a:t>
            </a:r>
          </a:p>
        </p:txBody>
      </p:sp>
      <p:sp>
        <p:nvSpPr>
          <p:cNvPr id="8" name="TextBox8"/>
          <p:cNvSpPr txBox="1">
            <a:spLocks noChangeArrowheads="1"/>
          </p:cNvSpPr>
          <p:nvPr/>
        </p:nvSpPr>
        <p:spPr>
          <a:xfrm rot="0">
            <a:off x="508000" y="5461000"/>
            <a:ext cx="11176000" cy="640080"/>
          </a:xfrm>
          <a:prstGeom prst="rect">
            <a:avLst/>
          </a:prstGeom>
          <a:ln>
            <a:headEnd type="none"/>
            <a:tailEnd type="none"/>
          </a:ln>
        </p:spPr>
        <p:txBody>
          <a:bodyPr wrap="square">
            <a:spAutoFit/>
          </a:bodyPr>
          <a:lstStyle/>
          <a:p>
            <a:pPr lvl="1" indent="283464" algn="l" defTabSz="914400">
              <a:buChar char="•"/>
            </a:pPr>
            <a:r>
              <a:rPr b="1" i="0" strike="noStrike" dirty="0"/>
              <a:t>Patents</a:t>
            </a:r>
            <a:r>
              <a:rPr b="0" i="0" strike="noStrike" dirty="0"/>
              <a:t>. </a:t>
            </a:r>
            <a:r>
              <a:rPr b="0" i="0" strike="noStrike" dirty="0"/>
              <a:t>Microsoft </a:t>
            </a:r>
            <a:r>
              <a:rPr b="0" i="0" strike="noStrike" dirty="0"/>
              <a:t>has </a:t>
            </a:r>
            <a:r>
              <a:rPr b="0" i="0" strike="noStrike" dirty="0"/>
              <a:t>patents </a:t>
            </a:r>
            <a:r>
              <a:rPr b="0" i="0" strike="noStrike" dirty="0"/>
              <a:t>that </a:t>
            </a:r>
            <a:r>
              <a:rPr b="0" i="0" strike="noStrike" dirty="0"/>
              <a:t>might </a:t>
            </a:r>
            <a:r>
              <a:rPr b="0" i="0" strike="noStrike" dirty="0"/>
              <a:t>cover </a:t>
            </a:r>
            <a:r>
              <a:rPr b="0" i="0" strike="noStrike" dirty="0"/>
              <a:t>your </a:t>
            </a:r>
            <a:r>
              <a:rPr b="0" i="0" strike="noStrike" dirty="0"/>
              <a:t>implementations </a:t>
            </a:r>
            <a:r>
              <a:rPr b="0" i="0" strike="noStrike" dirty="0"/>
              <a:t>of </a:t>
            </a:r>
            <a:r>
              <a:rPr b="0" i="0" strike="noStrike" dirty="0"/>
              <a:t>the </a:t>
            </a:r>
            <a:r>
              <a:rPr b="0" i="0" strike="noStrike" dirty="0"/>
              <a:t>technologies </a:t>
            </a:r>
            <a:r>
              <a:rPr b="0" i="0" strike="noStrike" dirty="0"/>
              <a:t>described </a:t>
            </a:r>
            <a:r>
              <a:rPr b="0" i="0" strike="noStrike" dirty="0"/>
              <a:t>in </a:t>
            </a:r>
            <a:r>
              <a:rPr b="0" i="0" strike="noStrike" dirty="0"/>
              <a:t>the </a:t>
            </a:r>
            <a:r>
              <a:rPr b="0" i="0" strike="noStrike" dirty="0"/>
              <a:t>Open </a:t>
            </a:r>
            <a:r>
              <a:rPr b="0" i="0" strike="noStrike" dirty="0"/>
              <a:t>Specifications </a:t>
            </a:r>
            <a:r>
              <a:rPr b="0" i="0" strike="noStrike" dirty="0"/>
              <a:t>documentation. </a:t>
            </a:r>
          </a:p>
        </p:txBody>
      </p:sp>
      <p:sp>
        <p:nvSpPr>
          <p:cNvPr id="9" name="SyncfusionLicense"/>
          <p:cNvSpPr txBox="1">
            <a:spLocks noChangeArrowheads="1"/>
          </p:cNvSpPr>
          <p:nvPr/>
        </p:nvSpPr>
        <p:spPr>
          <a:xfrm rot="0">
            <a:off x="0" y="5715000"/>
            <a:ext cx="12192000" cy="1143000"/>
          </a:xfrm>
          <a:prstGeom prst="rect">
            <a:avLst/>
          </a:prstGeom>
          <a:solidFill>
            <a:srgbClr val="FFFFFF"/>
          </a:solidFill>
          <a:ln>
            <a:headEnd type="none"/>
            <a:tailEnd type="none"/>
          </a:ln>
        </p:spPr>
        <p:txBody>
          <a:bodyPr anchor="ctr" wrap="square">
            <a:spAutoFit/>
          </a:bodyPr>
          <a:lstStyle/>
          <a:p>
            <a:pPr algn="ctr" defTabSz="914400">
              <a:defRPr sz="1800" dirty="0">
                <a:solidFill>
                  <a:srgbClr val="FF0000"/>
                </a:solidFill>
              </a:defRPr>
            </a:pPr>
            <a:r>
              <a:rPr/>
              <a:t>Created with a trial version of Syncfusion PowerPoint library or registered the wrong key in your application. Click </a:t>
            </a:r>
            <a:r>
              <a:rPr dirty="0">
                <a:solidFill>
                  <a:srgbClr val="0000FF"/>
                </a:solidFill>
                <a:hlinkClick r:id="rId2" action="ppaction://hlinkfile">
                  <a:extLst>
                    <a:ext uri="{A12FA001-AC4F-418D-AE19-62706E023703}">
                      <ahyp:hlinkClr xmlns:ahyp="http://schemas.microsoft.com/office/drawing/2018/hyperlinkcolor" val="tx"/>
                    </a:ext>
                  </a:extLst>
                </a:hlinkClick>
              </a:rPr>
              <a:t>here</a:t>
            </a:r>
            <a:r>
              <a:rPr/>
              <a:t> to obtain the valid key.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1920240"/>
          </a:xfrm>
          <a:prstGeom prst="rect">
            <a:avLst/>
          </a:prstGeom>
          <a:ln>
            <a:headEnd type="none"/>
            <a:tailEnd type="none"/>
          </a:ln>
        </p:spPr>
        <p:txBody>
          <a:bodyPr wrap="square">
            <a:spAutoFit/>
          </a:bodyPr>
          <a:lstStyle/>
          <a:p>
            <a:pPr lvl="1" indent="283464" algn="l" defTabSz="914400">
              <a:buChar char="•"/>
            </a:pPr>
            <a:r>
              <a:rPr b="0" i="0" strike="noStrike" dirty="0"/>
              <a:t>Neither </a:t>
            </a:r>
            <a:r>
              <a:rPr b="0" i="0" strike="noStrike" dirty="0"/>
              <a:t>this </a:t>
            </a:r>
            <a:r>
              <a:rPr b="0" i="0" strike="noStrike" dirty="0"/>
              <a:t>notice </a:t>
            </a:r>
            <a:r>
              <a:rPr b="0" i="0" strike="noStrike" dirty="0"/>
              <a:t>nor </a:t>
            </a:r>
            <a:r>
              <a:rPr b="0" i="0" strike="noStrike" dirty="0"/>
              <a:t>Microsoft's </a:t>
            </a:r>
            <a:r>
              <a:rPr b="0" i="0" strike="noStrike" dirty="0"/>
              <a:t>delivery </a:t>
            </a:r>
            <a:r>
              <a:rPr b="0" i="0" strike="noStrike" dirty="0"/>
              <a:t>of </a:t>
            </a:r>
            <a:r>
              <a:rPr b="0" i="0" strike="noStrike" dirty="0"/>
              <a:t>this </a:t>
            </a:r>
            <a:r>
              <a:rPr b="0" i="0" strike="noStrike" dirty="0"/>
              <a:t>documentation </a:t>
            </a:r>
            <a:r>
              <a:rPr b="0" i="0" strike="noStrike" dirty="0"/>
              <a:t>grants </a:t>
            </a:r>
            <a:r>
              <a:rPr b="0" i="0" strike="noStrike" dirty="0"/>
              <a:t>any </a:t>
            </a:r>
            <a:r>
              <a:rPr b="0" i="0" strike="noStrike" dirty="0"/>
              <a:t>licenses </a:t>
            </a:r>
            <a:r>
              <a:rPr b="0" i="0" strike="noStrike" dirty="0"/>
              <a:t>under </a:t>
            </a:r>
            <a:r>
              <a:rPr b="0" i="0" strike="noStrike" dirty="0"/>
              <a:t>those </a:t>
            </a:r>
            <a:r>
              <a:rPr b="0" i="0" strike="noStrike" dirty="0"/>
              <a:t>patents </a:t>
            </a:r>
            <a:r>
              <a:rPr b="0" i="0" strike="noStrike" dirty="0"/>
              <a:t>or </a:t>
            </a:r>
            <a:r>
              <a:rPr b="0" i="0" strike="noStrike" dirty="0"/>
              <a:t>any </a:t>
            </a:r>
            <a:r>
              <a:rPr b="0" i="0" strike="noStrike" dirty="0"/>
              <a:t>other </a:t>
            </a:r>
            <a:r>
              <a:rPr b="0" i="0" strike="noStrike" dirty="0"/>
              <a:t>Microsoft </a:t>
            </a:r>
            <a:r>
              <a:rPr b="0" i="0" strike="noStrike" dirty="0"/>
              <a:t>patents. </a:t>
            </a:r>
            <a:r>
              <a:rPr b="0" i="0" strike="noStrike" dirty="0"/>
              <a:t>However, </a:t>
            </a:r>
            <a:r>
              <a:rPr b="0" i="0" strike="noStrike" dirty="0"/>
              <a:t>a </a:t>
            </a:r>
            <a:r>
              <a:rPr b="0" i="0" strike="noStrike" dirty="0"/>
              <a:t>given </a:t>
            </a:r>
            <a:r>
              <a:rPr b="0" i="0" strike="noStrike" dirty="0"/>
              <a:t>Open </a:t>
            </a:r>
            <a:r>
              <a:rPr b="0" i="0" strike="noStrike" dirty="0"/>
              <a:t>Specifications </a:t>
            </a:r>
            <a:r>
              <a:rPr b="0" i="0" strike="noStrike" dirty="0"/>
              <a:t>document </a:t>
            </a:r>
            <a:r>
              <a:rPr b="0" i="0" strike="noStrike" dirty="0"/>
              <a:t>might </a:t>
            </a:r>
            <a:r>
              <a:rPr b="0" i="0" strike="noStrike" dirty="0"/>
              <a:t>be </a:t>
            </a:r>
            <a:r>
              <a:rPr b="0" i="0" strike="noStrike" dirty="0"/>
              <a:t>covered </a:t>
            </a:r>
            <a:r>
              <a:rPr b="0" i="0" strike="noStrike" dirty="0"/>
              <a:t>by </a:t>
            </a:r>
            <a:r>
              <a:rPr b="0" i="0" strike="noStrike" dirty="0"/>
              <a:t>the </a:t>
            </a:r>
            <a:r>
              <a:rPr b="0" i="0" strike="noStrike" dirty="0"/>
              <a:t>Microsoft </a:t>
            </a:r>
            <a:r>
              <a:rPr>
                <a:hlinkClick r:id="rId2" action="ppaction://hlinkfile"/>
              </a:rPr>
              <a:t>Open </a:t>
            </a:r>
            <a:r>
              <a:rPr>
                <a:hlinkClick r:id="rId3" action="ppaction://hlinkfile"/>
              </a:rPr>
              <a:t>Specifications </a:t>
            </a:r>
            <a:r>
              <a:rPr>
                <a:hlinkClick r:id="rId4" action="ppaction://hlinkfile"/>
              </a:rPr>
              <a:t>Promise</a:t>
            </a:r>
            <a:r>
              <a:rPr b="0" i="0" strike="noStrike" dirty="0"/>
              <a:t> </a:t>
            </a:r>
            <a:r>
              <a:rPr b="0" i="0" strike="noStrike" dirty="0"/>
              <a:t>or </a:t>
            </a:r>
            <a:r>
              <a:rPr b="0" i="0" strike="noStrike" dirty="0"/>
              <a:t>the </a:t>
            </a:r>
            <a:r>
              <a:rPr>
                <a:hlinkClick r:id="rId5" action="ppaction://hlinkfile"/>
              </a:rPr>
              <a:t>Microsoft </a:t>
            </a:r>
            <a:r>
              <a:rPr>
                <a:hlinkClick r:id="rId6" action="ppaction://hlinkfile"/>
              </a:rPr>
              <a:t>Community </a:t>
            </a:r>
            <a:r>
              <a:rPr>
                <a:hlinkClick r:id="rId7" action="ppaction://hlinkfile"/>
              </a:rPr>
              <a:t>Promise</a:t>
            </a:r>
            <a:r>
              <a:rPr b="0" i="0" strike="noStrike" dirty="0"/>
              <a:t>. </a:t>
            </a:r>
            <a:r>
              <a:rPr b="0" i="0" strike="noStrike" dirty="0"/>
              <a:t>If </a:t>
            </a:r>
            <a:r>
              <a:rPr b="0" i="0" strike="noStrike" dirty="0"/>
              <a:t>you </a:t>
            </a:r>
            <a:r>
              <a:rPr b="0" i="0" strike="noStrike" dirty="0"/>
              <a:t>would </a:t>
            </a:r>
            <a:r>
              <a:rPr b="0" i="0" strike="noStrike" dirty="0"/>
              <a:t>prefer </a:t>
            </a:r>
            <a:r>
              <a:rPr b="0" i="0" strike="noStrike" dirty="0"/>
              <a:t>a </a:t>
            </a:r>
            <a:r>
              <a:rPr b="0" i="0" strike="noStrike" dirty="0"/>
              <a:t>written </a:t>
            </a:r>
            <a:r>
              <a:rPr b="0" i="0" strike="noStrike" dirty="0"/>
              <a:t>license, </a:t>
            </a:r>
            <a:r>
              <a:rPr b="0" i="0" strike="noStrike" dirty="0"/>
              <a:t>or </a:t>
            </a:r>
            <a:r>
              <a:rPr b="0" i="0" strike="noStrike" dirty="0"/>
              <a:t>if </a:t>
            </a:r>
            <a:r>
              <a:rPr b="0" i="0" strike="noStrike" dirty="0"/>
              <a:t>the </a:t>
            </a:r>
            <a:r>
              <a:rPr b="0" i="0" strike="noStrike" dirty="0"/>
              <a:t>technologies </a:t>
            </a:r>
            <a:r>
              <a:rPr b="0" i="0" strike="noStrike" dirty="0"/>
              <a:t>described </a:t>
            </a:r>
            <a:r>
              <a:rPr b="0" i="0" strike="noStrike" dirty="0"/>
              <a:t>in </a:t>
            </a:r>
            <a:r>
              <a:rPr b="0" i="0" strike="noStrike" dirty="0"/>
              <a:t>this </a:t>
            </a:r>
            <a:r>
              <a:rPr b="0" i="0" strike="noStrike" dirty="0"/>
              <a:t>documentation </a:t>
            </a:r>
            <a:r>
              <a:rPr b="0" i="0" strike="noStrike" dirty="0"/>
              <a:t>are </a:t>
            </a:r>
            <a:r>
              <a:rPr b="0" i="0" strike="noStrike" dirty="0"/>
              <a:t>not </a:t>
            </a:r>
            <a:r>
              <a:rPr b="0" i="0" strike="noStrike" dirty="0"/>
              <a:t>covered </a:t>
            </a:r>
            <a:r>
              <a:rPr b="0" i="0" strike="noStrike" dirty="0"/>
              <a:t>by </a:t>
            </a:r>
            <a:r>
              <a:rPr b="0" i="0" strike="noStrike" dirty="0"/>
              <a:t>the </a:t>
            </a:r>
            <a:r>
              <a:rPr b="0" i="0" strike="noStrike" dirty="0"/>
              <a:t>Open </a:t>
            </a:r>
            <a:r>
              <a:rPr b="0" i="0" strike="noStrike" dirty="0"/>
              <a:t>Specifications </a:t>
            </a:r>
            <a:r>
              <a:rPr b="0" i="0" strike="noStrike" dirty="0"/>
              <a:t>Promise </a:t>
            </a:r>
            <a:r>
              <a:rPr b="0" i="0" strike="noStrike" dirty="0"/>
              <a:t>or </a:t>
            </a:r>
            <a:r>
              <a:rPr b="0" i="0" strike="noStrike" dirty="0"/>
              <a:t>Community </a:t>
            </a:r>
            <a:r>
              <a:rPr b="0" i="0" strike="noStrike" dirty="0"/>
              <a:t>Promise, </a:t>
            </a:r>
            <a:r>
              <a:rPr b="0" i="0" strike="noStrike" dirty="0"/>
              <a:t>as </a:t>
            </a:r>
            <a:r>
              <a:rPr b="0" i="0" strike="noStrike" dirty="0"/>
              <a:t>applicable, </a:t>
            </a:r>
            <a:r>
              <a:rPr b="0" i="0" strike="noStrike" dirty="0"/>
              <a:t>patent </a:t>
            </a:r>
            <a:r>
              <a:rPr b="0" i="0" strike="noStrike" dirty="0"/>
              <a:t>licenses </a:t>
            </a:r>
            <a:r>
              <a:rPr b="0" i="0" strike="noStrike" dirty="0"/>
              <a:t>are </a:t>
            </a:r>
            <a:r>
              <a:rPr b="0" i="0" strike="noStrike" dirty="0"/>
              <a:t>available </a:t>
            </a:r>
            <a:r>
              <a:rPr b="0" i="0" strike="noStrike" dirty="0"/>
              <a:t>by </a:t>
            </a:r>
            <a:r>
              <a:rPr b="0" i="0" strike="noStrike" dirty="0"/>
              <a:t>contacting </a:t>
            </a:r>
            <a:r>
              <a:rPr>
                <a:hlinkClick r:id="rId8" action="ppaction://hlinkfile"/>
              </a:rPr>
              <a:t>iplg@microsoft.com</a:t>
            </a:r>
            <a:r>
              <a:rPr b="0" i="0" strike="noStrike" dirty="0"/>
              <a:t>. </a:t>
            </a:r>
          </a:p>
        </p:txBody>
      </p:sp>
      <p:sp>
        <p:nvSpPr>
          <p:cNvPr id="3" name="TextBox3"/>
          <p:cNvSpPr txBox="1">
            <a:spLocks noChangeArrowheads="1"/>
          </p:cNvSpPr>
          <p:nvPr/>
        </p:nvSpPr>
        <p:spPr>
          <a:xfrm rot="0">
            <a:off x="508000" y="2453640"/>
            <a:ext cx="11176000" cy="640080"/>
          </a:xfrm>
          <a:prstGeom prst="rect">
            <a:avLst/>
          </a:prstGeom>
          <a:ln>
            <a:headEnd type="none"/>
            <a:tailEnd type="none"/>
          </a:ln>
        </p:spPr>
        <p:txBody>
          <a:bodyPr wrap="square">
            <a:spAutoFit/>
          </a:bodyPr>
          <a:lstStyle/>
          <a:p>
            <a:pPr lvl="1" indent="283464" algn="l" defTabSz="914400">
              <a:buChar char="•"/>
            </a:pPr>
            <a:r>
              <a:rPr b="1" i="0" strike="noStrike" dirty="0"/>
              <a:t>License </a:t>
            </a:r>
            <a:r>
              <a:rPr b="1" i="0" strike="noStrike" dirty="0"/>
              <a:t>Programs</a:t>
            </a:r>
            <a:r>
              <a:rPr b="0" i="0" strike="noStrike" dirty="0"/>
              <a:t>. </a:t>
            </a:r>
            <a:r>
              <a:rPr b="0" i="0" strike="noStrike" dirty="0"/>
              <a:t>To </a:t>
            </a:r>
            <a:r>
              <a:rPr b="0" i="0" strike="noStrike" dirty="0"/>
              <a:t>see </a:t>
            </a:r>
            <a:r>
              <a:rPr b="0" i="0" strike="noStrike" dirty="0"/>
              <a:t>all </a:t>
            </a:r>
            <a:r>
              <a:rPr b="0" i="0" strike="noStrike" dirty="0"/>
              <a:t>of </a:t>
            </a:r>
            <a:r>
              <a:rPr b="0" i="0" strike="noStrike" dirty="0"/>
              <a:t>the </a:t>
            </a:r>
            <a:r>
              <a:rPr b="0" i="0" strike="noStrike" dirty="0"/>
              <a:t>protocols </a:t>
            </a:r>
            <a:r>
              <a:rPr b="0" i="0" strike="noStrike" dirty="0"/>
              <a:t>in </a:t>
            </a:r>
            <a:r>
              <a:rPr b="0" i="0" strike="noStrike" dirty="0"/>
              <a:t>scope </a:t>
            </a:r>
            <a:r>
              <a:rPr b="0" i="0" strike="noStrike" dirty="0"/>
              <a:t>under </a:t>
            </a:r>
            <a:r>
              <a:rPr b="0" i="0" strike="noStrike" dirty="0"/>
              <a:t>a </a:t>
            </a:r>
            <a:r>
              <a:rPr b="0" i="0" strike="noStrike" dirty="0"/>
              <a:t>specific </a:t>
            </a:r>
            <a:r>
              <a:rPr b="0" i="0" strike="noStrike" dirty="0"/>
              <a:t>license </a:t>
            </a:r>
            <a:r>
              <a:rPr b="0" i="0" strike="noStrike" dirty="0"/>
              <a:t>program </a:t>
            </a:r>
            <a:r>
              <a:rPr b="0" i="0" strike="noStrike" dirty="0"/>
              <a:t>and </a:t>
            </a:r>
            <a:r>
              <a:rPr b="0" i="0" strike="noStrike" dirty="0"/>
              <a:t>the </a:t>
            </a:r>
            <a:r>
              <a:rPr b="0" i="0" strike="noStrike" dirty="0"/>
              <a:t>associated </a:t>
            </a:r>
            <a:r>
              <a:rPr b="0" i="0" strike="noStrike" dirty="0"/>
              <a:t>patents, </a:t>
            </a:r>
            <a:r>
              <a:rPr b="0" i="0" strike="noStrike" dirty="0"/>
              <a:t>visit </a:t>
            </a:r>
            <a:r>
              <a:rPr b="0" i="0" strike="noStrike" dirty="0"/>
              <a:t>the </a:t>
            </a:r>
            <a:r>
              <a:rPr>
                <a:hlinkClick r:id="rId9" action="ppaction://hlinkfile"/>
              </a:rPr>
              <a:t>Patent </a:t>
            </a:r>
            <a:r>
              <a:rPr>
                <a:hlinkClick r:id="rId10" action="ppaction://hlinkfile"/>
              </a:rPr>
              <a:t>Map</a:t>
            </a:r>
            <a:r>
              <a:rPr b="0" i="0" strike="noStrike" dirty="0"/>
              <a:t>. </a:t>
            </a:r>
          </a:p>
        </p:txBody>
      </p:sp>
      <p:sp>
        <p:nvSpPr>
          <p:cNvPr id="4" name="TextBox4"/>
          <p:cNvSpPr txBox="1">
            <a:spLocks noChangeArrowheads="1"/>
          </p:cNvSpPr>
          <p:nvPr/>
        </p:nvSpPr>
        <p:spPr>
          <a:xfrm rot="0">
            <a:off x="508000" y="3119120"/>
            <a:ext cx="11176000" cy="960120"/>
          </a:xfrm>
          <a:prstGeom prst="rect">
            <a:avLst/>
          </a:prstGeom>
          <a:ln>
            <a:headEnd type="none"/>
            <a:tailEnd type="none"/>
          </a:ln>
        </p:spPr>
        <p:txBody>
          <a:bodyPr wrap="square">
            <a:spAutoFit/>
          </a:bodyPr>
          <a:lstStyle/>
          <a:p>
            <a:pPr lvl="1" indent="283464" algn="l" defTabSz="914400">
              <a:buChar char="•"/>
            </a:pPr>
            <a:r>
              <a:rPr b="1" i="0" strike="noStrike" dirty="0"/>
              <a:t>Trademarks</a:t>
            </a:r>
            <a:r>
              <a:rPr b="0" i="0" strike="noStrike" dirty="0"/>
              <a:t>. </a:t>
            </a:r>
            <a:r>
              <a:rPr b="0" i="0" strike="noStrike" dirty="0"/>
              <a:t>The </a:t>
            </a:r>
            <a:r>
              <a:rPr b="0" i="0" strike="noStrike" dirty="0"/>
              <a:t>names </a:t>
            </a:r>
            <a:r>
              <a:rPr b="0" i="0" strike="noStrike" dirty="0"/>
              <a:t>of </a:t>
            </a:r>
            <a:r>
              <a:rPr b="0" i="0" strike="noStrike" dirty="0"/>
              <a:t>companies </a:t>
            </a:r>
            <a:r>
              <a:rPr b="0" i="0" strike="noStrike" dirty="0"/>
              <a:t>and </a:t>
            </a:r>
            <a:r>
              <a:rPr b="0" i="0" strike="noStrike" dirty="0"/>
              <a:t>products </a:t>
            </a:r>
            <a:r>
              <a:rPr b="0" i="0" strike="noStrike" dirty="0"/>
              <a:t>contained </a:t>
            </a:r>
            <a:r>
              <a:rPr b="0" i="0" strike="noStrike" dirty="0"/>
              <a:t>in </a:t>
            </a:r>
            <a:r>
              <a:rPr b="0" i="0" strike="noStrike" dirty="0"/>
              <a:t>this </a:t>
            </a:r>
            <a:r>
              <a:rPr b="0" i="0" strike="noStrike" dirty="0"/>
              <a:t>documentation </a:t>
            </a:r>
            <a:r>
              <a:rPr b="0" i="0" strike="noStrike" dirty="0"/>
              <a:t>might </a:t>
            </a:r>
            <a:r>
              <a:rPr b="0" i="0" strike="noStrike" dirty="0"/>
              <a:t>be </a:t>
            </a:r>
            <a:r>
              <a:rPr b="0" i="0" strike="noStrike" dirty="0"/>
              <a:t>covered </a:t>
            </a:r>
            <a:r>
              <a:rPr b="0" i="0" strike="noStrike" dirty="0"/>
              <a:t>by </a:t>
            </a:r>
            <a:r>
              <a:rPr b="0" i="0" strike="noStrike" dirty="0"/>
              <a:t>trademarks </a:t>
            </a:r>
            <a:r>
              <a:rPr b="0" i="0" strike="noStrike" dirty="0"/>
              <a:t>or </a:t>
            </a:r>
            <a:r>
              <a:rPr b="0" i="0" strike="noStrike" dirty="0"/>
              <a:t>similar </a:t>
            </a:r>
            <a:r>
              <a:rPr b="0" i="0" strike="noStrike" dirty="0"/>
              <a:t>intellectual </a:t>
            </a:r>
            <a:r>
              <a:rPr b="0" i="0" strike="noStrike" dirty="0"/>
              <a:t>property </a:t>
            </a:r>
            <a:r>
              <a:rPr b="0" i="0" strike="noStrike" dirty="0"/>
              <a:t>rights. </a:t>
            </a:r>
            <a:r>
              <a:rPr b="0" i="0" strike="noStrike" dirty="0"/>
              <a:t>This </a:t>
            </a:r>
            <a:r>
              <a:rPr b="0" i="0" strike="noStrike" dirty="0"/>
              <a:t>notice </a:t>
            </a:r>
            <a:r>
              <a:rPr b="0" i="0" strike="noStrike" dirty="0"/>
              <a:t>does </a:t>
            </a:r>
            <a:r>
              <a:rPr b="0" i="0" strike="noStrike" dirty="0"/>
              <a:t>not </a:t>
            </a:r>
            <a:r>
              <a:rPr b="0" i="0" strike="noStrike" dirty="0"/>
              <a:t>grant </a:t>
            </a:r>
            <a:r>
              <a:rPr b="0" i="0" strike="noStrike" dirty="0"/>
              <a:t>any </a:t>
            </a:r>
            <a:r>
              <a:rPr b="0" i="0" strike="noStrike" dirty="0"/>
              <a:t>licenses </a:t>
            </a:r>
            <a:r>
              <a:rPr b="0" i="0" strike="noStrike" dirty="0"/>
              <a:t>under </a:t>
            </a:r>
            <a:r>
              <a:rPr b="0" i="0" strike="noStrike" dirty="0"/>
              <a:t>those </a:t>
            </a:r>
            <a:r>
              <a:rPr b="0" i="0" strike="noStrike" dirty="0"/>
              <a:t>rights. </a:t>
            </a:r>
            <a:r>
              <a:rPr b="0" i="0" strike="noStrike" dirty="0"/>
              <a:t>For </a:t>
            </a:r>
            <a:r>
              <a:rPr b="0" i="0" strike="noStrike" dirty="0"/>
              <a:t>a </a:t>
            </a:r>
            <a:r>
              <a:rPr b="0" i="0" strike="noStrike" dirty="0"/>
              <a:t>list </a:t>
            </a:r>
            <a:r>
              <a:rPr b="0" i="0" strike="noStrike" dirty="0"/>
              <a:t>of </a:t>
            </a:r>
            <a:r>
              <a:rPr b="0" i="0" strike="noStrike" dirty="0"/>
              <a:t>Microsoft </a:t>
            </a:r>
            <a:r>
              <a:rPr b="0" i="0" strike="noStrike" dirty="0"/>
              <a:t>trademarks, </a:t>
            </a:r>
            <a:r>
              <a:rPr b="0" i="0" strike="noStrike" dirty="0"/>
              <a:t>visit </a:t>
            </a:r>
            <a:r>
              <a:rPr>
                <a:hlinkClick r:id="rId11" action="ppaction://hlinkfile"/>
              </a:rPr>
              <a:t>www.microsoft.com/trademarks</a:t>
            </a:r>
            <a:r>
              <a:rPr b="0" i="0" strike="noStrike" dirty="0"/>
              <a:t>. </a:t>
            </a:r>
          </a:p>
        </p:txBody>
      </p:sp>
      <p:sp>
        <p:nvSpPr>
          <p:cNvPr id="5" name="TextBox5"/>
          <p:cNvSpPr txBox="1">
            <a:spLocks noChangeArrowheads="1"/>
          </p:cNvSpPr>
          <p:nvPr/>
        </p:nvSpPr>
        <p:spPr>
          <a:xfrm rot="0">
            <a:off x="508000" y="4104640"/>
            <a:ext cx="11176000" cy="1280160"/>
          </a:xfrm>
          <a:prstGeom prst="rect">
            <a:avLst/>
          </a:prstGeom>
          <a:ln>
            <a:headEnd type="none"/>
            <a:tailEnd type="none"/>
          </a:ln>
        </p:spPr>
        <p:txBody>
          <a:bodyPr wrap="square">
            <a:spAutoFit/>
          </a:bodyPr>
          <a:lstStyle/>
          <a:p>
            <a:pPr lvl="1" indent="283464" algn="l" defTabSz="914400">
              <a:buChar char="•"/>
            </a:pPr>
            <a:r>
              <a:rPr b="1" i="0" strike="noStrike" dirty="0"/>
              <a:t>Fictitious </a:t>
            </a:r>
            <a:r>
              <a:rPr b="1" i="0" strike="noStrike" dirty="0"/>
              <a:t>Names</a:t>
            </a:r>
            <a:r>
              <a:rPr b="0" i="0" strike="noStrike" dirty="0"/>
              <a:t>. </a:t>
            </a:r>
            <a:r>
              <a:rPr b="0" i="0" strike="noStrike" dirty="0"/>
              <a:t>The </a:t>
            </a:r>
            <a:r>
              <a:rPr b="0" i="0" strike="noStrike" dirty="0"/>
              <a:t>example </a:t>
            </a:r>
            <a:r>
              <a:rPr b="0" i="0" strike="noStrike" dirty="0"/>
              <a:t>companies, </a:t>
            </a:r>
            <a:r>
              <a:rPr b="0" i="0" strike="noStrike" dirty="0"/>
              <a:t>organizations, </a:t>
            </a:r>
            <a:r>
              <a:rPr b="0" i="0" strike="noStrike" dirty="0"/>
              <a:t>products, </a:t>
            </a:r>
            <a:r>
              <a:rPr b="0" i="0" strike="noStrike" dirty="0"/>
              <a:t>domain </a:t>
            </a:r>
            <a:r>
              <a:rPr b="0" i="0" strike="noStrike" dirty="0"/>
              <a:t>names, </a:t>
            </a:r>
            <a:r>
              <a:rPr b="0" i="0" strike="noStrike" dirty="0"/>
              <a:t>email </a:t>
            </a:r>
            <a:r>
              <a:rPr b="0" i="0" strike="noStrike" dirty="0"/>
              <a:t>addresses, </a:t>
            </a:r>
            <a:r>
              <a:rPr b="0" i="0" strike="noStrike" dirty="0"/>
              <a:t>logos, </a:t>
            </a:r>
            <a:r>
              <a:rPr b="0" i="0" strike="noStrike" dirty="0"/>
              <a:t>people, </a:t>
            </a:r>
            <a:r>
              <a:rPr b="0" i="0" strike="noStrike" dirty="0"/>
              <a:t>places, </a:t>
            </a:r>
            <a:r>
              <a:rPr b="0" i="0" strike="noStrike" dirty="0"/>
              <a:t>and </a:t>
            </a:r>
            <a:r>
              <a:rPr b="0" i="0" strike="noStrike" dirty="0"/>
              <a:t>events </a:t>
            </a:r>
            <a:r>
              <a:rPr b="0" i="0" strike="noStrike" dirty="0"/>
              <a:t>that </a:t>
            </a:r>
            <a:r>
              <a:rPr b="0" i="0" strike="noStrike" dirty="0"/>
              <a:t>are </a:t>
            </a:r>
            <a:r>
              <a:rPr b="0" i="0" strike="noStrike" dirty="0"/>
              <a:t>depicted </a:t>
            </a:r>
            <a:r>
              <a:rPr b="0" i="0" strike="noStrike" dirty="0"/>
              <a:t>in </a:t>
            </a:r>
            <a:r>
              <a:rPr b="0" i="0" strike="noStrike" dirty="0"/>
              <a:t>this </a:t>
            </a:r>
            <a:r>
              <a:rPr b="0" i="0" strike="noStrike" dirty="0"/>
              <a:t>documentation </a:t>
            </a:r>
            <a:r>
              <a:rPr b="0" i="0" strike="noStrike" dirty="0"/>
              <a:t>are </a:t>
            </a:r>
            <a:r>
              <a:rPr b="0" i="0" strike="noStrike" dirty="0"/>
              <a:t>fictitious. </a:t>
            </a:r>
            <a:r>
              <a:rPr b="0" i="0" strike="noStrike" dirty="0"/>
              <a:t>No </a:t>
            </a:r>
            <a:r>
              <a:rPr b="0" i="0" strike="noStrike" dirty="0"/>
              <a:t>association </a:t>
            </a:r>
            <a:r>
              <a:rPr b="0" i="0" strike="noStrike" dirty="0"/>
              <a:t>with </a:t>
            </a:r>
            <a:r>
              <a:rPr b="0" i="0" strike="noStrike" dirty="0"/>
              <a:t>any </a:t>
            </a:r>
            <a:r>
              <a:rPr b="0" i="0" strike="noStrike" dirty="0"/>
              <a:t>real </a:t>
            </a:r>
            <a:r>
              <a:rPr b="0" i="0" strike="noStrike" dirty="0"/>
              <a:t>company, </a:t>
            </a:r>
            <a:r>
              <a:rPr b="0" i="0" strike="noStrike" dirty="0"/>
              <a:t>organization, </a:t>
            </a:r>
            <a:r>
              <a:rPr b="0" i="0" strike="noStrike" dirty="0"/>
              <a:t>product, </a:t>
            </a:r>
            <a:r>
              <a:rPr b="0" i="0" strike="noStrike" dirty="0"/>
              <a:t>domain </a:t>
            </a:r>
            <a:r>
              <a:rPr b="0" i="0" strike="noStrike" dirty="0"/>
              <a:t>name, </a:t>
            </a:r>
            <a:r>
              <a:rPr b="0" i="0" strike="noStrike" dirty="0"/>
              <a:t>email </a:t>
            </a:r>
            <a:r>
              <a:rPr b="0" i="0" strike="noStrike" dirty="0"/>
              <a:t>address, </a:t>
            </a:r>
            <a:r>
              <a:rPr b="0" i="0" strike="noStrike" dirty="0"/>
              <a:t>logo, </a:t>
            </a:r>
            <a:r>
              <a:rPr b="0" i="0" strike="noStrike" dirty="0"/>
              <a:t>person, </a:t>
            </a:r>
            <a:r>
              <a:rPr b="0" i="0" strike="noStrike" dirty="0"/>
              <a:t>place, </a:t>
            </a:r>
            <a:r>
              <a:rPr b="0" i="0" strike="noStrike" dirty="0"/>
              <a:t>or </a:t>
            </a:r>
            <a:r>
              <a:rPr b="0" i="0" strike="noStrike" dirty="0"/>
              <a:t>event </a:t>
            </a:r>
            <a:r>
              <a:rPr b="0" i="0" strike="noStrike" dirty="0"/>
              <a:t>is </a:t>
            </a:r>
            <a:r>
              <a:rPr b="0" i="0" strike="noStrike" dirty="0"/>
              <a:t>intended </a:t>
            </a:r>
            <a:r>
              <a:rPr b="0" i="0" strike="noStrike" dirty="0"/>
              <a:t>or </a:t>
            </a:r>
            <a:r>
              <a:rPr b="0" i="0" strike="noStrike" dirty="0"/>
              <a:t>should </a:t>
            </a:r>
            <a:r>
              <a:rPr b="0" i="0" strike="noStrike" dirty="0"/>
              <a:t>be </a:t>
            </a:r>
            <a:r>
              <a:rPr b="0" i="0" strike="noStrike" dirty="0"/>
              <a:t>inferred.</a:t>
            </a:r>
          </a:p>
        </p:txBody>
      </p:sp>
      <p:sp>
        <p:nvSpPr>
          <p:cNvPr id="6" name="TextBox6"/>
          <p:cNvSpPr txBox="1">
            <a:spLocks noChangeArrowheads="1"/>
          </p:cNvSpPr>
          <p:nvPr/>
        </p:nvSpPr>
        <p:spPr>
          <a:xfrm rot="0">
            <a:off x="508000" y="5410200"/>
            <a:ext cx="11176000" cy="640080"/>
          </a:xfrm>
          <a:prstGeom prst="rect">
            <a:avLst/>
          </a:prstGeom>
          <a:ln>
            <a:headEnd type="none"/>
            <a:tailEnd type="none"/>
          </a:ln>
        </p:spPr>
        <p:txBody>
          <a:bodyPr wrap="square">
            <a:spAutoFit/>
          </a:bodyPr>
          <a:lstStyle/>
          <a:p>
            <a:pPr algn="l" defTabSz="914400"/>
            <a:r>
              <a:rPr b="1" i="0" strike="noStrike" dirty="0"/>
              <a:t>Reservation </a:t>
            </a:r>
            <a:r>
              <a:rPr b="1" i="0" strike="noStrike" dirty="0"/>
              <a:t>of </a:t>
            </a:r>
            <a:r>
              <a:rPr b="1" i="0" strike="noStrike" dirty="0"/>
              <a:t>Rights</a:t>
            </a:r>
            <a:r>
              <a:rPr b="0" i="0" strike="noStrike" dirty="0"/>
              <a:t>. </a:t>
            </a:r>
            <a:r>
              <a:rPr b="0" i="0" strike="noStrike" dirty="0"/>
              <a:t>All </a:t>
            </a:r>
            <a:r>
              <a:rPr b="0" i="0" strike="noStrike" dirty="0"/>
              <a:t>other </a:t>
            </a:r>
            <a:r>
              <a:rPr b="0" i="0" strike="noStrike" dirty="0"/>
              <a:t>rights </a:t>
            </a:r>
            <a:r>
              <a:rPr b="0" i="0" strike="noStrike" dirty="0"/>
              <a:t>are </a:t>
            </a:r>
            <a:r>
              <a:rPr b="0" i="0" strike="noStrike" dirty="0"/>
              <a:t>reserved, </a:t>
            </a:r>
            <a:r>
              <a:rPr b="0" i="0" strike="noStrike" dirty="0"/>
              <a:t>and </a:t>
            </a:r>
            <a:r>
              <a:rPr b="0" i="0" strike="noStrike" dirty="0"/>
              <a:t>this </a:t>
            </a:r>
            <a:r>
              <a:rPr b="0" i="0" strike="noStrike" dirty="0"/>
              <a:t>notice </a:t>
            </a:r>
            <a:r>
              <a:rPr b="0" i="0" strike="noStrike" dirty="0"/>
              <a:t>does </a:t>
            </a:r>
            <a:r>
              <a:rPr b="0" i="0" strike="noStrike" dirty="0"/>
              <a:t>not </a:t>
            </a:r>
            <a:r>
              <a:rPr b="0" i="0" strike="noStrike" dirty="0"/>
              <a:t>grant </a:t>
            </a:r>
            <a:r>
              <a:rPr b="0" i="0" strike="noStrike" dirty="0"/>
              <a:t>any </a:t>
            </a:r>
            <a:r>
              <a:rPr b="0" i="0" strike="noStrike" dirty="0"/>
              <a:t>rights </a:t>
            </a:r>
            <a:r>
              <a:rPr b="0" i="0" strike="noStrike" dirty="0"/>
              <a:t>other </a:t>
            </a:r>
            <a:r>
              <a:rPr b="0" i="0" strike="noStrike" dirty="0"/>
              <a:t>than </a:t>
            </a:r>
            <a:r>
              <a:rPr b="0" i="0" strike="noStrike" dirty="0"/>
              <a:t>as </a:t>
            </a:r>
            <a:r>
              <a:rPr b="0" i="0" strike="noStrike" dirty="0"/>
              <a:t>specifically </a:t>
            </a:r>
            <a:r>
              <a:rPr b="0" i="0" strike="noStrike" dirty="0"/>
              <a:t>described </a:t>
            </a:r>
            <a:r>
              <a:rPr b="0" i="0" strike="noStrike" dirty="0"/>
              <a:t>above, </a:t>
            </a:r>
            <a:r>
              <a:rPr b="0" i="0" strike="noStrike" dirty="0"/>
              <a:t>whether </a:t>
            </a:r>
            <a:r>
              <a:rPr b="0" i="0" strike="noStrike" dirty="0"/>
              <a:t>by </a:t>
            </a:r>
            <a:r>
              <a:rPr b="0" i="0" strike="noStrike" dirty="0"/>
              <a:t>implication, </a:t>
            </a:r>
            <a:r>
              <a:rPr b="0" i="0" strike="noStrike" dirty="0"/>
              <a:t>estoppel, </a:t>
            </a:r>
            <a:r>
              <a:rPr b="0" i="0" strike="noStrike" dirty="0"/>
              <a:t>or </a:t>
            </a:r>
            <a:r>
              <a:rPr b="0" i="0" strike="noStrike" dirty="0"/>
              <a:t>otherwise.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1920240"/>
          </a:xfrm>
          <a:prstGeom prst="rect">
            <a:avLst/>
          </a:prstGeom>
          <a:ln>
            <a:headEnd type="none"/>
            <a:tailEnd type="none"/>
          </a:ln>
        </p:spPr>
        <p:txBody>
          <a:bodyPr wrap="square">
            <a:spAutoFit/>
          </a:bodyPr>
          <a:lstStyle/>
          <a:p>
            <a:pPr algn="l" defTabSz="914400"/>
            <a:r>
              <a:rPr b="1" i="0" strike="noStrike" dirty="0"/>
              <a:t>Tools</a:t>
            </a:r>
            <a:r>
              <a:rPr b="0" i="0" strike="noStrike" dirty="0"/>
              <a:t>. </a:t>
            </a:r>
            <a:r>
              <a:rPr b="0" i="0" strike="noStrike" dirty="0"/>
              <a:t>The </a:t>
            </a:r>
            <a:r>
              <a:rPr b="0" i="0" strike="noStrike" dirty="0"/>
              <a:t>Open </a:t>
            </a:r>
            <a:r>
              <a:rPr b="0" i="0" strike="noStrike" dirty="0"/>
              <a:t>Specifications </a:t>
            </a:r>
            <a:r>
              <a:rPr b="0" i="0" strike="noStrike" dirty="0"/>
              <a:t>documentation </a:t>
            </a:r>
            <a:r>
              <a:rPr b="0" i="0" strike="noStrike" dirty="0"/>
              <a:t>does </a:t>
            </a:r>
            <a:r>
              <a:rPr b="0" i="0" strike="noStrike" dirty="0"/>
              <a:t>not </a:t>
            </a:r>
            <a:r>
              <a:rPr b="0" i="0" strike="noStrike" dirty="0"/>
              <a:t>require </a:t>
            </a:r>
            <a:r>
              <a:rPr b="0" i="0" strike="noStrike" dirty="0"/>
              <a:t>the </a:t>
            </a:r>
            <a:r>
              <a:rPr b="0" i="0" strike="noStrike" dirty="0"/>
              <a:t>use </a:t>
            </a:r>
            <a:r>
              <a:rPr b="0" i="0" strike="noStrike" dirty="0"/>
              <a:t>of </a:t>
            </a:r>
            <a:r>
              <a:rPr b="0" i="0" strike="noStrike" dirty="0"/>
              <a:t>Microsoft </a:t>
            </a:r>
            <a:r>
              <a:rPr b="0" i="0" strike="noStrike" dirty="0"/>
              <a:t>programming </a:t>
            </a:r>
            <a:r>
              <a:rPr b="0" i="0" strike="noStrike" dirty="0"/>
              <a:t>tools </a:t>
            </a:r>
            <a:r>
              <a:rPr b="0" i="0" strike="noStrike" dirty="0"/>
              <a:t>or </a:t>
            </a:r>
            <a:r>
              <a:rPr b="0" i="0" strike="noStrike" dirty="0"/>
              <a:t>programming </a:t>
            </a:r>
            <a:r>
              <a:rPr b="0" i="0" strike="noStrike" dirty="0"/>
              <a:t>environments </a:t>
            </a:r>
            <a:r>
              <a:rPr b="0" i="0" strike="noStrike" dirty="0"/>
              <a:t>in </a:t>
            </a:r>
            <a:r>
              <a:rPr b="0" i="0" strike="noStrike" dirty="0"/>
              <a:t>order </a:t>
            </a:r>
            <a:r>
              <a:rPr b="0" i="0" strike="noStrike" dirty="0"/>
              <a:t>for </a:t>
            </a:r>
            <a:r>
              <a:rPr b="0" i="0" strike="noStrike" dirty="0"/>
              <a:t>you </a:t>
            </a:r>
            <a:r>
              <a:rPr b="0" i="0" strike="noStrike" dirty="0"/>
              <a:t>to </a:t>
            </a:r>
            <a:r>
              <a:rPr b="0" i="0" strike="noStrike" dirty="0"/>
              <a:t>develop </a:t>
            </a:r>
            <a:r>
              <a:rPr b="0" i="0" strike="noStrike" dirty="0"/>
              <a:t>an </a:t>
            </a:r>
            <a:r>
              <a:rPr b="0" i="0" strike="noStrike" dirty="0"/>
              <a:t>implementation. </a:t>
            </a:r>
            <a:r>
              <a:rPr b="0" i="0" strike="noStrike" dirty="0"/>
              <a:t>If </a:t>
            </a:r>
            <a:r>
              <a:rPr b="0" i="0" strike="noStrike" dirty="0"/>
              <a:t>you </a:t>
            </a:r>
            <a:r>
              <a:rPr b="0" i="0" strike="noStrike" dirty="0"/>
              <a:t>have </a:t>
            </a:r>
            <a:r>
              <a:rPr b="0" i="0" strike="noStrike" dirty="0"/>
              <a:t>access </a:t>
            </a:r>
            <a:r>
              <a:rPr b="0" i="0" strike="noStrike" dirty="0"/>
              <a:t>to </a:t>
            </a:r>
            <a:r>
              <a:rPr b="0" i="0" strike="noStrike" dirty="0"/>
              <a:t>Microsoft </a:t>
            </a:r>
            <a:r>
              <a:rPr b="0" i="0" strike="noStrike" dirty="0"/>
              <a:t>programming </a:t>
            </a:r>
            <a:r>
              <a:rPr b="0" i="0" strike="noStrike" dirty="0"/>
              <a:t>tools </a:t>
            </a:r>
            <a:r>
              <a:rPr b="0" i="0" strike="noStrike" dirty="0"/>
              <a:t>and </a:t>
            </a:r>
            <a:r>
              <a:rPr b="0" i="0" strike="noStrike" dirty="0"/>
              <a:t>environments, </a:t>
            </a:r>
            <a:r>
              <a:rPr b="0" i="0" strike="noStrike" dirty="0"/>
              <a:t>you </a:t>
            </a:r>
            <a:r>
              <a:rPr b="0" i="0" strike="noStrike" dirty="0"/>
              <a:t>are </a:t>
            </a:r>
            <a:r>
              <a:rPr b="0" i="0" strike="noStrike" dirty="0"/>
              <a:t>free </a:t>
            </a:r>
            <a:r>
              <a:rPr b="0" i="0" strike="noStrike" dirty="0"/>
              <a:t>to </a:t>
            </a:r>
            <a:r>
              <a:rPr b="0" i="0" strike="noStrike" dirty="0"/>
              <a:t>take </a:t>
            </a:r>
            <a:r>
              <a:rPr b="0" i="0" strike="noStrike" dirty="0"/>
              <a:t>advantage </a:t>
            </a:r>
            <a:r>
              <a:rPr b="0" i="0" strike="noStrike" dirty="0"/>
              <a:t>of </a:t>
            </a:r>
            <a:r>
              <a:rPr b="0" i="0" strike="noStrike" dirty="0"/>
              <a:t>them. </a:t>
            </a:r>
            <a:r>
              <a:rPr b="0" i="0" strike="noStrike" dirty="0"/>
              <a:t>Certain </a:t>
            </a:r>
            <a:r>
              <a:rPr b="0" i="0" strike="noStrike" dirty="0"/>
              <a:t>Open </a:t>
            </a:r>
            <a:r>
              <a:rPr b="0" i="0" strike="noStrike" dirty="0"/>
              <a:t>Specifications </a:t>
            </a:r>
            <a:r>
              <a:rPr b="0" i="0" strike="noStrike" dirty="0"/>
              <a:t>documents </a:t>
            </a:r>
            <a:r>
              <a:rPr b="0" i="0" strike="noStrike" dirty="0"/>
              <a:t>are </a:t>
            </a:r>
            <a:r>
              <a:rPr b="0" i="0" strike="noStrike" dirty="0"/>
              <a:t>intended </a:t>
            </a:r>
            <a:r>
              <a:rPr b="0" i="0" strike="noStrike" dirty="0"/>
              <a:t>for </a:t>
            </a:r>
            <a:r>
              <a:rPr b="0" i="0" strike="noStrike" dirty="0"/>
              <a:t>use </a:t>
            </a:r>
            <a:r>
              <a:rPr b="0" i="0" strike="noStrike" dirty="0"/>
              <a:t>in </a:t>
            </a:r>
            <a:r>
              <a:rPr b="0" i="0" strike="noStrike" dirty="0"/>
              <a:t>conjunction </a:t>
            </a:r>
            <a:r>
              <a:rPr b="0" i="0" strike="noStrike" dirty="0"/>
              <a:t>with </a:t>
            </a:r>
            <a:r>
              <a:rPr b="0" i="0" strike="noStrike" dirty="0"/>
              <a:t>publicly </a:t>
            </a:r>
            <a:r>
              <a:rPr b="0" i="0" strike="noStrike" dirty="0"/>
              <a:t>available </a:t>
            </a:r>
            <a:r>
              <a:rPr b="0" i="0" strike="noStrike" dirty="0"/>
              <a:t>standards </a:t>
            </a:r>
            <a:r>
              <a:rPr b="0" i="0" strike="noStrike" dirty="0"/>
              <a:t>specifications </a:t>
            </a:r>
            <a:r>
              <a:rPr b="0" i="0" strike="noStrike" dirty="0"/>
              <a:t>and </a:t>
            </a:r>
            <a:r>
              <a:rPr b="0" i="0" strike="noStrike" dirty="0"/>
              <a:t>network </a:t>
            </a:r>
            <a:r>
              <a:rPr b="0" i="0" strike="noStrike" dirty="0"/>
              <a:t>programming </a:t>
            </a:r>
            <a:r>
              <a:rPr b="0" i="0" strike="noStrike" dirty="0"/>
              <a:t>art </a:t>
            </a:r>
            <a:r>
              <a:rPr b="0" i="0" strike="noStrike" dirty="0"/>
              <a:t>and, </a:t>
            </a:r>
            <a:r>
              <a:rPr b="0" i="0" strike="noStrike" dirty="0"/>
              <a:t>as </a:t>
            </a:r>
            <a:r>
              <a:rPr b="0" i="0" strike="noStrike" dirty="0"/>
              <a:t>such, </a:t>
            </a:r>
            <a:r>
              <a:rPr b="0" i="0" strike="noStrike" dirty="0"/>
              <a:t>assume </a:t>
            </a:r>
            <a:r>
              <a:rPr b="0" i="0" strike="noStrike" dirty="0"/>
              <a:t>that </a:t>
            </a:r>
            <a:r>
              <a:rPr b="0" i="0" strike="noStrike" dirty="0"/>
              <a:t>the </a:t>
            </a:r>
            <a:r>
              <a:rPr b="0" i="0" strike="noStrike" dirty="0"/>
              <a:t>reader </a:t>
            </a:r>
            <a:r>
              <a:rPr b="0" i="0" strike="noStrike" dirty="0"/>
              <a:t>either </a:t>
            </a:r>
            <a:r>
              <a:rPr b="0" i="0" strike="noStrike" dirty="0"/>
              <a:t>is </a:t>
            </a:r>
            <a:r>
              <a:rPr b="0" i="0" strike="noStrike" dirty="0"/>
              <a:t>familiar </a:t>
            </a:r>
            <a:r>
              <a:rPr b="0" i="0" strike="noStrike" dirty="0"/>
              <a:t>with </a:t>
            </a:r>
            <a:r>
              <a:rPr b="0" i="0" strike="noStrike" dirty="0"/>
              <a:t>the </a:t>
            </a:r>
            <a:r>
              <a:rPr b="0" i="0" strike="noStrike" dirty="0"/>
              <a:t>aforementioned </a:t>
            </a:r>
            <a:r>
              <a:rPr b="0" i="0" strike="noStrike" dirty="0"/>
              <a:t>material </a:t>
            </a:r>
            <a:r>
              <a:rPr b="0" i="0" strike="noStrike" dirty="0"/>
              <a:t>or </a:t>
            </a:r>
            <a:r>
              <a:rPr b="0" i="0" strike="noStrike" dirty="0"/>
              <a:t>has </a:t>
            </a:r>
            <a:r>
              <a:rPr b="0" i="0" strike="noStrike" dirty="0"/>
              <a:t>immediate </a:t>
            </a:r>
            <a:r>
              <a:rPr b="0" i="0" strike="noStrike" dirty="0"/>
              <a:t>access </a:t>
            </a:r>
            <a:r>
              <a:rPr b="0" i="0" strike="noStrike" dirty="0"/>
              <a:t>to </a:t>
            </a:r>
            <a:r>
              <a:rPr b="0" i="0" strike="noStrike" dirty="0"/>
              <a:t>it.</a:t>
            </a:r>
          </a:p>
        </p:txBody>
      </p:sp>
      <p:sp>
        <p:nvSpPr>
          <p:cNvPr id="3" name="TextBox3"/>
          <p:cNvSpPr txBox="1">
            <a:spLocks noChangeArrowheads="1"/>
          </p:cNvSpPr>
          <p:nvPr/>
        </p:nvSpPr>
        <p:spPr>
          <a:xfrm rot="0">
            <a:off x="508000" y="2453640"/>
            <a:ext cx="11176000" cy="320040"/>
          </a:xfrm>
          <a:prstGeom prst="rect">
            <a:avLst/>
          </a:prstGeom>
          <a:ln>
            <a:headEnd type="none"/>
            <a:tailEnd type="none"/>
          </a:ln>
        </p:spPr>
        <p:txBody>
          <a:bodyPr wrap="square">
            <a:spAutoFit/>
          </a:bodyPr>
          <a:lstStyle/>
          <a:p>
            <a:pPr algn="l" defTabSz="914400"/>
            <a:r>
              <a:rPr b="1" i="0" strike="noStrike" dirty="0"/>
              <a:t>Support.</a:t>
            </a:r>
            <a:r>
              <a:rPr b="0" i="0" strike="noStrike" dirty="0"/>
              <a:t> </a:t>
            </a:r>
            <a:r>
              <a:rPr b="0" i="0" strike="noStrike" dirty="0"/>
              <a:t>For </a:t>
            </a:r>
            <a:r>
              <a:rPr b="0" i="0" strike="noStrike" dirty="0"/>
              <a:t>questions </a:t>
            </a:r>
            <a:r>
              <a:rPr b="0" i="0" strike="noStrike" dirty="0"/>
              <a:t>and </a:t>
            </a:r>
            <a:r>
              <a:rPr b="0" i="0" strike="noStrike" dirty="0"/>
              <a:t>support, </a:t>
            </a:r>
            <a:r>
              <a:rPr b="0" i="0" strike="noStrike" dirty="0"/>
              <a:t>please </a:t>
            </a:r>
            <a:r>
              <a:rPr b="0" i="0" strike="noStrike" dirty="0"/>
              <a:t>contact </a:t>
            </a:r>
            <a:r>
              <a:rPr>
                <a:hlinkClick r:id="rId2" action="ppaction://hlinkfile"/>
              </a:rPr>
              <a:t>dochelp@microsoft.com</a:t>
            </a:r>
            <a:r>
              <a:rPr b="0" i="0" strike="noStrike" dirty="0"/>
              <a:t>. </a:t>
            </a:r>
          </a:p>
        </p:txBody>
      </p:sp>
      <p:sp>
        <p:nvSpPr>
          <p:cNvPr id="4" name="TextBox4"/>
          <p:cNvSpPr txBox="1">
            <a:spLocks noChangeArrowheads="1"/>
          </p:cNvSpPr>
          <p:nvPr/>
        </p:nvSpPr>
        <p:spPr>
          <a:xfrm rot="0">
            <a:off x="508000" y="2799080"/>
            <a:ext cx="11176000" cy="1600200"/>
          </a:xfrm>
          <a:prstGeom prst="rect">
            <a:avLst/>
          </a:prstGeom>
          <a:ln>
            <a:headEnd type="none"/>
            <a:tailEnd type="none"/>
          </a:ln>
        </p:spPr>
        <p:txBody>
          <a:bodyPr wrap="square">
            <a:spAutoFit/>
          </a:bodyPr>
          <a:lstStyle/>
          <a:p>
            <a:pPr algn="l" defTabSz="914400"/>
            <a:r>
              <a:rPr b="1" i="0" strike="noStrike" dirty="0"/>
              <a:t>Preliminary </a:t>
            </a:r>
            <a:r>
              <a:rPr b="1" i="0" strike="noStrike" dirty="0"/>
              <a:t>Documentation.</a:t>
            </a:r>
            <a:r>
              <a:rPr b="0" i="0" strike="noStrike" dirty="0"/>
              <a:t> </a:t>
            </a:r>
            <a:r>
              <a:rPr b="0" i="0" strike="noStrike" dirty="0"/>
              <a:t>This </a:t>
            </a:r>
            <a:r>
              <a:rPr b="0" i="0" strike="noStrike" dirty="0"/>
              <a:t>particular </a:t>
            </a:r>
            <a:r>
              <a:rPr b="0" i="0" strike="noStrike" dirty="0"/>
              <a:t>Open </a:t>
            </a:r>
            <a:r>
              <a:rPr b="0" i="0" strike="noStrike" dirty="0"/>
              <a:t>Specifications </a:t>
            </a:r>
            <a:r>
              <a:rPr b="0" i="0" strike="noStrike" dirty="0"/>
              <a:t>document </a:t>
            </a:r>
            <a:r>
              <a:rPr b="0" i="0" strike="noStrike" dirty="0"/>
              <a:t>provides </a:t>
            </a:r>
            <a:r>
              <a:rPr b="0" i="0" strike="noStrike" dirty="0"/>
              <a:t>documentation </a:t>
            </a:r>
            <a:r>
              <a:rPr b="0" i="0" strike="noStrike" dirty="0"/>
              <a:t>for </a:t>
            </a:r>
            <a:r>
              <a:rPr b="0" i="0" strike="noStrike" dirty="0"/>
              <a:t>past </a:t>
            </a:r>
            <a:r>
              <a:rPr b="0" i="0" strike="noStrike" dirty="0"/>
              <a:t>and </a:t>
            </a:r>
            <a:r>
              <a:rPr b="0" i="0" strike="noStrike" dirty="0"/>
              <a:t>current </a:t>
            </a:r>
            <a:r>
              <a:rPr b="0" i="0" strike="noStrike" dirty="0"/>
              <a:t>releases </a:t>
            </a:r>
            <a:r>
              <a:rPr b="0" i="0" strike="noStrike" dirty="0"/>
              <a:t>and/or </a:t>
            </a:r>
            <a:r>
              <a:rPr b="0" i="0" strike="noStrike" dirty="0"/>
              <a:t>for </a:t>
            </a:r>
            <a:r>
              <a:rPr b="0" i="0" strike="noStrike" dirty="0"/>
              <a:t>the </a:t>
            </a:r>
            <a:r>
              <a:rPr b="0" i="0" strike="noStrike" dirty="0"/>
              <a:t>pre-release </a:t>
            </a:r>
            <a:r>
              <a:rPr b="0" i="0" strike="noStrike" dirty="0"/>
              <a:t>version </a:t>
            </a:r>
            <a:r>
              <a:rPr b="0" i="0" strike="noStrike" dirty="0"/>
              <a:t>of </a:t>
            </a:r>
            <a:r>
              <a:rPr b="0" i="0" strike="noStrike" dirty="0"/>
              <a:t>this </a:t>
            </a:r>
            <a:r>
              <a:rPr b="0" i="0" strike="noStrike" dirty="0"/>
              <a:t>technology. </a:t>
            </a:r>
            <a:r>
              <a:rPr b="0" i="0" strike="noStrike" dirty="0"/>
              <a:t>This </a:t>
            </a:r>
            <a:r>
              <a:rPr b="0" i="0" strike="noStrike" dirty="0"/>
              <a:t>document </a:t>
            </a:r>
            <a:r>
              <a:rPr b="0" i="0" strike="noStrike" dirty="0"/>
              <a:t>provides </a:t>
            </a:r>
            <a:r>
              <a:rPr b="0" i="0" strike="noStrike" dirty="0"/>
              <a:t>final </a:t>
            </a:r>
            <a:r>
              <a:rPr b="0" i="0" strike="noStrike" dirty="0"/>
              <a:t>documentation </a:t>
            </a:r>
            <a:r>
              <a:rPr b="0" i="0" strike="noStrike" dirty="0"/>
              <a:t>for </a:t>
            </a:r>
            <a:r>
              <a:rPr b="0" i="0" strike="noStrike" dirty="0"/>
              <a:t>past </a:t>
            </a:r>
            <a:r>
              <a:rPr b="0" i="0" strike="noStrike" dirty="0"/>
              <a:t>and </a:t>
            </a:r>
            <a:r>
              <a:rPr b="0" i="0" strike="noStrike" dirty="0"/>
              <a:t>current </a:t>
            </a:r>
            <a:r>
              <a:rPr b="0" i="0" strike="noStrike" dirty="0"/>
              <a:t>releases </a:t>
            </a:r>
            <a:r>
              <a:rPr b="0" i="0" strike="noStrike" dirty="0"/>
              <a:t>and </a:t>
            </a:r>
            <a:r>
              <a:rPr b="0" i="0" strike="noStrike" dirty="0"/>
              <a:t>preliminary </a:t>
            </a:r>
            <a:r>
              <a:rPr b="0" i="0" strike="noStrike" dirty="0"/>
              <a:t>documentation, </a:t>
            </a:r>
            <a:r>
              <a:rPr b="0" i="0" strike="noStrike" dirty="0"/>
              <a:t>as </a:t>
            </a:r>
            <a:r>
              <a:rPr b="0" i="0" strike="noStrike" dirty="0"/>
              <a:t>applicable </a:t>
            </a:r>
            <a:r>
              <a:rPr b="0" i="0" strike="noStrike" dirty="0"/>
              <a:t>and </a:t>
            </a:r>
            <a:r>
              <a:rPr b="0" i="0" strike="noStrike" dirty="0"/>
              <a:t>specifically </a:t>
            </a:r>
            <a:r>
              <a:rPr b="0" i="0" strike="noStrike" dirty="0"/>
              <a:t>noted </a:t>
            </a:r>
            <a:r>
              <a:rPr b="0" i="0" strike="noStrike" dirty="0"/>
              <a:t>in </a:t>
            </a:r>
            <a:r>
              <a:rPr b="0" i="0" strike="noStrike" dirty="0"/>
              <a:t>this </a:t>
            </a:r>
            <a:r>
              <a:rPr b="0" i="0" strike="noStrike" dirty="0"/>
              <a:t>document, </a:t>
            </a:r>
            <a:r>
              <a:rPr b="0" i="0" strike="noStrike" dirty="0"/>
              <a:t>for </a:t>
            </a:r>
            <a:r>
              <a:rPr b="0" i="0" strike="noStrike" dirty="0"/>
              <a:t>the </a:t>
            </a:r>
            <a:r>
              <a:rPr b="0" i="0" strike="noStrike" dirty="0"/>
              <a:t>pre-release </a:t>
            </a:r>
            <a:r>
              <a:rPr b="0" i="0" strike="noStrike" dirty="0"/>
              <a:t>version. </a:t>
            </a:r>
            <a:r>
              <a:rPr b="0" i="0" strike="noStrike" dirty="0"/>
              <a:t>Microsoft </a:t>
            </a:r>
            <a:r>
              <a:rPr b="0" i="0" strike="noStrike" dirty="0"/>
              <a:t>will </a:t>
            </a:r>
            <a:r>
              <a:rPr b="0" i="0" strike="noStrike" dirty="0"/>
              <a:t>release </a:t>
            </a:r>
            <a:r>
              <a:rPr b="0" i="0" strike="noStrike" dirty="0"/>
              <a:t> </a:t>
            </a:r>
            <a:r>
              <a:rPr b="0" i="0" strike="noStrike" dirty="0"/>
              <a:t>&lt;item </a:t>
            </a:r>
            <a:r>
              <a:rPr b="0" i="0" strike="noStrike" dirty="0"/>
              <a:t>id="item4" </a:t>
            </a:r>
            <a:r>
              <a:rPr b="0" i="0" strike="noStrike" dirty="0"/>
              <a:t>image="Tree" </a:t>
            </a:r>
            <a:r>
              <a:rPr b="0" i="0" strike="noStrike" dirty="0"/>
              <a:t>/&gt;</a:t>
            </a:r>
          </a:p>
        </p:txBody>
      </p:sp>
      <p:sp>
        <p:nvSpPr>
          <p:cNvPr id="5" name="TextBox5"/>
          <p:cNvSpPr txBox="1">
            <a:spLocks noChangeArrowheads="1"/>
          </p:cNvSpPr>
          <p:nvPr/>
        </p:nvSpPr>
        <p:spPr>
          <a:xfrm rot="0">
            <a:off x="508000" y="4424680"/>
            <a:ext cx="11176000" cy="320040"/>
          </a:xfrm>
          <a:prstGeom prst="rect">
            <a:avLst/>
          </a:prstGeom>
          <a:ln>
            <a:headEnd type="none"/>
            <a:tailEnd type="none"/>
          </a:ln>
        </p:spPr>
        <p:txBody>
          <a:bodyPr wrap="square">
            <a:spAutoFit/>
          </a:bodyPr>
          <a:lstStyle/>
          <a:p>
            <a:pPr algn="l" defTabSz="914400"/>
            <a:r>
              <a:rPr b="0" i="0" strike="noStrike" dirty="0"/>
              <a:t>&lt;/gallery&gt;</a:t>
            </a:r>
          </a:p>
        </p:txBody>
      </p:sp>
      <p:sp>
        <p:nvSpPr>
          <p:cNvPr id="6" name="TextBox6"/>
          <p:cNvSpPr txBox="1">
            <a:spLocks noChangeArrowheads="1"/>
          </p:cNvSpPr>
          <p:nvPr/>
        </p:nvSpPr>
        <p:spPr>
          <a:xfrm rot="0">
            <a:off x="508000" y="47701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sp>
        <p:nvSpPr>
          <p:cNvPr id="7" name="TextBox7"/>
          <p:cNvSpPr txBox="1">
            <a:spLocks noChangeArrowheads="1"/>
          </p:cNvSpPr>
          <p:nvPr/>
        </p:nvSpPr>
        <p:spPr>
          <a:xfrm rot="0">
            <a:off x="508000" y="511556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sp>
        <p:nvSpPr>
          <p:cNvPr id="8" name="TextBox8"/>
          <p:cNvSpPr txBox="1">
            <a:spLocks noChangeArrowheads="1"/>
          </p:cNvSpPr>
          <p:nvPr/>
        </p:nvSpPr>
        <p:spPr>
          <a:xfrm rot="0">
            <a:off x="508000" y="5461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
        <p:nvSpPr>
          <p:cNvPr id="9" name="TextBox9"/>
          <p:cNvSpPr txBox="1">
            <a:spLocks noChangeArrowheads="1"/>
          </p:cNvSpPr>
          <p:nvPr/>
        </p:nvSpPr>
        <p:spPr>
          <a:xfrm rot="0">
            <a:off x="508000" y="58064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name="CT_Gallery"&gt;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base="CT_GalleryRegular"&gt;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ref="AG_SizeAttributes"/&gt;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8" name="TextBox8"/>
          <p:cNvSpPr txBox="1">
            <a:spLocks noChangeArrowheads="1"/>
          </p:cNvSpPr>
          <p:nvPr/>
        </p:nvSpPr>
        <p:spPr>
          <a:xfrm rot="0">
            <a:off x="508000" y="2580640"/>
            <a:ext cx="11176000" cy="160020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the </a:t>
            </a:r>
            <a:r>
              <a:rPr b="0" i="0" strike="noStrike" dirty="0"/>
              <a:t>quick </a:t>
            </a:r>
            <a:r>
              <a:rPr b="0" i="0" strike="noStrike" dirty="0"/>
              <a:t>access </a:t>
            </a:r>
            <a:r>
              <a:rPr b="0" i="0" strike="noStrike" dirty="0"/>
              <a:t>toolbar. </a:t>
            </a:r>
            <a:r>
              <a:rPr b="0" i="0" strike="noStrike" dirty="0"/>
              <a:t>If </a:t>
            </a:r>
            <a:r>
              <a:rPr b="0" i="0" strike="noStrike" dirty="0"/>
              <a:t>the </a:t>
            </a:r>
            <a:r>
              <a:rPr b="0" i="0" strike="noStrike" dirty="0"/>
              <a:t>containing </a:t>
            </a:r>
            <a:r>
              <a:rPr b="0" i="0" strike="noStrike" dirty="0"/>
              <a:t>Custom </a:t>
            </a:r>
            <a:r>
              <a:rPr b="0" i="0" strike="noStrike" dirty="0"/>
              <a:t>UI </a:t>
            </a:r>
            <a:r>
              <a:rPr b="0" i="0" strike="noStrike" dirty="0"/>
              <a:t>file </a:t>
            </a:r>
            <a:r>
              <a:rPr b="0" i="0" strike="noStrike" dirty="0"/>
              <a:t>is </a:t>
            </a:r>
            <a:r>
              <a:rPr b="0" i="0" strike="noStrike" dirty="0"/>
              <a:t>a </a:t>
            </a:r>
            <a:r>
              <a:rPr b="0" i="0" strike="noStrike" dirty="0"/>
              <a:t>Ribbon </a:t>
            </a:r>
            <a:r>
              <a:rPr b="0" i="0" strike="noStrike" dirty="0"/>
              <a:t>Extensibility </a:t>
            </a:r>
            <a:r>
              <a:rPr b="0" i="0" strike="noStrike" dirty="0"/>
              <a:t>part </a:t>
            </a:r>
            <a:r>
              <a:rPr b="0" i="0" strike="noStrike" dirty="0"/>
              <a:t>the </a:t>
            </a:r>
            <a:r>
              <a:rPr b="1" i="0" strike="noStrike" dirty="0"/>
              <a:t>qat</a:t>
            </a:r>
            <a:r>
              <a:rPr b="0" i="0" strike="noStrike" dirty="0"/>
              <a:t> </a:t>
            </a:r>
            <a:r>
              <a:rPr b="0" i="0" strike="noStrike" dirty="0"/>
              <a:t>element </a:t>
            </a:r>
            <a:r>
              <a:rPr b="0" i="0" strike="noStrike" dirty="0"/>
              <a:t>cannot </a:t>
            </a:r>
            <a:r>
              <a:rPr b="0" i="0" strike="noStrike" dirty="0"/>
              <a:t>be </a:t>
            </a:r>
            <a:r>
              <a:rPr b="0" i="0" strike="noStrike" dirty="0"/>
              <a:t>used </a:t>
            </a:r>
            <a:r>
              <a:rPr b="0" i="0" strike="noStrike" dirty="0"/>
              <a:t>unless </a:t>
            </a:r>
            <a:r>
              <a:rPr b="0" i="0" strike="noStrike" dirty="0"/>
              <a:t>the </a:t>
            </a:r>
            <a:r>
              <a:rPr b="1" i="0" strike="noStrike" dirty="0"/>
              <a:t>startFromScratch</a:t>
            </a:r>
            <a:r>
              <a:rPr b="0" i="0" strike="noStrike" dirty="0"/>
              <a:t> </a:t>
            </a:r>
            <a:r>
              <a:rPr b="0" i="0" strike="noStrike" dirty="0"/>
              <a:t>attribute </a:t>
            </a:r>
            <a:r>
              <a:rPr b="0" i="0" strike="noStrike" dirty="0"/>
              <a:t>on </a:t>
            </a:r>
            <a:r>
              <a:rPr b="0" i="0" strike="noStrike" dirty="0"/>
              <a:t>the </a:t>
            </a:r>
            <a:r>
              <a:rPr b="0" i="0" strike="noStrike" dirty="0"/>
              <a:t>ribbon </a:t>
            </a:r>
            <a:r>
              <a:rPr b="0" i="0" strike="noStrike" dirty="0"/>
              <a:t>element </a:t>
            </a:r>
            <a:r>
              <a:rPr b="0" i="0" strike="noStrike" dirty="0"/>
              <a:t>is </a:t>
            </a:r>
            <a:r>
              <a:rPr b="0" i="0" strike="noStrike" dirty="0"/>
              <a:t>set </a:t>
            </a:r>
            <a:r>
              <a:rPr b="0" i="0" strike="noStrike" dirty="0"/>
              <a:t>to </a:t>
            </a:r>
            <a:r>
              <a:rPr b="0" i="0" strike="noStrike" dirty="0"/>
              <a:t>"true". </a:t>
            </a:r>
            <a:r>
              <a:rPr b="0" i="0" strike="noStrike" dirty="0"/>
              <a:t>In </a:t>
            </a:r>
            <a:r>
              <a:rPr b="0" i="0" strike="noStrike" dirty="0"/>
              <a:t>this </a:t>
            </a:r>
            <a:r>
              <a:rPr b="0" i="0" strike="noStrike" dirty="0"/>
              <a:t>case </a:t>
            </a:r>
            <a:r>
              <a:rPr b="0" i="0" strike="noStrike" dirty="0"/>
              <a:t>only </a:t>
            </a:r>
            <a:r>
              <a:rPr b="0" i="0" strike="noStrike" dirty="0"/>
              <a:t>the </a:t>
            </a:r>
            <a:r>
              <a:rPr b="1" i="0" strike="noStrike" dirty="0"/>
              <a:t>sharedControls</a:t>
            </a:r>
            <a:r>
              <a:rPr b="0" i="0" strike="noStrike" dirty="0"/>
              <a:t> </a:t>
            </a:r>
            <a:r>
              <a:rPr b="0" i="0" strike="noStrike" dirty="0"/>
              <a:t>child </a:t>
            </a:r>
            <a:r>
              <a:rPr b="0" i="0" strike="noStrike" dirty="0"/>
              <a:t>element </a:t>
            </a:r>
            <a:r>
              <a:rPr b="0" i="0" strike="noStrike" dirty="0"/>
              <a:t>SHOULD </a:t>
            </a:r>
            <a:r>
              <a:rPr b="0" i="0" strike="noStrike" dirty="0"/>
              <a:t>be </a:t>
            </a:r>
            <a:r>
              <a:rPr b="0" i="0" strike="noStrike" dirty="0"/>
              <a:t>used. </a:t>
            </a:r>
            <a:r>
              <a:rPr b="0" i="0" strike="noStrike" dirty="0"/>
              <a:t> </a:t>
            </a:r>
            <a:r>
              <a:rPr b="0" i="0" strike="noStrike" dirty="0"/>
              <a:t>If </a:t>
            </a:r>
            <a:r>
              <a:rPr b="0" i="0" strike="noStrike" dirty="0"/>
              <a:t>the </a:t>
            </a:r>
            <a:r>
              <a:rPr b="0" i="0" strike="noStrike" dirty="0"/>
              <a:t>containing </a:t>
            </a:r>
            <a:r>
              <a:rPr b="0" i="0" strike="noStrike" dirty="0"/>
              <a:t>Custom </a:t>
            </a:r>
            <a:r>
              <a:rPr b="0" i="0" strike="noStrike" dirty="0"/>
              <a:t>UI </a:t>
            </a:r>
            <a:r>
              <a:rPr b="0" i="0" strike="noStrike" dirty="0"/>
              <a:t>file </a:t>
            </a:r>
            <a:r>
              <a:rPr b="0" i="0" strike="noStrike" dirty="0"/>
              <a:t>is </a:t>
            </a:r>
            <a:r>
              <a:rPr b="0" i="0" strike="noStrike" dirty="0"/>
              <a:t>a </a:t>
            </a:r>
            <a:r>
              <a:rPr b="0" i="0" strike="noStrike" dirty="0"/>
              <a:t>Quick </a:t>
            </a:r>
            <a:r>
              <a:rPr b="0" i="0" strike="noStrike" dirty="0"/>
              <a:t>Access </a:t>
            </a:r>
            <a:r>
              <a:rPr b="0" i="0" strike="noStrike" dirty="0"/>
              <a:t>Toolbar </a:t>
            </a:r>
            <a:r>
              <a:rPr b="0" i="0" strike="noStrike" dirty="0"/>
              <a:t>Customizations </a:t>
            </a:r>
            <a:r>
              <a:rPr b="0" i="0" strike="noStrike" dirty="0"/>
              <a:t>part, </a:t>
            </a:r>
            <a:r>
              <a:rPr b="0" i="0" strike="noStrike" dirty="0"/>
              <a:t>the </a:t>
            </a:r>
            <a:r>
              <a:rPr b="1" i="0" strike="noStrike" dirty="0"/>
              <a:t>documentControls</a:t>
            </a:r>
            <a:r>
              <a:rPr b="0" i="0" strike="noStrike" dirty="0"/>
              <a:t> </a:t>
            </a:r>
            <a:r>
              <a:rPr b="0" i="0" strike="noStrike" dirty="0"/>
              <a:t>child </a:t>
            </a:r>
            <a:r>
              <a:rPr b="0" i="0" strike="noStrike" dirty="0"/>
              <a:t>element </a:t>
            </a:r>
            <a:r>
              <a:rPr b="0" i="0" strike="noStrike" dirty="0"/>
              <a:t>SHOULD </a:t>
            </a:r>
            <a:r>
              <a:rPr b="0" i="0" strike="noStrike" dirty="0"/>
              <a:t>be </a:t>
            </a:r>
            <a:r>
              <a:rPr b="0" i="0" strike="noStrike" dirty="0"/>
              <a:t>used.</a:t>
            </a:r>
          </a:p>
        </p:txBody>
      </p:sp>
      <p:sp>
        <p:nvSpPr>
          <p:cNvPr id="9" name="TextBox9"/>
          <p:cNvSpPr txBox="1">
            <a:spLocks noChangeArrowheads="1"/>
          </p:cNvSpPr>
          <p:nvPr/>
        </p:nvSpPr>
        <p:spPr>
          <a:xfrm rot="0">
            <a:off x="508000" y="4206240"/>
            <a:ext cx="11176000" cy="32004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the </a:t>
            </a:r>
            <a:r>
              <a:rPr b="0" i="0" strike="noStrike" dirty="0"/>
              <a:t>following </a:t>
            </a:r>
            <a:r>
              <a:rPr b="0" i="0" strike="noStrike" dirty="0"/>
              <a:t>controls </a:t>
            </a:r>
            <a:r>
              <a:rPr b="0" i="0" strike="noStrike" dirty="0"/>
              <a:t>on </a:t>
            </a:r>
            <a:r>
              <a:rPr b="0" i="0" strike="noStrike" dirty="0"/>
              <a:t>the </a:t>
            </a:r>
            <a:r>
              <a:rPr b="0" i="0" strike="noStrike" dirty="0"/>
              <a:t>document-specific </a:t>
            </a:r>
            <a:r>
              <a:rPr b="0" i="0" strike="noStrike" dirty="0"/>
              <a:t>quick </a:t>
            </a:r>
            <a:r>
              <a:rPr b="0" i="0" strike="noStrike" dirty="0"/>
              <a:t>access </a:t>
            </a:r>
            <a:r>
              <a:rPr b="0" i="0" strike="noStrike" dirty="0"/>
              <a:t>toolbar: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ontrols on the quick access toolbar"/>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sp>
        <p:nvSpPr>
          <p:cNvPr id="3" name="TextBox3"/>
          <p:cNvSpPr txBox="1">
            <a:spLocks noChangeArrowheads="1"/>
          </p:cNvSpPr>
          <p:nvPr/>
        </p:nvSpPr>
        <p:spPr>
          <a:xfrm rot="0">
            <a:off x="508000" y="307340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20: </a:t>
            </a:r>
            <a:r>
              <a:rPr b="1" i="0" strike="noStrike" dirty="0"/>
              <a:t>Controls </a:t>
            </a:r>
            <a:r>
              <a:rPr b="1" i="0" strike="noStrike" dirty="0"/>
              <a:t>on </a:t>
            </a:r>
            <a:r>
              <a:rPr b="1" i="0" strike="noStrike" dirty="0"/>
              <a:t>the </a:t>
            </a:r>
            <a:r>
              <a:rPr b="1" i="0" strike="noStrike" dirty="0"/>
              <a:t>quick </a:t>
            </a:r>
            <a:r>
              <a:rPr b="1" i="0" strike="noStrike" dirty="0"/>
              <a:t>access </a:t>
            </a:r>
            <a:r>
              <a:rPr b="1" i="0" strike="noStrike" dirty="0"/>
              <a:t>toolbar</a:t>
            </a:r>
          </a:p>
        </p:txBody>
      </p:sp>
      <p:sp>
        <p:nvSpPr>
          <p:cNvPr id="4" name="TextBox4"/>
          <p:cNvSpPr txBox="1">
            <a:spLocks noChangeArrowheads="1"/>
          </p:cNvSpPr>
          <p:nvPr/>
        </p:nvSpPr>
        <p:spPr>
          <a:xfrm rot="0">
            <a:off x="508000" y="34188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specified </a:t>
            </a:r>
            <a:r>
              <a:rPr b="0" i="0" strike="noStrike" dirty="0"/>
              <a:t>using </a:t>
            </a:r>
            <a:r>
              <a:rPr b="0" i="0" strike="noStrike" dirty="0"/>
              <a:t>the </a:t>
            </a:r>
            <a:r>
              <a:rPr b="0" i="0" strike="noStrike" dirty="0"/>
              <a:t>following </a:t>
            </a:r>
            <a:r>
              <a:rPr b="0" i="0" strike="noStrike" dirty="0"/>
              <a:t>XML </a:t>
            </a:r>
            <a:r>
              <a:rPr b="0" i="0" strike="noStrike" dirty="0"/>
              <a:t>fragment:</a:t>
            </a:r>
          </a:p>
        </p:txBody>
      </p:sp>
      <p:sp>
        <p:nvSpPr>
          <p:cNvPr id="5" name="TextBox5"/>
          <p:cNvSpPr txBox="1">
            <a:spLocks noChangeArrowheads="1"/>
          </p:cNvSpPr>
          <p:nvPr/>
        </p:nvSpPr>
        <p:spPr>
          <a:xfrm rot="0">
            <a:off x="508000" y="3764280"/>
            <a:ext cx="11176000" cy="320040"/>
          </a:xfrm>
          <a:prstGeom prst="rect">
            <a:avLst/>
          </a:prstGeom>
          <a:ln>
            <a:headEnd type="none"/>
            <a:tailEnd type="none"/>
          </a:ln>
        </p:spPr>
        <p:txBody>
          <a:bodyPr wrap="square">
            <a:spAutoFit/>
          </a:bodyPr>
          <a:lstStyle/>
          <a:p>
            <a:pPr algn="l" defTabSz="914400"/>
            <a:r>
              <a:rPr b="0" i="0" strike="noStrike" dirty="0"/>
              <a:t>&lt;qat&gt;</a:t>
            </a:r>
          </a:p>
        </p:txBody>
      </p:sp>
      <p:sp>
        <p:nvSpPr>
          <p:cNvPr id="6" name="TextBox6"/>
          <p:cNvSpPr txBox="1">
            <a:spLocks noChangeArrowheads="1"/>
          </p:cNvSpPr>
          <p:nvPr/>
        </p:nvSpPr>
        <p:spPr>
          <a:xfrm rot="0">
            <a:off x="508000" y="4109720"/>
            <a:ext cx="11176000" cy="320040"/>
          </a:xfrm>
          <a:prstGeom prst="rect">
            <a:avLst/>
          </a:prstGeom>
          <a:ln>
            <a:headEnd type="none"/>
            <a:tailEnd type="none"/>
          </a:ln>
        </p:spPr>
        <p:txBody>
          <a:bodyPr wrap="square">
            <a:spAutoFit/>
          </a:bodyPr>
          <a:lstStyle/>
          <a:p>
            <a:pPr algn="l" defTabSz="914400"/>
            <a:r>
              <a:rPr b="0" i="0" strike="noStrike" dirty="0"/>
              <a:t>&lt;documentControls&gt;</a:t>
            </a:r>
          </a:p>
        </p:txBody>
      </p:sp>
      <p:sp>
        <p:nvSpPr>
          <p:cNvPr id="7" name="TextBox7"/>
          <p:cNvSpPr txBox="1">
            <a:spLocks noChangeArrowheads="1"/>
          </p:cNvSpPr>
          <p:nvPr/>
        </p:nvSpPr>
        <p:spPr>
          <a:xfrm rot="0">
            <a:off x="508000" y="4455160"/>
            <a:ext cx="11176000" cy="320040"/>
          </a:xfrm>
          <a:prstGeom prst="rect">
            <a:avLst/>
          </a:prstGeom>
          <a:ln>
            <a:headEnd type="none"/>
            <a:tailEnd type="none"/>
          </a:ln>
        </p:spPr>
        <p:txBody>
          <a:bodyPr wrap="square">
            <a:spAutoFit/>
          </a:bodyPr>
          <a:lstStyle/>
          <a:p>
            <a:pPr algn="l" defTabSz="914400"/>
            <a:r>
              <a:rPr b="0" i="0" strike="noStrike" dirty="0"/>
              <a:t>&lt;control </a:t>
            </a:r>
            <a:r>
              <a:rPr b="0" i="0" strike="noStrike" dirty="0"/>
              <a:t>idMso="CalculateNow" </a:t>
            </a:r>
            <a:r>
              <a:rPr b="0" i="0" strike="noStrike" dirty="0"/>
              <a:t>/&gt;</a:t>
            </a:r>
          </a:p>
        </p:txBody>
      </p:sp>
      <p:sp>
        <p:nvSpPr>
          <p:cNvPr id="8" name="TextBox8"/>
          <p:cNvSpPr txBox="1">
            <a:spLocks noChangeArrowheads="1"/>
          </p:cNvSpPr>
          <p:nvPr/>
        </p:nvSpPr>
        <p:spPr>
          <a:xfrm rot="0">
            <a:off x="508000" y="4800600"/>
            <a:ext cx="11176000" cy="320040"/>
          </a:xfrm>
          <a:prstGeom prst="rect">
            <a:avLst/>
          </a:prstGeom>
          <a:ln>
            <a:headEnd type="none"/>
            <a:tailEnd type="none"/>
          </a:ln>
        </p:spPr>
        <p:txBody>
          <a:bodyPr wrap="square">
            <a:spAutoFit/>
          </a:bodyPr>
          <a:lstStyle/>
          <a:p>
            <a:pPr algn="l" defTabSz="914400"/>
            <a:r>
              <a:rPr b="0" i="0" strike="noStrike" dirty="0"/>
              <a:t>&lt;control </a:t>
            </a:r>
            <a:r>
              <a:rPr b="0" i="0" strike="noStrike" dirty="0"/>
              <a:t>idMso="HyperlinkInsert" </a:t>
            </a:r>
            <a:r>
              <a:rPr b="0" i="0" strike="noStrike" dirty="0"/>
              <a:t>/&gt;</a:t>
            </a:r>
          </a:p>
        </p:txBody>
      </p:sp>
      <p:sp>
        <p:nvSpPr>
          <p:cNvPr id="9" name="TextBox9"/>
          <p:cNvSpPr txBox="1">
            <a:spLocks noChangeArrowheads="1"/>
          </p:cNvSpPr>
          <p:nvPr/>
        </p:nvSpPr>
        <p:spPr>
          <a:xfrm rot="0">
            <a:off x="508000" y="5146040"/>
            <a:ext cx="11176000" cy="320040"/>
          </a:xfrm>
          <a:prstGeom prst="rect">
            <a:avLst/>
          </a:prstGeom>
          <a:ln>
            <a:headEnd type="none"/>
            <a:tailEnd type="none"/>
          </a:ln>
        </p:spPr>
        <p:txBody>
          <a:bodyPr wrap="square">
            <a:spAutoFit/>
          </a:bodyPr>
          <a:lstStyle/>
          <a:p>
            <a:pPr algn="l" defTabSz="914400"/>
            <a:r>
              <a:rPr b="0" i="0" strike="noStrike" dirty="0"/>
              <a:t>&lt;/documentControls&gt;</a:t>
            </a:r>
          </a:p>
        </p:txBody>
      </p:sp>
      <p:sp>
        <p:nvSpPr>
          <p:cNvPr id="10" name="TextBox10"/>
          <p:cNvSpPr txBox="1">
            <a:spLocks noChangeArrowheads="1"/>
          </p:cNvSpPr>
          <p:nvPr/>
        </p:nvSpPr>
        <p:spPr>
          <a:xfrm rot="0">
            <a:off x="508000" y="5491480"/>
            <a:ext cx="11176000" cy="320040"/>
          </a:xfrm>
          <a:prstGeom prst="rect">
            <a:avLst/>
          </a:prstGeom>
          <a:ln>
            <a:headEnd type="none"/>
            <a:tailEnd type="none"/>
          </a:ln>
        </p:spPr>
        <p:txBody>
          <a:bodyPr wrap="square">
            <a:spAutoFit/>
          </a:bodyPr>
          <a:lstStyle/>
          <a:p>
            <a:pPr algn="l" defTabSz="914400"/>
            <a:r>
              <a:rPr b="0" i="0" strike="noStrike" dirty="0"/>
              <a:t>&lt;/qat&gt;</a:t>
            </a:r>
          </a:p>
        </p:txBody>
      </p:sp>
      <p:sp>
        <p:nvSpPr>
          <p:cNvPr id="11" name="TextBox11"/>
          <p:cNvSpPr txBox="1">
            <a:spLocks noChangeArrowheads="1"/>
          </p:cNvSpPr>
          <p:nvPr/>
        </p:nvSpPr>
        <p:spPr>
          <a:xfrm rot="0">
            <a:off x="508000" y="58369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ribbon</a:t>
                      </a:r>
                    </a:p>
                    <a:p>
                      <a:pPr defTabSz="914400"/>
                      <a:r>
                        <a:rPr b="0" i="0" strike="noStrike" dirty="0"/>
                        <a:t> (section </a:t>
                      </a:r>
                      <a:endParaRPr b="1" i="0" strike="noStrike" dirty="0"/>
                    </a:p>
                    <a:p>
                      <a:pPr defTabSz="914400"/>
                      <a:r>
                        <a:rPr/>
                        <a:t>2.2.33</a:t>
                      </a:r>
                      <a:endParaRPr b="1" i="0" strike="noStrike" dirty="0"/>
                    </a:p>
                    <a:p>
                      <a:pPr defTabSz="914400"/>
                      <a:r>
                        <a:rPr b="0" i="0" strike="noStrike" dirty="0"/>
                        <a:t>)</a:t>
                      </a:r>
                      <a:endParaRPr b="1" i="0" strike="noStrike" dirty="0"/>
                    </a:p>
                  </a:txBody>
                  <a:tcPr horzOverflow="overflow"/>
                </a:tc>
              </a:tr>
            </a:tbl>
          </a:graphicData>
        </a:graphic>
      </p:graphicFrame>
      <p:sp>
        <p:nvSpPr>
          <p:cNvPr id="3" name="TextBox3"/>
          <p:cNvSpPr txBox="1">
            <a:spLocks noChangeArrowheads="1"/>
          </p:cNvSpPr>
          <p:nvPr/>
        </p:nvSpPr>
        <p:spPr>
          <a:xfrm rot="0">
            <a:off x="508000" y="1574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4" name="Table 4"/>
          <p:cNvGraphicFramePr/>
          <p:nvPr/>
        </p:nvGraphicFramePr>
        <p:xfrm rot="0">
          <a:off x="508000" y="1920240"/>
          <a:ext cx="11176000" cy="203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762000">
                <a:tc>
                  <a:txBody>
                    <a:bodyPr/>
                    <a:lstStyle/>
                    <a:p>
                      <a:pPr algn="l" defTabSz="914400"/>
                      <a:r>
                        <a:rPr b="1" i="0" strike="noStrike" dirty="0"/>
                        <a:t>documentControls</a:t>
                      </a:r>
                    </a:p>
                    <a:p>
                      <a:pPr defTabSz="914400"/>
                      <a:r>
                        <a:rPr b="0" i="0" strike="noStrike" dirty="0"/>
                        <a:t> (List of Document-Specific Quick Access Toolbar Controls)</a:t>
                      </a:r>
                      <a:endParaRPr b="1" i="0" strike="noStrike" dirty="0"/>
                    </a:p>
                  </a:txBody>
                  <a:tcPr horzOverflow="overflow"/>
                </a:tc>
                <a:tc>
                  <a:txBody>
                    <a:bodyPr/>
                    <a:lstStyle/>
                    <a:p>
                      <a:pPr algn="l" defTabSz="914400"/>
                      <a:r>
                        <a:rPr/>
                        <a:t>2.2.16</a:t>
                      </a:r>
                    </a:p>
                  </a:txBody>
                  <a:tcPr horzOverflow="overflow"/>
                </a:tc>
              </a:tr>
              <a:tr h="762000">
                <a:tc>
                  <a:txBody>
                    <a:bodyPr/>
                    <a:lstStyle/>
                    <a:p>
                      <a:pPr algn="l" defTabSz="914400"/>
                      <a:r>
                        <a:rPr b="1" i="0" strike="noStrike" dirty="0"/>
                        <a:t>sharedControls</a:t>
                      </a:r>
                    </a:p>
                    <a:p>
                      <a:pPr defTabSz="914400"/>
                      <a:r>
                        <a:rPr b="0" i="0" strike="noStrike" dirty="0"/>
                        <a:t> (List of Shared Quick Access Toolbar Controls)</a:t>
                      </a:r>
                      <a:endParaRPr b="1" i="0" strike="noStrike" dirty="0"/>
                    </a:p>
                  </a:txBody>
                  <a:tcPr horzOverflow="overflow"/>
                </a:tc>
                <a:tc>
                  <a:txBody>
                    <a:bodyPr/>
                    <a:lstStyle/>
                    <a:p>
                      <a:pPr algn="l" defTabSz="914400"/>
                      <a:r>
                        <a:rPr/>
                        <a:t>2.2.35</a:t>
                      </a:r>
                    </a:p>
                  </a:txBody>
                  <a:tcPr horzOverflow="overflow"/>
                </a:tc>
              </a:tr>
            </a:tbl>
          </a:graphicData>
        </a:graphic>
      </p:graphicFrame>
      <p:sp>
        <p:nvSpPr>
          <p:cNvPr id="5" name="TextBox5"/>
          <p:cNvSpPr txBox="1">
            <a:spLocks noChangeArrowheads="1"/>
          </p:cNvSpPr>
          <p:nvPr/>
        </p:nvSpPr>
        <p:spPr>
          <a:xfrm rot="0">
            <a:off x="508000" y="40030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6" name="TextBox6"/>
          <p:cNvSpPr txBox="1">
            <a:spLocks noChangeArrowheads="1"/>
          </p:cNvSpPr>
          <p:nvPr/>
        </p:nvSpPr>
        <p:spPr>
          <a:xfrm rot="0">
            <a:off x="508000" y="434848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name="CT_Qat"&gt;</a:t>
            </a:r>
          </a:p>
        </p:txBody>
      </p:sp>
      <p:sp>
        <p:nvSpPr>
          <p:cNvPr id="7" name="TextBox7"/>
          <p:cNvSpPr txBox="1">
            <a:spLocks noChangeArrowheads="1"/>
          </p:cNvSpPr>
          <p:nvPr/>
        </p:nvSpPr>
        <p:spPr>
          <a:xfrm rot="0">
            <a:off x="508000" y="469392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8" name="TextBox8"/>
          <p:cNvSpPr txBox="1">
            <a:spLocks noChangeArrowheads="1"/>
          </p:cNvSpPr>
          <p:nvPr/>
        </p:nvSpPr>
        <p:spPr>
          <a:xfrm rot="0">
            <a:off x="508000" y="503936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name="sharedControls" </a:t>
            </a:r>
            <a:r>
              <a:rPr b="0" i="0" strike="noStrike" dirty="0"/>
              <a:t>type="CT_QatItems" </a:t>
            </a:r>
            <a:r>
              <a:rPr b="0" i="0" strike="noStrike" dirty="0"/>
              <a:t>minOccurs="0"/&gt;</a:t>
            </a:r>
          </a:p>
        </p:txBody>
      </p:sp>
      <p:sp>
        <p:nvSpPr>
          <p:cNvPr id="9" name="TextBox9"/>
          <p:cNvSpPr txBox="1">
            <a:spLocks noChangeArrowheads="1"/>
          </p:cNvSpPr>
          <p:nvPr/>
        </p:nvSpPr>
        <p:spPr>
          <a:xfrm rot="0">
            <a:off x="508000" y="538480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name="documentControls" </a:t>
            </a:r>
            <a:r>
              <a:rPr b="0" i="0" strike="noStrike" dirty="0"/>
              <a:t>type="CT_QatItems" </a:t>
            </a:r>
            <a:r>
              <a:rPr b="0" i="0" strike="noStrike" dirty="0"/>
              <a:t>minOccurs="0"/&gt;</a:t>
            </a:r>
          </a:p>
        </p:txBody>
      </p:sp>
      <p:sp>
        <p:nvSpPr>
          <p:cNvPr id="10" name="TextBox10"/>
          <p:cNvSpPr txBox="1">
            <a:spLocks noChangeArrowheads="1"/>
          </p:cNvSpPr>
          <p:nvPr/>
        </p:nvSpPr>
        <p:spPr>
          <a:xfrm rot="0">
            <a:off x="508000" y="573024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3" name="TextBox3"/>
          <p:cNvSpPr txBox="1">
            <a:spLocks noChangeArrowheads="1"/>
          </p:cNvSpPr>
          <p:nvPr/>
        </p:nvSpPr>
        <p:spPr>
          <a:xfrm rot="0">
            <a:off x="508000" y="853440"/>
            <a:ext cx="11176000" cy="426720"/>
          </a:xfrm>
          <a:prstGeom prst="rect">
            <a:avLst/>
          </a:prstGeom>
          <a:ln>
            <a:headEnd type="none"/>
            <a:tailEnd type="none"/>
          </a:ln>
        </p:spPr>
        <p:txBody>
          <a:bodyPr wrap="square">
            <a:spAutoFit/>
          </a:bodyPr>
          <a:lstStyle/>
          <a:p>
            <a:pPr algn="l" defTabSz="914400">
              <a:defRPr sz="2400" b="1" dirty="0"/>
            </a:pPr>
            <a:r>
              <a:rPr b="1" i="0" strike="noStrike" dirty="0"/>
              <a:t>ribbon </a:t>
            </a:r>
            <a:r>
              <a:rPr b="1" i="0" strike="noStrike" dirty="0"/>
              <a:t>(Ribbon) </a:t>
            </a:r>
            <a:r>
              <a:rPr b="1" i="0" strike="noStrike" dirty="0"/>
              <a:t>XE </a:t>
            </a:r>
            <a:r>
              <a:rPr b="1" i="0" strike="noStrike" dirty="0"/>
              <a:t>"Elements:ribbon </a:t>
            </a:r>
            <a:r>
              <a:rPr b="1" i="0" strike="noStrike" dirty="0"/>
              <a:t>(ribbon)"</a:t>
            </a:r>
          </a:p>
        </p:txBody>
      </p:sp>
      <p:sp>
        <p:nvSpPr>
          <p:cNvPr id="4" name="TextBox4"/>
          <p:cNvSpPr txBox="1">
            <a:spLocks noChangeArrowheads="1"/>
          </p:cNvSpPr>
          <p:nvPr/>
        </p:nvSpPr>
        <p:spPr>
          <a:xfrm rot="0">
            <a:off x="508000" y="130556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is </a:t>
            </a:r>
            <a:r>
              <a:rPr b="0" i="0" strike="noStrike" dirty="0"/>
              <a:t>used </a:t>
            </a:r>
            <a:r>
              <a:rPr b="0" i="0" strike="noStrike" dirty="0"/>
              <a:t>to </a:t>
            </a:r>
            <a:r>
              <a:rPr b="0" i="0" strike="noStrike" dirty="0"/>
              <a:t>reference </a:t>
            </a:r>
            <a:r>
              <a:rPr b="0" i="0" strike="noStrike" dirty="0"/>
              <a:t>the </a:t>
            </a:r>
            <a:r>
              <a:rPr b="0" i="0" strike="noStrike" dirty="0"/>
              <a:t>Ribbon </a:t>
            </a:r>
            <a:r>
              <a:rPr b="0" i="0" strike="noStrike" dirty="0"/>
              <a:t>of </a:t>
            </a:r>
            <a:r>
              <a:rPr b="0" i="0" strike="noStrike" dirty="0"/>
              <a:t>the </a:t>
            </a:r>
            <a:r>
              <a:rPr b="0" i="0" strike="noStrike" dirty="0"/>
              <a:t>application </a:t>
            </a:r>
            <a:r>
              <a:rPr b="0" i="0" strike="noStrike" dirty="0"/>
              <a:t>and </a:t>
            </a:r>
            <a:r>
              <a:rPr b="0" i="0" strike="noStrike" dirty="0"/>
              <a:t>its </a:t>
            </a:r>
            <a:r>
              <a:rPr b="0" i="0" strike="noStrike" dirty="0"/>
              <a:t>contents.</a:t>
            </a:r>
          </a:p>
        </p:txBody>
      </p:sp>
      <p:sp>
        <p:nvSpPr>
          <p:cNvPr id="5" name="TextBox5"/>
          <p:cNvSpPr txBox="1">
            <a:spLocks noChangeArrowheads="1"/>
          </p:cNvSpPr>
          <p:nvPr/>
        </p:nvSpPr>
        <p:spPr>
          <a:xfrm rot="0">
            <a:off x="508000" y="1651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6" name="Table 6"/>
          <p:cNvGraphicFramePr/>
          <p:nvPr/>
        </p:nvGraphicFramePr>
        <p:xfrm rot="0">
          <a:off x="508000" y="199644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customUI</a:t>
                      </a:r>
                    </a:p>
                    <a:p>
                      <a:pPr defTabSz="914400"/>
                      <a:r>
                        <a:rPr b="0" i="0" strike="noStrike" dirty="0"/>
                        <a:t> (section </a:t>
                      </a:r>
                      <a:endParaRPr b="1" i="0" strike="noStrike" dirty="0"/>
                    </a:p>
                    <a:p>
                      <a:pPr defTabSz="914400"/>
                      <a:r>
                        <a:rPr/>
                        <a:t>2.2.14</a:t>
                      </a:r>
                      <a:endParaRPr b="1" i="0" strike="noStrike" dirty="0"/>
                    </a:p>
                    <a:p>
                      <a:pPr defTabSz="914400"/>
                      <a:r>
                        <a:rPr b="0" i="0" strike="noStrike" dirty="0"/>
                        <a:t>)</a:t>
                      </a:r>
                      <a:endParaRPr b="1" i="0" strike="noStrike" dirty="0"/>
                    </a:p>
                  </a:txBody>
                  <a:tcPr horzOverflow="overflow"/>
                </a:tc>
              </a:tr>
            </a:tbl>
          </a:graphicData>
        </a:graphic>
      </p:graphicFrame>
      <p:sp>
        <p:nvSpPr>
          <p:cNvPr id="7" name="TextBox7"/>
          <p:cNvSpPr txBox="1">
            <a:spLocks noChangeArrowheads="1"/>
          </p:cNvSpPr>
          <p:nvPr/>
        </p:nvSpPr>
        <p:spPr>
          <a:xfrm rot="0">
            <a:off x="508000" y="30632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8" name="Table 8"/>
          <p:cNvGraphicFramePr/>
          <p:nvPr/>
        </p:nvGraphicFramePr>
        <p:xfrm rot="0">
          <a:off x="508000" y="3408680"/>
          <a:ext cx="11176000" cy="254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contextualTabs</a:t>
                      </a:r>
                    </a:p>
                    <a:p>
                      <a:pPr defTabSz="914400"/>
                      <a:r>
                        <a:rPr b="0" i="0" strike="noStrike" dirty="0"/>
                        <a:t> (List of Contextual Tab Sets)</a:t>
                      </a:r>
                      <a:endParaRPr b="1" i="0" strike="noStrike" dirty="0"/>
                    </a:p>
                  </a:txBody>
                  <a:tcPr horzOverflow="overflow"/>
                </a:tc>
                <a:tc>
                  <a:txBody>
                    <a:bodyPr/>
                    <a:lstStyle/>
                    <a:p>
                      <a:pPr algn="l" defTabSz="914400"/>
                      <a:r>
                        <a:rPr/>
                        <a:t>2.2.10</a:t>
                      </a:r>
                    </a:p>
                  </a:txBody>
                  <a:tcPr horzOverflow="overflow"/>
                </a:tc>
              </a:tr>
              <a:tr h="508000">
                <a:tc>
                  <a:txBody>
                    <a:bodyPr/>
                    <a:lstStyle/>
                    <a:p>
                      <a:pPr algn="l" defTabSz="914400"/>
                      <a:r>
                        <a:rPr b="1" i="0" strike="noStrike" dirty="0"/>
                        <a:t>officeMenu</a:t>
                      </a:r>
                    </a:p>
                    <a:p>
                      <a:pPr defTabSz="914400"/>
                      <a:r>
                        <a:rPr b="0" i="0" strike="noStrike" dirty="0"/>
                        <a:t> (Office Menu)</a:t>
                      </a:r>
                      <a:endParaRPr b="1" i="0" strike="noStrike" dirty="0"/>
                    </a:p>
                  </a:txBody>
                  <a:tcPr horzOverflow="overflow"/>
                </a:tc>
                <a:tc>
                  <a:txBody>
                    <a:bodyPr/>
                    <a:lstStyle/>
                    <a:p>
                      <a:pPr algn="l" defTabSz="914400"/>
                      <a:r>
                        <a:rPr/>
                        <a:t>2.2.31</a:t>
                      </a:r>
                    </a:p>
                  </a:txBody>
                  <a:tcPr horzOverflow="overflow"/>
                </a:tc>
              </a:tr>
              <a:tr h="508000">
                <a:tc>
                  <a:txBody>
                    <a:bodyPr/>
                    <a:lstStyle/>
                    <a:p>
                      <a:pPr algn="l" defTabSz="914400"/>
                      <a:r>
                        <a:rPr b="1" i="0" strike="noStrike" dirty="0"/>
                        <a:t>qat</a:t>
                      </a:r>
                    </a:p>
                    <a:p>
                      <a:pPr defTabSz="914400"/>
                      <a:r>
                        <a:rPr b="0" i="0" strike="noStrike" dirty="0"/>
                        <a:t> (Quick Access Toolbar)</a:t>
                      </a:r>
                      <a:endParaRPr b="1" i="0" strike="noStrike" dirty="0"/>
                    </a:p>
                  </a:txBody>
                  <a:tcPr horzOverflow="overflow"/>
                </a:tc>
                <a:tc>
                  <a:txBody>
                    <a:bodyPr/>
                    <a:lstStyle/>
                    <a:p>
                      <a:pPr algn="l" defTabSz="914400"/>
                      <a:r>
                        <a:rPr/>
                        <a:t>2.2.32</a:t>
                      </a:r>
                    </a:p>
                  </a:txBody>
                  <a:tcPr horzOverflow="overflow"/>
                </a:tc>
              </a:tr>
              <a:tr h="508000">
                <a:tc>
                  <a:txBody>
                    <a:bodyPr/>
                    <a:lstStyle/>
                    <a:p>
                      <a:pPr algn="l" defTabSz="914400"/>
                      <a:r>
                        <a:rPr b="1" i="0" strike="noStrike" dirty="0"/>
                        <a:t>tabs</a:t>
                      </a:r>
                    </a:p>
                    <a:p>
                      <a:pPr defTabSz="914400"/>
                      <a:r>
                        <a:rPr b="0" i="0" strike="noStrike" dirty="0"/>
                        <a:t> (List of Tabs)</a:t>
                      </a:r>
                      <a:endParaRPr b="1" i="0" strike="noStrike" dirty="0"/>
                    </a:p>
                  </a:txBody>
                  <a:tcPr horzOverflow="overflow"/>
                </a:tc>
                <a:tc>
                  <a:txBody>
                    <a:bodyPr/>
                    <a:lstStyle/>
                    <a:p>
                      <a:pPr algn="l" defTabSz="914400"/>
                      <a:r>
                        <a:rPr/>
                        <a:t>2.2.40</a:t>
                      </a:r>
                    </a:p>
                  </a:txBody>
                  <a:tcPr horzOverflow="overflow"/>
                </a:tc>
              </a:tr>
            </a:tbl>
          </a:graphicData>
        </a:graphic>
      </p:graphicFrame>
      <p:sp>
        <p:nvSpPr>
          <p:cNvPr id="9" name="TextBox9"/>
          <p:cNvSpPr txBox="1">
            <a:spLocks noChangeArrowheads="1"/>
          </p:cNvSpPr>
          <p:nvPr/>
        </p:nvSpPr>
        <p:spPr>
          <a:xfrm rot="0">
            <a:off x="508000" y="599948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startFromScratch</a:t>
                      </a:r>
                    </a:p>
                    <a:p>
                      <a:pPr defTabSz="914400"/>
                      <a:r>
                        <a:rPr b="0" i="0" strike="noStrike" dirty="0"/>
                        <a:t> (start from scratch)</a:t>
                      </a:r>
                      <a:endParaRPr b="1" i="0" strike="noStrike" dirty="0"/>
                    </a:p>
                  </a:txBody>
                  <a:tcPr horzOverflow="overflow"/>
                </a:tc>
                <a:tc>
                  <a:txBody>
                    <a:bodyPr/>
                    <a:lstStyle/>
                    <a:p>
                      <a:pPr algn="l" defTabSz="914400"/>
                      <a:r>
                        <a:rPr b="0" i="0" strike="noStrike" dirty="0"/>
                        <a:t>Specifies that the application's built-in ribbon UI is reduced to a minimal set of features, providing a clean slate on which to build custom UI. If this attribute is omitted, its value SHOULD default to "false". For example, consider the following XML fragment:  &lt;ribbon startFromScratch="true"&gt;   … &lt;/ribbon&gt; In this example, the application's ribbon is put into start from scratch mode. The possible values for this attribute are defined by the XML schema </a:t>
                      </a:r>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name="CT_Ribbon"&gt;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&lt;xsd:all&gt;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name="officeMenu" </a:t>
            </a:r>
            <a:r>
              <a:rPr b="0" i="0" strike="noStrike" dirty="0"/>
              <a:t>type="CT_OfficeMenu" </a:t>
            </a:r>
            <a:r>
              <a:rPr b="0" i="0" strike="noStrike" dirty="0"/>
              <a:t>minOccurs="0" </a:t>
            </a:r>
            <a:r>
              <a:rPr b="0" i="0" strike="noStrike" dirty="0"/>
              <a:t>maxOccurs="1"/&gt;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name="qat" </a:t>
            </a:r>
            <a:r>
              <a:rPr b="0" i="0" strike="noStrike" dirty="0"/>
              <a:t>type="CT_Qat" </a:t>
            </a:r>
            <a:r>
              <a:rPr b="0" i="0" strike="noStrike" dirty="0"/>
              <a:t>minOccurs="0" </a:t>
            </a:r>
            <a:r>
              <a:rPr b="0" i="0" strike="noStrike" dirty="0"/>
              <a:t>maxOccurs="1"&gt;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&lt;xsd:unique </a:t>
            </a:r>
            <a:r>
              <a:rPr b="0" i="0" strike="noStrike" dirty="0"/>
              <a:t>name="qatControls"&gt;</a:t>
            </a:r>
          </a:p>
        </p:txBody>
      </p:sp>
      <p:sp>
        <p:nvSpPr>
          <p:cNvPr id="9" name="TextBox9"/>
          <p:cNvSpPr txBox="1">
            <a:spLocks noChangeArrowheads="1"/>
          </p:cNvSpPr>
          <p:nvPr/>
        </p:nvSpPr>
        <p:spPr>
          <a:xfrm rot="0">
            <a:off x="508000" y="5679440"/>
            <a:ext cx="11176000" cy="320040"/>
          </a:xfrm>
          <a:prstGeom prst="rect">
            <a:avLst/>
          </a:prstGeom>
          <a:ln>
            <a:headEnd type="none"/>
            <a:tailEnd type="none"/>
          </a:ln>
        </p:spPr>
        <p:txBody>
          <a:bodyPr wrap="square">
            <a:spAutoFit/>
          </a:bodyPr>
          <a:lstStyle/>
          <a:p>
            <a:pPr algn="l" defTabSz="914400"/>
            <a:r>
              <a:rPr b="0" i="0" strike="noStrike" dirty="0"/>
              <a:t>&lt;xsd:selector </a:t>
            </a:r>
            <a:r>
              <a:rPr b="0" i="0" strike="noStrike" dirty="0"/>
              <a:t>xpath="*/*"/&gt;</a:t>
            </a:r>
          </a:p>
        </p:txBody>
      </p:sp>
      <p:sp>
        <p:nvSpPr>
          <p:cNvPr id="10" name="TextBox10"/>
          <p:cNvSpPr txBox="1">
            <a:spLocks noChangeArrowheads="1"/>
          </p:cNvSpPr>
          <p:nvPr/>
        </p:nvSpPr>
        <p:spPr>
          <a:xfrm rot="0">
            <a:off x="508000" y="6024880"/>
            <a:ext cx="11176000" cy="320040"/>
          </a:xfrm>
          <a:prstGeom prst="rect">
            <a:avLst/>
          </a:prstGeom>
          <a:ln>
            <a:headEnd type="none"/>
            <a:tailEnd type="none"/>
          </a:ln>
        </p:spPr>
        <p:txBody>
          <a:bodyPr wrap="square">
            <a:spAutoFit/>
          </a:bodyPr>
          <a:lstStyle/>
          <a:p>
            <a:pPr algn="l" defTabSz="914400"/>
            <a:r>
              <a:rPr b="0" i="0" strike="noStrike" dirty="0"/>
              <a:t>&lt;xsd:field </a:t>
            </a:r>
            <a:r>
              <a:rPr b="0" i="0" strike="noStrike" dirty="0"/>
              <a:t>xpath="@id"/&gt;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&lt;/xsd:unique&gt;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&lt;/xsd:element&gt;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name="tabs" </a:t>
            </a:r>
            <a:r>
              <a:rPr b="0" i="0" strike="noStrike" dirty="0"/>
              <a:t>type="CT_Tabs" </a:t>
            </a:r>
            <a:r>
              <a:rPr b="0" i="0" strike="noStrike" dirty="0"/>
              <a:t>minOccurs="0" </a:t>
            </a:r>
            <a:r>
              <a:rPr b="0" i="0" strike="noStrike" dirty="0"/>
              <a:t>maxOccurs="1"/&gt;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name="contextualTabs" </a:t>
            </a:r>
            <a:r>
              <a:rPr b="0" i="0" strike="noStrike" dirty="0"/>
              <a:t>type="CT_ContextualTabs" </a:t>
            </a:r>
            <a:r>
              <a:rPr b="0" i="0" strike="noStrike" dirty="0"/>
              <a:t>minOccurs="0" </a:t>
            </a:r>
            <a:r>
              <a:rPr b="0" i="0" strike="noStrike" dirty="0"/>
              <a:t>maxOccurs="1"/&gt;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&lt;/xsd:all&gt;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&lt;xsd:attribute </a:t>
            </a:r>
            <a:r>
              <a:rPr b="0" i="0" strike="noStrike" dirty="0"/>
              <a:t>name="startFromScratch" </a:t>
            </a:r>
            <a:r>
              <a:rPr b="0" i="0" strike="noStrike" dirty="0"/>
              <a:t>type="xsd:boolean" </a:t>
            </a:r>
            <a:r>
              <a:rPr b="0" i="0" strike="noStrike" dirty="0"/>
              <a:t>use="optional"/&gt;</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9" name="TextBox9"/>
          <p:cNvSpPr txBox="1">
            <a:spLocks noChangeArrowheads="1"/>
          </p:cNvSpPr>
          <p:nvPr/>
        </p:nvSpPr>
        <p:spPr>
          <a:xfrm rot="0">
            <a:off x="508000" y="2926080"/>
            <a:ext cx="11176000" cy="426720"/>
          </a:xfrm>
          <a:prstGeom prst="rect">
            <a:avLst/>
          </a:prstGeom>
          <a:ln>
            <a:headEnd type="none"/>
            <a:tailEnd type="none"/>
          </a:ln>
        </p:spPr>
        <p:txBody>
          <a:bodyPr wrap="square">
            <a:spAutoFit/>
          </a:bodyPr>
          <a:lstStyle/>
          <a:p>
            <a:pPr algn="l" defTabSz="914400">
              <a:defRPr sz="2400" b="1" dirty="0"/>
            </a:pPr>
            <a:r>
              <a:rPr b="1" i="0" strike="noStrike" dirty="0"/>
              <a:t>separator </a:t>
            </a:r>
            <a:r>
              <a:rPr b="1" i="0" strike="noStrike" dirty="0"/>
              <a:t>(Separator) </a:t>
            </a:r>
            <a:r>
              <a:rPr b="1" i="0" strike="noStrike" dirty="0"/>
              <a:t>XE </a:t>
            </a:r>
            <a:r>
              <a:rPr b="1" i="0" strike="noStrike" dirty="0"/>
              <a:t>"Elements:separator </a:t>
            </a:r>
            <a:r>
              <a:rPr b="1" i="0" strike="noStrike" dirty="0"/>
              <a:t>(separator)"</a:t>
            </a:r>
          </a:p>
        </p:txBody>
      </p:sp>
      <p:sp>
        <p:nvSpPr>
          <p:cNvPr id="10" name="TextBox10"/>
          <p:cNvSpPr txBox="1">
            <a:spLocks noChangeArrowheads="1"/>
          </p:cNvSpPr>
          <p:nvPr/>
        </p:nvSpPr>
        <p:spPr>
          <a:xfrm rot="0">
            <a:off x="508000" y="337820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vertical </a:t>
            </a:r>
            <a:r>
              <a:rPr b="0" i="0" strike="noStrike" dirty="0"/>
              <a:t>separator </a:t>
            </a:r>
            <a:r>
              <a:rPr b="0" i="0" strike="noStrike" dirty="0"/>
              <a:t>line </a:t>
            </a:r>
            <a:r>
              <a:rPr b="0" i="0" strike="noStrike" dirty="0"/>
              <a:t>between </a:t>
            </a:r>
            <a:r>
              <a:rPr b="0" i="0" strike="noStrike" dirty="0"/>
              <a:t>two </a:t>
            </a:r>
            <a:r>
              <a:rPr b="0" i="0" strike="noStrike" dirty="0"/>
              <a:t>sets </a:t>
            </a:r>
            <a:r>
              <a:rPr b="0" i="0" strike="noStrike" dirty="0"/>
              <a:t>of </a:t>
            </a:r>
            <a:r>
              <a:rPr b="0" i="0" strike="noStrike" dirty="0"/>
              <a:t>controls, </a:t>
            </a:r>
            <a:r>
              <a:rPr b="0" i="0" strike="noStrike" dirty="0"/>
              <a:t>either </a:t>
            </a:r>
            <a:r>
              <a:rPr b="0" i="0" strike="noStrike" dirty="0"/>
              <a:t>in </a:t>
            </a:r>
            <a:r>
              <a:rPr b="0" i="0" strike="noStrike" dirty="0"/>
              <a:t>the </a:t>
            </a:r>
            <a:r>
              <a:rPr b="0" i="0" strike="noStrike" dirty="0"/>
              <a:t>Quick </a:t>
            </a:r>
            <a:r>
              <a:rPr b="0" i="0" strike="noStrike" dirty="0"/>
              <a:t>Access </a:t>
            </a:r>
            <a:r>
              <a:rPr b="0" i="0" strike="noStrike" dirty="0"/>
              <a:t>Toolbar </a:t>
            </a:r>
            <a:r>
              <a:rPr b="0" i="0" strike="noStrike" dirty="0"/>
              <a:t>or </a:t>
            </a:r>
            <a:r>
              <a:rPr b="0" i="0" strike="noStrike" dirty="0"/>
              <a:t>within </a:t>
            </a:r>
            <a:r>
              <a:rPr b="1" i="0" strike="noStrike" dirty="0"/>
              <a:t>group</a:t>
            </a:r>
            <a:r>
              <a:rPr b="0" i="0" strike="noStrike" dirty="0"/>
              <a:t> </a:t>
            </a:r>
            <a:r>
              <a:rPr b="0" i="0" strike="noStrike" dirty="0"/>
              <a:t>elements.</a:t>
            </a:r>
          </a:p>
        </p:txBody>
      </p:sp>
      <p:sp>
        <p:nvSpPr>
          <p:cNvPr id="11" name="TextBox11"/>
          <p:cNvSpPr txBox="1">
            <a:spLocks noChangeArrowheads="1"/>
          </p:cNvSpPr>
          <p:nvPr/>
        </p:nvSpPr>
        <p:spPr>
          <a:xfrm rot="0">
            <a:off x="508000" y="4043680"/>
            <a:ext cx="11176000" cy="32004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a </a:t>
            </a:r>
            <a:r>
              <a:rPr b="0" i="0" strike="noStrike" dirty="0"/>
              <a:t>vertical </a:t>
            </a:r>
            <a:r>
              <a:rPr b="0" i="0" strike="noStrike" dirty="0"/>
              <a:t>separator </a:t>
            </a:r>
            <a:r>
              <a:rPr b="0" i="0" strike="noStrike" dirty="0"/>
              <a:t>control </a:t>
            </a:r>
            <a:r>
              <a:rPr b="0" i="0" strike="noStrike" dirty="0"/>
              <a:t>between </a:t>
            </a:r>
            <a:r>
              <a:rPr b="0" i="0" strike="noStrike" dirty="0"/>
              <a:t>two </a:t>
            </a:r>
            <a:r>
              <a:rPr b="0" i="0" strike="noStrike" dirty="0"/>
              <a:t>buttons, </a:t>
            </a:r>
            <a:r>
              <a:rPr b="0" i="0" strike="noStrike" dirty="0"/>
              <a:t>as </a:t>
            </a:r>
            <a:r>
              <a:rPr b="0" i="0" strike="noStrike" dirty="0"/>
              <a:t>follows: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vertical separator control"/>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sp>
        <p:nvSpPr>
          <p:cNvPr id="3" name="TextBox3"/>
          <p:cNvSpPr txBox="1">
            <a:spLocks noChangeArrowheads="1"/>
          </p:cNvSpPr>
          <p:nvPr/>
        </p:nvSpPr>
        <p:spPr>
          <a:xfrm rot="0">
            <a:off x="508000" y="307340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21: </a:t>
            </a:r>
            <a:r>
              <a:rPr b="1" i="0" strike="noStrike" dirty="0"/>
              <a:t>A </a:t>
            </a:r>
            <a:r>
              <a:rPr b="1" i="0" strike="noStrike" dirty="0"/>
              <a:t>vertical </a:t>
            </a:r>
            <a:r>
              <a:rPr b="1" i="0" strike="noStrike" dirty="0"/>
              <a:t>separator </a:t>
            </a:r>
            <a:r>
              <a:rPr b="1" i="0" strike="noStrike" dirty="0"/>
              <a:t>control</a:t>
            </a:r>
          </a:p>
        </p:txBody>
      </p:sp>
      <p:sp>
        <p:nvSpPr>
          <p:cNvPr id="4" name="TextBox4"/>
          <p:cNvSpPr txBox="1">
            <a:spLocks noChangeArrowheads="1"/>
          </p:cNvSpPr>
          <p:nvPr/>
        </p:nvSpPr>
        <p:spPr>
          <a:xfrm rot="0">
            <a:off x="508000" y="34188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specified </a:t>
            </a:r>
            <a:r>
              <a:rPr b="0" i="0" strike="noStrike" dirty="0"/>
              <a:t>using </a:t>
            </a:r>
            <a:r>
              <a:rPr b="0" i="0" strike="noStrike" dirty="0"/>
              <a:t>the </a:t>
            </a:r>
            <a:r>
              <a:rPr b="0" i="0" strike="noStrike" dirty="0"/>
              <a:t>following </a:t>
            </a:r>
            <a:r>
              <a:rPr b="0" i="0" strike="noStrike" dirty="0"/>
              <a:t>XML </a:t>
            </a:r>
            <a:r>
              <a:rPr b="0" i="0" strike="noStrike" dirty="0"/>
              <a:t>fragment:</a:t>
            </a:r>
          </a:p>
        </p:txBody>
      </p:sp>
      <p:sp>
        <p:nvSpPr>
          <p:cNvPr id="5" name="TextBox5"/>
          <p:cNvSpPr txBox="1">
            <a:spLocks noChangeArrowheads="1"/>
          </p:cNvSpPr>
          <p:nvPr/>
        </p:nvSpPr>
        <p:spPr>
          <a:xfrm rot="0">
            <a:off x="508000" y="376428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id="button1" </a:t>
            </a:r>
            <a:r>
              <a:rPr b="0" i="0" strike="noStrike" dirty="0"/>
              <a:t>label="Button </a:t>
            </a:r>
            <a:r>
              <a:rPr b="0" i="0" strike="noStrike" dirty="0"/>
              <a:t>1" </a:t>
            </a:r>
            <a:r>
              <a:rPr b="0" i="0" strike="noStrike" dirty="0"/>
              <a:t>imageMso="HappyFace" </a:t>
            </a:r>
            <a:r>
              <a:rPr b="0" i="0" strike="noStrike" dirty="0"/>
              <a:t>size="large" </a:t>
            </a:r>
            <a:r>
              <a:rPr b="0" i="0" strike="noStrike" dirty="0"/>
              <a:t>/&gt;</a:t>
            </a:r>
          </a:p>
        </p:txBody>
      </p:sp>
      <p:sp>
        <p:nvSpPr>
          <p:cNvPr id="6" name="TextBox6"/>
          <p:cNvSpPr txBox="1">
            <a:spLocks noChangeArrowheads="1"/>
          </p:cNvSpPr>
          <p:nvPr/>
        </p:nvSpPr>
        <p:spPr>
          <a:xfrm rot="0">
            <a:off x="508000" y="4109720"/>
            <a:ext cx="11176000" cy="320040"/>
          </a:xfrm>
          <a:prstGeom prst="rect">
            <a:avLst/>
          </a:prstGeom>
          <a:ln>
            <a:headEnd type="none"/>
            <a:tailEnd type="none"/>
          </a:ln>
        </p:spPr>
        <p:txBody>
          <a:bodyPr wrap="square">
            <a:spAutoFit/>
          </a:bodyPr>
          <a:lstStyle/>
          <a:p>
            <a:pPr algn="l" defTabSz="914400"/>
            <a:r>
              <a:rPr b="0" i="0" strike="noStrike" dirty="0"/>
              <a:t>&lt;separator </a:t>
            </a:r>
            <a:r>
              <a:rPr b="0" i="0" strike="noStrike" dirty="0"/>
              <a:t>id="separator" </a:t>
            </a:r>
            <a:r>
              <a:rPr b="0" i="0" strike="noStrike" dirty="0"/>
              <a:t>/&gt;</a:t>
            </a:r>
          </a:p>
        </p:txBody>
      </p:sp>
      <p:sp>
        <p:nvSpPr>
          <p:cNvPr id="7" name="TextBox7"/>
          <p:cNvSpPr txBox="1">
            <a:spLocks noChangeArrowheads="1"/>
          </p:cNvSpPr>
          <p:nvPr/>
        </p:nvSpPr>
        <p:spPr>
          <a:xfrm rot="0">
            <a:off x="508000" y="445516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id="button2" </a:t>
            </a:r>
            <a:r>
              <a:rPr b="0" i="0" strike="noStrike" dirty="0"/>
              <a:t>label="Button </a:t>
            </a:r>
            <a:r>
              <a:rPr b="0" i="0" strike="noStrike" dirty="0"/>
              <a:t>2" </a:t>
            </a:r>
            <a:r>
              <a:rPr b="0" i="0" strike="noStrike" dirty="0"/>
              <a:t>imageMso="HappyFace" </a:t>
            </a:r>
            <a:r>
              <a:rPr b="0" i="0" strike="noStrike" dirty="0"/>
              <a:t>size="large" </a:t>
            </a:r>
            <a:r>
              <a:rPr b="0" i="0" strike="noStrike" dirty="0"/>
              <a:t>/&gt;</a:t>
            </a:r>
          </a:p>
        </p:txBody>
      </p:sp>
      <p:sp>
        <p:nvSpPr>
          <p:cNvPr id="8" name="TextBox8"/>
          <p:cNvSpPr txBox="1">
            <a:spLocks noChangeArrowheads="1"/>
          </p:cNvSpPr>
          <p:nvPr/>
        </p:nvSpPr>
        <p:spPr>
          <a:xfrm rot="0">
            <a:off x="508000" y="48006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9" name="Table 9"/>
          <p:cNvGraphicFramePr/>
          <p:nvPr/>
        </p:nvGraphicFramePr>
        <p:xfrm rot="0">
          <a:off x="508000" y="514604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documentControls</a:t>
                      </a:r>
                    </a:p>
                    <a:p>
                      <a:pPr defTabSz="914400"/>
                      <a:r>
                        <a:rPr b="0" i="0" strike="noStrike" dirty="0"/>
                        <a:t> (section </a:t>
                      </a:r>
                      <a:endParaRPr b="1" i="0" strike="noStrike" dirty="0"/>
                    </a:p>
                    <a:p>
                      <a:pPr defTabSz="914400"/>
                      <a:r>
                        <a:rPr/>
                        <a:t>2.2.16</a:t>
                      </a:r>
                      <a:endParaRPr b="1" i="0" strike="noStrike" dirty="0"/>
                    </a:p>
                    <a:p>
                      <a:pPr defTabSz="914400"/>
                      <a:r>
                        <a:rPr b="0" i="0" strike="noStrike" dirty="0"/>
                        <a:t>); </a:t>
                      </a:r>
                      <a:endParaRPr b="1" i="0" strike="noStrike" dirty="0"/>
                    </a:p>
                    <a:p>
                      <a:pPr defTabSz="914400"/>
                      <a:r>
                        <a:rPr b="1" i="0" strike="noStrike" dirty="0"/>
                        <a:t>group</a:t>
                      </a:r>
                      <a:endParaRPr b="1" i="0" strike="noStrike" dirty="0"/>
                    </a:p>
                    <a:p>
                      <a:pPr defTabSz="914400"/>
                      <a:r>
                        <a:rPr b="0" i="0" strike="noStrike" dirty="0"/>
                        <a:t> (section </a:t>
                      </a:r>
                      <a:endParaRPr b="1" i="0" strike="noStrike" dirty="0"/>
                    </a:p>
                    <a:p>
                      <a:pPr defTabSz="914400"/>
                      <a:r>
                        <a:rPr/>
                        <a:t>2.2.23</a:t>
                      </a:r>
                      <a:endParaRPr b="1" i="0" strike="noStrike" dirty="0"/>
                    </a:p>
                    <a:p>
                      <a:pPr defTabSz="914400"/>
                      <a:r>
                        <a:rPr b="0" i="0" strike="noStrike" dirty="0"/>
                        <a:t>); </a:t>
                      </a:r>
                      <a:endParaRPr b="1" i="0" strike="noStrike" dirty="0"/>
                    </a:p>
                    <a:p>
                      <a:pPr defTabSz="914400"/>
                      <a:r>
                        <a:rPr b="1" i="0" strike="noStrike" dirty="0"/>
                        <a:t>sharedControls</a:t>
                      </a:r>
                      <a:endParaRPr b="1" i="0" strike="noStrike" dirty="0"/>
                    </a:p>
                    <a:p>
                      <a:pPr defTabSz="914400"/>
                      <a:r>
                        <a:rPr b="0" i="0" strike="noStrike" dirty="0"/>
                        <a:t> (section </a:t>
                      </a:r>
                      <a:endParaRPr b="1" i="0" strike="noStrike" dirty="0"/>
                    </a:p>
                    <a:p>
                      <a:pPr defTabSz="914400"/>
                      <a:r>
                        <a:rPr/>
                        <a:t>2.2.35</a:t>
                      </a:r>
                      <a:endParaRPr b="1" i="0" strike="noStrike" dirty="0"/>
                    </a:p>
                    <a:p>
                      <a:pPr defTabSz="914400"/>
                      <a:r>
                        <a:rPr b="0" i="0" strike="noStrike" dirty="0"/>
                        <a:t>)</a:t>
                      </a:r>
                      <a:endParaRPr b="1" i="0" strike="noStrike" dirty="0"/>
                    </a:p>
                  </a:txBody>
                  <a:tcPr horzOverflow="overflow"/>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graphicFrame>
        <p:nvGraphicFramePr>
          <p:cNvPr id="3" name="Table 3"/>
          <p:cNvGraphicFramePr/>
          <p:nvPr/>
        </p:nvGraphicFramePr>
        <p:xfrm rot="0">
          <a:off x="508000" y="85344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getVisible</a:t>
                      </a:r>
                    </a:p>
                    <a:p>
                      <a:pPr defTabSz="914400"/>
                      <a:r>
                        <a:rPr b="0" i="0" strike="noStrike" dirty="0"/>
                        <a:t> ( </a:t>
                      </a:r>
                      <a:endParaRPr b="1" i="0" strike="noStrike" dirty="0"/>
                    </a:p>
                    <a:p>
                      <a:pPr defTabSz="914400"/>
                      <a:r>
                        <a:rPr b="1" i="0" strike="noStrike" dirty="0"/>
                        <a:t>getVisible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visibility state of this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neither attribute is specified, the control SHOULD default to being visible. For example, consider the following XML fragment: &lt;button id="button" getVisible="IsButtonVisible" /&gt; In this example, the </a:t>
                      </a:r>
                      <a:endParaRPr b="0" i="0" strike="noStrike" dirty="0"/>
                    </a:p>
                    <a:p>
                      <a:pPr defTabSz="914400"/>
                      <a:r>
                        <a:rPr b="1" i="0" strike="noStrike" dirty="0"/>
                        <a:t>IsButtonVisible</a:t>
                      </a:r>
                      <a:endParaRPr b="0" i="0" strike="noStrike" dirty="0"/>
                    </a:p>
                    <a:p>
                      <a:pPr defTabSz="914400"/>
                      <a:r>
                        <a:rPr b="0" i="0" strike="noStrike" dirty="0"/>
                        <a:t> callback function is called when the application needs to determine the visibility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a:t>
                      </a:r>
                      <a:endParaRPr b="0" i="0" strike="noStrike" dirty="0"/>
                    </a:p>
                    <a:p>
                      <a:pPr defTabSz="914400"/>
                      <a:r>
                        <a:rPr/>
                        <a:t>2.3.2</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id</a:t>
                      </a:r>
                    </a:p>
                    <a:p>
                      <a:pPr defTabSz="914400"/>
                      <a:r>
                        <a:rPr b="0" i="0" strike="noStrike" dirty="0"/>
                        <a:t> (control identifier)</a:t>
                      </a:r>
                      <a:endParaRPr b="1" i="0" strike="noStrike" dirty="0"/>
                    </a:p>
                  </a:txBody>
                  <a:tcPr horzOverflow="overflow"/>
                </a:tc>
                <a:tc>
                  <a:txBody>
                    <a:bodyPr/>
                    <a:lstStyle/>
                    <a:p>
                      <a:pPr algn="l" defTabSz="914400"/>
                      <a:r>
                        <a:rPr b="0" i="0" strike="noStrike" dirty="0"/>
                        <a:t>Specifies the identifier for a custom control. All custom controls MUST have unique identifiers. The identifier of a control SHOULD be passed to callback functions to identify which control corresponds to the function call. The </a:t>
                      </a:r>
                    </a:p>
                    <a:p>
                      <a:pPr defTabSz="914400"/>
                      <a:r>
                        <a:rPr b="1" i="0" strike="noStrike" dirty="0"/>
                        <a:t>id</a:t>
                      </a:r>
                      <a:endParaRPr b="0" i="0" strike="noStrike" dirty="0"/>
                    </a:p>
                    <a:p>
                      <a:pPr defTabSz="914400"/>
                      <a:r>
                        <a:rPr b="0" i="0" strike="noStrike" dirty="0"/>
                        <a:t> and </a:t>
                      </a:r>
                      <a:endParaRPr b="0" i="0" strike="noStrike" dirty="0"/>
                    </a:p>
                    <a:p>
                      <a:pPr defTabSz="914400"/>
                      <a:r>
                        <a:rPr b="1" i="0" strike="noStrike" dirty="0"/>
                        <a:t>idQ</a:t>
                      </a:r>
                      <a:endParaRPr b="0" i="0" strike="noStrike" dirty="0"/>
                    </a:p>
                    <a:p>
                      <a:pPr defTabSz="914400"/>
                      <a:r>
                        <a:rPr b="0" i="0" strike="noStrike" dirty="0"/>
                        <a:t> attributes are mutually exclusive. At least one of these attributes MUST be specified. For example, consider the following XML fragment: &lt;button id="MyButton" label="Button" /&gt; This specifies a custom button control with an identifier of "MyButton". The possible values for this attribute are defined by the </a:t>
                      </a:r>
                      <a:endParaRPr b="0" i="0" strike="noStrike" dirty="0"/>
                    </a:p>
                    <a:p>
                      <a:pPr defTabSz="914400"/>
                      <a:r>
                        <a:rPr b="1" i="0" strike="noStrike" dirty="0"/>
                        <a:t>ST_UniqueID</a:t>
                      </a:r>
                      <a:endParaRPr b="0" i="0" strike="noStrike" dirty="0"/>
                    </a:p>
                    <a:p>
                      <a:pPr defTabSz="914400"/>
                      <a:r>
                        <a:rPr b="0" i="0" strike="noStrike" dirty="0"/>
                        <a:t> simple type, as specified in section </a:t>
                      </a:r>
                      <a:endParaRPr b="0" i="0" strike="noStrike" dirty="0"/>
                    </a:p>
                    <a:p>
                      <a:pPr defTabSz="914400"/>
                      <a:r>
                        <a:rPr/>
                        <a:t>2.3.13</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5080000">
                <a:tc>
                  <a:txBody>
                    <a:bodyPr/>
                    <a:lstStyle/>
                    <a:p>
                      <a:pPr algn="l" defTabSz="914400"/>
                      <a:r>
                        <a:rPr b="1" i="0" strike="noStrike" dirty="0"/>
                        <a:t>idQ</a:t>
                      </a:r>
                    </a:p>
                    <a:p>
                      <a:pPr defTabSz="914400"/>
                      <a:r>
                        <a:rPr b="0" i="0" strike="noStrike" dirty="0"/>
                        <a:t> (qualified control identifier)</a:t>
                      </a:r>
                      <a:endParaRPr b="1" i="0" strike="noStrike" dirty="0"/>
                    </a:p>
                  </a:txBody>
                  <a:tcPr horzOverflow="overflow"/>
                </a:tc>
                <a:tc>
                  <a:txBody>
                    <a:bodyPr/>
                    <a:lstStyle/>
                    <a:p>
                      <a:pPr algn="l" defTabSz="914400"/>
                      <a:r>
                        <a:rPr b="0" i="0" strike="noStrike" dirty="0"/>
                        <a:t>Specifies a qualified identifier for a control. The </a:t>
                      </a:r>
                    </a:p>
                    <a:p>
                      <a:pPr defTabSz="914400"/>
                      <a:r>
                        <a:rPr b="1" i="0" strike="noStrike" dirty="0"/>
                        <a:t>idQ</a:t>
                      </a:r>
                      <a:endParaRPr b="0" i="0" strike="noStrike" dirty="0"/>
                    </a:p>
                    <a:p>
                      <a:pPr defTabSz="914400"/>
                      <a:r>
                        <a:rPr b="0" i="0" strike="noStrike" dirty="0"/>
                        <a:t> attribute can be used to reference controls or containers created by other Custom UI documents. The </a:t>
                      </a:r>
                      <a:endParaRPr b="0" i="0" strike="noStrike" dirty="0"/>
                    </a:p>
                    <a:p>
                      <a:pPr defTabSz="914400"/>
                      <a:r>
                        <a:rPr b="1" i="0" strike="noStrike" dirty="0"/>
                        <a:t>id</a:t>
                      </a:r>
                      <a:endParaRPr b="0" i="0" strike="noStrike" dirty="0"/>
                    </a:p>
                    <a:p>
                      <a:pPr defTabSz="914400"/>
                      <a:r>
                        <a:rPr b="0" i="0" strike="noStrike" dirty="0"/>
                        <a:t> and </a:t>
                      </a:r>
                      <a:endParaRPr b="0" i="0" strike="noStrike" dirty="0"/>
                    </a:p>
                    <a:p>
                      <a:pPr defTabSz="914400"/>
                      <a:r>
                        <a:rPr b="1" i="0" strike="noStrike" dirty="0"/>
                        <a:t>idQ</a:t>
                      </a:r>
                      <a:endParaRPr b="0" i="0" strike="noStrike" dirty="0"/>
                    </a:p>
                    <a:p>
                      <a:pPr defTabSz="914400"/>
                      <a:r>
                        <a:rPr b="0" i="0" strike="noStrike" dirty="0"/>
                        <a:t> attributes are mutually exclusive. At least one of these attributes MUST be specified. For example, consider the following XML fragment: &lt;customUI    xmlns="http://schemas.microsoft.com/office/2006/01/customui"   xmlns:ex="http://www.example.com"&gt;   &lt;ribbon&gt;     &lt;tabs&gt;      &lt;tab idQ="ex:OtherTab" label="Shared Tab"&gt;         &lt;group id="MyGroup" label="My Group"&gt;           …         &lt;/group&gt;       &lt;/tab&gt;     &lt;/tabs&gt;   &lt;/ribbon&gt; &lt;/customUI&gt; In this case, </a:t>
                      </a:r>
                      <a:endParaRPr b="0" i="0" strike="noStrike" dirty="0"/>
                    </a:p>
                    <a:p>
                      <a:pPr defTabSz="914400"/>
                      <a:r>
                        <a:rPr b="1" i="0" strike="noStrike" dirty="0"/>
                        <a:t>ex</a:t>
                      </a:r>
                      <a:endParaRPr b="0" i="0" strike="noStrike" dirty="0"/>
                    </a:p>
                    <a:p>
                      <a:pPr defTabSz="914400"/>
                      <a:r>
                        <a:rPr b="0" i="0" strike="noStrike" dirty="0"/>
                        <a:t> is an XML namespace prefix for the namespace http://www.example.com. This XML fragment refers to a </a:t>
                      </a:r>
                      <a:endParaRPr b="0" i="0" strike="noStrike" dirty="0"/>
                    </a:p>
                    <a:p>
                      <a:pPr defTabSz="914400"/>
                      <a:r>
                        <a:rPr b="1" i="0" strike="noStrike" dirty="0"/>
                        <a:t>tab</a:t>
                      </a:r>
                      <a:endParaRPr b="0" i="0" strike="noStrike" dirty="0"/>
                    </a:p>
                    <a:p>
                      <a:pPr defTabSz="914400"/>
                      <a:r>
                        <a:rPr b="0" i="0" strike="noStrike" dirty="0"/>
                        <a:t> in that namespace with an identifier of "OtherTab". If that tab cannot be found, it is created. A new group belonging to this file is added to the 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a:t>
                      </a:r>
                      <a:endParaRPr b="0" i="0" strike="noStrike" dirty="0"/>
                    </a:p>
                    <a:p>
                      <a:pPr defTabSz="914400"/>
                      <a:r>
                        <a:rPr/>
                        <a:t>2.3.9</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insertAfterMso</a:t>
                      </a:r>
                    </a:p>
                    <a:p>
                      <a:pPr defTabSz="914400"/>
                      <a:r>
                        <a:rPr b="0" i="0" strike="noStrike" dirty="0"/>
                        <a:t> (identifier of built-in control to insert after)</a:t>
                      </a:r>
                      <a:endParaRPr b="1" i="0" strike="noStrike" dirty="0"/>
                    </a:p>
                  </a:txBody>
                  <a:tcPr horzOverflow="overflow"/>
                </a:tc>
                <a:tc>
                  <a:txBody>
                    <a:bodyPr/>
                    <a:lstStyle/>
                    <a:p>
                      <a:pPr algn="l" defTabSz="914400"/>
                      <a:r>
                        <a:rPr b="0" i="0" strike="noStrike" dirty="0"/>
                        <a:t>Specifies the identifier of a built-in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insertAfterMso="TabHome" label="Custom Tab"&gt;   … &lt;/tab&gt; In this example, a new custom tab with an identifier of "MyTab" is to be inserted after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a:t>
                      </a:r>
                      <a:endParaRPr b="0" i="0" strike="noStrike" dirty="0"/>
                    </a:p>
                    <a:p>
                      <a:pPr defTabSz="914400"/>
                      <a:r>
                        <a:rPr/>
                        <a:t>2.3.5</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insertAfterQ</a:t>
                      </a:r>
                    </a:p>
                    <a:p>
                      <a:pPr defTabSz="914400"/>
                      <a:r>
                        <a:rPr b="0" i="0" strike="noStrike" dirty="0"/>
                        <a:t> (qualified identifier of control to insert after)</a:t>
                      </a:r>
                      <a:endParaRPr b="1" i="0" strike="noStrike" dirty="0"/>
                    </a:p>
                  </a:txBody>
                  <a:tcPr horzOverflow="overflow"/>
                </a:tc>
                <a:tc>
                  <a:txBody>
                    <a:bodyPr/>
                    <a:lstStyle/>
                    <a:p>
                      <a:pPr algn="l" defTabSz="914400"/>
                      <a:r>
                        <a:rPr b="0" i="0" strike="noStrike" dirty="0"/>
                        <a:t>Specifies the qualified identifier of a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insertAfterQ="x:OtherTab" label="Custom Tab"&gt;   … &lt;/tab&gt; In this example, a new custom tab with an identifier of "MyTab" is to be inserted after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insertBeforeMso</a:t>
                      </a:r>
                    </a:p>
                    <a:p>
                      <a:pPr defTabSz="914400"/>
                      <a:r>
                        <a:rPr b="0" i="0" strike="noStrike" dirty="0"/>
                        <a:t> (identifier of built-in control to insert before)</a:t>
                      </a:r>
                      <a:endParaRPr b="1" i="0" strike="noStrike" dirty="0"/>
                    </a:p>
                  </a:txBody>
                  <a:tcPr horzOverflow="overflow"/>
                </a:tc>
                <a:tc>
                  <a:txBody>
                    <a:bodyPr/>
                    <a:lstStyle/>
                    <a:p>
                      <a:pPr algn="l" defTabSz="914400"/>
                      <a:r>
                        <a:rPr b="0" i="0" strike="noStrike" dirty="0"/>
                        <a:t>Specifies the identifier of a built-in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insertBeforeMso="TabHome" label="Custom Tab"&gt;   … &lt;/tab&gt; In this example, a new custom tab with an identifier of "MyTab" is to be inserted before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insertBeforeQ</a:t>
                      </a:r>
                    </a:p>
                    <a:p>
                      <a:pPr defTabSz="914400"/>
                      <a:r>
                        <a:rPr b="0" i="0" strike="noStrike" dirty="0"/>
                        <a:t> (qualified identifier of control to insert before)</a:t>
                      </a:r>
                      <a:endParaRPr b="1" i="0" strike="noStrike" dirty="0"/>
                    </a:p>
                  </a:txBody>
                  <a:tcPr horzOverflow="overflow"/>
                </a:tc>
                <a:tc>
                  <a:txBody>
                    <a:bodyPr/>
                    <a:lstStyle/>
                    <a:p>
                      <a:pPr algn="l" defTabSz="914400"/>
                      <a:r>
                        <a:rPr b="0" i="0" strike="noStrike" dirty="0"/>
                        <a:t>Specifies the qualified identifier of a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insertBeforeQ="x:OtherTab" label="Custom Tab"&gt;   … &lt;/tab&gt; In this example, a new custom tab with an identifier of "MyTab" is to be inserted before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visible</a:t>
                      </a:r>
                    </a:p>
                    <a:p>
                      <a:pPr defTabSz="914400"/>
                      <a:r>
                        <a:rPr b="0" i="0" strike="noStrike" dirty="0"/>
                        <a:t> (control visibility)</a:t>
                      </a:r>
                      <a:endParaRPr b="1" i="0" strike="noStrike" dirty="0"/>
                    </a:p>
                  </a:txBody>
                  <a:tcPr horzOverflow="overflow"/>
                </a:tc>
                <a:tc>
                  <a:txBody>
                    <a:bodyPr/>
                    <a:lstStyle/>
                    <a:p>
                      <a:pPr algn="l" defTabSz="914400"/>
                      <a:r>
                        <a:rPr b="0" i="0" strike="noStrike" dirty="0"/>
                        <a:t>Specifies the visibility state of the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these attributes are omitted, the control SHOULD default to being visible. For example, consider the following XML fragment: &lt;tab idMso="TabHome" visible="false" /&gt; In this example, the built-in tab with an identifier of "TabHome" is hidden.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name="CT_Separator"&gt;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ref="AG_IDCustom"/&gt;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ref="AG_Visible"/&gt;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ref="AG_PositionAttributes"/&gt;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9" name="TextBox9"/>
          <p:cNvSpPr txBox="1">
            <a:spLocks noChangeArrowheads="1"/>
          </p:cNvSpPr>
          <p:nvPr/>
        </p:nvSpPr>
        <p:spPr>
          <a:xfrm rot="0">
            <a:off x="508000" y="5679440"/>
            <a:ext cx="11176000" cy="426720"/>
          </a:xfrm>
          <a:prstGeom prst="rect">
            <a:avLst/>
          </a:prstGeom>
          <a:ln>
            <a:headEnd type="none"/>
            <a:tailEnd type="none"/>
          </a:ln>
        </p:spPr>
        <p:txBody>
          <a:bodyPr wrap="square">
            <a:spAutoFit/>
          </a:bodyPr>
          <a:lstStyle/>
          <a:p>
            <a:pPr algn="l" defTabSz="914400">
              <a:defRPr sz="2400" b="1" dirty="0"/>
            </a:pPr>
            <a:r>
              <a:rPr b="1" i="0" strike="noStrike" dirty="0"/>
              <a:t>sharedControls </a:t>
            </a:r>
            <a:r>
              <a:rPr b="1" i="0" strike="noStrike" dirty="0"/>
              <a:t>(List </a:t>
            </a:r>
            <a:r>
              <a:rPr b="1" i="0" strike="noStrike" dirty="0"/>
              <a:t>of </a:t>
            </a:r>
            <a:r>
              <a:rPr b="1" i="0" strike="noStrike" dirty="0"/>
              <a:t>Shared </a:t>
            </a:r>
            <a:r>
              <a:rPr b="1" i="0" strike="noStrike" dirty="0"/>
              <a:t>Quick </a:t>
            </a:r>
            <a:r>
              <a:rPr b="1" i="0" strike="noStrike" dirty="0"/>
              <a:t>Access </a:t>
            </a:r>
            <a:r>
              <a:rPr b="1" i="0" strike="noStrike" dirty="0"/>
              <a:t>Toolbar </a:t>
            </a:r>
            <a:r>
              <a:rPr b="1" i="0" strike="noStrike" dirty="0"/>
              <a:t>Controls) </a:t>
            </a:r>
            <a:r>
              <a:rPr b="1" i="0" strike="noStrike" dirty="0"/>
              <a:t>XE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426720"/>
          </a:xfrm>
          <a:prstGeom prst="rect">
            <a:avLst/>
          </a:prstGeom>
          <a:ln>
            <a:headEnd type="none"/>
            <a:tailEnd type="none"/>
          </a:ln>
        </p:spPr>
        <p:txBody>
          <a:bodyPr wrap="square">
            <a:spAutoFit/>
          </a:bodyPr>
          <a:lstStyle/>
          <a:p>
            <a:pPr algn="l" defTabSz="914400">
              <a:defRPr sz="2400" b="1" dirty="0"/>
            </a:pPr>
            <a:r>
              <a:rPr b="1" i="0" strike="noStrike" dirty="0"/>
              <a:t>"Elements:sharedControls </a:t>
            </a:r>
            <a:r>
              <a:rPr b="1" i="0" strike="noStrike" dirty="0"/>
              <a:t>(list </a:t>
            </a:r>
            <a:r>
              <a:rPr b="1" i="0" strike="noStrike" dirty="0"/>
              <a:t>of </a:t>
            </a:r>
            <a:r>
              <a:rPr b="1" i="0" strike="noStrike" dirty="0"/>
              <a:t>shared </a:t>
            </a:r>
            <a:r>
              <a:rPr b="1" i="0" strike="noStrike" dirty="0"/>
              <a:t>Quick </a:t>
            </a:r>
            <a:r>
              <a:rPr b="1" i="0" strike="noStrike" dirty="0"/>
              <a:t>Access </a:t>
            </a:r>
            <a:r>
              <a:rPr b="1" i="0" strike="noStrike" dirty="0"/>
              <a:t>Toolbar </a:t>
            </a:r>
            <a:r>
              <a:rPr b="1" i="0" strike="noStrike" dirty="0"/>
              <a:t>controls)"</a:t>
            </a:r>
          </a:p>
        </p:txBody>
      </p:sp>
      <p:sp>
        <p:nvSpPr>
          <p:cNvPr id="3" name="TextBox3"/>
          <p:cNvSpPr txBox="1">
            <a:spLocks noChangeArrowheads="1"/>
          </p:cNvSpPr>
          <p:nvPr/>
        </p:nvSpPr>
        <p:spPr>
          <a:xfrm rot="0">
            <a:off x="508000" y="960120"/>
            <a:ext cx="11176000" cy="160020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the </a:t>
            </a:r>
            <a:r>
              <a:rPr b="0" i="0" strike="noStrike" dirty="0"/>
              <a:t>section </a:t>
            </a:r>
            <a:r>
              <a:rPr b="0" i="0" strike="noStrike" dirty="0"/>
              <a:t>of </a:t>
            </a:r>
            <a:r>
              <a:rPr b="0" i="0" strike="noStrike" dirty="0"/>
              <a:t>the </a:t>
            </a:r>
            <a:r>
              <a:rPr b="0" i="0" strike="noStrike" dirty="0"/>
              <a:t>quick </a:t>
            </a:r>
            <a:r>
              <a:rPr b="0" i="0" strike="noStrike" dirty="0"/>
              <a:t>access </a:t>
            </a:r>
            <a:r>
              <a:rPr b="0" i="0" strike="noStrike" dirty="0"/>
              <a:t>toolbar </a:t>
            </a:r>
            <a:r>
              <a:rPr b="0" i="0" strike="noStrike" dirty="0"/>
              <a:t>that </a:t>
            </a:r>
            <a:r>
              <a:rPr b="0" i="0" strike="noStrike" dirty="0"/>
              <a:t>is </a:t>
            </a:r>
            <a:r>
              <a:rPr b="0" i="0" strike="noStrike" dirty="0"/>
              <a:t>shared </a:t>
            </a:r>
            <a:r>
              <a:rPr b="0" i="0" strike="noStrike" dirty="0"/>
              <a:t>among </a:t>
            </a:r>
            <a:r>
              <a:rPr b="0" i="0" strike="noStrike" dirty="0"/>
              <a:t>all </a:t>
            </a:r>
            <a:r>
              <a:rPr b="0" i="0" strike="noStrike" dirty="0"/>
              <a:t>documents. </a:t>
            </a:r>
            <a:r>
              <a:rPr b="0" i="0" strike="noStrike" dirty="0"/>
              <a:t>This </a:t>
            </a:r>
            <a:r>
              <a:rPr b="0" i="0" strike="noStrike" dirty="0"/>
              <a:t>element </a:t>
            </a:r>
            <a:r>
              <a:rPr b="0" i="0" strike="noStrike" dirty="0"/>
              <a:t>SHOULD </a:t>
            </a:r>
            <a:r>
              <a:rPr b="0" i="0" strike="noStrike" dirty="0"/>
              <a:t>NOT </a:t>
            </a:r>
            <a:r>
              <a:rPr b="0" i="0" strike="noStrike" dirty="0"/>
              <a:t>be </a:t>
            </a:r>
            <a:r>
              <a:rPr b="0" i="0" strike="noStrike" dirty="0"/>
              <a:t>specified </a:t>
            </a:r>
            <a:r>
              <a:rPr b="0" i="0" strike="noStrike" dirty="0"/>
              <a:t>if </a:t>
            </a:r>
            <a:r>
              <a:rPr b="0" i="0" strike="noStrike" dirty="0"/>
              <a:t>the </a:t>
            </a:r>
            <a:r>
              <a:rPr b="0" i="0" strike="noStrike" dirty="0"/>
              <a:t>containing </a:t>
            </a:r>
            <a:r>
              <a:rPr b="0" i="0" strike="noStrike" dirty="0"/>
              <a:t>Custom </a:t>
            </a:r>
            <a:r>
              <a:rPr b="0" i="0" strike="noStrike" dirty="0"/>
              <a:t>UI </a:t>
            </a:r>
            <a:r>
              <a:rPr b="0" i="0" strike="noStrike" dirty="0"/>
              <a:t>XML </a:t>
            </a:r>
            <a:r>
              <a:rPr b="0" i="0" strike="noStrike" dirty="0"/>
              <a:t>document </a:t>
            </a:r>
            <a:r>
              <a:rPr b="0" i="0" strike="noStrike" dirty="0"/>
              <a:t>is </a:t>
            </a:r>
            <a:r>
              <a:rPr b="0" i="0" strike="noStrike" dirty="0"/>
              <a:t>a </a:t>
            </a:r>
            <a:r>
              <a:rPr b="0" i="0" strike="noStrike" dirty="0"/>
              <a:t>Quick </a:t>
            </a:r>
            <a:r>
              <a:rPr b="0" i="0" strike="noStrike" dirty="0"/>
              <a:t>Access </a:t>
            </a:r>
            <a:r>
              <a:rPr b="0" i="0" strike="noStrike" dirty="0"/>
              <a:t>Toolbar </a:t>
            </a:r>
            <a:r>
              <a:rPr b="0" i="0" strike="noStrike" dirty="0"/>
              <a:t>Customizations </a:t>
            </a:r>
            <a:r>
              <a:rPr b="0" i="0" strike="noStrike" dirty="0"/>
              <a:t>part. </a:t>
            </a:r>
            <a:r>
              <a:rPr b="0" i="0" strike="noStrike" dirty="0"/>
              <a:t>If </a:t>
            </a:r>
            <a:r>
              <a:rPr b="0" i="0" strike="noStrike" dirty="0"/>
              <a:t>the </a:t>
            </a:r>
            <a:r>
              <a:rPr b="0" i="0" strike="noStrike" dirty="0"/>
              <a:t>containing </a:t>
            </a:r>
            <a:r>
              <a:rPr b="0" i="0" strike="noStrike" dirty="0"/>
              <a:t>Custom </a:t>
            </a:r>
            <a:r>
              <a:rPr b="0" i="0" strike="noStrike" dirty="0"/>
              <a:t>UI </a:t>
            </a:r>
            <a:r>
              <a:rPr b="0" i="0" strike="noStrike" dirty="0"/>
              <a:t>XML </a:t>
            </a:r>
            <a:r>
              <a:rPr b="0" i="0" strike="noStrike" dirty="0"/>
              <a:t>document </a:t>
            </a:r>
            <a:r>
              <a:rPr b="0" i="0" strike="noStrike" dirty="0"/>
              <a:t>is </a:t>
            </a:r>
            <a:r>
              <a:rPr b="0" i="0" strike="noStrike" dirty="0"/>
              <a:t>a </a:t>
            </a:r>
            <a:r>
              <a:rPr b="0" i="0" strike="noStrike" dirty="0"/>
              <a:t>Ribbon </a:t>
            </a:r>
            <a:r>
              <a:rPr b="0" i="0" strike="noStrike" dirty="0"/>
              <a:t>Extensibility </a:t>
            </a:r>
            <a:r>
              <a:rPr b="0" i="0" strike="noStrike" dirty="0"/>
              <a:t>part, </a:t>
            </a:r>
            <a:r>
              <a:rPr b="0" i="0" strike="noStrike" dirty="0"/>
              <a:t>this </a:t>
            </a:r>
            <a:r>
              <a:rPr b="0" i="0" strike="noStrike" dirty="0"/>
              <a:t>element </a:t>
            </a:r>
            <a:r>
              <a:rPr b="0" i="0" strike="noStrike" dirty="0"/>
              <a:t>can </a:t>
            </a:r>
            <a:r>
              <a:rPr b="0" i="0" strike="noStrike" dirty="0"/>
              <a:t>be </a:t>
            </a:r>
            <a:r>
              <a:rPr b="0" i="0" strike="noStrike" dirty="0"/>
              <a:t>used </a:t>
            </a:r>
            <a:r>
              <a:rPr b="0" i="0" strike="noStrike" dirty="0"/>
              <a:t>if </a:t>
            </a:r>
            <a:r>
              <a:rPr b="0" i="0" strike="noStrike" dirty="0"/>
              <a:t>the </a:t>
            </a:r>
            <a:r>
              <a:rPr b="1" i="0" strike="noStrike" dirty="0"/>
              <a:t>startFromScratch</a:t>
            </a:r>
            <a:r>
              <a:rPr b="0" i="0" strike="noStrike" dirty="0"/>
              <a:t> </a:t>
            </a:r>
            <a:r>
              <a:rPr b="0" i="0" strike="noStrike" dirty="0"/>
              <a:t>attribute </a:t>
            </a:r>
            <a:r>
              <a:rPr b="0" i="0" strike="noStrike" dirty="0"/>
              <a:t>is </a:t>
            </a:r>
            <a:r>
              <a:rPr b="0" i="0" strike="noStrike" dirty="0"/>
              <a:t>set </a:t>
            </a:r>
            <a:r>
              <a:rPr b="0" i="0" strike="noStrike" dirty="0"/>
              <a:t>to </a:t>
            </a:r>
            <a:r>
              <a:rPr b="0" i="0" strike="noStrike" dirty="0"/>
              <a:t>"true" </a:t>
            </a:r>
            <a:r>
              <a:rPr b="0" i="0" strike="noStrike" dirty="0"/>
              <a:t>on </a:t>
            </a:r>
            <a:r>
              <a:rPr b="0" i="0" strike="noStrike" dirty="0"/>
              <a:t>the </a:t>
            </a:r>
            <a:r>
              <a:rPr b="0" i="0" strike="noStrike" dirty="0"/>
              <a:t>ribbon </a:t>
            </a:r>
            <a:r>
              <a:rPr b="0" i="0" strike="noStrike" dirty="0"/>
              <a:t>element.</a:t>
            </a:r>
          </a:p>
        </p:txBody>
      </p:sp>
      <p:sp>
        <p:nvSpPr>
          <p:cNvPr id="4" name="TextBox4"/>
          <p:cNvSpPr txBox="1">
            <a:spLocks noChangeArrowheads="1"/>
          </p:cNvSpPr>
          <p:nvPr/>
        </p:nvSpPr>
        <p:spPr>
          <a:xfrm rot="0">
            <a:off x="508000" y="2585720"/>
            <a:ext cx="11176000" cy="64008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a </a:t>
            </a:r>
            <a:r>
              <a:rPr b="0" i="0" strike="noStrike" dirty="0"/>
              <a:t>Ribbon </a:t>
            </a:r>
            <a:r>
              <a:rPr b="0" i="0" strike="noStrike" dirty="0"/>
              <a:t>Extensibility </a:t>
            </a:r>
            <a:r>
              <a:rPr b="0" i="0" strike="noStrike" dirty="0"/>
              <a:t>XML </a:t>
            </a:r>
            <a:r>
              <a:rPr b="0" i="0" strike="noStrike" dirty="0"/>
              <a:t>document </a:t>
            </a:r>
            <a:r>
              <a:rPr b="0" i="0" strike="noStrike" dirty="0"/>
              <a:t>that </a:t>
            </a:r>
            <a:r>
              <a:rPr b="0" i="0" strike="noStrike" dirty="0"/>
              <a:t>adds </a:t>
            </a:r>
            <a:r>
              <a:rPr b="0" i="0" strike="noStrike" dirty="0"/>
              <a:t>the </a:t>
            </a:r>
            <a:r>
              <a:rPr b="0" i="0" strike="noStrike" dirty="0"/>
              <a:t>two </a:t>
            </a:r>
            <a:r>
              <a:rPr b="0" i="0" strike="noStrike" dirty="0"/>
              <a:t>buttons </a:t>
            </a:r>
            <a:r>
              <a:rPr b="0" i="0" strike="noStrike" dirty="0"/>
              <a:t>to </a:t>
            </a:r>
            <a:r>
              <a:rPr b="0" i="0" strike="noStrike" dirty="0"/>
              <a:t>the </a:t>
            </a:r>
            <a:r>
              <a:rPr b="0" i="0" strike="noStrike" dirty="0"/>
              <a:t>shared </a:t>
            </a:r>
            <a:r>
              <a:rPr b="0" i="0" strike="noStrike" dirty="0"/>
              <a:t>section </a:t>
            </a:r>
            <a:r>
              <a:rPr b="0" i="0" strike="noStrike" dirty="0"/>
              <a:t>of </a:t>
            </a:r>
            <a:r>
              <a:rPr b="0" i="0" strike="noStrike" dirty="0"/>
              <a:t>the </a:t>
            </a:r>
            <a:r>
              <a:rPr b="0" i="0" strike="noStrike" dirty="0"/>
              <a:t>quick </a:t>
            </a:r>
            <a:r>
              <a:rPr b="0" i="0" strike="noStrike" dirty="0"/>
              <a:t>access </a:t>
            </a:r>
            <a:r>
              <a:rPr b="0" i="0" strike="noStrike" dirty="0"/>
              <a:t>toolbar:</a:t>
            </a:r>
          </a:p>
        </p:txBody>
      </p:sp>
      <p:pic>
        <p:nvPicPr>
          <p:cNvPr id="5" name="Picture 5" descr="Shared controls on the quick access toolbar"/>
          <p:cNvPicPr>
            <a:picLocks noChangeAspect="1"/>
          </p:cNvPicPr>
          <p:nvPr/>
        </p:nvPicPr>
        <p:blipFill>
          <a:blip r:embed="rId2">
            <a:lum/>
          </a:blip>
          <a:srcRect/>
          <a:stretch>
            <a:fillRect/>
          </a:stretch>
        </p:blipFill>
        <p:spPr>
          <a:xfrm rot="0">
            <a:off x="508000" y="3251200"/>
            <a:ext cx="3810000" cy="2540000"/>
          </a:xfrm>
          <a:prstGeom prst="rect">
            <a:avLst/>
          </a:prstGeom>
          <a:ln>
            <a:headEnd type="none"/>
            <a:tailEnd type="none"/>
          </a:ln>
        </p:spPr>
      </p:pic>
      <p:sp>
        <p:nvSpPr>
          <p:cNvPr id="6" name="TextBox6"/>
          <p:cNvSpPr txBox="1">
            <a:spLocks noChangeArrowheads="1"/>
          </p:cNvSpPr>
          <p:nvPr/>
        </p:nvSpPr>
        <p:spPr>
          <a:xfrm rot="0">
            <a:off x="508000" y="581660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22: </a:t>
            </a:r>
            <a:r>
              <a:rPr b="1" i="0" strike="noStrike" dirty="0"/>
              <a:t>Shared </a:t>
            </a:r>
            <a:r>
              <a:rPr b="1" i="0" strike="noStrike" dirty="0"/>
              <a:t>controls </a:t>
            </a:r>
            <a:r>
              <a:rPr b="1" i="0" strike="noStrike" dirty="0"/>
              <a:t>on </a:t>
            </a:r>
            <a:r>
              <a:rPr b="1" i="0" strike="noStrike" dirty="0"/>
              <a:t>the </a:t>
            </a:r>
            <a:r>
              <a:rPr b="1" i="0" strike="noStrike" dirty="0"/>
              <a:t>quick </a:t>
            </a:r>
            <a:r>
              <a:rPr b="1" i="0" strike="noStrike" dirty="0"/>
              <a:t>access </a:t>
            </a:r>
            <a:r>
              <a:rPr b="1" i="0" strike="noStrike" dirty="0"/>
              <a:t>toolbar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specified </a:t>
            </a:r>
            <a:r>
              <a:rPr b="0" i="0" strike="noStrike" dirty="0"/>
              <a:t>using </a:t>
            </a:r>
            <a:r>
              <a:rPr b="0" i="0" strike="noStrike" dirty="0"/>
              <a:t>the </a:t>
            </a:r>
            <a:r>
              <a:rPr b="0" i="0" strike="noStrike" dirty="0"/>
              <a:t>following </a:t>
            </a:r>
            <a:r>
              <a:rPr b="0" i="0" strike="noStrike" dirty="0"/>
              <a:t>XML </a:t>
            </a:r>
            <a:r>
              <a:rPr b="0" i="0" strike="noStrike" dirty="0"/>
              <a:t>fragment: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&lt;qat&gt;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&lt;sharedControls&gt;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id="button1" </a:t>
            </a:r>
            <a:r>
              <a:rPr b="0" i="0" strike="noStrike" dirty="0"/>
              <a:t>imageMso="HappyFace" </a:t>
            </a:r>
            <a:r>
              <a:rPr b="0" i="0" strike="noStrike" dirty="0"/>
              <a:t>/&gt;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idMso="Cut" </a:t>
            </a:r>
            <a:r>
              <a:rPr b="0" i="0" strike="noStrike" dirty="0"/>
              <a:t>/&gt;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&lt;/sharedControls&gt;</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0" i="0" strike="noStrike" dirty="0"/>
              <a:t>&lt;/qat&gt;</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10" name="Table 10"/>
          <p:cNvGraphicFramePr/>
          <p:nvPr/>
        </p:nvGraphicFramePr>
        <p:xfrm rot="0">
          <a:off x="508000" y="327152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qat</a:t>
                      </a:r>
                    </a:p>
                    <a:p>
                      <a:pPr defTabSz="914400"/>
                      <a:r>
                        <a:rPr b="0" i="0" strike="noStrike" dirty="0"/>
                        <a:t> (section </a:t>
                      </a:r>
                      <a:endParaRPr b="1" i="0" strike="noStrike" dirty="0"/>
                    </a:p>
                    <a:p>
                      <a:pPr defTabSz="914400"/>
                      <a:r>
                        <a:rPr/>
                        <a:t>2.2.32</a:t>
                      </a:r>
                      <a:endParaRPr b="1" i="0" strike="noStrike" dirty="0"/>
                    </a:p>
                    <a:p>
                      <a:pPr defTabSz="914400"/>
                      <a:r>
                        <a:rPr b="0" i="0" strike="noStrike" dirty="0"/>
                        <a:t>)</a:t>
                      </a:r>
                      <a:endParaRPr b="1" i="0" strike="noStrike" dirty="0"/>
                    </a:p>
                  </a:txBody>
                  <a:tcPr horzOverflow="overflow"/>
                </a:tc>
              </a:tr>
            </a:tbl>
          </a:graphicData>
        </a:graphic>
      </p:graphicFrame>
      <p:sp>
        <p:nvSpPr>
          <p:cNvPr id="11" name="TextBox11"/>
          <p:cNvSpPr txBox="1">
            <a:spLocks noChangeArrowheads="1"/>
          </p:cNvSpPr>
          <p:nvPr/>
        </p:nvSpPr>
        <p:spPr>
          <a:xfrm rot="0">
            <a:off x="508000" y="43383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12" name="Table 12"/>
          <p:cNvGraphicFramePr/>
          <p:nvPr/>
        </p:nvGraphicFramePr>
        <p:xfrm rot="0">
          <a:off x="508000" y="4683760"/>
          <a:ext cx="11176000" cy="152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button</a:t>
                      </a:r>
                    </a:p>
                    <a:p>
                      <a:pPr defTabSz="914400"/>
                      <a:r>
                        <a:rPr b="0" i="0" strike="noStrike" dirty="0"/>
                        <a:t> (Unsized Button)</a:t>
                      </a:r>
                      <a:endParaRPr b="1" i="0" strike="noStrike" dirty="0"/>
                    </a:p>
                  </a:txBody>
                  <a:tcPr horzOverflow="overflow"/>
                </a:tc>
                <a:tc>
                  <a:txBody>
                    <a:bodyPr/>
                    <a:lstStyle/>
                    <a:p>
                      <a:pPr algn="l" defTabSz="914400"/>
                      <a:r>
                        <a:rPr/>
                        <a:t>2.2.3</a:t>
                      </a:r>
                    </a:p>
                  </a:txBody>
                  <a:tcPr horzOverflow="overflow"/>
                </a:tc>
              </a:tr>
              <a:tr h="508000">
                <a:tc>
                  <a:txBody>
                    <a:bodyPr/>
                    <a:lstStyle/>
                    <a:p>
                      <a:pPr algn="l" defTabSz="914400"/>
                      <a:r>
                        <a:rPr b="1" i="0" strike="noStrike" dirty="0"/>
                        <a:t>control</a:t>
                      </a:r>
                    </a:p>
                    <a:p>
                      <a:pPr defTabSz="914400"/>
                      <a:r>
                        <a:rPr b="0" i="0" strike="noStrike" dirty="0"/>
                        <a:t> (Quick Access Toolbar Control Clone)</a:t>
                      </a:r>
                      <a:endParaRPr b="1" i="0" strike="noStrike" dirty="0"/>
                    </a:p>
                  </a:txBody>
                  <a:tcPr horzOverflow="overflow"/>
                </a:tc>
                <a:tc>
                  <a:txBody>
                    <a:bodyPr/>
                    <a:lstStyle/>
                    <a:p>
                      <a:pPr algn="l" defTabSz="914400"/>
                      <a:r>
                        <a:rPr/>
                        <a:t>2.2.13</a:t>
                      </a:r>
                    </a:p>
                  </a:txBody>
                  <a:tcPr horzOverflow="overflow"/>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101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separator</a:t>
                      </a:r>
                    </a:p>
                    <a:p>
                      <a:pPr defTabSz="914400"/>
                      <a:r>
                        <a:rPr b="0" i="0" strike="noStrike" dirty="0"/>
                        <a:t> (Separator)</a:t>
                      </a:r>
                      <a:endParaRPr b="1" i="0" strike="noStrike" dirty="0"/>
                    </a:p>
                  </a:txBody>
                  <a:tcPr horzOverflow="overflow"/>
                </a:tc>
                <a:tc>
                  <a:txBody>
                    <a:bodyPr/>
                    <a:lstStyle/>
                    <a:p>
                      <a:pPr algn="l" defTabSz="914400"/>
                      <a:r>
                        <a:rPr/>
                        <a:t>2.2.34</a:t>
                      </a:r>
                    </a:p>
                  </a:txBody>
                  <a:tcPr horzOverflow="overflow"/>
                </a:tc>
              </a:tr>
            </a:tbl>
          </a:graphicData>
        </a:graphic>
      </p:graphicFrame>
      <p:sp>
        <p:nvSpPr>
          <p:cNvPr id="3" name="TextBox3"/>
          <p:cNvSpPr txBox="1">
            <a:spLocks noChangeArrowheads="1"/>
          </p:cNvSpPr>
          <p:nvPr/>
        </p:nvSpPr>
        <p:spPr>
          <a:xfrm rot="0">
            <a:off x="508000" y="1574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1920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name="CT_QatItems"&gt;</a:t>
            </a:r>
          </a:p>
        </p:txBody>
      </p:sp>
      <p:sp>
        <p:nvSpPr>
          <p:cNvPr id="5" name="TextBox5"/>
          <p:cNvSpPr txBox="1">
            <a:spLocks noChangeArrowheads="1"/>
          </p:cNvSpPr>
          <p:nvPr/>
        </p:nvSpPr>
        <p:spPr>
          <a:xfrm rot="0">
            <a:off x="508000" y="226568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6" name="TextBox6"/>
          <p:cNvSpPr txBox="1">
            <a:spLocks noChangeArrowheads="1"/>
          </p:cNvSpPr>
          <p:nvPr/>
        </p:nvSpPr>
        <p:spPr>
          <a:xfrm rot="0">
            <a:off x="508000" y="2611120"/>
            <a:ext cx="11176000" cy="320040"/>
          </a:xfrm>
          <a:prstGeom prst="rect">
            <a:avLst/>
          </a:prstGeom>
          <a:ln>
            <a:headEnd type="none"/>
            <a:tailEnd type="none"/>
          </a:ln>
        </p:spPr>
        <p:txBody>
          <a:bodyPr wrap="square">
            <a:spAutoFit/>
          </a:bodyPr>
          <a:lstStyle/>
          <a:p>
            <a:pPr algn="l" defTabSz="914400"/>
            <a:r>
              <a:rPr b="0" i="0" strike="noStrike" dirty="0"/>
              <a:t>&lt;xsd:choice </a:t>
            </a:r>
            <a:r>
              <a:rPr b="0" i="0" strike="noStrike" dirty="0"/>
              <a:t>minOccurs="0" </a:t>
            </a:r>
            <a:r>
              <a:rPr b="0" i="0" strike="noStrike" dirty="0"/>
              <a:t>maxOccurs="1000"&gt;</a:t>
            </a:r>
          </a:p>
        </p:txBody>
      </p:sp>
      <p:sp>
        <p:nvSpPr>
          <p:cNvPr id="7" name="TextBox7"/>
          <p:cNvSpPr txBox="1">
            <a:spLocks noChangeArrowheads="1"/>
          </p:cNvSpPr>
          <p:nvPr/>
        </p:nvSpPr>
        <p:spPr>
          <a:xfrm rot="0">
            <a:off x="508000" y="295656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name="control" </a:t>
            </a:r>
            <a:r>
              <a:rPr b="0" i="0" strike="noStrike" dirty="0"/>
              <a:t>type="CT_ControlCloneQat"/&gt;</a:t>
            </a:r>
          </a:p>
        </p:txBody>
      </p:sp>
      <p:sp>
        <p:nvSpPr>
          <p:cNvPr id="8" name="TextBox8"/>
          <p:cNvSpPr txBox="1">
            <a:spLocks noChangeArrowheads="1"/>
          </p:cNvSpPr>
          <p:nvPr/>
        </p:nvSpPr>
        <p:spPr>
          <a:xfrm rot="0">
            <a:off x="508000" y="330200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name="button" </a:t>
            </a:r>
            <a:r>
              <a:rPr b="0" i="0" strike="noStrike" dirty="0"/>
              <a:t>type="CT_ButtonRegular"/&gt;</a:t>
            </a:r>
          </a:p>
        </p:txBody>
      </p:sp>
      <p:sp>
        <p:nvSpPr>
          <p:cNvPr id="9" name="TextBox9"/>
          <p:cNvSpPr txBox="1">
            <a:spLocks noChangeArrowheads="1"/>
          </p:cNvSpPr>
          <p:nvPr/>
        </p:nvSpPr>
        <p:spPr>
          <a:xfrm rot="0">
            <a:off x="508000" y="3647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name="separator" </a:t>
            </a:r>
            <a:r>
              <a:rPr b="0" i="0" strike="noStrike" dirty="0"/>
              <a:t>type="CT_Separator"/&gt;</a:t>
            </a:r>
          </a:p>
        </p:txBody>
      </p:sp>
      <p:sp>
        <p:nvSpPr>
          <p:cNvPr id="10" name="TextBox10"/>
          <p:cNvSpPr txBox="1">
            <a:spLocks noChangeArrowheads="1"/>
          </p:cNvSpPr>
          <p:nvPr/>
        </p:nvSpPr>
        <p:spPr>
          <a:xfrm rot="0">
            <a:off x="508000" y="3992880"/>
            <a:ext cx="11176000" cy="320040"/>
          </a:xfrm>
          <a:prstGeom prst="rect">
            <a:avLst/>
          </a:prstGeom>
          <a:ln>
            <a:headEnd type="none"/>
            <a:tailEnd type="none"/>
          </a:ln>
        </p:spPr>
        <p:txBody>
          <a:bodyPr wrap="square">
            <a:spAutoFit/>
          </a:bodyPr>
          <a:lstStyle/>
          <a:p>
            <a:pPr algn="l" defTabSz="914400"/>
            <a:r>
              <a:rPr b="0" i="0" strike="noStrike" dirty="0"/>
              <a:t>&lt;/xsd:choice&gt;</a:t>
            </a:r>
          </a:p>
        </p:txBody>
      </p:sp>
      <p:sp>
        <p:nvSpPr>
          <p:cNvPr id="11" name="TextBox11"/>
          <p:cNvSpPr txBox="1">
            <a:spLocks noChangeArrowheads="1"/>
          </p:cNvSpPr>
          <p:nvPr/>
        </p:nvSpPr>
        <p:spPr>
          <a:xfrm rot="0">
            <a:off x="508000" y="433832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12" name="TextBox12"/>
          <p:cNvSpPr txBox="1">
            <a:spLocks noChangeArrowheads="1"/>
          </p:cNvSpPr>
          <p:nvPr/>
        </p:nvSpPr>
        <p:spPr>
          <a:xfrm rot="0">
            <a:off x="508000" y="468376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13" name="TextBox13"/>
          <p:cNvSpPr txBox="1">
            <a:spLocks noChangeArrowheads="1"/>
          </p:cNvSpPr>
          <p:nvPr/>
        </p:nvSpPr>
        <p:spPr>
          <a:xfrm rot="0">
            <a:off x="508000" y="5029200"/>
            <a:ext cx="11176000" cy="853440"/>
          </a:xfrm>
          <a:prstGeom prst="rect">
            <a:avLst/>
          </a:prstGeom>
          <a:ln>
            <a:headEnd type="none"/>
            <a:tailEnd type="none"/>
          </a:ln>
        </p:spPr>
        <p:txBody>
          <a:bodyPr wrap="square">
            <a:spAutoFit/>
          </a:bodyPr>
          <a:lstStyle/>
          <a:p>
            <a:pPr algn="l" defTabSz="914400">
              <a:defRPr sz="2400" b="1" dirty="0"/>
            </a:pPr>
            <a:r>
              <a:rPr b="1" i="0" strike="noStrike" dirty="0"/>
              <a:t>splitButton </a:t>
            </a:r>
            <a:r>
              <a:rPr b="1" i="0" strike="noStrike" dirty="0"/>
              <a:t>(Unsized </a:t>
            </a:r>
            <a:r>
              <a:rPr b="1" i="0" strike="noStrike" dirty="0"/>
              <a:t>Split </a:t>
            </a:r>
            <a:r>
              <a:rPr b="1" i="0" strike="noStrike" dirty="0"/>
              <a:t>Button) </a:t>
            </a:r>
            <a:r>
              <a:rPr b="1" i="0" strike="noStrike" dirty="0"/>
              <a:t>XE </a:t>
            </a:r>
            <a:r>
              <a:rPr b="1" i="0" strike="noStrike" dirty="0"/>
              <a:t>"Elements:splitButton </a:t>
            </a:r>
            <a:r>
              <a:rPr b="1" i="0" strike="noStrike" dirty="0"/>
              <a:t>(unsized </a:t>
            </a:r>
            <a:r>
              <a:rPr b="1" i="0" strike="noStrike" dirty="0"/>
              <a:t>split </a:t>
            </a:r>
            <a:r>
              <a:rPr b="1" i="0" strike="noStrike" dirty="0"/>
              <a:t>button)"</a:t>
            </a:r>
          </a:p>
        </p:txBody>
      </p:sp>
      <p:sp>
        <p:nvSpPr>
          <p:cNvPr id="14" name="TextBox14"/>
          <p:cNvSpPr txBox="1">
            <a:spLocks noChangeArrowheads="1"/>
          </p:cNvSpPr>
          <p:nvPr/>
        </p:nvSpPr>
        <p:spPr>
          <a:xfrm rot="0">
            <a:off x="508000" y="59080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split </a:t>
            </a:r>
            <a:r>
              <a:rPr b="0" i="0" strike="noStrike" dirty="0"/>
              <a:t>button </a:t>
            </a:r>
            <a:r>
              <a:rPr b="0" i="0" strike="noStrike" dirty="0"/>
              <a:t>control </a:t>
            </a:r>
            <a:r>
              <a:rPr b="0" i="0" strike="noStrike" dirty="0"/>
              <a:t>that, </a:t>
            </a:r>
            <a:r>
              <a:rPr b="0" i="0" strike="noStrike" dirty="0"/>
              <a:t>because </a:t>
            </a:r>
            <a:r>
              <a:rPr b="0" i="0" strike="noStrike" dirty="0"/>
              <a:t>of </a:t>
            </a:r>
            <a:r>
              <a:rPr b="0" i="0" strike="noStrike" dirty="0"/>
              <a:t>its </a:t>
            </a:r>
            <a:r>
              <a:rPr b="0" i="0" strike="noStrike" dirty="0"/>
              <a:t>location, </a:t>
            </a:r>
            <a:r>
              <a:rPr b="0" i="0" strike="noStrike" dirty="0"/>
              <a:t>cannot </a:t>
            </a:r>
            <a:r>
              <a:rPr b="0" i="0" strike="noStrike" dirty="0"/>
              <a:t>have </a:t>
            </a:r>
            <a:r>
              <a:rPr b="0" i="0" strike="noStrike" dirty="0"/>
              <a:t>its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b="0" i="0" strike="noStrike" dirty="0"/>
              <a:t>size </a:t>
            </a:r>
            <a:r>
              <a:rPr b="0" i="0" strike="noStrike" dirty="0"/>
              <a:t>changed. </a:t>
            </a:r>
            <a:r>
              <a:rPr b="0" i="0" strike="noStrike" dirty="0"/>
              <a:t>The </a:t>
            </a:r>
            <a:r>
              <a:rPr b="1" i="0" strike="noStrike" dirty="0"/>
              <a:t>size</a:t>
            </a:r>
            <a:r>
              <a:rPr b="0" i="0" strike="noStrike" dirty="0"/>
              <a:t> </a:t>
            </a:r>
            <a:r>
              <a:rPr b="0" i="0" strike="noStrike" dirty="0"/>
              <a:t>attribute </a:t>
            </a:r>
            <a:r>
              <a:rPr b="0" i="0" strike="noStrike" dirty="0"/>
              <a:t>is </a:t>
            </a:r>
            <a:r>
              <a:rPr b="0" i="0" strike="noStrike" dirty="0"/>
              <a:t>not </a:t>
            </a:r>
            <a:r>
              <a:rPr b="0" i="0" strike="noStrike" dirty="0"/>
              <a:t>present. </a:t>
            </a:r>
            <a:r>
              <a:rPr b="0" i="0" strike="noStrike" dirty="0"/>
              <a:t>It </a:t>
            </a:r>
            <a:r>
              <a:rPr b="0" i="0" strike="noStrike" dirty="0"/>
              <a:t>otherwise </a:t>
            </a:r>
            <a:r>
              <a:rPr b="0" i="0" strike="noStrike" dirty="0"/>
              <a:t>behaves </a:t>
            </a:r>
            <a:r>
              <a:rPr b="0" i="0" strike="noStrike" dirty="0"/>
              <a:t>identically </a:t>
            </a:r>
            <a:r>
              <a:rPr b="0" i="0" strike="noStrike" dirty="0"/>
              <a:t>to </a:t>
            </a:r>
            <a:r>
              <a:rPr b="0" i="0" strike="noStrike" dirty="0"/>
              <a:t>the </a:t>
            </a:r>
            <a:r>
              <a:rPr b="0" i="0" strike="noStrike" dirty="0"/>
              <a:t>regular </a:t>
            </a:r>
            <a:r>
              <a:rPr b="1" i="0" strike="noStrike" dirty="0"/>
              <a:t>splitButton</a:t>
            </a:r>
            <a:r>
              <a:rPr b="0" i="0" strike="noStrike" dirty="0"/>
              <a:t> </a:t>
            </a:r>
            <a:r>
              <a:rPr b="0" i="0" strike="noStrike" dirty="0"/>
              <a:t>element, </a:t>
            </a:r>
            <a:r>
              <a:rPr b="0" i="0" strike="noStrike" dirty="0"/>
              <a:t>as </a:t>
            </a:r>
            <a:r>
              <a:rPr b="0" i="0" strike="noStrike" dirty="0"/>
              <a:t>specified </a:t>
            </a:r>
            <a:r>
              <a:rPr b="0" i="0" strike="noStrike" dirty="0"/>
              <a:t>in </a:t>
            </a:r>
            <a:r>
              <a:rPr b="0" i="0" strike="noStrike" dirty="0"/>
              <a:t>section </a:t>
            </a:r>
            <a:r>
              <a:rPr/>
              <a:t>2.2.38</a:t>
            </a:r>
            <a:r>
              <a:rPr b="0" i="0" strike="noStrike" dirty="0"/>
              <a:t>.</a:t>
            </a:r>
          </a:p>
        </p:txBody>
      </p:sp>
      <p:sp>
        <p:nvSpPr>
          <p:cNvPr id="3" name="TextBox3"/>
          <p:cNvSpPr txBox="1">
            <a:spLocks noChangeArrowheads="1"/>
          </p:cNvSpPr>
          <p:nvPr/>
        </p:nvSpPr>
        <p:spPr>
          <a:xfrm rot="0">
            <a:off x="508000" y="117348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4" name="Table 4"/>
          <p:cNvGraphicFramePr/>
          <p:nvPr/>
        </p:nvGraphicFramePr>
        <p:xfrm rot="0">
          <a:off x="508000" y="151892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buttonGroup</a:t>
                      </a:r>
                    </a:p>
                    <a:p>
                      <a:pPr defTabSz="914400"/>
                      <a:r>
                        <a:rPr b="0" i="0" strike="noStrike" dirty="0"/>
                        <a:t> (section </a:t>
                      </a:r>
                      <a:endParaRPr b="1" i="0" strike="noStrike" dirty="0"/>
                    </a:p>
                    <a:p>
                      <a:pPr defTabSz="914400"/>
                      <a:r>
                        <a:rPr/>
                        <a:t>2.2.5</a:t>
                      </a:r>
                      <a:endParaRPr b="1" i="0" strike="noStrike" dirty="0"/>
                    </a:p>
                    <a:p>
                      <a:pPr defTabSz="914400"/>
                      <a:r>
                        <a:rPr b="0" i="0" strike="noStrike" dirty="0"/>
                        <a:t>); </a:t>
                      </a:r>
                      <a:endParaRPr b="1" i="0" strike="noStrike" dirty="0"/>
                    </a:p>
                    <a:p>
                      <a:pPr defTabSz="914400"/>
                      <a:r>
                        <a:rPr b="1" i="0" strike="noStrike" dirty="0"/>
                        <a:t>menu</a:t>
                      </a:r>
                      <a:endParaRPr b="1" i="0" strike="noStrike" dirty="0"/>
                    </a:p>
                    <a:p>
                      <a:pPr defTabSz="914400"/>
                      <a:r>
                        <a:rPr b="0" i="0" strike="noStrike" dirty="0"/>
                        <a:t> (section </a:t>
                      </a:r>
                      <a:endParaRPr b="1" i="0" strike="noStrike" dirty="0"/>
                    </a:p>
                    <a:p>
                      <a:pPr defTabSz="914400"/>
                      <a:r>
                        <a:rPr/>
                        <a:t>2.2.28</a:t>
                      </a:r>
                      <a:endParaRPr b="1" i="0" strike="noStrike" dirty="0"/>
                    </a:p>
                    <a:p>
                      <a:pPr defTabSz="914400"/>
                      <a:r>
                        <a:rPr b="0" i="0" strike="noStrike" dirty="0"/>
                        <a:t>); </a:t>
                      </a:r>
                      <a:endParaRPr b="1" i="0" strike="noStrike" dirty="0"/>
                    </a:p>
                    <a:p>
                      <a:pPr defTabSz="914400"/>
                      <a:r>
                        <a:rPr b="1" i="0" strike="noStrike" dirty="0"/>
                        <a:t>menu</a:t>
                      </a:r>
                      <a:endParaRPr b="1" i="0" strike="noStrike" dirty="0"/>
                    </a:p>
                    <a:p>
                      <a:pPr defTabSz="914400"/>
                      <a:r>
                        <a:rPr b="0" i="0" strike="noStrike" dirty="0"/>
                        <a:t> (section </a:t>
                      </a:r>
                      <a:endParaRPr b="1" i="0" strike="noStrike" dirty="0"/>
                    </a:p>
                    <a:p>
                      <a:pPr defTabSz="914400"/>
                      <a:r>
                        <a:rPr/>
                        <a:t>2.2.26</a:t>
                      </a:r>
                      <a:endParaRPr b="1" i="0" strike="noStrike" dirty="0"/>
                    </a:p>
                    <a:p>
                      <a:pPr defTabSz="914400"/>
                      <a:r>
                        <a:rPr b="0" i="0" strike="noStrike" dirty="0"/>
                        <a:t>); </a:t>
                      </a:r>
                      <a:endParaRPr b="1" i="0" strike="noStrike" dirty="0"/>
                    </a:p>
                    <a:p>
                      <a:pPr defTabSz="914400"/>
                      <a:r>
                        <a:rPr b="1" i="0" strike="noStrike" dirty="0"/>
                        <a:t>menu</a:t>
                      </a:r>
                      <a:endParaRPr b="1" i="0" strike="noStrike" dirty="0"/>
                    </a:p>
                    <a:p>
                      <a:pPr defTabSz="914400"/>
                      <a:r>
                        <a:rPr b="0" i="0" strike="noStrike" dirty="0"/>
                        <a:t> (section </a:t>
                      </a:r>
                      <a:endParaRPr b="1" i="0" strike="noStrike" dirty="0"/>
                    </a:p>
                    <a:p>
                      <a:pPr defTabSz="914400"/>
                      <a:r>
                        <a:rPr/>
                        <a:t>2.2.29</a:t>
                      </a:r>
                      <a:endParaRPr b="1" i="0" strike="noStrike" dirty="0"/>
                    </a:p>
                    <a:p>
                      <a:pPr defTabSz="914400"/>
                      <a:r>
                        <a:rPr b="0" i="0" strike="noStrike" dirty="0"/>
                        <a:t>)</a:t>
                      </a:r>
                      <a:endParaRPr b="1" i="0" strike="noStrike" dirty="0"/>
                    </a:p>
                  </a:txBody>
                  <a:tcPr horzOverflow="overflow"/>
                </a:tc>
              </a:tr>
            </a:tbl>
          </a:graphicData>
        </a:graphic>
      </p:graphicFrame>
      <p:sp>
        <p:nvSpPr>
          <p:cNvPr id="5" name="TextBox5"/>
          <p:cNvSpPr txBox="1">
            <a:spLocks noChangeArrowheads="1"/>
          </p:cNvSpPr>
          <p:nvPr/>
        </p:nvSpPr>
        <p:spPr>
          <a:xfrm rot="0">
            <a:off x="508000" y="25857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6" name="Table 6"/>
          <p:cNvGraphicFramePr/>
          <p:nvPr/>
        </p:nvGraphicFramePr>
        <p:xfrm rot="0">
          <a:off x="508000" y="2931160"/>
          <a:ext cx="11176000" cy="203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button</a:t>
                      </a:r>
                    </a:p>
                    <a:p>
                      <a:pPr defTabSz="914400"/>
                      <a:r>
                        <a:rPr b="0" i="0" strike="noStrike" dirty="0"/>
                        <a:t> (Button Inside of a Split Button)</a:t>
                      </a:r>
                      <a:endParaRPr b="1" i="0" strike="noStrike" dirty="0"/>
                    </a:p>
                  </a:txBody>
                  <a:tcPr horzOverflow="overflow"/>
                </a:tc>
                <a:tc>
                  <a:txBody>
                    <a:bodyPr/>
                    <a:lstStyle/>
                    <a:p>
                      <a:pPr algn="l" defTabSz="914400"/>
                      <a:r>
                        <a:rPr/>
                        <a:t>2.2.4</a:t>
                      </a:r>
                    </a:p>
                  </a:txBody>
                  <a:tcPr horzOverflow="overflow"/>
                </a:tc>
              </a:tr>
              <a:tr h="508000">
                <a:tc>
                  <a:txBody>
                    <a:bodyPr/>
                    <a:lstStyle/>
                    <a:p>
                      <a:pPr algn="l" defTabSz="914400"/>
                      <a:r>
                        <a:rPr b="1" i="0" strike="noStrike" dirty="0"/>
                        <a:t>menu</a:t>
                      </a:r>
                    </a:p>
                    <a:p>
                      <a:pPr defTabSz="914400"/>
                      <a:r>
                        <a:rPr b="0" i="0" strike="noStrike" dirty="0"/>
                        <a:t> (Unsized Menu)</a:t>
                      </a:r>
                      <a:endParaRPr b="1" i="0" strike="noStrike" dirty="0"/>
                    </a:p>
                  </a:txBody>
                  <a:tcPr horzOverflow="overflow"/>
                </a:tc>
                <a:tc>
                  <a:txBody>
                    <a:bodyPr/>
                    <a:lstStyle/>
                    <a:p>
                      <a:pPr algn="l" defTabSz="914400"/>
                      <a:r>
                        <a:rPr b="0" i="0" strike="noStrike" dirty="0"/>
                        <a:t>2.2.26</a:t>
                      </a:r>
                    </a:p>
                  </a:txBody>
                  <a:tcPr horzOverflow="overflow"/>
                </a:tc>
              </a:tr>
              <a:tr h="508000">
                <a:tc>
                  <a:txBody>
                    <a:bodyPr/>
                    <a:lstStyle/>
                    <a:p>
                      <a:pPr algn="l" defTabSz="914400"/>
                      <a:r>
                        <a:rPr b="1" i="0" strike="noStrike" dirty="0"/>
                        <a:t>toggleButton</a:t>
                      </a:r>
                    </a:p>
                    <a:p>
                      <a:pPr defTabSz="914400"/>
                      <a:r>
                        <a:rPr b="0" i="0" strike="noStrike" dirty="0"/>
                        <a:t> (Toggle Button Inside of a Split Button)</a:t>
                      </a:r>
                      <a:endParaRPr b="1" i="0" strike="noStrike" dirty="0"/>
                    </a:p>
                  </a:txBody>
                  <a:tcPr horzOverflow="overflow"/>
                </a:tc>
                <a:tc>
                  <a:txBody>
                    <a:bodyPr/>
                    <a:lstStyle/>
                    <a:p>
                      <a:pPr algn="l" defTabSz="914400"/>
                      <a:r>
                        <a:rPr/>
                        <a:t>2.2.44</a:t>
                      </a:r>
                    </a:p>
                  </a:txBody>
                  <a:tcPr horzOverflow="overflow"/>
                </a:tc>
              </a:tr>
            </a:tbl>
          </a:graphicData>
        </a:graphic>
      </p:graphicFrame>
      <p:sp>
        <p:nvSpPr>
          <p:cNvPr id="7" name="TextBox7"/>
          <p:cNvSpPr txBox="1">
            <a:spLocks noChangeArrowheads="1"/>
          </p:cNvSpPr>
          <p:nvPr/>
        </p:nvSpPr>
        <p:spPr>
          <a:xfrm rot="0">
            <a:off x="508000" y="501396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enabled</a:t>
                      </a:r>
                    </a:p>
                    <a:p>
                      <a:pPr defTabSz="914400"/>
                      <a:r>
                        <a:rPr b="0" i="0" strike="noStrike" dirty="0"/>
                        <a:t> (enabled state)</a:t>
                      </a:r>
                      <a:endParaRPr b="1" i="0" strike="noStrike" dirty="0"/>
                    </a:p>
                  </a:txBody>
                  <a:tcPr horzOverflow="overflow"/>
                </a:tc>
                <a:tc>
                  <a:txBody>
                    <a:bodyPr/>
                    <a:lstStyle/>
                    <a:p>
                      <a:pPr algn="l" defTabSz="914400"/>
                      <a:r>
                        <a:rPr b="0" i="0" strike="noStrike" dirty="0"/>
                        <a:t>Specifies the enabled state of the control. The </a:t>
                      </a:r>
                    </a:p>
                    <a:p>
                      <a:pPr defTabSz="914400"/>
                      <a:r>
                        <a:rPr b="1" i="0" strike="noStrike" dirty="0"/>
                        <a:t>getEnabled</a:t>
                      </a:r>
                      <a:endParaRPr b="0" i="0" strike="noStrike" dirty="0"/>
                    </a:p>
                    <a:p>
                      <a:pPr defTabSz="914400"/>
                      <a:r>
                        <a:rPr b="0" i="0" strike="noStrike" dirty="0"/>
                        <a:t> and </a:t>
                      </a:r>
                      <a:endParaRPr b="0" i="0" strike="noStrike" dirty="0"/>
                    </a:p>
                    <a:p>
                      <a:pPr defTabSz="914400"/>
                      <a:r>
                        <a:rPr b="1" i="0" strike="noStrike" dirty="0"/>
                        <a:t>enabled</a:t>
                      </a:r>
                      <a:endParaRPr b="0" i="0" strike="noStrike" dirty="0"/>
                    </a:p>
                    <a:p>
                      <a:pPr defTabSz="914400"/>
                      <a:r>
                        <a:rPr b="0" i="0" strike="noStrike" dirty="0"/>
                        <a:t> attributes are mutually exclusive. If neither attribute is specified, the control SHOULD default to being enabled. This attribute cannot be used to enable a built-in control that would otherwise be disabled by the application. For example, consider the following XML fragment: &lt;button id="button" label="Disabled Button" enabled="false" /&gt; This specifies a new button that is disabled. A permanently disabled button is not very useful, thus the </a:t>
                      </a:r>
                      <a:endParaRPr b="0" i="0" strike="noStrike" dirty="0"/>
                    </a:p>
                    <a:p>
                      <a:pPr defTabSz="914400"/>
                      <a:r>
                        <a:rPr b="1" i="0" strike="noStrike" dirty="0"/>
                        <a:t>enabled</a:t>
                      </a:r>
                      <a:endParaRPr b="0" i="0" strike="noStrike" dirty="0"/>
                    </a:p>
                    <a:p>
                      <a:pPr defTabSz="914400"/>
                      <a:r>
                        <a:rPr b="0" i="0" strike="noStrike" dirty="0"/>
                        <a:t> attribute is not commonly used.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getEnabled</a:t>
                      </a:r>
                    </a:p>
                    <a:p>
                      <a:pPr defTabSz="914400"/>
                      <a:r>
                        <a:rPr b="0" i="0" strike="noStrike" dirty="0"/>
                        <a:t> ( </a:t>
                      </a:r>
                      <a:endParaRPr b="1" i="0" strike="noStrike" dirty="0"/>
                    </a:p>
                    <a:p>
                      <a:pPr defTabSz="914400"/>
                      <a:r>
                        <a:rPr b="1" i="0" strike="noStrike" dirty="0"/>
                        <a:t>getEnabled</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enabled state of this control. The </a:t>
                      </a:r>
                    </a:p>
                    <a:p>
                      <a:pPr defTabSz="914400"/>
                      <a:r>
                        <a:rPr b="1" i="0" strike="noStrike" dirty="0"/>
                        <a:t>getEnabled</a:t>
                      </a:r>
                      <a:endParaRPr b="0" i="0" strike="noStrike" dirty="0"/>
                    </a:p>
                    <a:p>
                      <a:pPr defTabSz="914400"/>
                      <a:r>
                        <a:rPr b="0" i="0" strike="noStrike" dirty="0"/>
                        <a:t> and </a:t>
                      </a:r>
                      <a:endParaRPr b="0" i="0" strike="noStrike" dirty="0"/>
                    </a:p>
                    <a:p>
                      <a:pPr defTabSz="914400"/>
                      <a:r>
                        <a:rPr b="1" i="0" strike="noStrike" dirty="0"/>
                        <a:t>enabled</a:t>
                      </a:r>
                      <a:endParaRPr b="0" i="0" strike="noStrike" dirty="0"/>
                    </a:p>
                    <a:p>
                      <a:pPr defTabSz="914400"/>
                      <a:r>
                        <a:rPr b="0" i="0" strike="noStrike" dirty="0"/>
                        <a:t> attributes are mutually exclusive. If neither attribute is specified, the control SHOULD default to being enabled. For example, consider the following XML fragment: &lt;button id="button" getEnabled="IsButtonEnabled" /&gt; In this example, the </a:t>
                      </a:r>
                      <a:endParaRPr b="0" i="0" strike="noStrike" dirty="0"/>
                    </a:p>
                    <a:p>
                      <a:pPr defTabSz="914400"/>
                      <a:r>
                        <a:rPr b="1" i="0" strike="noStrike" dirty="0"/>
                        <a:t>IsButtonEnabled</a:t>
                      </a:r>
                      <a:endParaRPr b="0" i="0" strike="noStrike" dirty="0"/>
                    </a:p>
                    <a:p>
                      <a:pPr defTabSz="914400"/>
                      <a:r>
                        <a:rPr b="0" i="0" strike="noStrike" dirty="0"/>
                        <a:t> callback function is called when the application needs to determine the enabled state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a:t>
                      </a:r>
                      <a:endParaRPr b="0" i="0" strike="noStrike" dirty="0"/>
                    </a:p>
                    <a:p>
                      <a:pPr defTabSz="914400"/>
                      <a:r>
                        <a:rPr/>
                        <a:t>2.3.2</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getImage</a:t>
                      </a:r>
                    </a:p>
                    <a:p>
                      <a:pPr defTabSz="914400"/>
                      <a:r>
                        <a:rPr b="0" i="0" strike="noStrike" dirty="0"/>
                        <a:t> ( </a:t>
                      </a:r>
                      <a:endParaRPr b="1" i="0" strike="noStrike" dirty="0"/>
                    </a:p>
                    <a:p>
                      <a:pPr defTabSz="914400"/>
                      <a:r>
                        <a:rPr b="1" i="0" strike="noStrike" dirty="0"/>
                        <a:t>getImage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icon of this control.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getImage="GetButtonImage" /&gt; In this example, the </a:t>
                      </a:r>
                      <a:endParaRPr b="0" i="0" strike="noStrike" dirty="0"/>
                    </a:p>
                    <a:p>
                      <a:pPr defTabSz="914400"/>
                      <a:r>
                        <a:rPr b="1" i="0" strike="noStrike" dirty="0"/>
                        <a:t>GetButtonImage</a:t>
                      </a:r>
                      <a:endParaRPr b="0" i="0" strike="noStrike" dirty="0"/>
                    </a:p>
                    <a:p>
                      <a:pPr defTabSz="914400"/>
                      <a:r>
                        <a:rPr b="0" i="0" strike="noStrike" dirty="0"/>
                        <a:t> callback function is called when the application needs to determine the icon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getKeytip</a:t>
                      </a:r>
                    </a:p>
                    <a:p>
                      <a:pPr defTabSz="914400"/>
                      <a:r>
                        <a:rPr b="0" i="0" strike="noStrike" dirty="0"/>
                        <a:t> ( </a:t>
                      </a:r>
                      <a:endParaRPr b="1" i="0" strike="noStrike" dirty="0"/>
                    </a:p>
                    <a:p>
                      <a:pPr defTabSz="914400"/>
                      <a:r>
                        <a:rPr b="1" i="0" strike="noStrike" dirty="0"/>
                        <a:t>getKeytip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suggested </a:t>
                      </a:r>
                    </a:p>
                    <a:p>
                      <a:pPr defTabSz="914400"/>
                      <a:r>
                        <a:rPr/>
                        <a:t>KeyTip</a:t>
                      </a:r>
                      <a:endParaRPr b="0" i="0" strike="noStrike" dirty="0"/>
                    </a:p>
                    <a:p>
                      <a:pPr defTabSz="914400"/>
                      <a:r>
                        <a:rPr b="0" i="0" strike="noStrike" dirty="0"/>
                        <a:t> of this control. The </a:t>
                      </a:r>
                      <a:endParaRPr b="0" i="0" strike="noStrike" dirty="0"/>
                    </a:p>
                    <a:p>
                      <a:pPr defTabSz="914400"/>
                      <a:r>
                        <a:rPr b="1" i="0" strike="noStrike" dirty="0"/>
                        <a:t>getKeytip</a:t>
                      </a:r>
                      <a:endParaRPr b="0" i="0" strike="noStrike" dirty="0"/>
                    </a:p>
                    <a:p>
                      <a:pPr defTabSz="914400"/>
                      <a:r>
                        <a:rPr b="0" i="0" strike="noStrike" dirty="0"/>
                        <a:t> and </a:t>
                      </a:r>
                      <a:endParaRPr b="0" i="0" strike="noStrike" dirty="0"/>
                    </a:p>
                    <a:p>
                      <a:pPr defTabSz="914400"/>
                      <a:r>
                        <a:rPr b="1" i="0" strike="noStrike" dirty="0"/>
                        <a:t>keytip</a:t>
                      </a:r>
                      <a:endParaRPr b="0" i="0" strike="noStrike" dirty="0"/>
                    </a:p>
                    <a:p>
                      <a:pPr defTabSz="914400"/>
                      <a:r>
                        <a:rPr b="0" i="0" strike="noStrike" dirty="0"/>
                        <a:t> attributes are mutually exclusive. If neither attribute is specified, the application SHOULD generate a KeyTip for the control automatically. For example, consider the following XML fragment: &lt;button id="button" getKeytip="GetButtonKeytip" /&gt; In this example, the </a:t>
                      </a:r>
                      <a:endParaRPr b="0" i="0" strike="noStrike" dirty="0"/>
                    </a:p>
                    <a:p>
                      <a:pPr defTabSz="914400"/>
                      <a:r>
                        <a:rPr b="1" i="0" strike="noStrike" dirty="0"/>
                        <a:t>GetButtonKeytip</a:t>
                      </a:r>
                      <a:endParaRPr b="0" i="0" strike="noStrike" dirty="0"/>
                    </a:p>
                    <a:p>
                      <a:pPr defTabSz="914400"/>
                      <a:r>
                        <a:rPr b="0" i="0" strike="noStrike" dirty="0"/>
                        <a:t> callback function is called when the application needs to determine the KeyTip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getLabel</a:t>
                      </a:r>
                    </a:p>
                    <a:p>
                      <a:pPr defTabSz="914400"/>
                      <a:r>
                        <a:rPr b="0" i="0" strike="noStrike" dirty="0"/>
                        <a:t> ( </a:t>
                      </a:r>
                      <a:endParaRPr b="1" i="0" strike="noStrike" dirty="0"/>
                    </a:p>
                    <a:p>
                      <a:pPr defTabSz="914400"/>
                      <a:r>
                        <a:rPr b="1" i="0" strike="noStrike" dirty="0"/>
                        <a:t>getLabel</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label of this control. The </a:t>
                      </a:r>
                    </a:p>
                    <a:p>
                      <a:pPr defTabSz="914400"/>
                      <a:r>
                        <a:rPr b="1" i="0" strike="noStrike" dirty="0"/>
                        <a:t>getLabel</a:t>
                      </a:r>
                      <a:endParaRPr b="0" i="0" strike="noStrike" dirty="0"/>
                    </a:p>
                    <a:p>
                      <a:pPr defTabSz="914400"/>
                      <a:r>
                        <a:rPr b="0" i="0" strike="noStrike" dirty="0"/>
                        <a:t> and </a:t>
                      </a:r>
                      <a:endParaRPr b="0" i="0" strike="noStrike" dirty="0"/>
                    </a:p>
                    <a:p>
                      <a:pPr defTabSz="914400"/>
                      <a:r>
                        <a:rPr b="1" i="0" strike="noStrike" dirty="0"/>
                        <a:t>label</a:t>
                      </a:r>
                      <a:endParaRPr b="0" i="0" strike="noStrike" dirty="0"/>
                    </a:p>
                    <a:p>
                      <a:pPr defTabSz="914400"/>
                      <a:r>
                        <a:rPr b="0" i="0" strike="noStrike" dirty="0"/>
                        <a:t> attributes are mutually exclusive. If neither attribute is specified, no label SHOULD be displayed. For example, consider the following XML fragment: &lt;button id="button" getLabel="GetButtonLabel" /&gt; In this example, the </a:t>
                      </a:r>
                      <a:endParaRPr b="0" i="0" strike="noStrike" dirty="0"/>
                    </a:p>
                    <a:p>
                      <a:pPr defTabSz="914400"/>
                      <a:r>
                        <a:rPr b="1" i="0" strike="noStrike" dirty="0"/>
                        <a:t>GetButtonLabel</a:t>
                      </a:r>
                      <a:endParaRPr b="0" i="0" strike="noStrike" dirty="0"/>
                    </a:p>
                    <a:p>
                      <a:pPr defTabSz="914400"/>
                      <a:r>
                        <a:rPr b="0" i="0" strike="noStrike" dirty="0"/>
                        <a:t> callback function is called when the application needs to determine the label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getScreentip</a:t>
                      </a:r>
                    </a:p>
                    <a:p>
                      <a:pPr defTabSz="914400"/>
                      <a:r>
                        <a:rPr b="0" i="0" strike="noStrike" dirty="0"/>
                        <a:t> ( </a:t>
                      </a:r>
                      <a:endParaRPr b="1" i="0" strike="noStrike" dirty="0"/>
                    </a:p>
                    <a:p>
                      <a:pPr defTabSz="914400"/>
                      <a:r>
                        <a:rPr b="1" i="0" strike="noStrike" dirty="0"/>
                        <a:t>getScreentip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screentip of this control. The </a:t>
                      </a:r>
                    </a:p>
                    <a:p>
                      <a:pPr defTabSz="914400"/>
                      <a:r>
                        <a:rPr b="1" i="0" strike="noStrike" dirty="0"/>
                        <a:t>getScreentip</a:t>
                      </a:r>
                      <a:endParaRPr b="0" i="0" strike="noStrike" dirty="0"/>
                    </a:p>
                    <a:p>
                      <a:pPr defTabSz="914400"/>
                      <a:r>
                        <a:rPr b="0" i="0" strike="noStrike" dirty="0"/>
                        <a:t> and </a:t>
                      </a:r>
                      <a:endParaRPr b="0" i="0" strike="noStrike" dirty="0"/>
                    </a:p>
                    <a:p>
                      <a:pPr defTabSz="914400"/>
                      <a:r>
                        <a:rPr b="1" i="0" strike="noStrike" dirty="0"/>
                        <a:t>screentip</a:t>
                      </a:r>
                      <a:endParaRPr b="0" i="0" strike="noStrike" dirty="0"/>
                    </a:p>
                    <a:p>
                      <a:pPr defTabSz="914400"/>
                      <a:r>
                        <a:rPr b="0" i="0" strike="noStrike" dirty="0"/>
                        <a:t> attributes are mutually exclusive. If neither attribute is specified, the application SHOULD display the label of the control as the screentip or display no screentip at all. For example, consider the following XML fragment: &lt;button id="button" getScreentip="GetButtonScreentip" /&gt; In this example, the </a:t>
                      </a:r>
                      <a:endParaRPr b="0" i="0" strike="noStrike" dirty="0"/>
                    </a:p>
                    <a:p>
                      <a:pPr defTabSz="914400"/>
                      <a:r>
                        <a:rPr b="1" i="0" strike="noStrike" dirty="0"/>
                        <a:t>GetButtonScreentip</a:t>
                      </a:r>
                      <a:endParaRPr b="0" i="0" strike="noStrike" dirty="0"/>
                    </a:p>
                    <a:p>
                      <a:pPr defTabSz="914400"/>
                      <a:r>
                        <a:rPr b="0" i="0" strike="noStrike" dirty="0"/>
                        <a:t> callback function is called when the application needs to determine the screentip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getShowImage</a:t>
                      </a:r>
                    </a:p>
                    <a:p>
                      <a:pPr defTabSz="914400"/>
                      <a:r>
                        <a:rPr b="0" i="0" strike="noStrike" dirty="0"/>
                        <a:t> ( </a:t>
                      </a:r>
                      <a:endParaRPr b="1" i="0" strike="noStrike" dirty="0"/>
                    </a:p>
                    <a:p>
                      <a:pPr defTabSz="914400"/>
                      <a:r>
                        <a:rPr b="1" i="0" strike="noStrike" dirty="0"/>
                        <a:t>getShowImage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whether the application SHOULD display the icon of this control.  The </a:t>
                      </a:r>
                    </a:p>
                    <a:p>
                      <a:pPr defTabSz="914400"/>
                      <a:r>
                        <a:rPr b="1" i="0" strike="noStrike" dirty="0"/>
                        <a:t>showImage</a:t>
                      </a:r>
                      <a:endParaRPr b="0" i="0" strike="noStrike" dirty="0"/>
                    </a:p>
                    <a:p>
                      <a:pPr defTabSz="914400"/>
                      <a:r>
                        <a:rPr b="0" i="0" strike="noStrike" dirty="0"/>
                        <a:t> and </a:t>
                      </a:r>
                      <a:endParaRPr b="0" i="0" strike="noStrike" dirty="0"/>
                    </a:p>
                    <a:p>
                      <a:pPr defTabSz="914400"/>
                      <a:r>
                        <a:rPr b="1" i="0" strike="noStrike" dirty="0"/>
                        <a:t>getShowImage</a:t>
                      </a:r>
                      <a:endParaRPr b="0" i="0" strike="noStrike" dirty="0"/>
                    </a:p>
                    <a:p>
                      <a:pPr defTabSz="914400"/>
                      <a:r>
                        <a:rPr b="0" i="0" strike="noStrike" dirty="0"/>
                        <a:t> attributes are mutually exclusive. If neither attribute is specified, the control SHOULD display its icon. For example, consider the following XML fragment: &lt;button id="button" getShowImage="IsButtonImageVisible" /&gt; In this example, the </a:t>
                      </a:r>
                      <a:endParaRPr b="0" i="0" strike="noStrike" dirty="0"/>
                    </a:p>
                    <a:p>
                      <a:pPr defTabSz="914400"/>
                      <a:r>
                        <a:rPr b="1" i="0" strike="noStrike" dirty="0"/>
                        <a:t>IsButtonImageVisible</a:t>
                      </a:r>
                      <a:endParaRPr b="0" i="0" strike="noStrike" dirty="0"/>
                    </a:p>
                    <a:p>
                      <a:pPr defTabSz="914400"/>
                      <a:r>
                        <a:rPr b="0" i="0" strike="noStrike" dirty="0"/>
                        <a:t> callback function is called when the application needs to determine whether to display the icon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getShowLabel</a:t>
                      </a:r>
                    </a:p>
                    <a:p>
                      <a:pPr defTabSz="914400"/>
                      <a:r>
                        <a:rPr b="0" i="0" strike="noStrike" dirty="0"/>
                        <a:t> ( </a:t>
                      </a:r>
                      <a:endParaRPr b="1" i="0" strike="noStrike" dirty="0"/>
                    </a:p>
                    <a:p>
                      <a:pPr defTabSz="914400"/>
                      <a:r>
                        <a:rPr b="1" i="0" strike="noStrike" dirty="0"/>
                        <a:t>getShowLabel</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whether the application SHOULD display the label of this control.  The </a:t>
                      </a:r>
                    </a:p>
                    <a:p>
                      <a:pPr defTabSz="914400"/>
                      <a:r>
                        <a:rPr b="1" i="0" strike="noStrike" dirty="0"/>
                        <a:t>showLabel</a:t>
                      </a:r>
                      <a:endParaRPr b="0" i="0" strike="noStrike" dirty="0"/>
                    </a:p>
                    <a:p>
                      <a:pPr defTabSz="914400"/>
                      <a:r>
                        <a:rPr b="0" i="0" strike="noStrike" dirty="0"/>
                        <a:t> and </a:t>
                      </a:r>
                      <a:endParaRPr b="0" i="0" strike="noStrike" dirty="0"/>
                    </a:p>
                    <a:p>
                      <a:pPr defTabSz="914400"/>
                      <a:r>
                        <a:rPr b="1" i="0" strike="noStrike" dirty="0"/>
                        <a:t>getShowLabel</a:t>
                      </a:r>
                      <a:endParaRPr b="0" i="0" strike="noStrike" dirty="0"/>
                    </a:p>
                    <a:p>
                      <a:pPr defTabSz="914400"/>
                      <a:r>
                        <a:rPr b="0" i="0" strike="noStrike" dirty="0"/>
                        <a:t> attributes are mutually exclusive. If neither attribute is specified, the control SHOULD default to showing its label. For example, consider the following XML fragment: &lt;button id="button" getShowLabel="IsButtonLabelVisible" /&gt; In this example, the </a:t>
                      </a:r>
                      <a:endParaRPr b="0" i="0" strike="noStrike" dirty="0"/>
                    </a:p>
                    <a:p>
                      <a:pPr defTabSz="914400"/>
                      <a:r>
                        <a:rPr b="1" i="0" strike="noStrike" dirty="0"/>
                        <a:t>IsButtonLabelVisible</a:t>
                      </a:r>
                      <a:endParaRPr b="0" i="0" strike="noStrike" dirty="0"/>
                    </a:p>
                    <a:p>
                      <a:pPr defTabSz="914400"/>
                      <a:r>
                        <a:rPr b="0" i="0" strike="noStrike" dirty="0"/>
                        <a:t> callback function is called when the application needs to determine whether to display the label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getSupertip</a:t>
                      </a:r>
                    </a:p>
                    <a:p>
                      <a:pPr defTabSz="914400"/>
                      <a:r>
                        <a:rPr b="0" i="0" strike="noStrike" dirty="0"/>
                        <a:t> ( </a:t>
                      </a:r>
                      <a:endParaRPr b="1" i="0" strike="noStrike" dirty="0"/>
                    </a:p>
                    <a:p>
                      <a:pPr defTabSz="914400"/>
                      <a:r>
                        <a:rPr b="1" i="0" strike="noStrike" dirty="0"/>
                        <a:t>getSupertip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supertip of this control. The </a:t>
                      </a:r>
                    </a:p>
                    <a:p>
                      <a:pPr defTabSz="914400"/>
                      <a:r>
                        <a:rPr b="1" i="0" strike="noStrike" dirty="0"/>
                        <a:t>getSupertip</a:t>
                      </a:r>
                      <a:endParaRPr b="0" i="0" strike="noStrike" dirty="0"/>
                    </a:p>
                    <a:p>
                      <a:pPr defTabSz="914400"/>
                      <a:r>
                        <a:rPr b="0" i="0" strike="noStrike" dirty="0"/>
                        <a:t> and </a:t>
                      </a:r>
                      <a:endParaRPr b="0" i="0" strike="noStrike" dirty="0"/>
                    </a:p>
                    <a:p>
                      <a:pPr defTabSz="914400"/>
                      <a:r>
                        <a:rPr b="1" i="0" strike="noStrike" dirty="0"/>
                        <a:t>supertip</a:t>
                      </a:r>
                      <a:endParaRPr b="0" i="0" strike="noStrike" dirty="0"/>
                    </a:p>
                    <a:p>
                      <a:pPr defTabSz="914400"/>
                      <a:r>
                        <a:rPr b="0" i="0" strike="noStrike" dirty="0"/>
                        <a:t> attributes are mutually exclusive. If neither attribute is specified, no supertip for this control SHOULD be shown. For example, consider the following XML fragment: &lt;button id="button" getSupertip="GetButtonSupertip" /&gt; In this example, the </a:t>
                      </a:r>
                      <a:endParaRPr b="0" i="0" strike="noStrike" dirty="0"/>
                    </a:p>
                    <a:p>
                      <a:pPr defTabSz="914400"/>
                      <a:r>
                        <a:rPr b="1" i="0" strike="noStrike" dirty="0"/>
                        <a:t>GetButtonSupertip</a:t>
                      </a:r>
                      <a:endParaRPr b="0" i="0" strike="noStrike" dirty="0"/>
                    </a:p>
                    <a:p>
                      <a:pPr defTabSz="914400"/>
                      <a:r>
                        <a:rPr b="0" i="0" strike="noStrike" dirty="0"/>
                        <a:t> callback function is called when the application needs to determine the supertip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getVisible</a:t>
                      </a:r>
                    </a:p>
                    <a:p>
                      <a:pPr defTabSz="914400"/>
                      <a:r>
                        <a:rPr b="0" i="0" strike="noStrike" dirty="0"/>
                        <a:t> ( </a:t>
                      </a:r>
                      <a:endParaRPr b="1" i="0" strike="noStrike" dirty="0"/>
                    </a:p>
                    <a:p>
                      <a:pPr defTabSz="914400"/>
                      <a:r>
                        <a:rPr b="1" i="0" strike="noStrike" dirty="0"/>
                        <a:t>getVisible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visibility state of this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neither attribute is specified, the control SHOULD default to being visible. For example, consider the following XML fragment: &lt;button id="button" getVisible="IsButtonVisible" /&gt; In this example, the </a:t>
                      </a:r>
                      <a:endParaRPr b="0" i="0" strike="noStrike" dirty="0"/>
                    </a:p>
                    <a:p>
                      <a:pPr defTabSz="914400"/>
                      <a:r>
                        <a:rPr b="1" i="0" strike="noStrike" dirty="0"/>
                        <a:t>IsButtonVisible</a:t>
                      </a:r>
                      <a:endParaRPr b="0" i="0" strike="noStrike" dirty="0"/>
                    </a:p>
                    <a:p>
                      <a:pPr defTabSz="914400"/>
                      <a:r>
                        <a:rPr b="0" i="0" strike="noStrike" dirty="0"/>
                        <a:t> callback function is called when the application needs to determine the visibility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id</a:t>
                      </a:r>
                    </a:p>
                    <a:p>
                      <a:pPr defTabSz="914400"/>
                      <a:r>
                        <a:rPr b="0" i="0" strike="noStrike" dirty="0"/>
                        <a:t> (control identifier)</a:t>
                      </a:r>
                      <a:endParaRPr b="1" i="0" strike="noStrike" dirty="0"/>
                    </a:p>
                  </a:txBody>
                  <a:tcPr horzOverflow="overflow"/>
                </a:tc>
                <a:tc>
                  <a:txBody>
                    <a:bodyPr/>
                    <a:lstStyle/>
                    <a:p>
                      <a:pPr algn="l" defTabSz="914400"/>
                      <a:r>
                        <a:rPr b="0" i="0" strike="noStrike" dirty="0"/>
                        <a:t>Specifies the identifier for a custom control. All custom controls MUST have unique identifiers. The identifier of a control SHOULD be passed to callback functions to identify which control corresponds to the function call. The </a:t>
                      </a:r>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&lt;button id="MyButton" label="Button" /&gt; This specifies a custom button control with an identifier of "MyButton". The possible values for this attribute are defined by the </a:t>
                      </a:r>
                      <a:endParaRPr b="0" i="0" strike="noStrike" dirty="0"/>
                    </a:p>
                    <a:p>
                      <a:pPr defTabSz="914400"/>
                      <a:r>
                        <a:rPr b="1" i="0" strike="noStrike" dirty="0"/>
                        <a:t>ST_UniqueID</a:t>
                      </a:r>
                      <a:endParaRPr b="0" i="0" strike="noStrike" dirty="0"/>
                    </a:p>
                    <a:p>
                      <a:pPr defTabSz="914400"/>
                      <a:r>
                        <a:rPr b="0" i="0" strike="noStrike" dirty="0"/>
                        <a:t> simple type, as specified in section </a:t>
                      </a:r>
                      <a:endParaRPr b="0" i="0" strike="noStrike" dirty="0"/>
                    </a:p>
                    <a:p>
                      <a:pPr defTabSz="914400"/>
                      <a:r>
                        <a:rPr/>
                        <a:t>2.3.13</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idMso</a:t>
                      </a:r>
                    </a:p>
                    <a:p>
                      <a:pPr defTabSz="914400"/>
                      <a:r>
                        <a:rPr b="0" i="0" strike="noStrike" dirty="0"/>
                        <a:t> (built-in control identifier)</a:t>
                      </a:r>
                      <a:endParaRPr b="1" i="0" strike="noStrike" dirty="0"/>
                    </a:p>
                  </a:txBody>
                  <a:tcPr horzOverflow="overflow"/>
                </a:tc>
                <a:tc>
                  <a:txBody>
                    <a:bodyPr/>
                    <a:lstStyle/>
                    <a:p>
                      <a:pPr algn="l" defTabSz="914400"/>
                      <a:r>
                        <a:rPr b="0" i="0" strike="noStrike" dirty="0"/>
                        <a:t>Specifies the identifier of a built-in control.  The contents of this attribute are application-defined. The </a:t>
                      </a:r>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&lt;control idMso="Bold" /&gt; This creates a clone of the control with an identifier of "Bold".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a:t>
                      </a:r>
                      <a:endParaRPr b="0" i="0" strike="noStrike" dirty="0"/>
                    </a:p>
                    <a:p>
                      <a:pPr defTabSz="914400"/>
                      <a:r>
                        <a:rPr/>
                        <a:t>2.3.5</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5080000">
                <a:tc>
                  <a:txBody>
                    <a:bodyPr/>
                    <a:lstStyle/>
                    <a:p>
                      <a:pPr algn="l" defTabSz="914400"/>
                      <a:r>
                        <a:rPr b="1" i="0" strike="noStrike" dirty="0"/>
                        <a:t>idQ</a:t>
                      </a:r>
                    </a:p>
                    <a:p>
                      <a:pPr defTabSz="914400"/>
                      <a:r>
                        <a:rPr b="0" i="0" strike="noStrike" dirty="0"/>
                        <a:t> (qualified control identifier)</a:t>
                      </a:r>
                      <a:endParaRPr b="1" i="0" strike="noStrike" dirty="0"/>
                    </a:p>
                  </a:txBody>
                  <a:tcPr horzOverflow="overflow"/>
                </a:tc>
                <a:tc>
                  <a:txBody>
                    <a:bodyPr/>
                    <a:lstStyle/>
                    <a:p>
                      <a:pPr algn="l" defTabSz="914400"/>
                      <a:r>
                        <a:rPr b="0" i="0" strike="noStrike" dirty="0"/>
                        <a:t>Specifies a qualified identifier for a control. The </a:t>
                      </a:r>
                    </a:p>
                    <a:p>
                      <a:pPr defTabSz="914400"/>
                      <a:r>
                        <a:rPr b="1" i="0" strike="noStrike" dirty="0"/>
                        <a:t>idQ</a:t>
                      </a:r>
                      <a:endParaRPr b="0" i="0" strike="noStrike" dirty="0"/>
                    </a:p>
                    <a:p>
                      <a:pPr defTabSz="914400"/>
                      <a:r>
                        <a:rPr b="0" i="0" strike="noStrike" dirty="0"/>
                        <a:t> attribute can be used to reference controls or containers created by other Custom UI documents. The </a:t>
                      </a:r>
                      <a:endParaRPr b="0" i="0" strike="noStrike" dirty="0"/>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&lt;customUI    xmlns="http://schemas.microsoft.com/office/2006/01/customui"   xmlns:ex="http://www.example.com"&gt;   &lt;ribbon&gt;     &lt;tabs&gt;      &lt;tab idQ="ex:OtherTab" label="Shared Tab"&gt;         &lt;group id="MyGroup" label="My Group"&gt;           …         &lt;/group&gt;       &lt;/tab&gt;     &lt;/tabs&gt;   &lt;/ribbon&gt; &lt;/customUI&gt; In this case, </a:t>
                      </a:r>
                      <a:endParaRPr b="0" i="0" strike="noStrike" dirty="0"/>
                    </a:p>
                    <a:p>
                      <a:pPr defTabSz="914400"/>
                      <a:r>
                        <a:rPr b="1" i="0" strike="noStrike" dirty="0"/>
                        <a:t>ex</a:t>
                      </a:r>
                      <a:endParaRPr b="0" i="0" strike="noStrike" dirty="0"/>
                    </a:p>
                    <a:p>
                      <a:pPr defTabSz="914400"/>
                      <a:r>
                        <a:rPr b="0" i="0" strike="noStrike" dirty="0"/>
                        <a:t> is an XML namespace prefix for the namespace http://www.example.com. This XML fragment refers to a </a:t>
                      </a:r>
                      <a:endParaRPr b="0" i="0" strike="noStrike" dirty="0"/>
                    </a:p>
                    <a:p>
                      <a:pPr defTabSz="914400"/>
                      <a:r>
                        <a:rPr b="1" i="0" strike="noStrike" dirty="0"/>
                        <a:t>tab</a:t>
                      </a:r>
                      <a:endParaRPr b="0" i="0" strike="noStrike" dirty="0"/>
                    </a:p>
                    <a:p>
                      <a:pPr defTabSz="914400"/>
                      <a:r>
                        <a:rPr b="0" i="0" strike="noStrike" dirty="0"/>
                        <a:t> in that namespace with an identifier of "OtherTab". If that tab cannot be found, it is created. A new group belonging to this file is added to the 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a:t>
                      </a:r>
                      <a:endParaRPr b="0" i="0" strike="noStrike" dirty="0"/>
                    </a:p>
                    <a:p>
                      <a:pPr defTabSz="914400"/>
                      <a:r>
                        <a:rPr/>
                        <a:t>2.3.9</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image</a:t>
                      </a:r>
                    </a:p>
                    <a:p>
                      <a:pPr defTabSz="914400"/>
                      <a:r>
                        <a:rPr b="0" i="0" strike="noStrike" dirty="0"/>
                        <a:t> (custom image identifier)</a:t>
                      </a:r>
                      <a:endParaRPr b="1" i="0" strike="noStrike" dirty="0"/>
                    </a:p>
                  </a:txBody>
                  <a:tcPr horzOverflow="overflow"/>
                </a:tc>
                <a:tc>
                  <a:txBody>
                    <a:bodyPr/>
                    <a:lstStyle/>
                    <a:p>
                      <a:pPr algn="l" defTabSz="914400"/>
                      <a:r>
                        <a:rPr b="0" i="0" strike="noStrike" dirty="0"/>
                        <a:t>Specifies the relationship identifier for an image which SHOULD be used as the icon for this control. This attribute is used to specify an embedded picture that resides locally within the containing file.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image="ForestPic" /&gt; This specifies a custom button whose icon SHOULD be the embedded image file referenced by the relationship identifier of "ForestPic". The possible values for this attribute are defined by the </a:t>
                      </a:r>
                      <a:endParaRPr b="0" i="0" strike="noStrike" dirty="0"/>
                    </a:p>
                    <a:p>
                      <a:pPr defTabSz="914400"/>
                      <a:r>
                        <a:rPr b="1" i="0" strike="noStrike" dirty="0"/>
                        <a:t>ST_Uri</a:t>
                      </a:r>
                      <a:endParaRPr b="0" i="0" strike="noStrike" dirty="0"/>
                    </a:p>
                    <a:p>
                      <a:pPr defTabSz="914400"/>
                      <a:r>
                        <a:rPr b="0" i="0" strike="noStrike" dirty="0"/>
                        <a:t> simple type, as specified in section </a:t>
                      </a:r>
                      <a:endParaRPr b="0" i="0" strike="noStrike" dirty="0"/>
                    </a:p>
                    <a:p>
                      <a:pPr defTabSz="914400"/>
                      <a:r>
                        <a:rPr/>
                        <a:t>2.3.14</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imageMso</a:t>
                      </a:r>
                    </a:p>
                    <a:p>
                      <a:pPr defTabSz="914400"/>
                      <a:r>
                        <a:rPr b="0" i="0" strike="noStrike" dirty="0"/>
                        <a:t> (built-in image identifier)</a:t>
                      </a:r>
                      <a:endParaRPr b="1" i="0" strike="noStrike" dirty="0"/>
                    </a:p>
                  </a:txBody>
                  <a:tcPr horzOverflow="overflow"/>
                </a:tc>
                <a:tc>
                  <a:txBody>
                    <a:bodyPr/>
                    <a:lstStyle/>
                    <a:p>
                      <a:pPr algn="l" defTabSz="914400"/>
                      <a:r>
                        <a:rPr b="0" i="0" strike="noStrike" dirty="0"/>
                        <a:t>Specifies the identifier of a built-in image which SHOULD be used as the icon of this control. The contents of this attribute are application-defined and SHOULD be ignored if not understood.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imageMso="Bold" /&gt; This specifies a custom button that SHOULD use the built-in image with an identifier of "Bold".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insertAfterMso</a:t>
                      </a:r>
                    </a:p>
                    <a:p>
                      <a:pPr defTabSz="914400"/>
                      <a:r>
                        <a:rPr b="0" i="0" strike="noStrike" dirty="0"/>
                        <a:t> (identifier of built-in control to insert after)</a:t>
                      </a:r>
                      <a:endParaRPr b="1" i="0" strike="noStrike" dirty="0"/>
                    </a:p>
                  </a:txBody>
                  <a:tcPr horzOverflow="overflow"/>
                </a:tc>
                <a:tc>
                  <a:txBody>
                    <a:bodyPr/>
                    <a:lstStyle/>
                    <a:p>
                      <a:pPr algn="l" defTabSz="914400"/>
                      <a:r>
                        <a:rPr b="0" i="0" strike="noStrike" dirty="0"/>
                        <a:t>Specifies the identifier of a built-in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insertAfterMso="TabHome" label="Custom Tab"&gt;   … &lt;/tab&gt; In this example, a new custom tab with an identifier of "MyTab" is to be inserted after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insertAfterQ</a:t>
                      </a:r>
                    </a:p>
                    <a:p>
                      <a:pPr defTabSz="914400"/>
                      <a:r>
                        <a:rPr b="0" i="0" strike="noStrike" dirty="0"/>
                        <a:t> (qualified identifier of control to insert after)</a:t>
                      </a:r>
                      <a:endParaRPr b="1" i="0" strike="noStrike" dirty="0"/>
                    </a:p>
                  </a:txBody>
                  <a:tcPr horzOverflow="overflow"/>
                </a:tc>
                <a:tc>
                  <a:txBody>
                    <a:bodyPr/>
                    <a:lstStyle/>
                    <a:p>
                      <a:pPr algn="l" defTabSz="914400"/>
                      <a:r>
                        <a:rPr b="0" i="0" strike="noStrike" dirty="0"/>
                        <a:t>Specifies the qualified identifier of a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insertAfterQ="x:OtherTab" label="Custom Tab"&gt;   … &lt;/tab&gt; In this example, a new custom tab with an identifier of "MyTab" is to be inserted after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insertBeforeMso</a:t>
                      </a:r>
                    </a:p>
                    <a:p>
                      <a:pPr defTabSz="914400"/>
                      <a:r>
                        <a:rPr b="0" i="0" strike="noStrike" dirty="0"/>
                        <a:t> (identifier of built-in control to insert before)</a:t>
                      </a:r>
                      <a:endParaRPr b="1" i="0" strike="noStrike" dirty="0"/>
                    </a:p>
                  </a:txBody>
                  <a:tcPr horzOverflow="overflow"/>
                </a:tc>
                <a:tc>
                  <a:txBody>
                    <a:bodyPr/>
                    <a:lstStyle/>
                    <a:p>
                      <a:pPr algn="l" defTabSz="914400"/>
                      <a:r>
                        <a:rPr b="0" i="0" strike="noStrike" dirty="0"/>
                        <a:t>Specifies the identifier of a built-in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insertBeforeMso="TabHome" label="Custom Tab"&gt;   … &lt;/tab&gt; In this example, a new custom tab with an identifier of "MyTab" is to be inserted before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insertBeforeQ</a:t>
                      </a:r>
                    </a:p>
                    <a:p>
                      <a:pPr defTabSz="914400"/>
                      <a:r>
                        <a:rPr b="0" i="0" strike="noStrike" dirty="0"/>
                        <a:t> (qualified identifier of control to insert before)</a:t>
                      </a:r>
                      <a:endParaRPr b="1" i="0" strike="noStrike" dirty="0"/>
                    </a:p>
                  </a:txBody>
                  <a:tcPr horzOverflow="overflow"/>
                </a:tc>
                <a:tc>
                  <a:txBody>
                    <a:bodyPr/>
                    <a:lstStyle/>
                    <a:p>
                      <a:pPr algn="l" defTabSz="914400"/>
                      <a:r>
                        <a:rPr b="0" i="0" strike="noStrike" dirty="0"/>
                        <a:t>Specifies the qualified identifier of a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insertBeforeQ="x:OtherTab" label="Custom Tab"&gt;   … &lt;/tab&gt; In this example, a new custom tab with an identifier of "MyTab" is to be inserted before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84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794000">
                <a:tc>
                  <a:txBody>
                    <a:bodyPr/>
                    <a:lstStyle/>
                    <a:p>
                      <a:pPr algn="l" defTabSz="914400"/>
                      <a:r>
                        <a:rPr b="1" i="0" strike="noStrike" dirty="0"/>
                        <a:t>keytip</a:t>
                      </a:r>
                    </a:p>
                    <a:p>
                      <a:pPr defTabSz="914400"/>
                      <a:r>
                        <a:rPr b="0" i="0" strike="noStrike" dirty="0"/>
                        <a:t> (keytip)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used as the suggested KeyTip for this control. The </a:t>
                      </a:r>
                      <a:endParaRPr b="0" i="0" strike="noStrike" dirty="0"/>
                    </a:p>
                    <a:p>
                      <a:pPr defTabSz="914400"/>
                      <a:r>
                        <a:rPr b="1" i="0" strike="noStrike" dirty="0"/>
                        <a:t>keytip</a:t>
                      </a:r>
                      <a:endParaRPr b="0" i="0" strike="noStrike" dirty="0"/>
                    </a:p>
                    <a:p>
                      <a:pPr defTabSz="914400"/>
                      <a:r>
                        <a:rPr b="0" i="0" strike="noStrike" dirty="0"/>
                        <a:t> and </a:t>
                      </a:r>
                      <a:endParaRPr b="0" i="0" strike="noStrike" dirty="0"/>
                    </a:p>
                    <a:p>
                      <a:pPr defTabSz="914400"/>
                      <a:r>
                        <a:rPr b="1" i="0" strike="noStrike" dirty="0"/>
                        <a:t>getKeytip</a:t>
                      </a:r>
                      <a:endParaRPr b="0" i="0" strike="noStrike" dirty="0"/>
                    </a:p>
                    <a:p>
                      <a:pPr defTabSz="914400"/>
                      <a:r>
                        <a:rPr b="0" i="0" strike="noStrike" dirty="0"/>
                        <a:t> attributes are mutually exclusive. If neither attribute is specified, the application SHOULD generate a KeyTip for the control automatically. For example, consider a button with KeyTip 'K', as follows: </a:t>
                      </a:r>
                      <a:endParaRPr b="0" i="0" strike="noStrike" dirty="0"/>
                    </a:p>
                    <a:p>
                      <a:pPr defTabSz="914400"/>
                      <a:r>
                        <a:rPr/>
                        <a:t>[Button with Key Tip K]</a:t>
                      </a:r>
                      <a:endParaRPr b="0" i="0" strike="noStrike" dirty="0"/>
                    </a:p>
                    <a:p>
                      <a:pPr defTabSz="914400"/>
                      <a:r>
                        <a:rPr b="0" i="0" strike="noStrike" dirty="0"/>
                        <a:t> This is specified using the following XML fragment: &lt;button id="button" imageMso="HappyFace" keytip="K" /&gt; The possible values for this attribute are defined by the </a:t>
                      </a:r>
                      <a:endParaRPr b="0" i="0" strike="noStrike" dirty="0"/>
                    </a:p>
                    <a:p>
                      <a:pPr defTabSz="914400"/>
                      <a:r>
                        <a:rPr b="1" i="0" strike="noStrike" dirty="0"/>
                        <a:t>ST_Keytip</a:t>
                      </a:r>
                      <a:endParaRPr b="0" i="0" strike="noStrike" dirty="0"/>
                    </a:p>
                    <a:p>
                      <a:pPr defTabSz="914400"/>
                      <a:r>
                        <a:rPr b="0" i="0" strike="noStrike" dirty="0"/>
                        <a:t> simple type, as specified in section </a:t>
                      </a:r>
                      <a:endParaRPr b="0" i="0" strike="noStrike" dirty="0"/>
                    </a:p>
                    <a:p>
                      <a:pPr defTabSz="914400"/>
                      <a:r>
                        <a:rPr/>
                        <a:t>2.3.7</a:t>
                      </a:r>
                      <a:endParaRPr b="0" i="0" strike="noStrike" dirty="0"/>
                    </a:p>
                    <a:p>
                      <a:pPr defTabSz="914400"/>
                      <a:r>
                        <a:rPr b="0" i="0" strike="noStrike" dirty="0"/>
                        <a:t>.</a:t>
                      </a:r>
                      <a:endParaRPr b="0" i="0" strike="noStrike" dirty="0"/>
                    </a:p>
                  </a:txBody>
                  <a:tcPr horzOverflow="overflow"/>
                </a:tc>
              </a:tr>
              <a:tr h="2540000">
                <a:tc>
                  <a:txBody>
                    <a:bodyPr/>
                    <a:lstStyle/>
                    <a:p>
                      <a:pPr algn="l" defTabSz="914400"/>
                      <a:r>
                        <a:rPr b="1" i="0" strike="noStrike" dirty="0"/>
                        <a:t>label</a:t>
                      </a:r>
                    </a:p>
                    <a:p>
                      <a:pPr defTabSz="914400"/>
                      <a:r>
                        <a:rPr b="0" i="0" strike="noStrike" dirty="0"/>
                        <a:t> (label)</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used as the label for this control. The </a:t>
                      </a:r>
                      <a:endParaRPr b="0" i="0" strike="noStrike" dirty="0"/>
                    </a:p>
                    <a:p>
                      <a:pPr defTabSz="914400"/>
                      <a:r>
                        <a:rPr b="1" i="0" strike="noStrike" dirty="0"/>
                        <a:t>label</a:t>
                      </a:r>
                      <a:endParaRPr b="0" i="0" strike="noStrike" dirty="0"/>
                    </a:p>
                    <a:p>
                      <a:pPr defTabSz="914400"/>
                      <a:r>
                        <a:rPr b="0" i="0" strike="noStrike" dirty="0"/>
                        <a:t> and </a:t>
                      </a:r>
                      <a:endParaRPr b="0" i="0" strike="noStrike" dirty="0"/>
                    </a:p>
                    <a:p>
                      <a:pPr defTabSz="914400"/>
                      <a:r>
                        <a:rPr b="1" i="0" strike="noStrike" dirty="0"/>
                        <a:t>getLabel</a:t>
                      </a:r>
                      <a:endParaRPr b="0" i="0" strike="noStrike" dirty="0"/>
                    </a:p>
                    <a:p>
                      <a:pPr defTabSz="914400"/>
                      <a:r>
                        <a:rPr b="0" i="0" strike="noStrike" dirty="0"/>
                        <a:t> attributes are mutually exclusive. If neither attribute is specified, no label SHOULD be displayed. For example, consider the following XML fragment: &lt;button id="button" label="Custom Button" /&gt; This specifies a custom </a:t>
                      </a:r>
                      <a:endParaRPr b="0" i="0" strike="noStrike" dirty="0"/>
                    </a:p>
                    <a:p>
                      <a:pPr defTabSz="914400"/>
                      <a:r>
                        <a:rPr b="1" i="0" strike="noStrike" dirty="0"/>
                        <a:t>button</a:t>
                      </a:r>
                      <a:endParaRPr b="0" i="0" strike="noStrike" dirty="0"/>
                    </a:p>
                    <a:p>
                      <a:pPr defTabSz="914400"/>
                      <a:r>
                        <a:rPr b="0" i="0" strike="noStrike" dirty="0"/>
                        <a:t> with a </a:t>
                      </a:r>
                      <a:endParaRPr b="0" i="0" strike="noStrike" dirty="0"/>
                    </a:p>
                    <a:p>
                      <a:pPr defTabSz="914400"/>
                      <a:r>
                        <a:rPr b="1" i="0" strike="noStrike" dirty="0"/>
                        <a:t>label</a:t>
                      </a:r>
                      <a:endParaRPr b="0" i="0" strike="noStrike" dirty="0"/>
                    </a:p>
                    <a:p>
                      <a:pPr defTabSz="914400"/>
                      <a:r>
                        <a:rPr b="0" i="0" strike="noStrike" dirty="0"/>
                        <a:t> of "Custom Button".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a:t>
                      </a:r>
                      <a:endParaRPr b="0" i="0" strike="noStrike" dirty="0"/>
                    </a:p>
                    <a:p>
                      <a:pPr defTabSz="914400"/>
                      <a:r>
                        <a:rPr/>
                        <a:t>2.3.11</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screentip</a:t>
                      </a:r>
                    </a:p>
                    <a:p>
                      <a:pPr defTabSz="914400"/>
                      <a:r>
                        <a:rPr b="0" i="0" strike="noStrike" dirty="0"/>
                        <a:t> (screentip)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shown as the screentip for this control. The </a:t>
                      </a:r>
                      <a:endParaRPr b="0" i="0" strike="noStrike" dirty="0"/>
                    </a:p>
                    <a:p>
                      <a:pPr defTabSz="914400"/>
                      <a:r>
                        <a:rPr b="1" i="0" strike="noStrike" dirty="0"/>
                        <a:t>screentip</a:t>
                      </a:r>
                      <a:endParaRPr b="0" i="0" strike="noStrike" dirty="0"/>
                    </a:p>
                    <a:p>
                      <a:pPr defTabSz="914400"/>
                      <a:r>
                        <a:rPr b="0" i="0" strike="noStrike" dirty="0"/>
                        <a:t> and </a:t>
                      </a:r>
                      <a:endParaRPr b="0" i="0" strike="noStrike" dirty="0"/>
                    </a:p>
                    <a:p>
                      <a:pPr defTabSz="914400"/>
                      <a:r>
                        <a:rPr b="1" i="0" strike="noStrike" dirty="0"/>
                        <a:t>getScreentip</a:t>
                      </a:r>
                      <a:endParaRPr b="0" i="0" strike="noStrike" dirty="0"/>
                    </a:p>
                    <a:p>
                      <a:pPr defTabSz="914400"/>
                      <a:r>
                        <a:rPr b="0" i="0" strike="noStrike" dirty="0"/>
                        <a:t> attributes are mutually exclusive. If neither attribute is specified, the application SHOULD display the label of the control as the screentip or display no screentip at all. For example, consider a button with a screentip, as follows: </a:t>
                      </a:r>
                      <a:endParaRPr b="0" i="0" strike="noStrike" dirty="0"/>
                    </a:p>
                    <a:p>
                      <a:pPr defTabSz="914400"/>
                      <a:r>
                        <a:rPr/>
                        <a:t>[Button with screen tip String]</a:t>
                      </a:r>
                      <a:endParaRPr b="0" i="0" strike="noStrike" dirty="0"/>
                    </a:p>
                    <a:p>
                      <a:pPr defTabSz="914400"/>
                      <a:r>
                        <a:rPr b="0" i="0" strike="noStrike" dirty="0"/>
                        <a:t> This is specified using the following XML fragment: &lt;button id="button" imageMso="HappyFace" label="Button"   size="large" screentip="This is the screentip" /&gt;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showImage</a:t>
                      </a:r>
                    </a:p>
                    <a:p>
                      <a:pPr defTabSz="914400"/>
                      <a:r>
                        <a:rPr b="0" i="0" strike="noStrike" dirty="0"/>
                        <a:t> (show image)</a:t>
                      </a:r>
                      <a:endParaRPr b="1" i="0" strike="noStrike" dirty="0"/>
                    </a:p>
                  </a:txBody>
                  <a:tcPr horzOverflow="overflow"/>
                </a:tc>
                <a:tc>
                  <a:txBody>
                    <a:bodyPr/>
                    <a:lstStyle/>
                    <a:p>
                      <a:pPr algn="l" defTabSz="914400"/>
                      <a:r>
                        <a:rPr b="0" i="0" strike="noStrike" dirty="0"/>
                        <a:t>Specifies whether this control displays an icon.  The </a:t>
                      </a:r>
                    </a:p>
                    <a:p>
                      <a:pPr defTabSz="914400"/>
                      <a:r>
                        <a:rPr b="1" i="0" strike="noStrike" dirty="0"/>
                        <a:t>showImage</a:t>
                      </a:r>
                      <a:endParaRPr b="0" i="0" strike="noStrike" dirty="0"/>
                    </a:p>
                    <a:p>
                      <a:pPr defTabSz="914400"/>
                      <a:r>
                        <a:rPr b="0" i="0" strike="noStrike" dirty="0"/>
                        <a:t> and </a:t>
                      </a:r>
                      <a:endParaRPr b="0" i="0" strike="noStrike" dirty="0"/>
                    </a:p>
                    <a:p>
                      <a:pPr defTabSz="914400"/>
                      <a:r>
                        <a:rPr b="1" i="0" strike="noStrike" dirty="0"/>
                        <a:t>getShowImage</a:t>
                      </a:r>
                      <a:endParaRPr b="0" i="0" strike="noStrike" dirty="0"/>
                    </a:p>
                    <a:p>
                      <a:pPr defTabSz="914400"/>
                      <a:r>
                        <a:rPr b="0" i="0" strike="noStrike" dirty="0"/>
                        <a:t> attributes are mutually exclusive. If neither attribute is specified, the control SHOULD display its icon. For example, consider a button that does not display an icon, as follows: </a:t>
                      </a:r>
                      <a:endParaRPr b="0" i="0" strike="noStrike" dirty="0"/>
                    </a:p>
                    <a:p>
                      <a:pPr defTabSz="914400"/>
                      <a:r>
                        <a:rPr/>
                        <a:t>[Button with no icon]</a:t>
                      </a:r>
                      <a:endParaRPr b="0" i="0" strike="noStrike" dirty="0"/>
                    </a:p>
                    <a:p>
                      <a:pPr defTabSz="914400"/>
                      <a:r>
                        <a:rPr b="0" i="0" strike="noStrike" dirty="0"/>
                        <a:t> This is specified using the following XML fragment: &lt;button id="button" showImage="false"    label="Button with no icon" /&gt;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showLabel</a:t>
                      </a:r>
                    </a:p>
                    <a:p>
                      <a:pPr defTabSz="914400"/>
                      <a:r>
                        <a:rPr b="0" i="0" strike="noStrike" dirty="0"/>
                        <a:t> (show label)</a:t>
                      </a:r>
                      <a:endParaRPr b="1" i="0" strike="noStrike" dirty="0"/>
                    </a:p>
                  </a:txBody>
                  <a:tcPr horzOverflow="overflow"/>
                </a:tc>
                <a:tc>
                  <a:txBody>
                    <a:bodyPr/>
                    <a:lstStyle/>
                    <a:p>
                      <a:pPr algn="l" defTabSz="914400"/>
                      <a:r>
                        <a:rPr b="0" i="0" strike="noStrike" dirty="0"/>
                        <a:t>Specifies whether this control SHOULD display its label.   The </a:t>
                      </a:r>
                    </a:p>
                    <a:p>
                      <a:pPr defTabSz="914400"/>
                      <a:r>
                        <a:rPr b="1" i="0" strike="noStrike" dirty="0"/>
                        <a:t>showLabel</a:t>
                      </a:r>
                      <a:endParaRPr b="0" i="0" strike="noStrike" dirty="0"/>
                    </a:p>
                    <a:p>
                      <a:pPr defTabSz="914400"/>
                      <a:r>
                        <a:rPr b="0" i="0" strike="noStrike" dirty="0"/>
                        <a:t> and </a:t>
                      </a:r>
                      <a:endParaRPr b="0" i="0" strike="noStrike" dirty="0"/>
                    </a:p>
                    <a:p>
                      <a:pPr defTabSz="914400"/>
                      <a:r>
                        <a:rPr b="1" i="0" strike="noStrike" dirty="0"/>
                        <a:t>getShowLabel</a:t>
                      </a:r>
                      <a:endParaRPr b="0" i="0" strike="noStrike" dirty="0"/>
                    </a:p>
                    <a:p>
                      <a:pPr defTabSz="914400"/>
                      <a:r>
                        <a:rPr b="0" i="0" strike="noStrike" dirty="0"/>
                        <a:t> attributes are mutually exclusive. If neither attribute is specified, the control SHOULD default to showing its label. For example, consider the following XML fragment: &lt;button id="button" label="Label" showLabel="false"    imageMso="HappyFace" /&gt; This specifies a </a:t>
                      </a:r>
                      <a:endParaRPr b="0" i="0" strike="noStrike" dirty="0"/>
                    </a:p>
                    <a:p>
                      <a:pPr defTabSz="914400"/>
                      <a:r>
                        <a:rPr b="1" i="0" strike="noStrike" dirty="0"/>
                        <a:t>button</a:t>
                      </a:r>
                      <a:endParaRPr b="0" i="0" strike="noStrike" dirty="0"/>
                    </a:p>
                    <a:p>
                      <a:pPr defTabSz="914400"/>
                      <a:r>
                        <a:rPr b="0" i="0" strike="noStrike" dirty="0"/>
                        <a:t> that has a </a:t>
                      </a:r>
                      <a:endParaRPr b="0" i="0" strike="noStrike" dirty="0"/>
                    </a:p>
                    <a:p>
                      <a:pPr defTabSz="914400"/>
                      <a:r>
                        <a:rPr b="1" i="0" strike="noStrike" dirty="0"/>
                        <a:t>label</a:t>
                      </a:r>
                      <a:endParaRPr b="0" i="0" strike="noStrike" dirty="0"/>
                    </a:p>
                    <a:p>
                      <a:pPr defTabSz="914400"/>
                      <a:r>
                        <a:rPr b="0" i="0" strike="noStrike" dirty="0"/>
                        <a:t>, but does not show it. Even though the </a:t>
                      </a:r>
                      <a:endParaRPr b="0" i="0" strike="noStrike" dirty="0"/>
                    </a:p>
                    <a:p>
                      <a:pPr defTabSz="914400"/>
                      <a:r>
                        <a:rPr b="1" i="0" strike="noStrike" dirty="0"/>
                        <a:t>label</a:t>
                      </a:r>
                      <a:endParaRPr b="0" i="0" strike="noStrike" dirty="0"/>
                    </a:p>
                    <a:p>
                      <a:pPr defTabSz="914400"/>
                      <a:r>
                        <a:rPr b="0" i="0" strike="noStrike" dirty="0"/>
                        <a:t> is hidden, it is provided to accessibility tools.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supertip</a:t>
                      </a:r>
                    </a:p>
                    <a:p>
                      <a:pPr defTabSz="914400"/>
                      <a:r>
                        <a:rPr b="0" i="0" strike="noStrike" dirty="0"/>
                        <a:t> (supertip)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shown as the supertip of the control. The </a:t>
                      </a:r>
                      <a:endParaRPr b="0" i="0" strike="noStrike" dirty="0"/>
                    </a:p>
                    <a:p>
                      <a:pPr defTabSz="914400"/>
                      <a:r>
                        <a:rPr b="1" i="0" strike="noStrike" dirty="0"/>
                        <a:t>supertip</a:t>
                      </a:r>
                      <a:endParaRPr b="0" i="0" strike="noStrike" dirty="0"/>
                    </a:p>
                    <a:p>
                      <a:pPr defTabSz="914400"/>
                      <a:r>
                        <a:rPr b="0" i="0" strike="noStrike" dirty="0"/>
                        <a:t> and </a:t>
                      </a:r>
                      <a:endParaRPr b="0" i="0" strike="noStrike" dirty="0"/>
                    </a:p>
                    <a:p>
                      <a:pPr defTabSz="914400"/>
                      <a:r>
                        <a:rPr b="1" i="0" strike="noStrike" dirty="0"/>
                        <a:t>getSupertip</a:t>
                      </a:r>
                      <a:endParaRPr b="0" i="0" strike="noStrike" dirty="0"/>
                    </a:p>
                    <a:p>
                      <a:pPr defTabSz="914400"/>
                      <a:r>
                        <a:rPr b="0" i="0" strike="noStrike" dirty="0"/>
                        <a:t> attributes are mutually exclusive. If neither attribute is specified no supertip for this control SHOULD be shown. For example, consider a control with a supertip, as follows: </a:t>
                      </a:r>
                      <a:endParaRPr b="0" i="0" strike="noStrike" dirty="0"/>
                    </a:p>
                    <a:p>
                      <a:pPr defTabSz="914400"/>
                      <a:r>
                        <a:rPr/>
                        <a:t>[Button with super stip string]</a:t>
                      </a:r>
                      <a:endParaRPr b="0" i="0" strike="noStrike" dirty="0"/>
                    </a:p>
                    <a:p>
                      <a:pPr defTabSz="914400"/>
                      <a:r>
                        <a:rPr b="0" i="0" strike="noStrike" dirty="0"/>
                        <a:t> This is specified using the following XML fragment: &lt;button id="button" imageMso="HappyFace" label="Button"   size="large" screentip="Screentip"   supertip="This is the supertip string" /&gt;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tag</a:t>
                      </a:r>
                    </a:p>
                    <a:p>
                      <a:pPr defTabSz="914400"/>
                      <a:r>
                        <a:rPr b="0" i="0" strike="noStrike" dirty="0"/>
                        <a:t> (tag)</a:t>
                      </a:r>
                      <a:endParaRPr b="1" i="0" strike="noStrike" dirty="0"/>
                    </a:p>
                  </a:txBody>
                  <a:tcPr horzOverflow="overflow"/>
                </a:tc>
                <a:tc>
                  <a:txBody>
                    <a:bodyPr/>
                    <a:lstStyle/>
                    <a:p>
                      <a:pPr algn="l" defTabSz="914400"/>
                      <a:r>
                        <a:rPr b="0" i="0" strike="noStrike" dirty="0"/>
                        <a:t>Specifies an arbitrary </a:t>
                      </a:r>
                    </a:p>
                    <a:p>
                      <a:pPr defTabSz="914400"/>
                      <a:r>
                        <a:rPr b="1" i="0" strike="noStrike" dirty="0"/>
                        <a:t>string</a:t>
                      </a:r>
                      <a:endParaRPr b="0" i="0" strike="noStrike" dirty="0"/>
                    </a:p>
                    <a:p>
                      <a:pPr defTabSz="914400"/>
                      <a:r>
                        <a:rPr b="0" i="0" strike="noStrike" dirty="0"/>
                        <a:t> that can be used to hold data or identify the control. The contents of this attribute SHOULD be passed to any callback functions specified on this control. If this attribute is omitted, the control's </a:t>
                      </a:r>
                      <a:endParaRPr b="0" i="0" strike="noStrike" dirty="0"/>
                    </a:p>
                    <a:p>
                      <a:pPr defTabSz="914400"/>
                      <a:r>
                        <a:rPr b="1" i="0" strike="noStrike" dirty="0"/>
                        <a:t>tag</a:t>
                      </a:r>
                      <a:endParaRPr b="0" i="0" strike="noStrike" dirty="0"/>
                    </a:p>
                    <a:p>
                      <a:pPr defTabSz="914400"/>
                      <a:r>
                        <a:rPr b="0" i="0" strike="noStrike" dirty="0"/>
                        <a:t> value SHOULD default to an empty </a:t>
                      </a:r>
                      <a:endParaRPr b="0" i="0" strike="noStrike" dirty="0"/>
                    </a:p>
                    <a:p>
                      <a:pPr defTabSz="914400"/>
                      <a:r>
                        <a:rPr b="1" i="0" strike="noStrike" dirty="0"/>
                        <a:t>string</a:t>
                      </a:r>
                      <a:endParaRPr b="0" i="0" strike="noStrike" dirty="0"/>
                    </a:p>
                    <a:p>
                      <a:pPr defTabSz="914400"/>
                      <a:r>
                        <a:rPr b="0" i="0" strike="noStrike" dirty="0"/>
                        <a:t>. For example, consider the following XML fragment: &lt;button id="button" label="Button" tag="123456"    onAction="ButtonClicked" /&gt; This specifies a </a:t>
                      </a:r>
                      <a:endParaRPr b="0" i="0" strike="noStrike" dirty="0"/>
                    </a:p>
                    <a:p>
                      <a:pPr defTabSz="914400"/>
                      <a:r>
                        <a:rPr b="1" i="0" strike="noStrike" dirty="0"/>
                        <a:t>button</a:t>
                      </a:r>
                      <a:endParaRPr b="0" i="0" strike="noStrike" dirty="0"/>
                    </a:p>
                    <a:p>
                      <a:pPr defTabSz="914400"/>
                      <a:r>
                        <a:rPr b="0" i="0" strike="noStrike" dirty="0"/>
                        <a:t> with a </a:t>
                      </a:r>
                      <a:endParaRPr b="0" i="0" strike="noStrike" dirty="0"/>
                    </a:p>
                    <a:p>
                      <a:pPr defTabSz="914400"/>
                      <a:r>
                        <a:rPr b="1" i="0" strike="noStrike" dirty="0"/>
                        <a:t>tag</a:t>
                      </a:r>
                      <a:endParaRPr b="0" i="0" strike="noStrike" dirty="0"/>
                    </a:p>
                    <a:p>
                      <a:pPr defTabSz="914400"/>
                      <a:r>
                        <a:rPr b="0" i="0" strike="noStrike" dirty="0"/>
                        <a:t> value of "123456", which is passed to the </a:t>
                      </a:r>
                      <a:endParaRPr b="0" i="0" strike="noStrike" dirty="0"/>
                    </a:p>
                    <a:p>
                      <a:pPr defTabSz="914400"/>
                      <a:r>
                        <a:rPr b="1" i="0" strike="noStrike" dirty="0"/>
                        <a:t>ButtonClicked</a:t>
                      </a:r>
                      <a:endParaRPr b="0" i="0" strike="noStrike" dirty="0"/>
                    </a:p>
                    <a:p>
                      <a:pPr defTabSz="914400"/>
                      <a:r>
                        <a:rPr b="0" i="0" strike="noStrike" dirty="0"/>
                        <a:t> callback function.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visible</a:t>
                      </a:r>
                    </a:p>
                    <a:p>
                      <a:pPr defTabSz="914400"/>
                      <a:r>
                        <a:rPr b="0" i="0" strike="noStrike" dirty="0"/>
                        <a:t> (control visibility)</a:t>
                      </a:r>
                      <a:endParaRPr b="1" i="0" strike="noStrike" dirty="0"/>
                    </a:p>
                  </a:txBody>
                  <a:tcPr horzOverflow="overflow"/>
                </a:tc>
                <a:tc>
                  <a:txBody>
                    <a:bodyPr/>
                    <a:lstStyle/>
                    <a:p>
                      <a:pPr algn="l" defTabSz="914400"/>
                      <a:r>
                        <a:rPr b="0" i="0" strike="noStrike" dirty="0"/>
                        <a:t>Specifies the visibility state of the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these attributes are omitted, the control SHOULD default to being visible. For example, consider the following XML fragment: &lt;tab idMso="TabHome" visible="false" /&gt; In this example, the built-in tab with an identifier of "TabHome" is hidden.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name="CT_SplitButtonRegular"&gt;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base="CT_SplitButtonRestricted"&gt;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&lt;xsd:sequence </a:t>
            </a:r>
            <a:r>
              <a:rPr b="0" i="0" strike="noStrike" dirty="0"/>
              <a:t>minOccurs="0"&gt;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&lt;xsd:choice </a:t>
            </a:r>
            <a:r>
              <a:rPr b="0" i="0" strike="noStrike" dirty="0"/>
              <a:t>minOccurs="0"&gt;</a:t>
            </a:r>
          </a:p>
        </p:txBody>
      </p:sp>
      <p:sp>
        <p:nvSpPr>
          <p:cNvPr id="9" name="TextBox9"/>
          <p:cNvSpPr txBox="1">
            <a:spLocks noChangeArrowheads="1"/>
          </p:cNvSpPr>
          <p:nvPr/>
        </p:nvSpPr>
        <p:spPr>
          <a:xfrm rot="0">
            <a:off x="508000" y="5679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name="button" </a:t>
            </a:r>
            <a:r>
              <a:rPr b="0" i="0" strike="noStrike" dirty="0"/>
              <a:t>type="CT_VisibleButton"/&gt;</a:t>
            </a:r>
          </a:p>
        </p:txBody>
      </p:sp>
      <p:sp>
        <p:nvSpPr>
          <p:cNvPr id="10" name="TextBox10"/>
          <p:cNvSpPr txBox="1">
            <a:spLocks noChangeArrowheads="1"/>
          </p:cNvSpPr>
          <p:nvPr/>
        </p:nvSpPr>
        <p:spPr>
          <a:xfrm rot="0">
            <a:off x="508000" y="602488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name="toggleButton" </a:t>
            </a:r>
            <a:r>
              <a:rPr b="0" i="0" strike="noStrike" dirty="0"/>
              <a:t>type="CT_VisibleToggleButton"/&gt;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&lt;/xsd:choice&gt;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name="menu" </a:t>
            </a:r>
            <a:r>
              <a:rPr b="0" i="0" strike="noStrike" dirty="0"/>
              <a:t>type="CT_MenuRegular"/&gt;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8" name="TextBox8"/>
          <p:cNvSpPr txBox="1">
            <a:spLocks noChangeArrowheads="1"/>
          </p:cNvSpPr>
          <p:nvPr/>
        </p:nvSpPr>
        <p:spPr>
          <a:xfrm rot="0">
            <a:off x="508000" y="2580640"/>
            <a:ext cx="11176000" cy="853440"/>
          </a:xfrm>
          <a:prstGeom prst="rect">
            <a:avLst/>
          </a:prstGeom>
          <a:ln>
            <a:headEnd type="none"/>
            <a:tailEnd type="none"/>
          </a:ln>
        </p:spPr>
        <p:txBody>
          <a:bodyPr wrap="square">
            <a:spAutoFit/>
          </a:bodyPr>
          <a:lstStyle/>
          <a:p>
            <a:pPr algn="l" defTabSz="914400">
              <a:defRPr sz="2400" b="1" dirty="0"/>
            </a:pPr>
            <a:r>
              <a:rPr b="1" i="0" strike="noStrike" dirty="0"/>
              <a:t>splitButton </a:t>
            </a:r>
            <a:r>
              <a:rPr b="1" i="0" strike="noStrike" dirty="0"/>
              <a:t>(Split </a:t>
            </a:r>
            <a:r>
              <a:rPr b="1" i="0" strike="noStrike" dirty="0"/>
              <a:t>Button </a:t>
            </a:r>
            <a:r>
              <a:rPr b="1" i="0" strike="noStrike" dirty="0"/>
              <a:t>with </a:t>
            </a:r>
            <a:r>
              <a:rPr b="1" i="0" strike="noStrike" dirty="0"/>
              <a:t>Title) </a:t>
            </a:r>
            <a:r>
              <a:rPr b="1" i="0" strike="noStrike" dirty="0"/>
              <a:t>XE </a:t>
            </a:r>
            <a:r>
              <a:rPr b="1" i="0" strike="noStrike" dirty="0"/>
              <a:t>"Elements:splitButton </a:t>
            </a:r>
            <a:r>
              <a:rPr b="1" i="0" strike="noStrike" dirty="0"/>
              <a:t>(split </a:t>
            </a:r>
            <a:r>
              <a:rPr b="1" i="0" strike="noStrike" dirty="0"/>
              <a:t>button </a:t>
            </a:r>
            <a:r>
              <a:rPr b="1" i="0" strike="noStrike" dirty="0"/>
              <a:t>with </a:t>
            </a:r>
            <a:r>
              <a:rPr b="1" i="0" strike="noStrike" dirty="0"/>
              <a:t>title)"</a:t>
            </a:r>
          </a:p>
        </p:txBody>
      </p:sp>
      <p:sp>
        <p:nvSpPr>
          <p:cNvPr id="9" name="TextBox9"/>
          <p:cNvSpPr txBox="1">
            <a:spLocks noChangeArrowheads="1"/>
          </p:cNvSpPr>
          <p:nvPr/>
        </p:nvSpPr>
        <p:spPr>
          <a:xfrm rot="0">
            <a:off x="508000" y="3459480"/>
            <a:ext cx="11176000" cy="96012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split </a:t>
            </a:r>
            <a:r>
              <a:rPr b="0" i="0" strike="noStrike" dirty="0"/>
              <a:t>button </a:t>
            </a:r>
            <a:r>
              <a:rPr b="0" i="0" strike="noStrike" dirty="0"/>
              <a:t>control </a:t>
            </a:r>
            <a:r>
              <a:rPr b="0" i="0" strike="noStrike" dirty="0"/>
              <a:t>that, </a:t>
            </a:r>
            <a:r>
              <a:rPr b="0" i="0" strike="noStrike" dirty="0"/>
              <a:t>because </a:t>
            </a:r>
            <a:r>
              <a:rPr b="0" i="0" strike="noStrike" dirty="0"/>
              <a:t>of </a:t>
            </a:r>
            <a:r>
              <a:rPr b="0" i="0" strike="noStrike" dirty="0"/>
              <a:t>its </a:t>
            </a:r>
            <a:r>
              <a:rPr b="0" i="0" strike="noStrike" dirty="0"/>
              <a:t>location, </a:t>
            </a:r>
            <a:r>
              <a:rPr b="0" i="0" strike="noStrike" dirty="0"/>
              <a:t>can </a:t>
            </a:r>
            <a:r>
              <a:rPr b="0" i="0" strike="noStrike" dirty="0"/>
              <a:t>optionally </a:t>
            </a:r>
            <a:r>
              <a:rPr b="0" i="0" strike="noStrike" dirty="0"/>
              <a:t>include </a:t>
            </a:r>
            <a:r>
              <a:rPr b="0" i="0" strike="noStrike" dirty="0"/>
              <a:t>a </a:t>
            </a:r>
            <a:r>
              <a:rPr b="0" i="0" strike="noStrike" dirty="0"/>
              <a:t>title </a:t>
            </a:r>
            <a:r>
              <a:rPr b="0" i="0" strike="noStrike" dirty="0"/>
              <a:t>string </a:t>
            </a:r>
            <a:r>
              <a:rPr b="0" i="0" strike="noStrike" dirty="0"/>
              <a:t>via </a:t>
            </a:r>
            <a:r>
              <a:rPr b="0" i="0" strike="noStrike" dirty="0"/>
              <a:t>the </a:t>
            </a:r>
            <a:r>
              <a:rPr b="1" i="0" strike="noStrike" dirty="0"/>
              <a:t>title</a:t>
            </a:r>
            <a:r>
              <a:rPr b="0" i="0" strike="noStrike" dirty="0"/>
              <a:t> </a:t>
            </a:r>
            <a:r>
              <a:rPr b="0" i="0" strike="noStrike" dirty="0"/>
              <a:t>or </a:t>
            </a:r>
            <a:r>
              <a:rPr b="1" i="0" strike="noStrike" dirty="0"/>
              <a:t>getTitle</a:t>
            </a:r>
            <a:r>
              <a:rPr b="0" i="0" strike="noStrike" dirty="0"/>
              <a:t> </a:t>
            </a:r>
            <a:r>
              <a:rPr b="0" i="0" strike="noStrike" dirty="0"/>
              <a:t>attributes. </a:t>
            </a:r>
            <a:r>
              <a:rPr b="0" i="0" strike="noStrike" dirty="0"/>
              <a:t>It </a:t>
            </a:r>
            <a:r>
              <a:rPr b="0" i="0" strike="noStrike" dirty="0"/>
              <a:t>otherwise </a:t>
            </a:r>
            <a:r>
              <a:rPr b="0" i="0" strike="noStrike" dirty="0"/>
              <a:t>behaves </a:t>
            </a:r>
            <a:r>
              <a:rPr b="0" i="0" strike="noStrike" dirty="0"/>
              <a:t>identically </a:t>
            </a:r>
            <a:r>
              <a:rPr b="0" i="0" strike="noStrike" dirty="0"/>
              <a:t>to </a:t>
            </a:r>
            <a:r>
              <a:rPr b="0" i="0" strike="noStrike" dirty="0"/>
              <a:t>the </a:t>
            </a:r>
            <a:r>
              <a:rPr b="0" i="0" strike="noStrike" dirty="0"/>
              <a:t>regular </a:t>
            </a:r>
            <a:r>
              <a:rPr b="1" i="0" strike="noStrike" dirty="0"/>
              <a:t>splitButton</a:t>
            </a:r>
            <a:r>
              <a:rPr b="0" i="0" strike="noStrike" dirty="0"/>
              <a:t> </a:t>
            </a:r>
            <a:r>
              <a:rPr b="0" i="0" strike="noStrike" dirty="0"/>
              <a:t>element, </a:t>
            </a:r>
            <a:r>
              <a:rPr b="0" i="0" strike="noStrike" dirty="0"/>
              <a:t>as </a:t>
            </a:r>
            <a:r>
              <a:rPr b="0" i="0" strike="noStrike" dirty="0"/>
              <a:t>specified </a:t>
            </a:r>
            <a:r>
              <a:rPr b="0" i="0" strike="noStrike" dirty="0"/>
              <a:t>in </a:t>
            </a:r>
            <a:r>
              <a:rPr b="0" i="0" strike="noStrike" dirty="0"/>
              <a:t>section </a:t>
            </a:r>
            <a:r>
              <a:rPr/>
              <a:t>2.2.38</a:t>
            </a:r>
            <a:r>
              <a:rPr b="0" i="0" strike="noStrike" dirty="0"/>
              <a:t>.</a:t>
            </a:r>
          </a:p>
        </p:txBody>
      </p:sp>
      <p:sp>
        <p:nvSpPr>
          <p:cNvPr id="10" name="TextBox10"/>
          <p:cNvSpPr txBox="1">
            <a:spLocks noChangeArrowheads="1"/>
          </p:cNvSpPr>
          <p:nvPr/>
        </p:nvSpPr>
        <p:spPr>
          <a:xfrm rot="0">
            <a:off x="508000" y="4445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11" name="Table 11"/>
          <p:cNvGraphicFramePr/>
          <p:nvPr/>
        </p:nvGraphicFramePr>
        <p:xfrm rot="0">
          <a:off x="508000" y="479044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menu</a:t>
                      </a:r>
                    </a:p>
                    <a:p>
                      <a:pPr defTabSz="914400"/>
                      <a:r>
                        <a:rPr b="0" i="0" strike="noStrike" dirty="0"/>
                        <a:t> (section </a:t>
                      </a:r>
                      <a:endParaRPr b="1" i="0" strike="noStrike" dirty="0"/>
                    </a:p>
                    <a:p>
                      <a:pPr defTabSz="914400"/>
                      <a:r>
                        <a:rPr/>
                        <a:t>2.2.27</a:t>
                      </a:r>
                      <a:endParaRPr b="1" i="0" strike="noStrike" dirty="0"/>
                    </a:p>
                    <a:p>
                      <a:pPr defTabSz="914400"/>
                      <a:r>
                        <a:rPr b="0" i="0" strike="noStrike" dirty="0"/>
                        <a:t>); </a:t>
                      </a:r>
                      <a:endParaRPr b="1" i="0" strike="noStrike" dirty="0"/>
                    </a:p>
                    <a:p>
                      <a:pPr defTabSz="914400"/>
                      <a:r>
                        <a:rPr b="1" i="0" strike="noStrike" dirty="0"/>
                        <a:t>officeMenu</a:t>
                      </a:r>
                      <a:endParaRPr b="1" i="0" strike="noStrike" dirty="0"/>
                    </a:p>
                    <a:p>
                      <a:pPr defTabSz="914400"/>
                      <a:r>
                        <a:rPr b="0" i="0" strike="noStrike" dirty="0"/>
                        <a:t> (section </a:t>
                      </a:r>
                      <a:endParaRPr b="1" i="0" strike="noStrike" dirty="0"/>
                    </a:p>
                    <a:p>
                      <a:pPr defTabSz="914400"/>
                      <a:r>
                        <a:rPr/>
                        <a:t>2.2.31</a:t>
                      </a:r>
                      <a:endParaRPr b="1" i="0" strike="noStrike" dirty="0"/>
                    </a:p>
                    <a:p>
                      <a:pPr defTabSz="914400"/>
                      <a:r>
                        <a:rPr b="0" i="0" strike="noStrike" dirty="0"/>
                        <a:t>)</a:t>
                      </a:r>
                      <a:endParaRPr b="1" i="0" strike="noStrike" dirty="0"/>
                    </a:p>
                  </a:txBody>
                  <a:tcPr horzOverflow="overflow"/>
                </a:tc>
              </a:tr>
            </a:tbl>
          </a:graphicData>
        </a:graphic>
      </p:graphicFrame>
      <p:sp>
        <p:nvSpPr>
          <p:cNvPr id="12" name="TextBox12"/>
          <p:cNvSpPr txBox="1">
            <a:spLocks noChangeArrowheads="1"/>
          </p:cNvSpPr>
          <p:nvPr/>
        </p:nvSpPr>
        <p:spPr>
          <a:xfrm rot="0">
            <a:off x="508000" y="58572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203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button</a:t>
                      </a:r>
                    </a:p>
                    <a:p>
                      <a:pPr defTabSz="914400"/>
                      <a:r>
                        <a:rPr b="0" i="0" strike="noStrike" dirty="0"/>
                        <a:t> (Button Inside of a Split Button)</a:t>
                      </a:r>
                      <a:endParaRPr b="1" i="0" strike="noStrike" dirty="0"/>
                    </a:p>
                  </a:txBody>
                  <a:tcPr horzOverflow="overflow"/>
                </a:tc>
                <a:tc>
                  <a:txBody>
                    <a:bodyPr/>
                    <a:lstStyle/>
                    <a:p>
                      <a:pPr algn="l" defTabSz="914400"/>
                      <a:r>
                        <a:rPr/>
                        <a:t>2.2.4</a:t>
                      </a:r>
                    </a:p>
                  </a:txBody>
                  <a:tcPr horzOverflow="overflow"/>
                </a:tc>
              </a:tr>
              <a:tr h="508000">
                <a:tc>
                  <a:txBody>
                    <a:bodyPr/>
                    <a:lstStyle/>
                    <a:p>
                      <a:pPr algn="l" defTabSz="914400"/>
                      <a:r>
                        <a:rPr b="1" i="0" strike="noStrike" dirty="0"/>
                        <a:t>menu</a:t>
                      </a:r>
                    </a:p>
                    <a:p>
                      <a:pPr defTabSz="914400"/>
                      <a:r>
                        <a:rPr b="0" i="0" strike="noStrike" dirty="0"/>
                        <a:t> (Menu with Title)</a:t>
                      </a:r>
                      <a:endParaRPr b="1" i="0" strike="noStrike" dirty="0"/>
                    </a:p>
                  </a:txBody>
                  <a:tcPr horzOverflow="overflow"/>
                </a:tc>
                <a:tc>
                  <a:txBody>
                    <a:bodyPr/>
                    <a:lstStyle/>
                    <a:p>
                      <a:pPr algn="l" defTabSz="914400"/>
                      <a:r>
                        <a:rPr b="0" i="0" strike="noStrike" dirty="0"/>
                        <a:t>2.2.27</a:t>
                      </a:r>
                    </a:p>
                  </a:txBody>
                  <a:tcPr horzOverflow="overflow"/>
                </a:tc>
              </a:tr>
              <a:tr h="508000">
                <a:tc>
                  <a:txBody>
                    <a:bodyPr/>
                    <a:lstStyle/>
                    <a:p>
                      <a:pPr algn="l" defTabSz="914400"/>
                      <a:r>
                        <a:rPr b="1" i="0" strike="noStrike" dirty="0"/>
                        <a:t>toggleButton</a:t>
                      </a:r>
                    </a:p>
                    <a:p>
                      <a:pPr defTabSz="914400"/>
                      <a:r>
                        <a:rPr b="0" i="0" strike="noStrike" dirty="0"/>
                        <a:t> (Toggle Button Inside of a Split Button)</a:t>
                      </a:r>
                      <a:endParaRPr b="1" i="0" strike="noStrike" dirty="0"/>
                    </a:p>
                  </a:txBody>
                  <a:tcPr horzOverflow="overflow"/>
                </a:tc>
                <a:tc>
                  <a:txBody>
                    <a:bodyPr/>
                    <a:lstStyle/>
                    <a:p>
                      <a:pPr algn="l" defTabSz="914400"/>
                      <a:r>
                        <a:rPr/>
                        <a:t>2.2.44</a:t>
                      </a:r>
                    </a:p>
                  </a:txBody>
                  <a:tcPr horzOverflow="overflow"/>
                </a:tc>
              </a:tr>
            </a:tbl>
          </a:graphicData>
        </a:graphic>
      </p:graphicFrame>
      <p:sp>
        <p:nvSpPr>
          <p:cNvPr id="3" name="TextBox3"/>
          <p:cNvSpPr txBox="1">
            <a:spLocks noChangeArrowheads="1"/>
          </p:cNvSpPr>
          <p:nvPr/>
        </p:nvSpPr>
        <p:spPr>
          <a:xfrm rot="0">
            <a:off x="508000" y="2590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enabled</a:t>
                      </a:r>
                    </a:p>
                    <a:p>
                      <a:pPr defTabSz="914400"/>
                      <a:r>
                        <a:rPr b="0" i="0" strike="noStrike" dirty="0"/>
                        <a:t> (enabled state)</a:t>
                      </a:r>
                      <a:endParaRPr b="1" i="0" strike="noStrike" dirty="0"/>
                    </a:p>
                  </a:txBody>
                  <a:tcPr horzOverflow="overflow"/>
                </a:tc>
                <a:tc>
                  <a:txBody>
                    <a:bodyPr/>
                    <a:lstStyle/>
                    <a:p>
                      <a:pPr algn="l" defTabSz="914400"/>
                      <a:r>
                        <a:rPr b="0" i="0" strike="noStrike" dirty="0"/>
                        <a:t>Specifies the enabled state of the control. The </a:t>
                      </a:r>
                    </a:p>
                    <a:p>
                      <a:pPr defTabSz="914400"/>
                      <a:r>
                        <a:rPr b="1" i="0" strike="noStrike" dirty="0"/>
                        <a:t>getEnabled</a:t>
                      </a:r>
                      <a:endParaRPr b="0" i="0" strike="noStrike" dirty="0"/>
                    </a:p>
                    <a:p>
                      <a:pPr defTabSz="914400"/>
                      <a:r>
                        <a:rPr b="0" i="0" strike="noStrike" dirty="0"/>
                        <a:t> and </a:t>
                      </a:r>
                      <a:endParaRPr b="0" i="0" strike="noStrike" dirty="0"/>
                    </a:p>
                    <a:p>
                      <a:pPr defTabSz="914400"/>
                      <a:r>
                        <a:rPr b="1" i="0" strike="noStrike" dirty="0"/>
                        <a:t>enabled</a:t>
                      </a:r>
                      <a:endParaRPr b="0" i="0" strike="noStrike" dirty="0"/>
                    </a:p>
                    <a:p>
                      <a:pPr defTabSz="914400"/>
                      <a:r>
                        <a:rPr b="0" i="0" strike="noStrike" dirty="0"/>
                        <a:t> attributes are mutually exclusive. If neither attribute is specified, the control SHOULD default to being enabled. This attribute cannot be used to enable a built-in control that would otherwise be disabled by the application. For example, consider the following XML fragment: &lt;button id="button" label="Disabled Button" enabled="false" /&gt; This specifies a new button that is disabled. A permanently disabled button is not very useful, thus the </a:t>
                      </a:r>
                      <a:endParaRPr b="0" i="0" strike="noStrike" dirty="0"/>
                    </a:p>
                    <a:p>
                      <a:pPr defTabSz="914400"/>
                      <a:r>
                        <a:rPr b="1" i="0" strike="noStrike" dirty="0"/>
                        <a:t>enabled</a:t>
                      </a:r>
                      <a:endParaRPr b="0" i="0" strike="noStrike" dirty="0"/>
                    </a:p>
                    <a:p>
                      <a:pPr defTabSz="914400"/>
                      <a:r>
                        <a:rPr b="0" i="0" strike="noStrike" dirty="0"/>
                        <a:t> attribute is not commonly used.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getEnabled</a:t>
                      </a:r>
                    </a:p>
                    <a:p>
                      <a:pPr defTabSz="914400"/>
                      <a:r>
                        <a:rPr b="0" i="0" strike="noStrike" dirty="0"/>
                        <a:t> ( </a:t>
                      </a:r>
                      <a:endParaRPr b="1" i="0" strike="noStrike" dirty="0"/>
                    </a:p>
                    <a:p>
                      <a:pPr defTabSz="914400"/>
                      <a:r>
                        <a:rPr b="1" i="0" strike="noStrike" dirty="0"/>
                        <a:t>getEnabled</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enabled state of this control. The </a:t>
                      </a:r>
                    </a:p>
                    <a:p>
                      <a:pPr defTabSz="914400"/>
                      <a:r>
                        <a:rPr b="1" i="0" strike="noStrike" dirty="0"/>
                        <a:t>getEnabled</a:t>
                      </a:r>
                      <a:endParaRPr b="0" i="0" strike="noStrike" dirty="0"/>
                    </a:p>
                    <a:p>
                      <a:pPr defTabSz="914400"/>
                      <a:r>
                        <a:rPr b="0" i="0" strike="noStrike" dirty="0"/>
                        <a:t> and </a:t>
                      </a:r>
                      <a:endParaRPr b="0" i="0" strike="noStrike" dirty="0"/>
                    </a:p>
                    <a:p>
                      <a:pPr defTabSz="914400"/>
                      <a:r>
                        <a:rPr b="1" i="0" strike="noStrike" dirty="0"/>
                        <a:t>enabled</a:t>
                      </a:r>
                      <a:endParaRPr b="0" i="0" strike="noStrike" dirty="0"/>
                    </a:p>
                    <a:p>
                      <a:pPr defTabSz="914400"/>
                      <a:r>
                        <a:rPr b="0" i="0" strike="noStrike" dirty="0"/>
                        <a:t> attributes are mutually exclusive. If neither attribute is specified, the control SHOULD default to being enabled. For example, consider the following XML fragment: &lt;button id="button" getEnabled="IsButtonEnabled" /&gt; In this example, the </a:t>
                      </a:r>
                      <a:endParaRPr b="0" i="0" strike="noStrike" dirty="0"/>
                    </a:p>
                    <a:p>
                      <a:pPr defTabSz="914400"/>
                      <a:r>
                        <a:rPr b="1" i="0" strike="noStrike" dirty="0"/>
                        <a:t>IsButtonEnabled</a:t>
                      </a:r>
                      <a:endParaRPr b="0" i="0" strike="noStrike" dirty="0"/>
                    </a:p>
                    <a:p>
                      <a:pPr defTabSz="914400"/>
                      <a:r>
                        <a:rPr b="0" i="0" strike="noStrike" dirty="0"/>
                        <a:t> callback function is called when the application needs to determine the enabled state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a:t>
                      </a:r>
                      <a:endParaRPr b="0" i="0" strike="noStrike" dirty="0"/>
                    </a:p>
                    <a:p>
                      <a:pPr defTabSz="914400"/>
                      <a:r>
                        <a:rPr/>
                        <a:t>2.3.2</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getImage</a:t>
                      </a:r>
                    </a:p>
                    <a:p>
                      <a:pPr defTabSz="914400"/>
                      <a:r>
                        <a:rPr b="0" i="0" strike="noStrike" dirty="0"/>
                        <a:t> ( </a:t>
                      </a:r>
                      <a:endParaRPr b="1" i="0" strike="noStrike" dirty="0"/>
                    </a:p>
                    <a:p>
                      <a:pPr defTabSz="914400"/>
                      <a:r>
                        <a:rPr b="1" i="0" strike="noStrike" dirty="0"/>
                        <a:t>getImage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icon of this control.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getImage="GetButtonImage" /&gt; In this example, the </a:t>
                      </a:r>
                      <a:endParaRPr b="0" i="0" strike="noStrike" dirty="0"/>
                    </a:p>
                    <a:p>
                      <a:pPr defTabSz="914400"/>
                      <a:r>
                        <a:rPr b="1" i="0" strike="noStrike" dirty="0"/>
                        <a:t>GetButtonImage</a:t>
                      </a:r>
                      <a:endParaRPr b="0" i="0" strike="noStrike" dirty="0"/>
                    </a:p>
                    <a:p>
                      <a:pPr defTabSz="914400"/>
                      <a:r>
                        <a:rPr b="0" i="0" strike="noStrike" dirty="0"/>
                        <a:t> callback function is called when the application needs to determine the icon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getKeytip</a:t>
                      </a:r>
                    </a:p>
                    <a:p>
                      <a:pPr defTabSz="914400"/>
                      <a:r>
                        <a:rPr b="0" i="0" strike="noStrike" dirty="0"/>
                        <a:t> ( </a:t>
                      </a:r>
                      <a:endParaRPr b="1" i="0" strike="noStrike" dirty="0"/>
                    </a:p>
                    <a:p>
                      <a:pPr defTabSz="914400"/>
                      <a:r>
                        <a:rPr b="1" i="0" strike="noStrike" dirty="0"/>
                        <a:t>getKeytip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suggested </a:t>
                      </a:r>
                    </a:p>
                    <a:p>
                      <a:pPr defTabSz="914400"/>
                      <a:r>
                        <a:rPr/>
                        <a:t>KeyTip</a:t>
                      </a:r>
                      <a:endParaRPr b="0" i="0" strike="noStrike" dirty="0"/>
                    </a:p>
                    <a:p>
                      <a:pPr defTabSz="914400"/>
                      <a:r>
                        <a:rPr b="0" i="0" strike="noStrike" dirty="0"/>
                        <a:t> of this control. The </a:t>
                      </a:r>
                      <a:endParaRPr b="0" i="0" strike="noStrike" dirty="0"/>
                    </a:p>
                    <a:p>
                      <a:pPr defTabSz="914400"/>
                      <a:r>
                        <a:rPr b="1" i="0" strike="noStrike" dirty="0"/>
                        <a:t>getKeytip</a:t>
                      </a:r>
                      <a:endParaRPr b="0" i="0" strike="noStrike" dirty="0"/>
                    </a:p>
                    <a:p>
                      <a:pPr defTabSz="914400"/>
                      <a:r>
                        <a:rPr b="0" i="0" strike="noStrike" dirty="0"/>
                        <a:t> and </a:t>
                      </a:r>
                      <a:endParaRPr b="0" i="0" strike="noStrike" dirty="0"/>
                    </a:p>
                    <a:p>
                      <a:pPr defTabSz="914400"/>
                      <a:r>
                        <a:rPr b="1" i="0" strike="noStrike" dirty="0"/>
                        <a:t>keytip</a:t>
                      </a:r>
                      <a:endParaRPr b="0" i="0" strike="noStrike" dirty="0"/>
                    </a:p>
                    <a:p>
                      <a:pPr defTabSz="914400"/>
                      <a:r>
                        <a:rPr b="0" i="0" strike="noStrike" dirty="0"/>
                        <a:t> attributes are mutually exclusive. If neither attribute is specified, the application SHOULD generate a KeyTip for the control automatically. For example, consider the following XML fragment: &lt;button id="button" getKeytip="GetButtonKeytip" /&gt; In this example, the </a:t>
                      </a:r>
                      <a:endParaRPr b="0" i="0" strike="noStrike" dirty="0"/>
                    </a:p>
                    <a:p>
                      <a:pPr defTabSz="914400"/>
                      <a:r>
                        <a:rPr b="1" i="0" strike="noStrike" dirty="0"/>
                        <a:t>GetButtonKeytip</a:t>
                      </a:r>
                      <a:endParaRPr b="0" i="0" strike="noStrike" dirty="0"/>
                    </a:p>
                    <a:p>
                      <a:pPr defTabSz="914400"/>
                      <a:r>
                        <a:rPr b="0" i="0" strike="noStrike" dirty="0"/>
                        <a:t> callback function is called when the application needs to determine the KeyTip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getLabel</a:t>
                      </a:r>
                    </a:p>
                    <a:p>
                      <a:pPr defTabSz="914400"/>
                      <a:r>
                        <a:rPr b="0" i="0" strike="noStrike" dirty="0"/>
                        <a:t> ( </a:t>
                      </a:r>
                      <a:endParaRPr b="1" i="0" strike="noStrike" dirty="0"/>
                    </a:p>
                    <a:p>
                      <a:pPr defTabSz="914400"/>
                      <a:r>
                        <a:rPr b="1" i="0" strike="noStrike" dirty="0"/>
                        <a:t>getLabel</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label of this control. The </a:t>
                      </a:r>
                    </a:p>
                    <a:p>
                      <a:pPr defTabSz="914400"/>
                      <a:r>
                        <a:rPr b="1" i="0" strike="noStrike" dirty="0"/>
                        <a:t>getLabel</a:t>
                      </a:r>
                      <a:endParaRPr b="0" i="0" strike="noStrike" dirty="0"/>
                    </a:p>
                    <a:p>
                      <a:pPr defTabSz="914400"/>
                      <a:r>
                        <a:rPr b="0" i="0" strike="noStrike" dirty="0"/>
                        <a:t> and </a:t>
                      </a:r>
                      <a:endParaRPr b="0" i="0" strike="noStrike" dirty="0"/>
                    </a:p>
                    <a:p>
                      <a:pPr defTabSz="914400"/>
                      <a:r>
                        <a:rPr b="1" i="0" strike="noStrike" dirty="0"/>
                        <a:t>label</a:t>
                      </a:r>
                      <a:endParaRPr b="0" i="0" strike="noStrike" dirty="0"/>
                    </a:p>
                    <a:p>
                      <a:pPr defTabSz="914400"/>
                      <a:r>
                        <a:rPr b="0" i="0" strike="noStrike" dirty="0"/>
                        <a:t> attributes are mutually exclusive. If neither attribute is specified, no label SHOULD be displayed. For example, consider the following XML fragment: &lt;button id="button" getLabel="GetButtonLabel" /&gt; In this example, the </a:t>
                      </a:r>
                      <a:endParaRPr b="0" i="0" strike="noStrike" dirty="0"/>
                    </a:p>
                    <a:p>
                      <a:pPr defTabSz="914400"/>
                      <a:r>
                        <a:rPr b="1" i="0" strike="noStrike" dirty="0"/>
                        <a:t>GetButtonLabel</a:t>
                      </a:r>
                      <a:endParaRPr b="0" i="0" strike="noStrike" dirty="0"/>
                    </a:p>
                    <a:p>
                      <a:pPr defTabSz="914400"/>
                      <a:r>
                        <a:rPr b="0" i="0" strike="noStrike" dirty="0"/>
                        <a:t> callback function is called when the application needs to determine the label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getScreentip</a:t>
                      </a:r>
                    </a:p>
                    <a:p>
                      <a:pPr defTabSz="914400"/>
                      <a:r>
                        <a:rPr b="0" i="0" strike="noStrike" dirty="0"/>
                        <a:t> ( </a:t>
                      </a:r>
                      <a:endParaRPr b="1" i="0" strike="noStrike" dirty="0"/>
                    </a:p>
                    <a:p>
                      <a:pPr defTabSz="914400"/>
                      <a:r>
                        <a:rPr b="1" i="0" strike="noStrike" dirty="0"/>
                        <a:t>getScreentip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screentip of this control. The </a:t>
                      </a:r>
                    </a:p>
                    <a:p>
                      <a:pPr defTabSz="914400"/>
                      <a:r>
                        <a:rPr b="1" i="0" strike="noStrike" dirty="0"/>
                        <a:t>getScreentip</a:t>
                      </a:r>
                      <a:endParaRPr b="0" i="0" strike="noStrike" dirty="0"/>
                    </a:p>
                    <a:p>
                      <a:pPr defTabSz="914400"/>
                      <a:r>
                        <a:rPr b="0" i="0" strike="noStrike" dirty="0"/>
                        <a:t> and </a:t>
                      </a:r>
                      <a:endParaRPr b="0" i="0" strike="noStrike" dirty="0"/>
                    </a:p>
                    <a:p>
                      <a:pPr defTabSz="914400"/>
                      <a:r>
                        <a:rPr b="1" i="0" strike="noStrike" dirty="0"/>
                        <a:t>screentip</a:t>
                      </a:r>
                      <a:endParaRPr b="0" i="0" strike="noStrike" dirty="0"/>
                    </a:p>
                    <a:p>
                      <a:pPr defTabSz="914400"/>
                      <a:r>
                        <a:rPr b="0" i="0" strike="noStrike" dirty="0"/>
                        <a:t> attributes are mutually exclusive. If neither attribute is specified, the application SHOULD display the label of the control as the screentip or display no screentip at all. For example, consider the following XML fragment: &lt;button id="button" getScreentip="GetButtonScreentip" /&gt; In this example, the </a:t>
                      </a:r>
                      <a:endParaRPr b="0" i="0" strike="noStrike" dirty="0"/>
                    </a:p>
                    <a:p>
                      <a:pPr defTabSz="914400"/>
                      <a:r>
                        <a:rPr b="1" i="0" strike="noStrike" dirty="0"/>
                        <a:t>GetButtonScreentip</a:t>
                      </a:r>
                      <a:endParaRPr b="0" i="0" strike="noStrike" dirty="0"/>
                    </a:p>
                    <a:p>
                      <a:pPr defTabSz="914400"/>
                      <a:r>
                        <a:rPr b="0" i="0" strike="noStrike" dirty="0"/>
                        <a:t> callback function is called when the application needs to determine the screentip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getShowImage</a:t>
                      </a:r>
                    </a:p>
                    <a:p>
                      <a:pPr defTabSz="914400"/>
                      <a:r>
                        <a:rPr b="0" i="0" strike="noStrike" dirty="0"/>
                        <a:t> ( </a:t>
                      </a:r>
                      <a:endParaRPr b="1" i="0" strike="noStrike" dirty="0"/>
                    </a:p>
                    <a:p>
                      <a:pPr defTabSz="914400"/>
                      <a:r>
                        <a:rPr b="1" i="0" strike="noStrike" dirty="0"/>
                        <a:t>getShowImage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whether the application SHOULD display the icon of this control.  The </a:t>
                      </a:r>
                    </a:p>
                    <a:p>
                      <a:pPr defTabSz="914400"/>
                      <a:r>
                        <a:rPr b="1" i="0" strike="noStrike" dirty="0"/>
                        <a:t>showImage</a:t>
                      </a:r>
                      <a:endParaRPr b="0" i="0" strike="noStrike" dirty="0"/>
                    </a:p>
                    <a:p>
                      <a:pPr defTabSz="914400"/>
                      <a:r>
                        <a:rPr b="0" i="0" strike="noStrike" dirty="0"/>
                        <a:t> and </a:t>
                      </a:r>
                      <a:endParaRPr b="0" i="0" strike="noStrike" dirty="0"/>
                    </a:p>
                    <a:p>
                      <a:pPr defTabSz="914400"/>
                      <a:r>
                        <a:rPr b="1" i="0" strike="noStrike" dirty="0"/>
                        <a:t>getShowImage</a:t>
                      </a:r>
                      <a:endParaRPr b="0" i="0" strike="noStrike" dirty="0"/>
                    </a:p>
                    <a:p>
                      <a:pPr defTabSz="914400"/>
                      <a:r>
                        <a:rPr b="0" i="0" strike="noStrike" dirty="0"/>
                        <a:t> attributes are mutually exclusive. If neither attribute is specified, the control SHOULD display its icon. For example, consider the following XML fragment: &lt;button id="button" getShowImage="IsButtonImageVisible" /&gt; In this example, the </a:t>
                      </a:r>
                      <a:endParaRPr b="0" i="0" strike="noStrike" dirty="0"/>
                    </a:p>
                    <a:p>
                      <a:pPr defTabSz="914400"/>
                      <a:r>
                        <a:rPr b="1" i="0" strike="noStrike" dirty="0"/>
                        <a:t>IsButtonImageVisible</a:t>
                      </a:r>
                      <a:endParaRPr b="0" i="0" strike="noStrike" dirty="0"/>
                    </a:p>
                    <a:p>
                      <a:pPr defTabSz="914400"/>
                      <a:r>
                        <a:rPr b="0" i="0" strike="noStrike" dirty="0"/>
                        <a:t> callback function is called when the application needs to determine whether to display the icon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getShowLabel</a:t>
                      </a:r>
                    </a:p>
                    <a:p>
                      <a:pPr defTabSz="914400"/>
                      <a:r>
                        <a:rPr b="0" i="0" strike="noStrike" dirty="0"/>
                        <a:t> ( </a:t>
                      </a:r>
                      <a:endParaRPr b="1" i="0" strike="noStrike" dirty="0"/>
                    </a:p>
                    <a:p>
                      <a:pPr defTabSz="914400"/>
                      <a:r>
                        <a:rPr b="1" i="0" strike="noStrike" dirty="0"/>
                        <a:t>getShowLabel</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whether the application SHOULD display the label of this control.  The </a:t>
                      </a:r>
                    </a:p>
                    <a:p>
                      <a:pPr defTabSz="914400"/>
                      <a:r>
                        <a:rPr b="1" i="0" strike="noStrike" dirty="0"/>
                        <a:t>showLabel</a:t>
                      </a:r>
                      <a:endParaRPr b="0" i="0" strike="noStrike" dirty="0"/>
                    </a:p>
                    <a:p>
                      <a:pPr defTabSz="914400"/>
                      <a:r>
                        <a:rPr b="0" i="0" strike="noStrike" dirty="0"/>
                        <a:t> and </a:t>
                      </a:r>
                      <a:endParaRPr b="0" i="0" strike="noStrike" dirty="0"/>
                    </a:p>
                    <a:p>
                      <a:pPr defTabSz="914400"/>
                      <a:r>
                        <a:rPr b="1" i="0" strike="noStrike" dirty="0"/>
                        <a:t>getShowLabel</a:t>
                      </a:r>
                      <a:endParaRPr b="0" i="0" strike="noStrike" dirty="0"/>
                    </a:p>
                    <a:p>
                      <a:pPr defTabSz="914400"/>
                      <a:r>
                        <a:rPr b="0" i="0" strike="noStrike" dirty="0"/>
                        <a:t> attributes are mutually exclusive. If neither attribute is specified, the control SHOULD default to showing its label. For example, consider the following XML fragment: &lt;button id="button" getShowLabel="IsButtonLabelVisible" /&gt; In this example, the </a:t>
                      </a:r>
                      <a:endParaRPr b="0" i="0" strike="noStrike" dirty="0"/>
                    </a:p>
                    <a:p>
                      <a:pPr defTabSz="914400"/>
                      <a:r>
                        <a:rPr b="1" i="0" strike="noStrike" dirty="0"/>
                        <a:t>IsButtonLabelVisible</a:t>
                      </a:r>
                      <a:endParaRPr b="0" i="0" strike="noStrike" dirty="0"/>
                    </a:p>
                    <a:p>
                      <a:pPr defTabSz="914400"/>
                      <a:r>
                        <a:rPr b="0" i="0" strike="noStrike" dirty="0"/>
                        <a:t> callback function is called when the application needs to determine whether to display the label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getSupertip</a:t>
                      </a:r>
                    </a:p>
                    <a:p>
                      <a:pPr defTabSz="914400"/>
                      <a:r>
                        <a:rPr b="0" i="0" strike="noStrike" dirty="0"/>
                        <a:t> ( </a:t>
                      </a:r>
                      <a:endParaRPr b="1" i="0" strike="noStrike" dirty="0"/>
                    </a:p>
                    <a:p>
                      <a:pPr defTabSz="914400"/>
                      <a:r>
                        <a:rPr b="1" i="0" strike="noStrike" dirty="0"/>
                        <a:t>getSupertip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supertip of this control. The </a:t>
                      </a:r>
                    </a:p>
                    <a:p>
                      <a:pPr defTabSz="914400"/>
                      <a:r>
                        <a:rPr b="1" i="0" strike="noStrike" dirty="0"/>
                        <a:t>getSupertip</a:t>
                      </a:r>
                      <a:endParaRPr b="0" i="0" strike="noStrike" dirty="0"/>
                    </a:p>
                    <a:p>
                      <a:pPr defTabSz="914400"/>
                      <a:r>
                        <a:rPr b="0" i="0" strike="noStrike" dirty="0"/>
                        <a:t> and </a:t>
                      </a:r>
                      <a:endParaRPr b="0" i="0" strike="noStrike" dirty="0"/>
                    </a:p>
                    <a:p>
                      <a:pPr defTabSz="914400"/>
                      <a:r>
                        <a:rPr b="1" i="0" strike="noStrike" dirty="0"/>
                        <a:t>supertip</a:t>
                      </a:r>
                      <a:endParaRPr b="0" i="0" strike="noStrike" dirty="0"/>
                    </a:p>
                    <a:p>
                      <a:pPr defTabSz="914400"/>
                      <a:r>
                        <a:rPr b="0" i="0" strike="noStrike" dirty="0"/>
                        <a:t> attributes are mutually exclusive. If neither attribute is specified, no supertip for this control SHOULD be shown. For example, consider the following XML fragment: &lt;button id="button" getSupertip="GetButtonSupertip" /&gt; In this example, the </a:t>
                      </a:r>
                      <a:endParaRPr b="0" i="0" strike="noStrike" dirty="0"/>
                    </a:p>
                    <a:p>
                      <a:pPr defTabSz="914400"/>
                      <a:r>
                        <a:rPr b="1" i="0" strike="noStrike" dirty="0"/>
                        <a:t>GetButtonSupertip</a:t>
                      </a:r>
                      <a:endParaRPr b="0" i="0" strike="noStrike" dirty="0"/>
                    </a:p>
                    <a:p>
                      <a:pPr defTabSz="914400"/>
                      <a:r>
                        <a:rPr b="0" i="0" strike="noStrike" dirty="0"/>
                        <a:t> callback function is called when the application needs to determine the supertip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getVisible</a:t>
                      </a:r>
                    </a:p>
                    <a:p>
                      <a:pPr defTabSz="914400"/>
                      <a:r>
                        <a:rPr b="0" i="0" strike="noStrike" dirty="0"/>
                        <a:t> ( </a:t>
                      </a:r>
                      <a:endParaRPr b="1" i="0" strike="noStrike" dirty="0"/>
                    </a:p>
                    <a:p>
                      <a:pPr defTabSz="914400"/>
                      <a:r>
                        <a:rPr b="1" i="0" strike="noStrike" dirty="0"/>
                        <a:t>getVisible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visibility state of this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neither attribute is specified, the control SHOULD default to being visible. For example, consider the following XML fragment: &lt;button id="button" getVisible="IsButtonVisible" /&gt; In this example, the </a:t>
                      </a:r>
                      <a:endParaRPr b="0" i="0" strike="noStrike" dirty="0"/>
                    </a:p>
                    <a:p>
                      <a:pPr defTabSz="914400"/>
                      <a:r>
                        <a:rPr b="1" i="0" strike="noStrike" dirty="0"/>
                        <a:t>IsButtonVisible</a:t>
                      </a:r>
                      <a:endParaRPr b="0" i="0" strike="noStrike" dirty="0"/>
                    </a:p>
                    <a:p>
                      <a:pPr defTabSz="914400"/>
                      <a:r>
                        <a:rPr b="0" i="0" strike="noStrike" dirty="0"/>
                        <a:t> callback function is called when the application needs to determine the visibility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id</a:t>
                      </a:r>
                    </a:p>
                    <a:p>
                      <a:pPr defTabSz="914400"/>
                      <a:r>
                        <a:rPr b="0" i="0" strike="noStrike" dirty="0"/>
                        <a:t> (control identifier)</a:t>
                      </a:r>
                      <a:endParaRPr b="1" i="0" strike="noStrike" dirty="0"/>
                    </a:p>
                  </a:txBody>
                  <a:tcPr horzOverflow="overflow"/>
                </a:tc>
                <a:tc>
                  <a:txBody>
                    <a:bodyPr/>
                    <a:lstStyle/>
                    <a:p>
                      <a:pPr algn="l" defTabSz="914400"/>
                      <a:r>
                        <a:rPr b="0" i="0" strike="noStrike" dirty="0"/>
                        <a:t>Specifies the identifier for a custom control. All custom controls MUST have unique identifiers. The identifier of a control SHOULD be passed to callback functions to identify which control corresponds to the function call. The </a:t>
                      </a:r>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&lt;button id="MyButton" label="Button" /&gt; This specifies a custom button control with an identifier of "MyButton". The possible values for this attribute are defined by the </a:t>
                      </a:r>
                      <a:endParaRPr b="0" i="0" strike="noStrike" dirty="0"/>
                    </a:p>
                    <a:p>
                      <a:pPr defTabSz="914400"/>
                      <a:r>
                        <a:rPr b="1" i="0" strike="noStrike" dirty="0"/>
                        <a:t>ST_UniqueID</a:t>
                      </a:r>
                      <a:endParaRPr b="0" i="0" strike="noStrike" dirty="0"/>
                    </a:p>
                    <a:p>
                      <a:pPr defTabSz="914400"/>
                      <a:r>
                        <a:rPr b="0" i="0" strike="noStrike" dirty="0"/>
                        <a:t> simple type, as specified in section </a:t>
                      </a:r>
                      <a:endParaRPr b="0" i="0" strike="noStrike" dirty="0"/>
                    </a:p>
                    <a:p>
                      <a:pPr defTabSz="914400"/>
                      <a:r>
                        <a:rPr/>
                        <a:t>2.3.13</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idMso</a:t>
                      </a:r>
                    </a:p>
                    <a:p>
                      <a:pPr defTabSz="914400"/>
                      <a:r>
                        <a:rPr b="0" i="0" strike="noStrike" dirty="0"/>
                        <a:t> (built-in control identifier)</a:t>
                      </a:r>
                      <a:endParaRPr b="1" i="0" strike="noStrike" dirty="0"/>
                    </a:p>
                  </a:txBody>
                  <a:tcPr horzOverflow="overflow"/>
                </a:tc>
                <a:tc>
                  <a:txBody>
                    <a:bodyPr/>
                    <a:lstStyle/>
                    <a:p>
                      <a:pPr algn="l" defTabSz="914400"/>
                      <a:r>
                        <a:rPr b="0" i="0" strike="noStrike" dirty="0"/>
                        <a:t>Specifies the identifier of a built-in control.  The contents of this attribute are application-defined. The </a:t>
                      </a:r>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&lt;control idMso="Bold" /&gt; This creates a clone of the control with an identifier of "Bold".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a:t>
                      </a:r>
                      <a:endParaRPr b="0" i="0" strike="noStrike" dirty="0"/>
                    </a:p>
                    <a:p>
                      <a:pPr defTabSz="914400"/>
                      <a:r>
                        <a:rPr/>
                        <a:t>2.3.5</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5080000">
                <a:tc>
                  <a:txBody>
                    <a:bodyPr/>
                    <a:lstStyle/>
                    <a:p>
                      <a:pPr algn="l" defTabSz="914400"/>
                      <a:r>
                        <a:rPr b="1" i="0" strike="noStrike" dirty="0"/>
                        <a:t>idQ</a:t>
                      </a:r>
                    </a:p>
                    <a:p>
                      <a:pPr defTabSz="914400"/>
                      <a:r>
                        <a:rPr b="0" i="0" strike="noStrike" dirty="0"/>
                        <a:t> (qualified control identifier)</a:t>
                      </a:r>
                      <a:endParaRPr b="1" i="0" strike="noStrike" dirty="0"/>
                    </a:p>
                  </a:txBody>
                  <a:tcPr horzOverflow="overflow"/>
                </a:tc>
                <a:tc>
                  <a:txBody>
                    <a:bodyPr/>
                    <a:lstStyle/>
                    <a:p>
                      <a:pPr algn="l" defTabSz="914400"/>
                      <a:r>
                        <a:rPr b="0" i="0" strike="noStrike" dirty="0"/>
                        <a:t>Specifies a qualified identifier for a control. The </a:t>
                      </a:r>
                    </a:p>
                    <a:p>
                      <a:pPr defTabSz="914400"/>
                      <a:r>
                        <a:rPr b="1" i="0" strike="noStrike" dirty="0"/>
                        <a:t>idQ</a:t>
                      </a:r>
                      <a:endParaRPr b="0" i="0" strike="noStrike" dirty="0"/>
                    </a:p>
                    <a:p>
                      <a:pPr defTabSz="914400"/>
                      <a:r>
                        <a:rPr b="0" i="0" strike="noStrike" dirty="0"/>
                        <a:t> attribute can be used to reference controls or containers created by other Custom UI documents. The </a:t>
                      </a:r>
                      <a:endParaRPr b="0" i="0" strike="noStrike" dirty="0"/>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&lt;customUI    xmlns="http://schemas.microsoft.com/office/2006/01/customui"   xmlns:ex="http://www.example.com"&gt;   &lt;ribbon&gt;     &lt;tabs&gt;      &lt;tab idQ="ex:OtherTab" label="Shared Tab"&gt;         &lt;group id="MyGroup" label="My Group"&gt;           …         &lt;/group&gt;       &lt;/tab&gt;     &lt;/tabs&gt;   &lt;/ribbon&gt; &lt;/customUI&gt; In this case, </a:t>
                      </a:r>
                      <a:endParaRPr b="0" i="0" strike="noStrike" dirty="0"/>
                    </a:p>
                    <a:p>
                      <a:pPr defTabSz="914400"/>
                      <a:r>
                        <a:rPr b="1" i="0" strike="noStrike" dirty="0"/>
                        <a:t>ex</a:t>
                      </a:r>
                      <a:endParaRPr b="0" i="0" strike="noStrike" dirty="0"/>
                    </a:p>
                    <a:p>
                      <a:pPr defTabSz="914400"/>
                      <a:r>
                        <a:rPr b="0" i="0" strike="noStrike" dirty="0"/>
                        <a:t> is an XML namespace prefix for the namespace http://www.example.com. This XML fragment refers to a </a:t>
                      </a:r>
                      <a:endParaRPr b="0" i="0" strike="noStrike" dirty="0"/>
                    </a:p>
                    <a:p>
                      <a:pPr defTabSz="914400"/>
                      <a:r>
                        <a:rPr b="1" i="0" strike="noStrike" dirty="0"/>
                        <a:t>tab</a:t>
                      </a:r>
                      <a:endParaRPr b="0" i="0" strike="noStrike" dirty="0"/>
                    </a:p>
                    <a:p>
                      <a:pPr defTabSz="914400"/>
                      <a:r>
                        <a:rPr b="0" i="0" strike="noStrike" dirty="0"/>
                        <a:t> in that namespace with an identifier of "OtherTab". If that tab cannot be found, it is created. A new group belonging to this file is added to the 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a:t>
                      </a:r>
                      <a:endParaRPr b="0" i="0" strike="noStrike" dirty="0"/>
                    </a:p>
                    <a:p>
                      <a:pPr defTabSz="914400"/>
                      <a:r>
                        <a:rPr/>
                        <a:t>2.3.9</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image</a:t>
                      </a:r>
                    </a:p>
                    <a:p>
                      <a:pPr defTabSz="914400"/>
                      <a:r>
                        <a:rPr b="0" i="0" strike="noStrike" dirty="0"/>
                        <a:t> (custom image identifier)</a:t>
                      </a:r>
                      <a:endParaRPr b="1" i="0" strike="noStrike" dirty="0"/>
                    </a:p>
                  </a:txBody>
                  <a:tcPr horzOverflow="overflow"/>
                </a:tc>
                <a:tc>
                  <a:txBody>
                    <a:bodyPr/>
                    <a:lstStyle/>
                    <a:p>
                      <a:pPr algn="l" defTabSz="914400"/>
                      <a:r>
                        <a:rPr b="0" i="0" strike="noStrike" dirty="0"/>
                        <a:t>Specifies the relationship identifier for an image which SHOULD be used as the icon for this control. This attribute is used to specify an embedded picture that resides locally within the containing file.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image="ForestPic" /&gt; This specifies a custom button whose icon SHOULD be the embedded image file referenced by the relationship identifier of "ForestPic". The possible values for this attribute are defined by the </a:t>
                      </a:r>
                      <a:endParaRPr b="0" i="0" strike="noStrike" dirty="0"/>
                    </a:p>
                    <a:p>
                      <a:pPr defTabSz="914400"/>
                      <a:r>
                        <a:rPr b="1" i="0" strike="noStrike" dirty="0"/>
                        <a:t>ST_Uri</a:t>
                      </a:r>
                      <a:endParaRPr b="0" i="0" strike="noStrike" dirty="0"/>
                    </a:p>
                    <a:p>
                      <a:pPr defTabSz="914400"/>
                      <a:r>
                        <a:rPr b="0" i="0" strike="noStrike" dirty="0"/>
                        <a:t> simple type, as specified in section </a:t>
                      </a:r>
                      <a:endParaRPr b="0" i="0" strike="noStrike" dirty="0"/>
                    </a:p>
                    <a:p>
                      <a:pPr defTabSz="914400"/>
                      <a:r>
                        <a:rPr/>
                        <a:t>2.3.14</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imageMso</a:t>
                      </a:r>
                    </a:p>
                    <a:p>
                      <a:pPr defTabSz="914400"/>
                      <a:r>
                        <a:rPr b="0" i="0" strike="noStrike" dirty="0"/>
                        <a:t> (built-in image identifier)</a:t>
                      </a:r>
                      <a:endParaRPr b="1" i="0" strike="noStrike" dirty="0"/>
                    </a:p>
                  </a:txBody>
                  <a:tcPr horzOverflow="overflow"/>
                </a:tc>
                <a:tc>
                  <a:txBody>
                    <a:bodyPr/>
                    <a:lstStyle/>
                    <a:p>
                      <a:pPr algn="l" defTabSz="914400"/>
                      <a:r>
                        <a:rPr b="0" i="0" strike="noStrike" dirty="0"/>
                        <a:t>Specifies the identifier of a built-in image which SHOULD be used as the icon of this control. The contents of this attribute are application-defined and SHOULD be ignored if not understood.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imageMso="Bold" /&gt; This specifies a custom button that SHOULD use the built-in image with an identifier of "Bold".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insertAfterMso</a:t>
                      </a:r>
                    </a:p>
                    <a:p>
                      <a:pPr defTabSz="914400"/>
                      <a:r>
                        <a:rPr b="0" i="0" strike="noStrike" dirty="0"/>
                        <a:t> (identifier of built-in control to insert after)</a:t>
                      </a:r>
                      <a:endParaRPr b="1" i="0" strike="noStrike" dirty="0"/>
                    </a:p>
                  </a:txBody>
                  <a:tcPr horzOverflow="overflow"/>
                </a:tc>
                <a:tc>
                  <a:txBody>
                    <a:bodyPr/>
                    <a:lstStyle/>
                    <a:p>
                      <a:pPr algn="l" defTabSz="914400"/>
                      <a:r>
                        <a:rPr b="0" i="0" strike="noStrike" dirty="0"/>
                        <a:t>Specifies the identifier of a built-in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insertAfterMso="TabHome" label="Custom Tab"&gt;   … &lt;/tab&gt; In this example, a new custom tab with an identifier of "MyTab" is to be inserted after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insertAfterQ</a:t>
                      </a:r>
                    </a:p>
                    <a:p>
                      <a:pPr defTabSz="914400"/>
                      <a:r>
                        <a:rPr b="0" i="0" strike="noStrike" dirty="0"/>
                        <a:t> (qualified identifier of control to insert after)</a:t>
                      </a:r>
                      <a:endParaRPr b="1" i="0" strike="noStrike" dirty="0"/>
                    </a:p>
                  </a:txBody>
                  <a:tcPr horzOverflow="overflow"/>
                </a:tc>
                <a:tc>
                  <a:txBody>
                    <a:bodyPr/>
                    <a:lstStyle/>
                    <a:p>
                      <a:pPr algn="l" defTabSz="914400"/>
                      <a:r>
                        <a:rPr b="0" i="0" strike="noStrike" dirty="0"/>
                        <a:t>Specifies the qualified identifier of a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insertAfterQ="x:OtherTab" label="Custom Tab"&gt;   … &lt;/tab&gt; In this example, a new custom tab with an identifier of "MyTab" is to be inserted after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insertBeforeMso</a:t>
                      </a:r>
                    </a:p>
                    <a:p>
                      <a:pPr defTabSz="914400"/>
                      <a:r>
                        <a:rPr b="0" i="0" strike="noStrike" dirty="0"/>
                        <a:t> (identifier of built-in control to insert before)</a:t>
                      </a:r>
                      <a:endParaRPr b="1" i="0" strike="noStrike" dirty="0"/>
                    </a:p>
                  </a:txBody>
                  <a:tcPr horzOverflow="overflow"/>
                </a:tc>
                <a:tc>
                  <a:txBody>
                    <a:bodyPr/>
                    <a:lstStyle/>
                    <a:p>
                      <a:pPr algn="l" defTabSz="914400"/>
                      <a:r>
                        <a:rPr b="0" i="0" strike="noStrike" dirty="0"/>
                        <a:t>Specifies the identifier of a built-in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insertBeforeMso="TabHome" label="Custom Tab"&gt;   … &lt;/tab&gt; In this example, a new custom tab with an identifier of "MyTab" is to be inserted before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insertBeforeQ</a:t>
                      </a:r>
                    </a:p>
                    <a:p>
                      <a:pPr defTabSz="914400"/>
                      <a:r>
                        <a:rPr b="0" i="0" strike="noStrike" dirty="0"/>
                        <a:t> (qualified identifier of control to insert before)</a:t>
                      </a:r>
                      <a:endParaRPr b="1" i="0" strike="noStrike" dirty="0"/>
                    </a:p>
                  </a:txBody>
                  <a:tcPr horzOverflow="overflow"/>
                </a:tc>
                <a:tc>
                  <a:txBody>
                    <a:bodyPr/>
                    <a:lstStyle/>
                    <a:p>
                      <a:pPr algn="l" defTabSz="914400"/>
                      <a:r>
                        <a:rPr b="0" i="0" strike="noStrike" dirty="0"/>
                        <a:t>Specifies the qualified identifier of a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insertBeforeQ="x:OtherTab" label="Custom Tab"&gt;   … &lt;/tab&gt; In this example, a new custom tab with an identifier of "MyTab" is to be inserted before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84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794000">
                <a:tc>
                  <a:txBody>
                    <a:bodyPr/>
                    <a:lstStyle/>
                    <a:p>
                      <a:pPr algn="l" defTabSz="914400"/>
                      <a:r>
                        <a:rPr b="1" i="0" strike="noStrike" dirty="0"/>
                        <a:t>keytip</a:t>
                      </a:r>
                    </a:p>
                    <a:p>
                      <a:pPr defTabSz="914400"/>
                      <a:r>
                        <a:rPr b="0" i="0" strike="noStrike" dirty="0"/>
                        <a:t> (keytip)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used as the suggested KeyTip for this control. The </a:t>
                      </a:r>
                      <a:endParaRPr b="0" i="0" strike="noStrike" dirty="0"/>
                    </a:p>
                    <a:p>
                      <a:pPr defTabSz="914400"/>
                      <a:r>
                        <a:rPr b="1" i="0" strike="noStrike" dirty="0"/>
                        <a:t>keytip</a:t>
                      </a:r>
                      <a:endParaRPr b="0" i="0" strike="noStrike" dirty="0"/>
                    </a:p>
                    <a:p>
                      <a:pPr defTabSz="914400"/>
                      <a:r>
                        <a:rPr b="0" i="0" strike="noStrike" dirty="0"/>
                        <a:t> and </a:t>
                      </a:r>
                      <a:endParaRPr b="0" i="0" strike="noStrike" dirty="0"/>
                    </a:p>
                    <a:p>
                      <a:pPr defTabSz="914400"/>
                      <a:r>
                        <a:rPr b="1" i="0" strike="noStrike" dirty="0"/>
                        <a:t>getKeytip</a:t>
                      </a:r>
                      <a:endParaRPr b="0" i="0" strike="noStrike" dirty="0"/>
                    </a:p>
                    <a:p>
                      <a:pPr defTabSz="914400"/>
                      <a:r>
                        <a:rPr b="0" i="0" strike="noStrike" dirty="0"/>
                        <a:t> attributes are mutually exclusive. If neither attribute is specified, the application SHOULD generate a KeyTip for the control automatically. For example, consider a button with KeyTip 'K', as follows: </a:t>
                      </a:r>
                      <a:endParaRPr b="0" i="0" strike="noStrike" dirty="0"/>
                    </a:p>
                    <a:p>
                      <a:pPr defTabSz="914400"/>
                      <a:r>
                        <a:rPr/>
                        <a:t>[Button with Key Tip K]</a:t>
                      </a:r>
                      <a:endParaRPr b="0" i="0" strike="noStrike" dirty="0"/>
                    </a:p>
                    <a:p>
                      <a:pPr defTabSz="914400"/>
                      <a:r>
                        <a:rPr b="0" i="0" strike="noStrike" dirty="0"/>
                        <a:t> This is specified using the following XML fragment: &lt;button id="button" imageMso="HappyFace" keytip="K" /&gt; The possible values for this attribute are defined by the </a:t>
                      </a:r>
                      <a:endParaRPr b="0" i="0" strike="noStrike" dirty="0"/>
                    </a:p>
                    <a:p>
                      <a:pPr defTabSz="914400"/>
                      <a:r>
                        <a:rPr b="1" i="0" strike="noStrike" dirty="0"/>
                        <a:t>ST_Keytip</a:t>
                      </a:r>
                      <a:endParaRPr b="0" i="0" strike="noStrike" dirty="0"/>
                    </a:p>
                    <a:p>
                      <a:pPr defTabSz="914400"/>
                      <a:r>
                        <a:rPr b="0" i="0" strike="noStrike" dirty="0"/>
                        <a:t> simple type, as specified in section </a:t>
                      </a:r>
                      <a:endParaRPr b="0" i="0" strike="noStrike" dirty="0"/>
                    </a:p>
                    <a:p>
                      <a:pPr defTabSz="914400"/>
                      <a:r>
                        <a:rPr/>
                        <a:t>2.3.7</a:t>
                      </a:r>
                      <a:endParaRPr b="0" i="0" strike="noStrike" dirty="0"/>
                    </a:p>
                    <a:p>
                      <a:pPr defTabSz="914400"/>
                      <a:r>
                        <a:rPr b="0" i="0" strike="noStrike" dirty="0"/>
                        <a:t>.</a:t>
                      </a:r>
                      <a:endParaRPr b="0" i="0" strike="noStrike" dirty="0"/>
                    </a:p>
                  </a:txBody>
                  <a:tcPr horzOverflow="overflow"/>
                </a:tc>
              </a:tr>
              <a:tr h="2540000">
                <a:tc>
                  <a:txBody>
                    <a:bodyPr/>
                    <a:lstStyle/>
                    <a:p>
                      <a:pPr algn="l" defTabSz="914400"/>
                      <a:r>
                        <a:rPr b="1" i="0" strike="noStrike" dirty="0"/>
                        <a:t>label</a:t>
                      </a:r>
                    </a:p>
                    <a:p>
                      <a:pPr defTabSz="914400"/>
                      <a:r>
                        <a:rPr b="0" i="0" strike="noStrike" dirty="0"/>
                        <a:t> (label)</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used as the label for this control. The </a:t>
                      </a:r>
                      <a:endParaRPr b="0" i="0" strike="noStrike" dirty="0"/>
                    </a:p>
                    <a:p>
                      <a:pPr defTabSz="914400"/>
                      <a:r>
                        <a:rPr b="1" i="0" strike="noStrike" dirty="0"/>
                        <a:t>label</a:t>
                      </a:r>
                      <a:endParaRPr b="0" i="0" strike="noStrike" dirty="0"/>
                    </a:p>
                    <a:p>
                      <a:pPr defTabSz="914400"/>
                      <a:r>
                        <a:rPr b="0" i="0" strike="noStrike" dirty="0"/>
                        <a:t> and </a:t>
                      </a:r>
                      <a:endParaRPr b="0" i="0" strike="noStrike" dirty="0"/>
                    </a:p>
                    <a:p>
                      <a:pPr defTabSz="914400"/>
                      <a:r>
                        <a:rPr b="1" i="0" strike="noStrike" dirty="0"/>
                        <a:t>getLabel</a:t>
                      </a:r>
                      <a:endParaRPr b="0" i="0" strike="noStrike" dirty="0"/>
                    </a:p>
                    <a:p>
                      <a:pPr defTabSz="914400"/>
                      <a:r>
                        <a:rPr b="0" i="0" strike="noStrike" dirty="0"/>
                        <a:t> attributes are mutually exclusive. If neither attribute is specified, no </a:t>
                      </a:r>
                      <a:endParaRPr b="0" i="0" strike="noStrike" dirty="0"/>
                    </a:p>
                    <a:p>
                      <a:pPr defTabSz="914400"/>
                      <a:r>
                        <a:rPr b="1" i="0" strike="noStrike" dirty="0"/>
                        <a:t>label</a:t>
                      </a:r>
                      <a:endParaRPr b="0" i="0" strike="noStrike" dirty="0"/>
                    </a:p>
                    <a:p>
                      <a:pPr defTabSz="914400"/>
                      <a:r>
                        <a:rPr b="0" i="0" strike="noStrike" dirty="0"/>
                        <a:t> SHOULD be displayed. For example, consider the following XML fragment: &lt;button id="button" label="Custom Button" /&gt; This specifies a custom </a:t>
                      </a:r>
                      <a:endParaRPr b="0" i="0" strike="noStrike" dirty="0"/>
                    </a:p>
                    <a:p>
                      <a:pPr defTabSz="914400"/>
                      <a:r>
                        <a:rPr b="1" i="0" strike="noStrike" dirty="0"/>
                        <a:t>button</a:t>
                      </a:r>
                      <a:endParaRPr b="0" i="0" strike="noStrike" dirty="0"/>
                    </a:p>
                    <a:p>
                      <a:pPr defTabSz="914400"/>
                      <a:r>
                        <a:rPr b="0" i="0" strike="noStrike" dirty="0"/>
                        <a:t> with a </a:t>
                      </a:r>
                      <a:endParaRPr b="0" i="0" strike="noStrike" dirty="0"/>
                    </a:p>
                    <a:p>
                      <a:pPr defTabSz="914400"/>
                      <a:r>
                        <a:rPr b="1" i="0" strike="noStrike" dirty="0"/>
                        <a:t>label</a:t>
                      </a:r>
                      <a:endParaRPr b="0" i="0" strike="noStrike" dirty="0"/>
                    </a:p>
                    <a:p>
                      <a:pPr defTabSz="914400"/>
                      <a:r>
                        <a:rPr b="0" i="0" strike="noStrike" dirty="0"/>
                        <a:t> of "Custom Button".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a:t>
                      </a:r>
                      <a:endParaRPr b="0" i="0" strike="noStrike" dirty="0"/>
                    </a:p>
                    <a:p>
                      <a:pPr defTabSz="914400"/>
                      <a:r>
                        <a:rPr/>
                        <a:t>2.3.11</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screentip</a:t>
                      </a:r>
                    </a:p>
                    <a:p>
                      <a:pPr defTabSz="914400"/>
                      <a:r>
                        <a:rPr b="0" i="0" strike="noStrike" dirty="0"/>
                        <a:t> (screentip)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shown as the screentip for this control. The </a:t>
                      </a:r>
                      <a:endParaRPr b="0" i="0" strike="noStrike" dirty="0"/>
                    </a:p>
                    <a:p>
                      <a:pPr defTabSz="914400"/>
                      <a:r>
                        <a:rPr b="1" i="0" strike="noStrike" dirty="0"/>
                        <a:t>screentip</a:t>
                      </a:r>
                      <a:endParaRPr b="0" i="0" strike="noStrike" dirty="0"/>
                    </a:p>
                    <a:p>
                      <a:pPr defTabSz="914400"/>
                      <a:r>
                        <a:rPr b="0" i="0" strike="noStrike" dirty="0"/>
                        <a:t> and </a:t>
                      </a:r>
                      <a:endParaRPr b="0" i="0" strike="noStrike" dirty="0"/>
                    </a:p>
                    <a:p>
                      <a:pPr defTabSz="914400"/>
                      <a:r>
                        <a:rPr b="1" i="0" strike="noStrike" dirty="0"/>
                        <a:t>getScreentip</a:t>
                      </a:r>
                      <a:endParaRPr b="0" i="0" strike="noStrike" dirty="0"/>
                    </a:p>
                    <a:p>
                      <a:pPr defTabSz="914400"/>
                      <a:r>
                        <a:rPr b="0" i="0" strike="noStrike" dirty="0"/>
                        <a:t> attributes are mutually exclusive. If neither attribute is specified, the application SHOULD display the label of the control as the screentip or display no screentip at all. For example, consider a button with a screentip, as follows: </a:t>
                      </a:r>
                      <a:endParaRPr b="0" i="0" strike="noStrike" dirty="0"/>
                    </a:p>
                    <a:p>
                      <a:pPr defTabSz="914400"/>
                      <a:r>
                        <a:rPr/>
                        <a:t>[Button with screen tip string]</a:t>
                      </a:r>
                      <a:endParaRPr b="0" i="0" strike="noStrike" dirty="0"/>
                    </a:p>
                    <a:p>
                      <a:pPr defTabSz="914400"/>
                      <a:r>
                        <a:rPr b="0" i="0" strike="noStrike" dirty="0"/>
                        <a:t> This is specified using the following XML fragment: &lt;button id="button" imageMso="HappyFace" label="Button"   size="large" screentip="This is the screentip" /&gt;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showImage</a:t>
                      </a:r>
                    </a:p>
                    <a:p>
                      <a:pPr defTabSz="914400"/>
                      <a:r>
                        <a:rPr b="0" i="0" strike="noStrike" dirty="0"/>
                        <a:t> (show image)</a:t>
                      </a:r>
                      <a:endParaRPr b="1" i="0" strike="noStrike" dirty="0"/>
                    </a:p>
                  </a:txBody>
                  <a:tcPr horzOverflow="overflow"/>
                </a:tc>
                <a:tc>
                  <a:txBody>
                    <a:bodyPr/>
                    <a:lstStyle/>
                    <a:p>
                      <a:pPr algn="l" defTabSz="914400"/>
                      <a:r>
                        <a:rPr b="0" i="0" strike="noStrike" dirty="0"/>
                        <a:t>Specifies whether this control displays an icon.  The </a:t>
                      </a:r>
                    </a:p>
                    <a:p>
                      <a:pPr defTabSz="914400"/>
                      <a:r>
                        <a:rPr b="1" i="0" strike="noStrike" dirty="0"/>
                        <a:t>showImage</a:t>
                      </a:r>
                      <a:endParaRPr b="0" i="0" strike="noStrike" dirty="0"/>
                    </a:p>
                    <a:p>
                      <a:pPr defTabSz="914400"/>
                      <a:r>
                        <a:rPr b="0" i="0" strike="noStrike" dirty="0"/>
                        <a:t> and </a:t>
                      </a:r>
                      <a:endParaRPr b="0" i="0" strike="noStrike" dirty="0"/>
                    </a:p>
                    <a:p>
                      <a:pPr defTabSz="914400"/>
                      <a:r>
                        <a:rPr b="1" i="0" strike="noStrike" dirty="0"/>
                        <a:t>getShowImage</a:t>
                      </a:r>
                      <a:endParaRPr b="0" i="0" strike="noStrike" dirty="0"/>
                    </a:p>
                    <a:p>
                      <a:pPr defTabSz="914400"/>
                      <a:r>
                        <a:rPr b="0" i="0" strike="noStrike" dirty="0"/>
                        <a:t> attributes are mutually exclusive. If neither attribute is specified, the control SHOULD display its icon. For example, consider a button that does not display an icon, as follows: </a:t>
                      </a:r>
                      <a:endParaRPr b="0" i="0" strike="noStrike" dirty="0"/>
                    </a:p>
                    <a:p>
                      <a:pPr defTabSz="914400"/>
                      <a:r>
                        <a:rPr/>
                        <a:t>[Button with no icon]</a:t>
                      </a:r>
                      <a:endParaRPr b="0" i="0" strike="noStrike" dirty="0"/>
                    </a:p>
                    <a:p>
                      <a:pPr defTabSz="914400"/>
                      <a:r>
                        <a:rPr b="0" i="0" strike="noStrike" dirty="0"/>
                        <a:t> This is specified using the following XML fragment: &lt;button id="button" showImage="false"    label="Button with no icon" /&gt;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showLabel</a:t>
                      </a:r>
                    </a:p>
                    <a:p>
                      <a:pPr defTabSz="914400"/>
                      <a:r>
                        <a:rPr b="0" i="0" strike="noStrike" dirty="0"/>
                        <a:t> (show label)</a:t>
                      </a:r>
                      <a:endParaRPr b="1" i="0" strike="noStrike" dirty="0"/>
                    </a:p>
                  </a:txBody>
                  <a:tcPr horzOverflow="overflow"/>
                </a:tc>
                <a:tc>
                  <a:txBody>
                    <a:bodyPr/>
                    <a:lstStyle/>
                    <a:p>
                      <a:pPr algn="l" defTabSz="914400"/>
                      <a:r>
                        <a:rPr b="0" i="0" strike="noStrike" dirty="0"/>
                        <a:t>Specifies whether this control SHOULD display its label.   The </a:t>
                      </a:r>
                    </a:p>
                    <a:p>
                      <a:pPr defTabSz="914400"/>
                      <a:r>
                        <a:rPr b="1" i="0" strike="noStrike" dirty="0"/>
                        <a:t>showLabel</a:t>
                      </a:r>
                      <a:endParaRPr b="0" i="0" strike="noStrike" dirty="0"/>
                    </a:p>
                    <a:p>
                      <a:pPr defTabSz="914400"/>
                      <a:r>
                        <a:rPr b="0" i="0" strike="noStrike" dirty="0"/>
                        <a:t> and </a:t>
                      </a:r>
                      <a:endParaRPr b="0" i="0" strike="noStrike" dirty="0"/>
                    </a:p>
                    <a:p>
                      <a:pPr defTabSz="914400"/>
                      <a:r>
                        <a:rPr b="1" i="0" strike="noStrike" dirty="0"/>
                        <a:t>getShowLabel</a:t>
                      </a:r>
                      <a:endParaRPr b="0" i="0" strike="noStrike" dirty="0"/>
                    </a:p>
                    <a:p>
                      <a:pPr defTabSz="914400"/>
                      <a:r>
                        <a:rPr b="0" i="0" strike="noStrike" dirty="0"/>
                        <a:t> attributes are mutually exclusive. If neither attribute is specified, the control SHOULD default to showing its label. For example, consider the following XML fragment: &lt;button id="button" label="Label" showLabel="false"    imageMso="HappyFace" /&gt; This specifies a </a:t>
                      </a:r>
                      <a:endParaRPr b="0" i="0" strike="noStrike" dirty="0"/>
                    </a:p>
                    <a:p>
                      <a:pPr defTabSz="914400"/>
                      <a:r>
                        <a:rPr b="1" i="0" strike="noStrike" dirty="0"/>
                        <a:t>button</a:t>
                      </a:r>
                      <a:endParaRPr b="0" i="0" strike="noStrike" dirty="0"/>
                    </a:p>
                    <a:p>
                      <a:pPr defTabSz="914400"/>
                      <a:r>
                        <a:rPr b="0" i="0" strike="noStrike" dirty="0"/>
                        <a:t> that has a </a:t>
                      </a:r>
                      <a:endParaRPr b="0" i="0" strike="noStrike" dirty="0"/>
                    </a:p>
                    <a:p>
                      <a:pPr defTabSz="914400"/>
                      <a:r>
                        <a:rPr b="1" i="0" strike="noStrike" dirty="0"/>
                        <a:t>label</a:t>
                      </a:r>
                      <a:endParaRPr b="0" i="0" strike="noStrike" dirty="0"/>
                    </a:p>
                    <a:p>
                      <a:pPr defTabSz="914400"/>
                      <a:r>
                        <a:rPr b="0" i="0" strike="noStrike" dirty="0"/>
                        <a:t>, but does not show it. Even though the </a:t>
                      </a:r>
                      <a:endParaRPr b="0" i="0" strike="noStrike" dirty="0"/>
                    </a:p>
                    <a:p>
                      <a:pPr defTabSz="914400"/>
                      <a:r>
                        <a:rPr b="1" i="0" strike="noStrike" dirty="0"/>
                        <a:t>label</a:t>
                      </a:r>
                      <a:endParaRPr b="0" i="0" strike="noStrike" dirty="0"/>
                    </a:p>
                    <a:p>
                      <a:pPr defTabSz="914400"/>
                      <a:r>
                        <a:rPr b="0" i="0" strike="noStrike" dirty="0"/>
                        <a:t> is hidden, it is provided to accessibility tools.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supertip</a:t>
                      </a:r>
                    </a:p>
                    <a:p>
                      <a:pPr defTabSz="914400"/>
                      <a:r>
                        <a:rPr b="0" i="0" strike="noStrike" dirty="0"/>
                        <a:t> (supertip)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shown as the supertip of the control. The </a:t>
                      </a:r>
                      <a:endParaRPr b="0" i="0" strike="noStrike" dirty="0"/>
                    </a:p>
                    <a:p>
                      <a:pPr defTabSz="914400"/>
                      <a:r>
                        <a:rPr b="1" i="0" strike="noStrike" dirty="0"/>
                        <a:t>supertip</a:t>
                      </a:r>
                      <a:endParaRPr b="0" i="0" strike="noStrike" dirty="0"/>
                    </a:p>
                    <a:p>
                      <a:pPr defTabSz="914400"/>
                      <a:r>
                        <a:rPr b="0" i="0" strike="noStrike" dirty="0"/>
                        <a:t> and </a:t>
                      </a:r>
                      <a:endParaRPr b="0" i="0" strike="noStrike" dirty="0"/>
                    </a:p>
                    <a:p>
                      <a:pPr defTabSz="914400"/>
                      <a:r>
                        <a:rPr b="1" i="0" strike="noStrike" dirty="0"/>
                        <a:t>getSupertip</a:t>
                      </a:r>
                      <a:endParaRPr b="0" i="0" strike="noStrike" dirty="0"/>
                    </a:p>
                    <a:p>
                      <a:pPr defTabSz="914400"/>
                      <a:r>
                        <a:rPr b="0" i="0" strike="noStrike" dirty="0"/>
                        <a:t> attributes are mutually exclusive. If neither attribute is specified no supertip for this control SHOULD be shown. For example, consider a control with a supertip, as follows: </a:t>
                      </a:r>
                      <a:endParaRPr b="0" i="0" strike="noStrike" dirty="0"/>
                    </a:p>
                    <a:p>
                      <a:pPr defTabSz="914400"/>
                      <a:r>
                        <a:rPr/>
                        <a:t>[Button with super tip string]</a:t>
                      </a:r>
                      <a:endParaRPr b="0" i="0" strike="noStrike" dirty="0"/>
                    </a:p>
                    <a:p>
                      <a:pPr defTabSz="914400"/>
                      <a:r>
                        <a:rPr b="0" i="0" strike="noStrike" dirty="0"/>
                        <a:t> This is specified using the following XML fragment: &lt;button id="button" imageMso="HappyFace" label="Button"   size="large" screentip="Screentip"   supertip="This is the supertip string" /&gt;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tag</a:t>
                      </a:r>
                    </a:p>
                    <a:p>
                      <a:pPr defTabSz="914400"/>
                      <a:r>
                        <a:rPr b="0" i="0" strike="noStrike" dirty="0"/>
                        <a:t> (tag)</a:t>
                      </a:r>
                      <a:endParaRPr b="1" i="0" strike="noStrike" dirty="0"/>
                    </a:p>
                  </a:txBody>
                  <a:tcPr horzOverflow="overflow"/>
                </a:tc>
                <a:tc>
                  <a:txBody>
                    <a:bodyPr/>
                    <a:lstStyle/>
                    <a:p>
                      <a:pPr algn="l" defTabSz="914400"/>
                      <a:r>
                        <a:rPr b="0" i="0" strike="noStrike" dirty="0"/>
                        <a:t>Specifies an arbitrary </a:t>
                      </a:r>
                    </a:p>
                    <a:p>
                      <a:pPr defTabSz="914400"/>
                      <a:r>
                        <a:rPr b="1" i="0" strike="noStrike" dirty="0"/>
                        <a:t>string</a:t>
                      </a:r>
                      <a:endParaRPr b="0" i="0" strike="noStrike" dirty="0"/>
                    </a:p>
                    <a:p>
                      <a:pPr defTabSz="914400"/>
                      <a:r>
                        <a:rPr b="0" i="0" strike="noStrike" dirty="0"/>
                        <a:t> that can be used to hold data or identify the control. The contents of this attribute SHOULD be passed to any callback functions specified on this control. If this attribute is omitted, the control's </a:t>
                      </a:r>
                      <a:endParaRPr b="0" i="0" strike="noStrike" dirty="0"/>
                    </a:p>
                    <a:p>
                      <a:pPr defTabSz="914400"/>
                      <a:r>
                        <a:rPr b="1" i="0" strike="noStrike" dirty="0"/>
                        <a:t>tag</a:t>
                      </a:r>
                      <a:endParaRPr b="0" i="0" strike="noStrike" dirty="0"/>
                    </a:p>
                    <a:p>
                      <a:pPr defTabSz="914400"/>
                      <a:r>
                        <a:rPr b="0" i="0" strike="noStrike" dirty="0"/>
                        <a:t> value SHOULD default to an empty </a:t>
                      </a:r>
                      <a:endParaRPr b="0" i="0" strike="noStrike" dirty="0"/>
                    </a:p>
                    <a:p>
                      <a:pPr defTabSz="914400"/>
                      <a:r>
                        <a:rPr b="1" i="0" strike="noStrike" dirty="0"/>
                        <a:t>string</a:t>
                      </a:r>
                      <a:endParaRPr b="0" i="0" strike="noStrike" dirty="0"/>
                    </a:p>
                    <a:p>
                      <a:pPr defTabSz="914400"/>
                      <a:r>
                        <a:rPr b="0" i="0" strike="noStrike" dirty="0"/>
                        <a:t>. For example, consider the following XML fragment: &lt;button id="button" label="Button" tag="123456"    onAction="ButtonClicked" /&gt; This specifies a </a:t>
                      </a:r>
                      <a:endParaRPr b="0" i="0" strike="noStrike" dirty="0"/>
                    </a:p>
                    <a:p>
                      <a:pPr defTabSz="914400"/>
                      <a:r>
                        <a:rPr b="1" i="0" strike="noStrike" dirty="0"/>
                        <a:t>button</a:t>
                      </a:r>
                      <a:endParaRPr b="0" i="0" strike="noStrike" dirty="0"/>
                    </a:p>
                    <a:p>
                      <a:pPr defTabSz="914400"/>
                      <a:r>
                        <a:rPr b="0" i="0" strike="noStrike" dirty="0"/>
                        <a:t> with a </a:t>
                      </a:r>
                      <a:endParaRPr b="0" i="0" strike="noStrike" dirty="0"/>
                    </a:p>
                    <a:p>
                      <a:pPr defTabSz="914400"/>
                      <a:r>
                        <a:rPr b="1" i="0" strike="noStrike" dirty="0"/>
                        <a:t>tag</a:t>
                      </a:r>
                      <a:endParaRPr b="0" i="0" strike="noStrike" dirty="0"/>
                    </a:p>
                    <a:p>
                      <a:pPr defTabSz="914400"/>
                      <a:r>
                        <a:rPr b="0" i="0" strike="noStrike" dirty="0"/>
                        <a:t> value of "123456", which is passed to the </a:t>
                      </a:r>
                      <a:endParaRPr b="0" i="0" strike="noStrike" dirty="0"/>
                    </a:p>
                    <a:p>
                      <a:pPr defTabSz="914400"/>
                      <a:r>
                        <a:rPr b="1" i="0" strike="noStrike" dirty="0"/>
                        <a:t>ButtonClicked</a:t>
                      </a:r>
                      <a:endParaRPr b="0" i="0" strike="noStrike" dirty="0"/>
                    </a:p>
                    <a:p>
                      <a:pPr defTabSz="914400"/>
                      <a:r>
                        <a:rPr b="0" i="0" strike="noStrike" dirty="0"/>
                        <a:t> callback function.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visible</a:t>
                      </a:r>
                    </a:p>
                    <a:p>
                      <a:pPr defTabSz="914400"/>
                      <a:r>
                        <a:rPr b="0" i="0" strike="noStrike" dirty="0"/>
                        <a:t> (control visibility)</a:t>
                      </a:r>
                      <a:endParaRPr b="1" i="0" strike="noStrike" dirty="0"/>
                    </a:p>
                  </a:txBody>
                  <a:tcPr horzOverflow="overflow"/>
                </a:tc>
                <a:tc>
                  <a:txBody>
                    <a:bodyPr/>
                    <a:lstStyle/>
                    <a:p>
                      <a:pPr algn="l" defTabSz="914400"/>
                      <a:r>
                        <a:rPr b="0" i="0" strike="noStrike" dirty="0"/>
                        <a:t>Specifies the visibility state of the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these attributes are omitted, the control SHOULD default to being visible. For example, consider the following XML fragment: &lt;tab idMso="TabHome" visible="false" /&gt; In this example, the built-in tab with an identifier of "TabHome" is hidden.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name="CT_SplitButtonWithTitle"&gt;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base="CT_SplitButtonRestricted"&gt;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&lt;xsd:sequence </a:t>
            </a:r>
            <a:r>
              <a:rPr b="0" i="0" strike="noStrike" dirty="0"/>
              <a:t>minOccurs="0"&gt;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&lt;xsd:choice </a:t>
            </a:r>
            <a:r>
              <a:rPr b="0" i="0" strike="noStrike" dirty="0"/>
              <a:t>minOccurs="0"&gt;</a:t>
            </a:r>
          </a:p>
        </p:txBody>
      </p:sp>
      <p:sp>
        <p:nvSpPr>
          <p:cNvPr id="9" name="TextBox9"/>
          <p:cNvSpPr txBox="1">
            <a:spLocks noChangeArrowheads="1"/>
          </p:cNvSpPr>
          <p:nvPr/>
        </p:nvSpPr>
        <p:spPr>
          <a:xfrm rot="0">
            <a:off x="508000" y="5679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name="button" </a:t>
            </a:r>
            <a:r>
              <a:rPr b="0" i="0" strike="noStrike" dirty="0"/>
              <a:t>type="CT_VisibleButton"/&gt;</a:t>
            </a:r>
          </a:p>
        </p:txBody>
      </p:sp>
      <p:sp>
        <p:nvSpPr>
          <p:cNvPr id="10" name="TextBox10"/>
          <p:cNvSpPr txBox="1">
            <a:spLocks noChangeArrowheads="1"/>
          </p:cNvSpPr>
          <p:nvPr/>
        </p:nvSpPr>
        <p:spPr>
          <a:xfrm rot="0">
            <a:off x="508000" y="602488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name="toggleButton" </a:t>
            </a:r>
            <a:r>
              <a:rPr b="0" i="0" strike="noStrike" dirty="0"/>
              <a:t>type="CT_VisibleToggleButton"/&gt;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&lt;/xsd:choice&gt;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name="menu" </a:t>
            </a:r>
            <a:r>
              <a:rPr b="0" i="0" strike="noStrike" dirty="0"/>
              <a:t>type="CT_MenuWithTitle"/&gt;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name="CT_ToggleButton"&gt;</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base="CT_ToggleButtonRegular"&gt;</a:t>
            </a:r>
          </a:p>
        </p:txBody>
      </p:sp>
      <p:sp>
        <p:nvSpPr>
          <p:cNvPr id="12" name="TextBox12"/>
          <p:cNvSpPr txBox="1">
            <a:spLocks noChangeArrowheads="1"/>
          </p:cNvSpPr>
          <p:nvPr/>
        </p:nvSpPr>
        <p:spPr>
          <a:xfrm rot="0">
            <a:off x="508000" y="396240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ref="AG_SizeAttributes"/&gt;</a:t>
            </a:r>
          </a:p>
        </p:txBody>
      </p:sp>
      <p:sp>
        <p:nvSpPr>
          <p:cNvPr id="13" name="TextBox13"/>
          <p:cNvSpPr txBox="1">
            <a:spLocks noChangeArrowheads="1"/>
          </p:cNvSpPr>
          <p:nvPr/>
        </p:nvSpPr>
        <p:spPr>
          <a:xfrm rot="0">
            <a:off x="508000" y="430784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14" name="TextBox14"/>
          <p:cNvSpPr txBox="1">
            <a:spLocks noChangeArrowheads="1"/>
          </p:cNvSpPr>
          <p:nvPr/>
        </p:nvSpPr>
        <p:spPr>
          <a:xfrm rot="0">
            <a:off x="508000" y="465328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15" name="TextBox15"/>
          <p:cNvSpPr txBox="1">
            <a:spLocks noChangeArrowheads="1"/>
          </p:cNvSpPr>
          <p:nvPr/>
        </p:nvSpPr>
        <p:spPr>
          <a:xfrm rot="0">
            <a:off x="508000" y="4998720"/>
            <a:ext cx="11176000" cy="853440"/>
          </a:xfrm>
          <a:prstGeom prst="rect">
            <a:avLst/>
          </a:prstGeom>
          <a:ln>
            <a:headEnd type="none"/>
            <a:tailEnd type="none"/>
          </a:ln>
        </p:spPr>
        <p:txBody>
          <a:bodyPr wrap="square">
            <a:spAutoFit/>
          </a:bodyPr>
          <a:lstStyle/>
          <a:p>
            <a:pPr algn="l" defTabSz="914400">
              <a:defRPr sz="2400" b="1" dirty="0"/>
            </a:pPr>
            <a:r>
              <a:rPr b="1" i="0" strike="noStrike" dirty="0"/>
              <a:t>Excel </a:t>
            </a:r>
            <a:r>
              <a:rPr b="1" i="0" strike="noStrike" dirty="0"/>
              <a:t>2007 </a:t>
            </a:r>
            <a:r>
              <a:rPr b="1" i="0" strike="noStrike" dirty="0"/>
              <a:t>XE </a:t>
            </a:r>
            <a:r>
              <a:rPr b="1" i="0" strike="noStrike" dirty="0"/>
              <a:t>"idMso </a:t>
            </a:r>
            <a:r>
              <a:rPr b="1" i="0" strike="noStrike" dirty="0"/>
              <a:t>tables:Excel </a:t>
            </a:r>
            <a:r>
              <a:rPr b="1" i="0" strike="noStrike" dirty="0"/>
              <a:t>2007" </a:t>
            </a:r>
            <a:r>
              <a:rPr b="1" i="0" strike="noStrike" dirty="0"/>
              <a:t> </a:t>
            </a:r>
            <a:r>
              <a:rPr b="1" i="0" strike="noStrike" dirty="0"/>
              <a:t>XE </a:t>
            </a:r>
            <a:r>
              <a:rPr b="1" i="0" strike="noStrike" dirty="0"/>
              <a:t>"Tables:idMso </a:t>
            </a:r>
            <a:r>
              <a:rPr b="1" i="0" strike="noStrike" dirty="0"/>
              <a:t>table </a:t>
            </a:r>
            <a:r>
              <a:rPr b="1" i="0" strike="noStrike" dirty="0"/>
              <a:t>– </a:t>
            </a:r>
            <a:r>
              <a:rPr b="1" i="0" strike="noStrike" dirty="0"/>
              <a:t>Excel </a:t>
            </a:r>
            <a:r>
              <a:rPr b="1" i="0" strike="noStrike" dirty="0"/>
              <a:t>2007"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Spelling...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Print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Copy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Open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Zoom</a:t>
                      </a:r>
                    </a:p>
                  </a:txBody>
                  <a:tcPr horzOverflow="overflow"/>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Repeat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Double Underline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Format Painter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Print Preview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Bold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Italic</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Underline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Dark Shading</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Left</a:t>
                      </a:r>
                    </a:p>
                  </a:txBody>
                  <a:tcPr horzOverflow="overflow"/>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Right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Center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Undo</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Redo</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Top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Bottom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Left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 Border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Inside Borders</a:t>
                      </a:r>
                    </a:p>
                  </a:txBody>
                  <a:tcPr horzOverflow="overflow"/>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Outside Borders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No Border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Bring to Front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Send to Back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Bring Forward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Send Backward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Full Screen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Select Objects</a:t>
                      </a:r>
                    </a:p>
                  </a:txBody>
                  <a:tcPr horzOverflow="overflow"/>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Record Macro...</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Macros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Flip Horizontal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Flip Vertical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Rotate Right 90°</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Rotate Left 90°</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Freeform</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Edit Points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Box</a:t>
                      </a:r>
                    </a:p>
                  </a:txBody>
                  <a:tcPr horzOverflow="overflow"/>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Combo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Property Sheet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Lock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Sum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Cell Styles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Camera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Calculator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Strikethrough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Cells...</a:t>
                      </a:r>
                    </a:p>
                  </a:txBody>
                  <a:tcPr horzOverflow="overflow"/>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Arrange All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 Window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Accept/Reject Changes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Symbol...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Replace...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Previous Page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 Page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Vertical 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Regroup</a:t>
                      </a:r>
                    </a:p>
                  </a:txBody>
                  <a:tcPr horzOverflow="overflow"/>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Set Print Area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Formatting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Values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Down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Equal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Plus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Minus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Multiplication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Division Sign</a:t>
                      </a:r>
                    </a:p>
                  </a:txBody>
                  <a:tcPr horzOverflow="overflow"/>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Exponentiation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Left Parenthesis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Right Parenthesis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Colon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Comma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Percent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Dollar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Function...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Constrain Numeric</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Light Shading</a:t>
                      </a:r>
                    </a:p>
                  </a:txBody>
                  <a:tcPr horzOverflow="overflow"/>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Accounting Number Format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Percent Style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Comma Style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Increase Decimal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Decrease Decimal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Merge &amp; Center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Increase Font Size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Decrease Font Size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Vertical Text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Rotate Text Up</a:t>
                      </a:r>
                    </a:p>
                  </a:txBody>
                  <a:tcPr horzOverflow="overflow"/>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Rotate Text Down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Horizontally</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Scribble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Show Outline Symbols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Select Visible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Select Current Region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Freeze Panes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Zoom In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Zoom Out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Option Button</a:t>
                      </a:r>
                    </a:p>
                  </a:txBody>
                  <a:tcPr horzOverflow="overflow"/>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Scroll Bar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List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Remove Dependent Arrows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Trace Dependents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Remove Precedent Arrows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Remove Arrows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Update File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Toggle Read Only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AutoFilter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Refresh</a:t>
                      </a:r>
                    </a:p>
                  </a:txBody>
                  <a:tcPr horzOverflow="overflow"/>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Field Settings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Show Report Filter Pages...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Show Detail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Trace Error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Hide Detail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Vertically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Group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Spinner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Tab 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Run Dialog</a:t>
                      </a:r>
                    </a:p>
                  </a:txBody>
                  <a:tcPr horzOverflow="overflow"/>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Combination List-Edit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Combination Drop-Down Edit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Trace Precedents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Page Break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Parameters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Row Height...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Column Width...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Object...</a:t>
                      </a:r>
                    </a:p>
                  </a:txBody>
                  <a:tcPr horzOverflow="overflow"/>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Snap to Grid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Right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Top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Bottom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Center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Middle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Clip 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Free Rotate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Yoko-Gumi</a:t>
                      </a:r>
                    </a:p>
                  </a:txBody>
                  <a:tcPr horzOverflow="overflow"/>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Normal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Page Break Preview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Crop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 All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As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View Document Properties...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Copy as Picture...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Special...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Select All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Go To...</a:t>
                      </a:r>
                    </a:p>
                  </a:txBody>
                  <a:tcPr horzOverflow="overflow"/>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Links to Files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Header &amp; Footer...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Bullets and Numbering...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AutoFormat...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Merge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Split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Convert Text to 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Office Clipboard...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Microsoft Office Outlook Task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Minimize</a:t>
                      </a:r>
                    </a:p>
                  </a:txBody>
                  <a:tcPr horzOverflow="overflow"/>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Restore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Workspace...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Sheet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Move or Copy Sheet...</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Formula Bar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Sheet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Format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Goal Seek...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Scenario Manager...</a:t>
                      </a:r>
                    </a:p>
                  </a:txBody>
                  <a:tcPr horzOverflow="overflow"/>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Form...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Subtotal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Data 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Consolidate...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Hide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Unhide...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Across Worksheets...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Series...</a:t>
                      </a:r>
                    </a:p>
                  </a:txBody>
                  <a:tcPr horzOverflow="overflow"/>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Formats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Contents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Comments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Names...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from Selection...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Apply Names...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AutoFit Row Height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Hide 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Unhide Rows</a:t>
                      </a:r>
                    </a:p>
                  </a:txBody>
                  <a:tcPr horzOverflow="overflow"/>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AutoFit Column Width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Hide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Unhide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Default Width...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Superscript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Subscript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Format Painter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Print Preview</a:t>
                      </a:r>
                    </a:p>
                  </a:txBody>
                  <a:tcPr horzOverflow="overflow"/>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Pick Up Style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Apply Style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Bold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Italic</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Underline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Left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Right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Center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Undo</a:t>
                      </a:r>
                    </a:p>
                  </a:txBody>
                  <a:tcPr horzOverflow="overflow"/>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Redo</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Promote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Demote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Move 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Move Down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Expand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Collapse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Find...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Top Border</a:t>
                      </a:r>
                    </a:p>
                  </a:txBody>
                  <a:tcPr horzOverflow="overflow"/>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Bottom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Left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Inside Borders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Outside Borders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No Border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Bring to Front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Send to Back</a:t>
                      </a:r>
                    </a:p>
                  </a:txBody>
                  <a:tcPr horzOverflow="overflow"/>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Bring Forward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Send Backward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Full Screen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Ruler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Select Objects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Macros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Flip Horizontal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Flip Vertical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Rotate Right 90°</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Rotate Left 90°</a:t>
                      </a:r>
                    </a:p>
                  </a:txBody>
                  <a:tcPr horzOverflow="overflow"/>
                </a:tc>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Drawing</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Edit Points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Grid Settings...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Property Sheet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Show Text Formatting</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Strikethrough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Arrange All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 Window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Symbol...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Replace...</a:t>
                      </a:r>
                    </a:p>
                  </a:txBody>
                  <a:tcPr horzOverflow="overflow"/>
                </a:tc>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Previous Page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 Page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Vertical 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Redo</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Increase Font Size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Decrease Font Size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Object...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Snap to Grid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Find Next</a:t>
                      </a:r>
                    </a:p>
                  </a:txBody>
                  <a:tcPr horzOverflow="overflow"/>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Duplicate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 Slide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Clip 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Handouts in Microsoft Office Word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Shadow</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Tab</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Cascade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Inside Horizontal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Inside Vertical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Diagonal Down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Diagonal Up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Left-to-Right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Right-to-Left</a:t>
                      </a:r>
                    </a:p>
                  </a:txBody>
                  <a:tcPr horzOverflow="overflow"/>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Command 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Option 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List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Combo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Toggle 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Spin 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Scroll Bar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Label</a:t>
                      </a:r>
                    </a:p>
                  </a:txBody>
                  <a:tcPr horzOverflow="overflow"/>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Convert...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Comment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Draw Table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Eraser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Top</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Center Vertically</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Bottom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Image</a:t>
                      </a:r>
                    </a:p>
                  </a:txBody>
                  <a:tcPr horzOverflow="overflow"/>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Shadow On/Off</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Set AutoShape Defaults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E-mail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Quick Print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Pen Weight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View Gridlines</a:t>
                      </a:r>
                    </a:p>
                  </a:txBody>
                  <a:tcPr horzOverflow="overflow"/>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Pen Color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Straight Arrow Connector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Elbow Arrow Connector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Handout Master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Notes Master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Reuse Slides...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Slides from Outline...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Movie from Organizer...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Movie from File...</a:t>
                      </a:r>
                    </a:p>
                  </a:txBody>
                  <a:tcPr horzOverflow="overflow"/>
                </a:tc>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Sound from Clip Organizer...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Sound from File...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Play CD Audio Track...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Replace Fonts...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Toggle Case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Automatic</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Black with Grayscale Fill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Black with White Fill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Don't Show</a:t>
                      </a:r>
                    </a:p>
                  </a:txBody>
                  <a:tcPr horzOverflow="overflow"/>
                </a:tc>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Gray with White Fill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Grayscale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Inverse Grayscale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White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Light Grayscale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Record Narration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Set Up Slide Show...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as Hyperlink</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Distributed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Character Formatting</a:t>
                      </a:r>
                    </a:p>
                  </a:txBody>
                  <a:tcPr horzOverflow="overflow"/>
                </a:tc>
              </a:tr>
            </a:tbl>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Set Transparent Color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Custom Slide Show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Fit to Page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Record Sound...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Duplicate Selected Slides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Action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Previous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Break Link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Change Link</a:t>
                      </a:r>
                    </a:p>
                  </a:txBody>
                  <a:tcPr horzOverflow="overflow"/>
                </a:tc>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Update Links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Lower Baseline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Raise Baseline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Slide Show in a Window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Hangul Hanja Conversion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2 Slides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3 Slides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6 Slides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Slide Outline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Go To...</a:t>
                      </a:r>
                    </a:p>
                  </a:txBody>
                  <a:tcPr horzOverflow="overflow"/>
                </a:tc>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Increase Indent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Decrease Indent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Preview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4 Slides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9 Slides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Macro Security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Web Page Preview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Above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Below</a:t>
                      </a:r>
                    </a:p>
                  </a:txBody>
                  <a:tcPr horzOverflow="overflow"/>
                </a:tc>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Right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 Add-Ins...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Normal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Web Options...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Left-to-Right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Right-to-Left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 Pane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Move Split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Set Left-to-Right Table</a:t>
                      </a:r>
                    </a:p>
                  </a:txBody>
                  <a:tcPr horzOverflow="overflow"/>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Set Right-to-Left 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Resume Slide Show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Select Multiple Objects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Resize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Back To Color View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Grayscale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High Contrast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Pure Black and White</a:t>
                      </a:r>
                    </a:p>
                  </a:txBody>
                  <a:tcPr horzOverflow="overflow"/>
                </a:tc>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Print What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Expand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1 Slide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Preserve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Rename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Show Outline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Bullets and Numbering...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Out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In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Landscape</a:t>
                      </a:r>
                    </a:p>
                  </a:txBody>
                  <a:tcPr horzOverflow="overflow"/>
                </a:tc>
              </a:tr>
            </a:tbl>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Portrait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Compress Pictures...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Previous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Show Markup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All Markup on the Current Slide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Translate...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View Gridlines</a:t>
                      </a:r>
                    </a:p>
                  </a:txBody>
                  <a:tcPr horzOverflow="overflow"/>
                </a:tc>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 Photo Album...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Photo Album...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Scale Drawing</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Research...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Internet Fax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Package for CD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View Version History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Ink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Contact Us...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Unrestricted Access</a:t>
                      </a:r>
                    </a:p>
                  </a:txBody>
                  <a:tcPr horzOverflow="overflow"/>
                </a:tc>
              </a:tr>
            </a:tbl>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Restricted Access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View Permission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Thesaurus...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Start Inking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for Updates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Eraser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Manage Credentials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Browse for Themes...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Layout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View Signatures</a:t>
                      </a:r>
                    </a:p>
                  </a:txBody>
                  <a:tcPr horzOverflow="overflow"/>
                </a:tc>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View Workflow Tasks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Workflows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Themes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Barcode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Layout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As Template</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Axis Titles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Axes</a:t>
                      </a:r>
                    </a:p>
                  </a:txBody>
                  <a:tcPr horzOverflow="overflow"/>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Gridlines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Format Selection</a:t>
                      </a:r>
                    </a:p>
                  </a:txBody>
                  <a:tcPr horzOverflow="overflow"/>
                </a:tc>
              </a:tr>
              <a:tr h="508000">
                <a:tc>
                  <a:txBody>
                    <a:bodyPr/>
                    <a:lstStyle/>
                    <a:p>
                      <a:pPr algn="l" defTabSz="914400"/>
                      <a:r>
                        <a:rPr b="0" i="0" strike="noStrike" dirty="0"/>
                        <a:t>comboBox</a:t>
                      </a:r>
                    </a:p>
                  </a:txBody>
                  <a:tcPr horzOverflow="overflow"/>
                </a:tc>
                <a:tc>
                  <a:txBody>
                    <a:bodyPr/>
                    <a:lstStyle/>
                    <a:p>
                      <a:pPr algn="l" defTabSz="914400"/>
                      <a:r>
                        <a:rPr b="0" i="0" strike="noStrike" dirty="0"/>
                        <a:t>Chart Elements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From Current Slide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Bullets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Numbering</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Line Spacing</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New Slide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Layout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Format</a:t>
                      </a:r>
                    </a:p>
                  </a:txBody>
                  <a:tcPr horzOverflow="overflow"/>
                </a:tc>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Format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Shapes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Shape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Texture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Orientation</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Server</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Send</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Insert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View</a:t>
                      </a:r>
                    </a:p>
                  </a:txBody>
                  <a:tcPr horzOverflow="overflow"/>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Font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Paragraph</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Proofing</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Illustrations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Insert Shapes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Comments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Size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Draw Borders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Design</a:t>
                      </a:r>
                    </a:p>
                  </a:txBody>
                  <a:tcPr horzOverflow="overflow"/>
                </a:tc>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Animations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Slide Show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Slides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Arrange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Media Clips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Themes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Background</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Preview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Animations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Transition to This Slide</a:t>
                      </a:r>
                    </a:p>
                  </a:txBody>
                  <a:tcPr horzOverflow="overflow"/>
                </a:tc>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Start Slide Show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Set Up</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Shape Styles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Review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Chart Layouts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Chart Styles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Axes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Insert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Preset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Preset</a:t>
                      </a:r>
                    </a:p>
                  </a:txBody>
                  <a:tcPr horzOverflow="overflow"/>
                </a:tc>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3-D Rotation</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Design</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Format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Design</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Layout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Format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Shape Fill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Picture Border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Inspect Document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Formatting</a:t>
                      </a:r>
                    </a:p>
                  </a:txBody>
                  <a:tcPr horzOverflow="overflow"/>
                </a:tc>
              </a:tr>
            </a:tbl>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Controls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Zoom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Publish Slides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Use Presenter View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Arrows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Dashes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Weight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Layout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Alignment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Adjust</a:t>
                      </a:r>
                    </a:p>
                  </a:txBody>
                  <a:tcPr horzOverflow="overflow"/>
                </a:tc>
              </a:tr>
            </a:tbl>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Size</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Slide Master</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 Styles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Rows &amp; Columns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Align</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Movie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Sound</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Rotate</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Select</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Animate:</a:t>
                      </a:r>
                    </a:p>
                  </a:txBody>
                  <a:tcPr horzOverflow="overflow"/>
                </a:tc>
              </a:tr>
            </a:tbl>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Transition Scheme</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Transition Speed:</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Font Color</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Columns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Home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Chart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Horizontal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Vertical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Depth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Legend</a:t>
                      </a:r>
                    </a:p>
                  </a:txBody>
                  <a:tcPr horzOverflow="overflow"/>
                </a:tc>
              </a:tr>
            </a:tbl>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Data Labels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Horizontal Gridlines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Vertical Gridlines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Depth Gridlines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Horizontal Axis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Vertical Axis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Depth Axis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Data Table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Trendline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Error Bars</a:t>
                      </a:r>
                    </a:p>
                  </a:txBody>
                  <a:tcPr horzOverflow="overflow"/>
                </a:tc>
              </a:tr>
            </a:tbl>
          </a:graphicData>
        </a:graphic>
      </p:graphicFrame>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Up/Down Bars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Plot Area</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Chart Wall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Chart Floor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Larger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Smaller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Graphic</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Text Pane</a:t>
                      </a:r>
                    </a:p>
                  </a:txBody>
                  <a:tcPr horzOverflow="overflow"/>
                </a:tc>
              </a:tr>
            </a:tbl>
          </a:graphicData>
        </a:graphic>
      </p:graphicFrame>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Edit in 2-D</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Layout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Layouts...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Colors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Soft Edges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Glow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Gradient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Shadow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WordArt</a:t>
                      </a:r>
                    </a:p>
                  </a:txBody>
                  <a:tcPr horzOverflow="overflow"/>
                </a:tc>
              </a:tr>
            </a:tbl>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Transform</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Colors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Layouts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SmartArt Styles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Create Graphic</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Reset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Size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Themes on Microsoft Office Online...</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Add-Ins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Edit Shape</a:t>
                      </a:r>
                    </a:p>
                  </a:txBody>
                  <a:tcPr horzOverflow="overflow"/>
                </a:tc>
              </a:tr>
            </a:tbl>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Content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Text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SmartArt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Media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Clip 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Text </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Title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Footers</a:t>
                      </a:r>
                    </a:p>
                  </a:txBody>
                  <a:tcPr horzOverflow="overflow"/>
                </a:tc>
              </a:tr>
            </a:tbl>
          </a:graphicData>
        </a:graphic>
      </p:graphicFrame>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Table Styles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Publish as PDF or XPS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OpenDocument Presentation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Controls...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Code</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Developer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Apply To All</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On Mouse Click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Preview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Editing</a:t>
                      </a:r>
                    </a:p>
                  </a:txBody>
                  <a:tcPr horzOverflow="overflow"/>
                </a:tc>
              </a:tr>
            </a:tbl>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Clipboard</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Links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Barcode</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Transition Sound: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From Beginning</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Switch Windows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New Theme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New Theme Fonts...</a:t>
                      </a:r>
                    </a:p>
                  </a:txBody>
                  <a:tcPr horzOverflow="overflow"/>
                </a:tc>
              </a:tr>
            </a:tbl>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Gradients...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Shadow Options...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Selected Objects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to Slide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Right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Top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Bottom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Center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Middle</a:t>
                      </a:r>
                    </a:p>
                  </a:txBody>
                  <a:tcPr horzOverflow="overflow"/>
                </a:tc>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Horizontally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Vertically</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Custom Slide Show</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Resolution: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Use Rehearsed Timings</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Show Presentation 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Monitors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Fonts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Effects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Properties</a:t>
                      </a:r>
                    </a:p>
                  </a:txBody>
                  <a:tcPr horzOverflow="overflow"/>
                </a:tc>
              </a:tr>
            </a:tbl>
          </a:graphicData>
        </a:graphic>
      </p:graphicFrame>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Print Preview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Print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Preview</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Options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Options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Play</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Movie Options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Sound Options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Hide During Show</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Loop Until Stopped</a:t>
                      </a:r>
                    </a:p>
                  </a:txBody>
                  <a:tcPr horzOverflow="overflow"/>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Play Sound:</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Slide Show Volume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Play Full Screen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Rewind Movie After Playing</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Borders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Create Document Workspace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Document Management Server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Document Management Information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Customize Quick Access Toolbar...</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Prepare</a:t>
                      </a:r>
                    </a:p>
                  </a:txBody>
                  <a:tcPr horzOverflow="overflow"/>
                </a:tc>
              </a:tr>
            </a:tbl>
          </a:graphicData>
        </a:graphic>
      </p:graphicFrame>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Mark as Final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a Digital Signature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Hide Background Graphics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Case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Delete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Merge</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Text Box</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Horizontal 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Properties</a:t>
                      </a:r>
                    </a:p>
                  </a:txBody>
                  <a:tcPr horzOverflow="overflow"/>
                </a:tc>
              </a:tr>
            </a:tbl>
          </a:graphicData>
        </a:graphic>
      </p:graphicFrame>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Handout Orientation</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Slides Per Page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Slide Image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Body</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Date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Page Number</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Header</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Footer</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Handout Master</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Notes Master</a:t>
                      </a:r>
                    </a:p>
                  </a:txBody>
                  <a:tcPr horzOverflow="overflow"/>
                </a:tc>
              </a:tr>
            </a:tbl>
          </a:graphicData>
        </a:graphic>
      </p:graphicFrame>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Placeholders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Edit Theme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Edit Master</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Master Layout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Grayscale</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Black And White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Change Selected Object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Select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Brightness</a:t>
                      </a:r>
                    </a:p>
                  </a:txBody>
                  <a:tcPr horzOverflow="overflow"/>
                </a:tc>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Contrast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Shading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 After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 Before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 Above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 Below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Assistant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Slide Theme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Switch Row/Column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Data...</a:t>
                      </a:r>
                    </a:p>
                  </a:txBody>
                  <a:tcPr horzOverflow="overflow"/>
                </a:tc>
              </a:tr>
            </a:tbl>
          </a:graphicData>
        </a:graphic>
      </p:graphicFrame>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Refresh Data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Change Chart Type...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Data</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Type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 Size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Cell Margins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Content (Vertical)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Rotation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Background Styles</a:t>
                      </a:r>
                    </a:p>
                  </a:txBody>
                  <a:tcPr horzOverflow="overflow"/>
                </a:tc>
              </a:tr>
            </a:tbl>
          </a:graphicData>
        </a:graphic>
      </p:graphicFrame>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 Direction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 Style Options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Header Row</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First Column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Total Row</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Last Column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Banded Rows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Banded Columns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Selection Pane...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Left Hanging</a:t>
                      </a:r>
                    </a:p>
                  </a:txBody>
                  <a:tcPr horzOverflow="overflow"/>
                </a:tc>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Right Hanging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Both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Standard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 to 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Custom Margins...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Message Bar</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Other Theme Fills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Layout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Home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Table</a:t>
                      </a:r>
                    </a:p>
                  </a:txBody>
                  <a:tcPr horzOverflow="overflow"/>
                </a:tc>
              </a:tr>
            </a:tbl>
          </a:graphicData>
        </a:graphic>
      </p:graphicFrame>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Justify Low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Distribute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Excel Spreadsheet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Options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Automatically After:</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Slide Orientation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Menu Commands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Toolbar Commands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Ink</a:t>
                      </a:r>
                    </a:p>
                  </a:txBody>
                  <a:tcPr horzOverflow="overflow"/>
                </a:tc>
              </a:tr>
            </a:tbl>
          </a:graphicData>
        </a:graphic>
      </p:graphicFrame>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Pens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Pens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Ballpoint Pen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Felt Tip Pen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Highlighter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Current Theme...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Align Text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Character Spacing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to Match Style</a:t>
                      </a:r>
                    </a:p>
                  </a:txBody>
                  <a:tcPr horzOverflow="overflow"/>
                </a:tc>
              </a:tr>
            </a:tbl>
          </a:graphicData>
        </a:graphic>
      </p:graphicFrame>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Rotation...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Size and Position...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Convert to Freeform</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Design</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Convert to SmartArt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SmartArt Graphics...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Reflection</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Recolor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Promote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Demote</a:t>
                      </a:r>
                    </a:p>
                  </a:txBody>
                  <a:tcPr horzOverflow="overflow"/>
                </a:tc>
              </a:tr>
            </a:tbl>
          </a:graphicData>
        </a:graphic>
      </p:graphicFrame>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Cell Bevel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Table Background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Legend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Data Label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Horizontal Axis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Vertical Axis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Horizontal Axis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Vertical Axis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Depth Axis Title Options...</a:t>
                      </a:r>
                    </a:p>
                  </a:txBody>
                  <a:tcPr horzOverflow="overflow"/>
                </a:tc>
              </a:tr>
            </a:tbl>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Horizontal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Vertical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Horizontal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Vertical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Depth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Horizontal Axis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Vertical Axis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Horizontal Axis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Vertical Axis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Depth Axis Options...</a:t>
                      </a:r>
                    </a:p>
                  </a:txBody>
                  <a:tcPr horzOverflow="overflow"/>
                </a:tc>
              </a:tr>
            </a:tbl>
          </a:graphicData>
        </a:graphic>
      </p:graphicFrame>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Data Table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Trendline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Error Bars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Up/Down Bars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Plot Area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Walls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Floor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Horizontal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Vertical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Horizontal Gridlines</a:t>
                      </a:r>
                    </a:p>
                  </a:txBody>
                  <a:tcPr horzOverflow="overflow"/>
                </a:tc>
              </a:tr>
            </a:tbl>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Vertical Gridlines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Horizontal Axis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Vertical Axis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Custom Toolbars</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Play Movie: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Bring to Front</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Send to Back</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Group</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Color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PowerPoint 97-2003 Presentation</a:t>
                      </a:r>
                    </a:p>
                  </a:txBody>
                  <a:tcPr horzOverflow="overflow"/>
                </a:tc>
              </a:tr>
            </a:tbl>
          </a:graphicData>
        </a:graphic>
      </p:graphicFrame>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Save As Other Format</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Preview and Print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Restrict Permission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Document Panel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Modify</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Bevel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Bevel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Table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Cell Size</a:t>
                      </a:r>
                    </a:p>
                  </a:txBody>
                  <a:tcPr horzOverflow="overflow"/>
                </a:tc>
              </a:tr>
            </a:tbl>
          </a:graphicData>
        </a:graphic>
      </p:graphicFrame>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Effects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More Glow Colors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More Variations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Bullet</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Lock Aspect Ratio</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Insert Placeholder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Border Colors...</a:t>
                      </a:r>
                    </a:p>
                  </a:txBody>
                  <a:tcPr horzOverflow="overflow"/>
                </a:tc>
              </a:tr>
            </a:tbl>
          </a:graphicData>
        </a:graphic>
      </p:graphicFrame>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Fill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Change Picture...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WordArt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 Fill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 Outline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Outline Colors...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Text Effects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WordArt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bl>
          </a:graphicData>
        </a:graphic>
      </p:graphicFrame>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Gradient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Gradients...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Texture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Dashes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Weight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Shadow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Shadow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3-D Rotation</a:t>
                      </a:r>
                    </a:p>
                  </a:txBody>
                  <a:tcPr horzOverflow="overflow"/>
                </a:tc>
              </a:tr>
            </a:tbl>
          </a:graphicData>
        </a:graphic>
      </p:graphicFrame>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Rotation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Glow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More Glow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Colors...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Reflection</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Shape Effects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Loop Until Next Sound</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Current Selection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Labels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Bevel</a:t>
                      </a:r>
                    </a:p>
                  </a:txBody>
                  <a:tcPr horzOverflow="overflow"/>
                </a:tc>
              </a:tr>
            </a:tbl>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 Corrections Options...</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Add Shape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Notes Page Orientation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Format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Color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Slide Background</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Play Track:</a:t>
                      </a:r>
                    </a:p>
                  </a:txBody>
                  <a:tcPr horzOverflow="overflow"/>
                </a:tc>
              </a:tr>
            </a:tbl>
          </a:graphicData>
        </a:graphic>
      </p:graphicFrame>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Shapes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Text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Picture Border</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Placeholders</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Replace...</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Select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Delete</a:t>
                      </a:r>
                    </a:p>
                  </a:txBody>
                  <a:tcPr horzOverflow="overflow"/>
                </a:tc>
              </a:tr>
            </a:tbl>
          </a:graphicData>
        </a:graphic>
      </p:graphicFrame>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Set Up</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All Markup in the Presentation</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Paste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Picture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Shadow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Glow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Soft Edges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Reflection</a:t>
                      </a:r>
                    </a:p>
                  </a:txBody>
                  <a:tcPr horzOverflow="overflow"/>
                </a:tc>
              </a:tr>
            </a:tbl>
          </a:graphicData>
        </a:graphic>
      </p:graphicFrame>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3-D Rotation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 Ink Tools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Show/Hide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Window</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View Gridlines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Presentation Views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Color/Grayscale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Encrypt Document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Format Text Effects...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Rotation Options...</a:t>
                      </a:r>
                    </a:p>
                  </a:txBody>
                  <a:tcPr horzOverflow="overflow"/>
                </a:tc>
              </a:tr>
            </a:tbl>
          </a:graphicData>
        </a:graphic>
      </p:graphicFrame>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Textures...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Fill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Fit to Window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View Direction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E-mail as PDF Attachment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E-mail as XPS Attachment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Picture Effects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Shape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Photo Album...</a:t>
                      </a:r>
                    </a:p>
                  </a:txBody>
                  <a:tcPr horzOverflow="overflow"/>
                </a:tc>
              </a:tr>
            </a:tbl>
          </a:graphicData>
        </a:graphic>
      </p:graphicFrame>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Background</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Analysis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Publish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Run Compatibility Checker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Convert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As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PowerPoint Presentation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PowerPoint Show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Font...</a:t>
                      </a:r>
                    </a:p>
                  </a:txBody>
                  <a:tcPr horzOverflow="overflow"/>
                </a:tc>
              </a:tr>
            </a:tbl>
          </a:graphicData>
        </a:graphic>
      </p:graphicFrame>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Paragraph...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Shapes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WordArt Styles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Arrange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Textures...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Macros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Find add-ins for other file formats</a:t>
                      </a:r>
                    </a:p>
                  </a:txBody>
                  <a:tcPr horzOverflow="overflow"/>
                </a:tc>
              </a:tr>
            </a:tbl>
          </a:graphicData>
        </a:graphic>
      </p:graphicFrame>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Protect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Protect Presentation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Size and Position...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Discard Check Out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Document</a:t>
                      </a:r>
                    </a:p>
                  </a:txBody>
                  <a:tcPr horzOverflow="overflow"/>
                </a:tc>
              </a:tr>
            </a:tbl>
          </a:graphicData>
        </a:graphic>
      </p:graphicFrame>
      <p:sp>
        <p:nvSpPr>
          <p:cNvPr id="3" name="TextBox3"/>
          <p:cNvSpPr txBox="1">
            <a:spLocks noChangeArrowheads="1"/>
          </p:cNvSpPr>
          <p:nvPr/>
        </p:nvSpPr>
        <p:spPr>
          <a:xfrm rot="0">
            <a:off x="508000" y="3606800"/>
            <a:ext cx="11176000" cy="995680"/>
          </a:xfrm>
          <a:prstGeom prst="rect">
            <a:avLst/>
          </a:prstGeom>
          <a:ln>
            <a:headEnd type="none"/>
            <a:tailEnd type="none"/>
          </a:ln>
        </p:spPr>
        <p:txBody>
          <a:bodyPr wrap="square">
            <a:spAutoFit/>
          </a:bodyPr>
          <a:lstStyle/>
          <a:p>
            <a:pPr algn="l" defTabSz="914400">
              <a:defRPr sz="2800" b="1" dirty="0"/>
            </a:pPr>
            <a:r>
              <a:rPr b="1" i="1" strike="noStrike" dirty="0"/>
              <a:t>imageMso </a:t>
            </a:r>
            <a:r>
              <a:rPr b="1" i="1" strike="noStrike" dirty="0"/>
              <a:t>Table </a:t>
            </a:r>
            <a:r>
              <a:rPr b="1" i="1" strike="noStrike" dirty="0"/>
              <a:t>XE </a:t>
            </a:r>
            <a:r>
              <a:rPr b="1" i="1" strike="noStrike" dirty="0"/>
              <a:t>"Custom </a:t>
            </a:r>
            <a:r>
              <a:rPr b="1" i="1" strike="noStrike" dirty="0"/>
              <a:t>UI </a:t>
            </a:r>
            <a:r>
              <a:rPr b="1" i="1" strike="noStrike" dirty="0"/>
              <a:t>control </a:t>
            </a:r>
            <a:r>
              <a:rPr b="1" i="1" strike="noStrike" dirty="0"/>
              <a:t>id </a:t>
            </a:r>
            <a:r>
              <a:rPr b="1" i="1" strike="noStrike" dirty="0"/>
              <a:t>table:imageMso </a:t>
            </a:r>
            <a:r>
              <a:rPr b="1" i="1" strike="noStrike" dirty="0"/>
              <a:t>table" </a:t>
            </a:r>
            <a:r>
              <a:rPr b="1" i="1" strike="noStrike" dirty="0"/>
              <a:t> </a:t>
            </a:r>
            <a:r>
              <a:rPr b="1" i="1" strike="noStrike" dirty="0"/>
              <a:t>XE </a:t>
            </a:r>
            <a:r>
              <a:rPr b="1" i="1" strike="noStrike" dirty="0"/>
              <a:t>"Tables:imageMso </a:t>
            </a:r>
            <a:r>
              <a:rPr b="1" i="1" strike="noStrike" dirty="0"/>
              <a:t>table"</a:t>
            </a:r>
          </a:p>
        </p:txBody>
      </p:sp>
      <p:graphicFrame>
        <p:nvGraphicFramePr>
          <p:cNvPr id="4" name="Table 4"/>
          <p:cNvGraphicFramePr/>
          <p:nvPr/>
        </p:nvGraphicFramePr>
        <p:xfrm rot="0">
          <a:off x="508000" y="4627880"/>
          <a:ext cx="11176000" cy="1524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Spelling</a:t>
                      </a:r>
                    </a:p>
                  </a:txBody>
                  <a:tcPr horzOverflow="overflow"/>
                </a:tc>
              </a:tr>
              <a:tr h="508000">
                <a:tc>
                  <a:txBody>
                    <a:bodyPr/>
                    <a:lstStyle/>
                    <a:p>
                      <a:pPr algn="l" defTabSz="914400"/>
                      <a:r>
                        <a:rPr b="0" i="0" strike="noStrike" dirty="0"/>
                        <a:t>FileSave</a:t>
                      </a:r>
                    </a:p>
                  </a:txBody>
                  <a:tcPr horzOverflow="overflow"/>
                </a:tc>
              </a:tr>
            </a:tbl>
          </a:graphicData>
        </a:graphic>
      </p:graphicFrame>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FilePrint</a:t>
                      </a:r>
                    </a:p>
                  </a:txBody>
                  <a:tcPr horzOverflow="overflow"/>
                </a:tc>
              </a:tr>
              <a:tr h="508000">
                <a:tc>
                  <a:txBody>
                    <a:bodyPr/>
                    <a:lstStyle/>
                    <a:p>
                      <a:pPr algn="l" defTabSz="914400"/>
                      <a:r>
                        <a:rPr b="0" i="0" strike="noStrike" dirty="0"/>
                        <a:t>ZoomOnePage</a:t>
                      </a:r>
                    </a:p>
                  </a:txBody>
                  <a:tcPr horzOverflow="overflow"/>
                </a:tc>
              </a:tr>
              <a:tr h="508000">
                <a:tc>
                  <a:txBody>
                    <a:bodyPr/>
                    <a:lstStyle/>
                    <a:p>
                      <a:pPr algn="l" defTabSz="914400"/>
                      <a:r>
                        <a:rPr b="0" i="0" strike="noStrike" dirty="0"/>
                        <a:t>ZoomPageWidth</a:t>
                      </a:r>
                    </a:p>
                  </a:txBody>
                  <a:tcPr horzOverflow="overflow"/>
                </a:tc>
              </a:tr>
              <a:tr h="508000">
                <a:tc>
                  <a:txBody>
                    <a:bodyPr/>
                    <a:lstStyle/>
                    <a:p>
                      <a:pPr algn="l" defTabSz="914400"/>
                      <a:r>
                        <a:rPr b="0" i="0" strike="noStrike" dirty="0"/>
                        <a:t>Zoom100</a:t>
                      </a:r>
                    </a:p>
                  </a:txBody>
                  <a:tcPr horzOverflow="overflow"/>
                </a:tc>
              </a:tr>
              <a:tr h="508000">
                <a:tc>
                  <a:txBody>
                    <a:bodyPr/>
                    <a:lstStyle/>
                    <a:p>
                      <a:pPr algn="l" defTabSz="914400"/>
                      <a:r>
                        <a:rPr b="0" i="0" strike="noStrike" dirty="0"/>
                        <a:t>TableInsert</a:t>
                      </a:r>
                    </a:p>
                  </a:txBody>
                  <a:tcPr horzOverflow="overflow"/>
                </a:tc>
              </a:tr>
              <a:tr h="508000">
                <a:tc>
                  <a:txBody>
                    <a:bodyPr/>
                    <a:lstStyle/>
                    <a:p>
                      <a:pPr algn="l" defTabSz="914400"/>
                      <a:r>
                        <a:rPr b="0" i="0" strike="noStrike" dirty="0"/>
                        <a:t>ColumnsDialog</a:t>
                      </a:r>
                    </a:p>
                  </a:txBody>
                  <a:tcPr horzOverflow="overflow"/>
                </a:tc>
              </a:tr>
              <a:tr h="508000">
                <a:tc>
                  <a:txBody>
                    <a:bodyPr/>
                    <a:lstStyle/>
                    <a:p>
                      <a:pPr algn="l" defTabSz="914400"/>
                      <a:r>
                        <a:rPr b="0" i="0" strike="noStrike" dirty="0"/>
                        <a:t>Numbering</a:t>
                      </a:r>
                    </a:p>
                  </a:txBody>
                  <a:tcPr horzOverflow="overflow"/>
                </a:tc>
              </a:tr>
              <a:tr h="508000">
                <a:tc>
                  <a:txBody>
                    <a:bodyPr/>
                    <a:lstStyle/>
                    <a:p>
                      <a:pPr algn="l" defTabSz="914400"/>
                      <a:r>
                        <a:rPr b="0" i="0" strike="noStrike" dirty="0"/>
                        <a:t>Bullets</a:t>
                      </a:r>
                    </a:p>
                  </a:txBody>
                  <a:tcPr horzOverflow="overflow"/>
                </a:tc>
              </a:tr>
              <a:tr h="508000">
                <a:tc>
                  <a:txBody>
                    <a:bodyPr/>
                    <a:lstStyle/>
                    <a:p>
                      <a:pPr algn="l" defTabSz="914400"/>
                      <a:r>
                        <a:rPr b="0" i="0" strike="noStrike" dirty="0"/>
                        <a:t>PageOrientationPortraitLandscape</a:t>
                      </a:r>
                    </a:p>
                  </a:txBody>
                  <a:tcPr horzOverflow="overflow"/>
                </a:tc>
              </a:tr>
              <a:tr h="508000">
                <a:tc>
                  <a:txBody>
                    <a:bodyPr/>
                    <a:lstStyle/>
                    <a:p>
                      <a:pPr algn="l" defTabSz="914400"/>
                      <a:r>
                        <a:rPr b="0" i="0" strike="noStrike" dirty="0"/>
                        <a:t>OutdentClassic</a:t>
                      </a:r>
                    </a:p>
                  </a:txBody>
                  <a:tcPr horzOverflow="overflow"/>
                </a:tc>
              </a:tr>
            </a:tbl>
          </a:graphicData>
        </a:graphic>
      </p:graphicFrame>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IndentClassic</a:t>
                      </a:r>
                    </a:p>
                  </a:txBody>
                  <a:tcPr horzOverflow="overflow"/>
                </a:tc>
              </a:tr>
              <a:tr h="508000">
                <a:tc>
                  <a:txBody>
                    <a:bodyPr/>
                    <a:lstStyle/>
                    <a:p>
                      <a:pPr algn="l" defTabSz="914400"/>
                      <a:r>
                        <a:rPr b="0" i="0" strike="noStrike" dirty="0"/>
                        <a:t>DrawingInsert</a:t>
                      </a:r>
                    </a:p>
                  </a:txBody>
                  <a:tcPr horzOverflow="overflow"/>
                </a:tc>
              </a:tr>
              <a:tr h="508000">
                <a:tc>
                  <a:txBody>
                    <a:bodyPr/>
                    <a:lstStyle/>
                    <a:p>
                      <a:pPr algn="l" defTabSz="914400"/>
                      <a:r>
                        <a:rPr b="0" i="0" strike="noStrike" dirty="0"/>
                        <a:t>ChartInsert</a:t>
                      </a:r>
                    </a:p>
                  </a:txBody>
                  <a:tcPr horzOverflow="overflow"/>
                </a:tc>
              </a:tr>
              <a:tr h="508000">
                <a:tc>
                  <a:txBody>
                    <a:bodyPr/>
                    <a:lstStyle/>
                    <a:p>
                      <a:pPr algn="l" defTabSz="914400"/>
                      <a:r>
                        <a:rPr b="0" i="0" strike="noStrike" dirty="0"/>
                        <a:t>FileNew</a:t>
                      </a:r>
                    </a:p>
                  </a:txBody>
                  <a:tcPr horzOverflow="overflow"/>
                </a:tc>
              </a:tr>
              <a:tr h="508000">
                <a:tc>
                  <a:txBody>
                    <a:bodyPr/>
                    <a:lstStyle/>
                    <a:p>
                      <a:pPr algn="l" defTabSz="914400"/>
                      <a:r>
                        <a:rPr b="0" i="0" strike="noStrike" dirty="0"/>
                        <a:t>Copy</a:t>
                      </a:r>
                    </a:p>
                  </a:txBody>
                  <a:tcPr horzOverflow="overflow"/>
                </a:tc>
              </a:tr>
              <a:tr h="508000">
                <a:tc>
                  <a:txBody>
                    <a:bodyPr/>
                    <a:lstStyle/>
                    <a:p>
                      <a:pPr algn="l" defTabSz="914400"/>
                      <a:r>
                        <a:rPr b="0" i="0" strike="noStrike" dirty="0"/>
                        <a:t>Cut</a:t>
                      </a:r>
                    </a:p>
                  </a:txBody>
                  <a:tcPr horzOverflow="overflow"/>
                </a:tc>
              </a:tr>
              <a:tr h="508000">
                <a:tc>
                  <a:txBody>
                    <a:bodyPr/>
                    <a:lstStyle/>
                    <a:p>
                      <a:pPr algn="l" defTabSz="914400"/>
                      <a:r>
                        <a:rPr b="0" i="0" strike="noStrike" dirty="0"/>
                        <a:t>Paste</a:t>
                      </a:r>
                    </a:p>
                  </a:txBody>
                  <a:tcPr horzOverflow="overflow"/>
                </a:tc>
              </a:tr>
              <a:tr h="508000">
                <a:tc>
                  <a:txBody>
                    <a:bodyPr/>
                    <a:lstStyle/>
                    <a:p>
                      <a:pPr algn="l" defTabSz="914400"/>
                      <a:r>
                        <a:rPr b="0" i="0" strike="noStrike" dirty="0"/>
                        <a:t>FileOpen</a:t>
                      </a:r>
                    </a:p>
                  </a:txBody>
                  <a:tcPr horzOverflow="overflow"/>
                </a:tc>
              </a:tr>
              <a:tr h="508000">
                <a:tc>
                  <a:txBody>
                    <a:bodyPr/>
                    <a:lstStyle/>
                    <a:p>
                      <a:pPr algn="l" defTabSz="914400"/>
                      <a:r>
                        <a:rPr b="0" i="0" strike="noStrike" dirty="0"/>
                        <a:t>EnvelopesAndLabelsDialog</a:t>
                      </a:r>
                    </a:p>
                  </a:txBody>
                  <a:tcPr horzOverflow="overflow"/>
                </a:tc>
              </a:tr>
              <a:tr h="508000">
                <a:tc>
                  <a:txBody>
                    <a:bodyPr/>
                    <a:lstStyle/>
                    <a:p>
                      <a:pPr algn="l" defTabSz="914400"/>
                      <a:r>
                        <a:rPr b="0" i="0" strike="noStrike" dirty="0"/>
                        <a:t>ZoomPrintPreviewExcel</a:t>
                      </a:r>
                    </a:p>
                  </a:txBody>
                  <a:tcPr horzOverflow="overflow"/>
                </a:tc>
              </a:tr>
            </a:tbl>
          </a:graphicData>
        </a:graphic>
      </p:graphicFrame>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PenComment</a:t>
                      </a:r>
                    </a:p>
                  </a:txBody>
                  <a:tcPr horzOverflow="overflow"/>
                </a:tc>
              </a:tr>
              <a:tr h="508000">
                <a:tc>
                  <a:txBody>
                    <a:bodyPr/>
                    <a:lstStyle/>
                    <a:p>
                      <a:pPr algn="l" defTabSz="914400"/>
                      <a:r>
                        <a:rPr b="0" i="0" strike="noStrike" dirty="0"/>
                        <a:t>Folder</a:t>
                      </a:r>
                    </a:p>
                  </a:txBody>
                  <a:tcPr horzOverflow="overflow"/>
                </a:tc>
              </a:tr>
              <a:tr h="508000">
                <a:tc>
                  <a:txBody>
                    <a:bodyPr/>
                    <a:lstStyle/>
                    <a:p>
                      <a:pPr algn="l" defTabSz="914400"/>
                      <a:r>
                        <a:rPr b="0" i="0" strike="noStrike" dirty="0"/>
                        <a:t>Repeat</a:t>
                      </a:r>
                    </a:p>
                  </a:txBody>
                  <a:tcPr horzOverflow="overflow"/>
                </a:tc>
              </a:tr>
              <a:tr h="508000">
                <a:tc>
                  <a:txBody>
                    <a:bodyPr/>
                    <a:lstStyle/>
                    <a:p>
                      <a:pPr algn="l" defTabSz="914400"/>
                      <a:r>
                        <a:rPr b="0" i="0" strike="noStrike" dirty="0"/>
                        <a:t>UpArrow2</a:t>
                      </a:r>
                    </a:p>
                  </a:txBody>
                  <a:tcPr horzOverflow="overflow"/>
                </a:tc>
              </a:tr>
              <a:tr h="508000">
                <a:tc>
                  <a:txBody>
                    <a:bodyPr/>
                    <a:lstStyle/>
                    <a:p>
                      <a:pPr algn="l" defTabSz="914400"/>
                      <a:r>
                        <a:rPr b="0" i="0" strike="noStrike" dirty="0"/>
                        <a:t>RightArrow2</a:t>
                      </a:r>
                    </a:p>
                  </a:txBody>
                  <a:tcPr horzOverflow="overflow"/>
                </a:tc>
              </a:tr>
              <a:tr h="508000">
                <a:tc>
                  <a:txBody>
                    <a:bodyPr/>
                    <a:lstStyle/>
                    <a:p>
                      <a:pPr algn="l" defTabSz="914400"/>
                      <a:r>
                        <a:rPr b="0" i="0" strike="noStrike" dirty="0"/>
                        <a:t>DownArrow2</a:t>
                      </a:r>
                    </a:p>
                  </a:txBody>
                  <a:tcPr horzOverflow="overflow"/>
                </a:tc>
              </a:tr>
              <a:tr h="508000">
                <a:tc>
                  <a:txBody>
                    <a:bodyPr/>
                    <a:lstStyle/>
                    <a:p>
                      <a:pPr algn="l" defTabSz="914400"/>
                      <a:r>
                        <a:rPr b="0" i="0" strike="noStrike" dirty="0"/>
                        <a:t>LeftArrow2</a:t>
                      </a:r>
                    </a:p>
                  </a:txBody>
                  <a:tcPr horzOverflow="overflow"/>
                </a:tc>
              </a:tr>
              <a:tr h="508000">
                <a:tc>
                  <a:txBody>
                    <a:bodyPr/>
                    <a:lstStyle/>
                    <a:p>
                      <a:pPr algn="l" defTabSz="914400"/>
                      <a:r>
                        <a:rPr b="0" i="0" strike="noStrike" dirty="0"/>
                        <a:t>Clear</a:t>
                      </a:r>
                    </a:p>
                  </a:txBody>
                  <a:tcPr horzOverflow="overflow"/>
                </a:tc>
              </a:tr>
              <a:tr h="508000">
                <a:tc>
                  <a:txBody>
                    <a:bodyPr/>
                    <a:lstStyle/>
                    <a:p>
                      <a:pPr algn="l" defTabSz="914400"/>
                      <a:r>
                        <a:rPr b="0" i="0" strike="noStrike" dirty="0"/>
                        <a:t>Breakpoint</a:t>
                      </a:r>
                    </a:p>
                  </a:txBody>
                  <a:tcPr horzOverflow="overflow"/>
                </a:tc>
              </a:tr>
              <a:tr h="508000">
                <a:tc>
                  <a:txBody>
                    <a:bodyPr/>
                    <a:lstStyle/>
                    <a:p>
                      <a:pPr algn="l" defTabSz="914400"/>
                      <a:r>
                        <a:rPr b="0" i="0" strike="noStrike" dirty="0"/>
                        <a:t>Piggy</a:t>
                      </a:r>
                    </a:p>
                  </a:txBody>
                  <a:tcPr horzOverflow="overflow"/>
                </a:tc>
              </a:tr>
            </a:tbl>
          </a:graphicData>
        </a:graphic>
      </p:graphicFrame>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Superscript</a:t>
                      </a:r>
                    </a:p>
                  </a:txBody>
                  <a:tcPr horzOverflow="overflow"/>
                </a:tc>
              </a:tr>
              <a:tr h="508000">
                <a:tc>
                  <a:txBody>
                    <a:bodyPr/>
                    <a:lstStyle/>
                    <a:p>
                      <a:pPr algn="l" defTabSz="914400"/>
                      <a:r>
                        <a:rPr b="0" i="0" strike="noStrike" dirty="0"/>
                        <a:t>Subscript</a:t>
                      </a:r>
                    </a:p>
                  </a:txBody>
                  <a:tcPr horzOverflow="overflow"/>
                </a:tc>
              </a:tr>
              <a:tr h="508000">
                <a:tc>
                  <a:txBody>
                    <a:bodyPr/>
                    <a:lstStyle/>
                    <a:p>
                      <a:pPr algn="l" defTabSz="914400"/>
                      <a:r>
                        <a:rPr b="0" i="0" strike="noStrike" dirty="0"/>
                        <a:t>HappyFace</a:t>
                      </a:r>
                    </a:p>
                  </a:txBody>
                  <a:tcPr horzOverflow="overflow"/>
                </a:tc>
              </a:tr>
              <a:tr h="508000">
                <a:tc>
                  <a:txBody>
                    <a:bodyPr/>
                    <a:lstStyle/>
                    <a:p>
                      <a:pPr algn="l" defTabSz="914400"/>
                      <a:r>
                        <a:rPr b="0" i="0" strike="noStrike" dirty="0"/>
                        <a:t>UnderlineDouble</a:t>
                      </a:r>
                    </a:p>
                  </a:txBody>
                  <a:tcPr horzOverflow="overflow"/>
                </a:tc>
              </a:tr>
              <a:tr h="508000">
                <a:tc>
                  <a:txBody>
                    <a:bodyPr/>
                    <a:lstStyle/>
                    <a:p>
                      <a:pPr algn="l" defTabSz="914400"/>
                      <a:r>
                        <a:rPr b="0" i="0" strike="noStrike" dirty="0"/>
                        <a:t>UnderlineWords</a:t>
                      </a:r>
                    </a:p>
                  </a:txBody>
                  <a:tcPr horzOverflow="overflow"/>
                </a:tc>
              </a:tr>
              <a:tr h="508000">
                <a:tc>
                  <a:txBody>
                    <a:bodyPr/>
                    <a:lstStyle/>
                    <a:p>
                      <a:pPr algn="l" defTabSz="914400"/>
                      <a:r>
                        <a:rPr b="0" i="0" strike="noStrike" dirty="0"/>
                        <a:t>FontSizeIncreaseWord</a:t>
                      </a:r>
                    </a:p>
                  </a:txBody>
                  <a:tcPr horzOverflow="overflow"/>
                </a:tc>
              </a:tr>
              <a:tr h="508000">
                <a:tc>
                  <a:txBody>
                    <a:bodyPr/>
                    <a:lstStyle/>
                    <a:p>
                      <a:pPr algn="l" defTabSz="914400"/>
                      <a:r>
                        <a:rPr b="0" i="0" strike="noStrike" dirty="0"/>
                        <a:t>FontSizeDecreaseWord</a:t>
                      </a:r>
                    </a:p>
                  </a:txBody>
                  <a:tcPr horzOverflow="overflow"/>
                </a:tc>
              </a:tr>
              <a:tr h="508000">
                <a:tc>
                  <a:txBody>
                    <a:bodyPr/>
                    <a:lstStyle/>
                    <a:p>
                      <a:pPr algn="l" defTabSz="914400"/>
                      <a:r>
                        <a:rPr b="0" i="0" strike="noStrike" dirty="0"/>
                        <a:t>_0</a:t>
                      </a:r>
                    </a:p>
                  </a:txBody>
                  <a:tcPr horzOverflow="overflow"/>
                </a:tc>
              </a:tr>
              <a:tr h="508000">
                <a:tc>
                  <a:txBody>
                    <a:bodyPr/>
                    <a:lstStyle/>
                    <a:p>
                      <a:pPr algn="l" defTabSz="914400"/>
                      <a:r>
                        <a:rPr b="0" i="0" strike="noStrike" dirty="0"/>
                        <a:t>_1</a:t>
                      </a:r>
                    </a:p>
                  </a:txBody>
                  <a:tcPr horzOverflow="overflow"/>
                </a:tc>
              </a:tr>
              <a:tr h="508000">
                <a:tc>
                  <a:txBody>
                    <a:bodyPr/>
                    <a:lstStyle/>
                    <a:p>
                      <a:pPr algn="l" defTabSz="914400"/>
                      <a:r>
                        <a:rPr b="0" i="0" strike="noStrike" dirty="0"/>
                        <a:t>_2</a:t>
                      </a:r>
                    </a:p>
                  </a:txBody>
                  <a:tcPr horzOverflow="overflow"/>
                </a:tc>
              </a:tr>
            </a:tbl>
          </a:graphicData>
        </a:graphic>
      </p:graphicFrame>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_3</a:t>
                      </a:r>
                    </a:p>
                  </a:txBody>
                  <a:tcPr horzOverflow="overflow"/>
                </a:tc>
              </a:tr>
              <a:tr h="508000">
                <a:tc>
                  <a:txBody>
                    <a:bodyPr/>
                    <a:lstStyle/>
                    <a:p>
                      <a:pPr algn="l" defTabSz="914400"/>
                      <a:r>
                        <a:rPr b="0" i="0" strike="noStrike" dirty="0"/>
                        <a:t>_4</a:t>
                      </a:r>
                    </a:p>
                  </a:txBody>
                  <a:tcPr horzOverflow="overflow"/>
                </a:tc>
              </a:tr>
              <a:tr h="508000">
                <a:tc>
                  <a:txBody>
                    <a:bodyPr/>
                    <a:lstStyle/>
                    <a:p>
                      <a:pPr algn="l" defTabSz="914400"/>
                      <a:r>
                        <a:rPr b="0" i="0" strike="noStrike" dirty="0"/>
                        <a:t>_5</a:t>
                      </a:r>
                    </a:p>
                  </a:txBody>
                  <a:tcPr horzOverflow="overflow"/>
                </a:tc>
              </a:tr>
              <a:tr h="508000">
                <a:tc>
                  <a:txBody>
                    <a:bodyPr/>
                    <a:lstStyle/>
                    <a:p>
                      <a:pPr algn="l" defTabSz="914400"/>
                      <a:r>
                        <a:rPr b="0" i="0" strike="noStrike" dirty="0"/>
                        <a:t>_6</a:t>
                      </a:r>
                    </a:p>
                  </a:txBody>
                  <a:tcPr horzOverflow="overflow"/>
                </a:tc>
              </a:tr>
              <a:tr h="508000">
                <a:tc>
                  <a:txBody>
                    <a:bodyPr/>
                    <a:lstStyle/>
                    <a:p>
                      <a:pPr algn="l" defTabSz="914400"/>
                      <a:r>
                        <a:rPr b="0" i="0" strike="noStrike" dirty="0"/>
                        <a:t>_7</a:t>
                      </a:r>
                    </a:p>
                  </a:txBody>
                  <a:tcPr horzOverflow="overflow"/>
                </a:tc>
              </a:tr>
              <a:tr h="508000">
                <a:tc>
                  <a:txBody>
                    <a:bodyPr/>
                    <a:lstStyle/>
                    <a:p>
                      <a:pPr algn="l" defTabSz="914400"/>
                      <a:r>
                        <a:rPr b="0" i="0" strike="noStrike" dirty="0"/>
                        <a:t>_8</a:t>
                      </a:r>
                    </a:p>
                  </a:txBody>
                  <a:tcPr horzOverflow="overflow"/>
                </a:tc>
              </a:tr>
              <a:tr h="508000">
                <a:tc>
                  <a:txBody>
                    <a:bodyPr/>
                    <a:lstStyle/>
                    <a:p>
                      <a:pPr algn="l" defTabSz="914400"/>
                      <a:r>
                        <a:rPr b="0" i="0" strike="noStrike" dirty="0"/>
                        <a:t>_9</a:t>
                      </a:r>
                    </a:p>
                  </a:txBody>
                  <a:tcPr horzOverflow="overflow"/>
                </a:tc>
              </a:tr>
              <a:tr h="508000">
                <a:tc>
                  <a:txBody>
                    <a:bodyPr/>
                    <a:lstStyle/>
                    <a:p>
                      <a:pPr algn="l" defTabSz="914400"/>
                      <a:r>
                        <a:rPr b="0" i="0" strike="noStrike" dirty="0"/>
                        <a:t>A</a:t>
                      </a:r>
                    </a:p>
                  </a:txBody>
                  <a:tcPr horzOverflow="overflow"/>
                </a:tc>
              </a:tr>
              <a:tr h="508000">
                <a:tc>
                  <a:txBody>
                    <a:bodyPr/>
                    <a:lstStyle/>
                    <a:p>
                      <a:pPr algn="l" defTabSz="914400"/>
                      <a:r>
                        <a:rPr b="0" i="0" strike="noStrike" dirty="0"/>
                        <a:t>B</a:t>
                      </a:r>
                    </a:p>
                  </a:txBody>
                  <a:tcPr horzOverflow="overflow"/>
                </a:tc>
              </a:tr>
              <a:tr h="508000">
                <a:tc>
                  <a:txBody>
                    <a:bodyPr/>
                    <a:lstStyle/>
                    <a:p>
                      <a:pPr algn="l" defTabSz="914400"/>
                      <a:r>
                        <a:rPr b="0" i="0" strike="noStrike" dirty="0"/>
                        <a:t>C</a:t>
                      </a:r>
                    </a:p>
                  </a:txBody>
                  <a:tcPr horzOverflow="overflow"/>
                </a:tc>
              </a:tr>
            </a:tbl>
          </a:graphicData>
        </a:graphic>
      </p:graphicFrame>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a:t>
                      </a:r>
                    </a:p>
                  </a:txBody>
                  <a:tcPr horzOverflow="overflow"/>
                </a:tc>
              </a:tr>
              <a:tr h="508000">
                <a:tc>
                  <a:txBody>
                    <a:bodyPr/>
                    <a:lstStyle/>
                    <a:p>
                      <a:pPr algn="l" defTabSz="914400"/>
                      <a:r>
                        <a:rPr b="0" i="0" strike="noStrike" dirty="0"/>
                        <a:t>E</a:t>
                      </a:r>
                    </a:p>
                  </a:txBody>
                  <a:tcPr horzOverflow="overflow"/>
                </a:tc>
              </a:tr>
              <a:tr h="508000">
                <a:tc>
                  <a:txBody>
                    <a:bodyPr/>
                    <a:lstStyle/>
                    <a:p>
                      <a:pPr algn="l" defTabSz="914400"/>
                      <a:r>
                        <a:rPr b="0" i="0" strike="noStrike" dirty="0"/>
                        <a:t>F</a:t>
                      </a:r>
                    </a:p>
                  </a:txBody>
                  <a:tcPr horzOverflow="overflow"/>
                </a:tc>
              </a:tr>
              <a:tr h="508000">
                <a:tc>
                  <a:txBody>
                    <a:bodyPr/>
                    <a:lstStyle/>
                    <a:p>
                      <a:pPr algn="l" defTabSz="914400"/>
                      <a:r>
                        <a:rPr b="0" i="0" strike="noStrike" dirty="0"/>
                        <a:t>G</a:t>
                      </a:r>
                    </a:p>
                  </a:txBody>
                  <a:tcPr horzOverflow="overflow"/>
                </a:tc>
              </a:tr>
              <a:tr h="508000">
                <a:tc>
                  <a:txBody>
                    <a:bodyPr/>
                    <a:lstStyle/>
                    <a:p>
                      <a:pPr algn="l" defTabSz="914400"/>
                      <a:r>
                        <a:rPr b="0" i="0" strike="noStrike" dirty="0"/>
                        <a:t>H</a:t>
                      </a:r>
                    </a:p>
                  </a:txBody>
                  <a:tcPr horzOverflow="overflow"/>
                </a:tc>
              </a:tr>
              <a:tr h="508000">
                <a:tc>
                  <a:txBody>
                    <a:bodyPr/>
                    <a:lstStyle/>
                    <a:p>
                      <a:pPr algn="l" defTabSz="914400"/>
                      <a:r>
                        <a:rPr b="0" i="0" strike="noStrike" dirty="0"/>
                        <a:t>I</a:t>
                      </a:r>
                    </a:p>
                  </a:txBody>
                  <a:tcPr horzOverflow="overflow"/>
                </a:tc>
              </a:tr>
              <a:tr h="508000">
                <a:tc>
                  <a:txBody>
                    <a:bodyPr/>
                    <a:lstStyle/>
                    <a:p>
                      <a:pPr algn="l" defTabSz="914400"/>
                      <a:r>
                        <a:rPr b="0" i="0" strike="noStrike" dirty="0"/>
                        <a:t>J</a:t>
                      </a:r>
                    </a:p>
                  </a:txBody>
                  <a:tcPr horzOverflow="overflow"/>
                </a:tc>
              </a:tr>
              <a:tr h="508000">
                <a:tc>
                  <a:txBody>
                    <a:bodyPr/>
                    <a:lstStyle/>
                    <a:p>
                      <a:pPr algn="l" defTabSz="914400"/>
                      <a:r>
                        <a:rPr b="0" i="0" strike="noStrike" dirty="0"/>
                        <a:t>K</a:t>
                      </a:r>
                    </a:p>
                  </a:txBody>
                  <a:tcPr horzOverflow="overflow"/>
                </a:tc>
              </a:tr>
              <a:tr h="508000">
                <a:tc>
                  <a:txBody>
                    <a:bodyPr/>
                    <a:lstStyle/>
                    <a:p>
                      <a:pPr algn="l" defTabSz="914400"/>
                      <a:r>
                        <a:rPr b="0" i="0" strike="noStrike" dirty="0"/>
                        <a:t>L</a:t>
                      </a:r>
                    </a:p>
                  </a:txBody>
                  <a:tcPr horzOverflow="overflow"/>
                </a:tc>
              </a:tr>
              <a:tr h="508000">
                <a:tc>
                  <a:txBody>
                    <a:bodyPr/>
                    <a:lstStyle/>
                    <a:p>
                      <a:pPr algn="l" defTabSz="914400"/>
                      <a:r>
                        <a:rPr b="0" i="0" strike="noStrike" dirty="0"/>
                        <a:t>M</a:t>
                      </a:r>
                    </a:p>
                  </a:txBody>
                  <a:tcPr horzOverflow="overflow"/>
                </a:tc>
              </a:tr>
            </a:tbl>
          </a:graphicData>
        </a:graphic>
      </p:graphicFrame>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N</a:t>
                      </a:r>
                    </a:p>
                  </a:txBody>
                  <a:tcPr horzOverflow="overflow"/>
                </a:tc>
              </a:tr>
              <a:tr h="508000">
                <a:tc>
                  <a:txBody>
                    <a:bodyPr/>
                    <a:lstStyle/>
                    <a:p>
                      <a:pPr algn="l" defTabSz="914400"/>
                      <a:r>
                        <a:rPr b="0" i="0" strike="noStrike" dirty="0"/>
                        <a:t>O</a:t>
                      </a:r>
                    </a:p>
                  </a:txBody>
                  <a:tcPr horzOverflow="overflow"/>
                </a:tc>
              </a:tr>
              <a:tr h="508000">
                <a:tc>
                  <a:txBody>
                    <a:bodyPr/>
                    <a:lstStyle/>
                    <a:p>
                      <a:pPr algn="l" defTabSz="914400"/>
                      <a:r>
                        <a:rPr b="0" i="0" strike="noStrike" dirty="0"/>
                        <a:t>P</a:t>
                      </a:r>
                    </a:p>
                  </a:txBody>
                  <a:tcPr horzOverflow="overflow"/>
                </a:tc>
              </a:tr>
              <a:tr h="508000">
                <a:tc>
                  <a:txBody>
                    <a:bodyPr/>
                    <a:lstStyle/>
                    <a:p>
                      <a:pPr algn="l" defTabSz="914400"/>
                      <a:r>
                        <a:rPr b="0" i="0" strike="noStrike" dirty="0"/>
                        <a:t>Q</a:t>
                      </a:r>
                    </a:p>
                  </a:txBody>
                  <a:tcPr horzOverflow="overflow"/>
                </a:tc>
              </a:tr>
              <a:tr h="508000">
                <a:tc>
                  <a:txBody>
                    <a:bodyPr/>
                    <a:lstStyle/>
                    <a:p>
                      <a:pPr algn="l" defTabSz="914400"/>
                      <a:r>
                        <a:rPr b="0" i="0" strike="noStrike" dirty="0"/>
                        <a:t>R</a:t>
                      </a:r>
                    </a:p>
                  </a:txBody>
                  <a:tcPr horzOverflow="overflow"/>
                </a:tc>
              </a:tr>
              <a:tr h="508000">
                <a:tc>
                  <a:txBody>
                    <a:bodyPr/>
                    <a:lstStyle/>
                    <a:p>
                      <a:pPr algn="l" defTabSz="914400"/>
                      <a:r>
                        <a:rPr b="0" i="0" strike="noStrike" dirty="0"/>
                        <a:t>S</a:t>
                      </a:r>
                    </a:p>
                  </a:txBody>
                  <a:tcPr horzOverflow="overflow"/>
                </a:tc>
              </a:tr>
              <a:tr h="508000">
                <a:tc>
                  <a:txBody>
                    <a:bodyPr/>
                    <a:lstStyle/>
                    <a:p>
                      <a:pPr algn="l" defTabSz="914400"/>
                      <a:r>
                        <a:rPr b="0" i="0" strike="noStrike" dirty="0"/>
                        <a:t>T</a:t>
                      </a:r>
                    </a:p>
                  </a:txBody>
                  <a:tcPr horzOverflow="overflow"/>
                </a:tc>
              </a:tr>
              <a:tr h="508000">
                <a:tc>
                  <a:txBody>
                    <a:bodyPr/>
                    <a:lstStyle/>
                    <a:p>
                      <a:pPr algn="l" defTabSz="914400"/>
                      <a:r>
                        <a:rPr b="0" i="0" strike="noStrike" dirty="0"/>
                        <a:t>U</a:t>
                      </a:r>
                    </a:p>
                  </a:txBody>
                  <a:tcPr horzOverflow="overflow"/>
                </a:tc>
              </a:tr>
              <a:tr h="508000">
                <a:tc>
                  <a:txBody>
                    <a:bodyPr/>
                    <a:lstStyle/>
                    <a:p>
                      <a:pPr algn="l" defTabSz="914400"/>
                      <a:r>
                        <a:rPr b="0" i="0" strike="noStrike" dirty="0"/>
                        <a:t>V</a:t>
                      </a:r>
                    </a:p>
                  </a:txBody>
                  <a:tcPr horzOverflow="overflow"/>
                </a:tc>
              </a:tr>
              <a:tr h="508000">
                <a:tc>
                  <a:txBody>
                    <a:bodyPr/>
                    <a:lstStyle/>
                    <a:p>
                      <a:pPr algn="l" defTabSz="914400"/>
                      <a:r>
                        <a:rPr b="0" i="0" strike="noStrike" dirty="0"/>
                        <a:t>W</a:t>
                      </a:r>
                    </a:p>
                  </a:txBody>
                  <a:tcPr horzOverflow="overflow"/>
                </a:tc>
              </a:tr>
            </a:tbl>
          </a:graphicData>
        </a:graphic>
      </p:graphicFrame>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X</a:t>
                      </a:r>
                    </a:p>
                  </a:txBody>
                  <a:tcPr horzOverflow="overflow"/>
                </a:tc>
              </a:tr>
              <a:tr h="508000">
                <a:tc>
                  <a:txBody>
                    <a:bodyPr/>
                    <a:lstStyle/>
                    <a:p>
                      <a:pPr algn="l" defTabSz="914400"/>
                      <a:r>
                        <a:rPr b="0" i="0" strike="noStrike" dirty="0"/>
                        <a:t>Y</a:t>
                      </a:r>
                    </a:p>
                  </a:txBody>
                  <a:tcPr horzOverflow="overflow"/>
                </a:tc>
              </a:tr>
              <a:tr h="508000">
                <a:tc>
                  <a:txBody>
                    <a:bodyPr/>
                    <a:lstStyle/>
                    <a:p>
                      <a:pPr algn="l" defTabSz="914400"/>
                      <a:r>
                        <a:rPr b="0" i="0" strike="noStrike" dirty="0"/>
                        <a:t>Z</a:t>
                      </a:r>
                    </a:p>
                  </a:txBody>
                  <a:tcPr horzOverflow="overflow"/>
                </a:tc>
              </a:tr>
              <a:tr h="508000">
                <a:tc>
                  <a:txBody>
                    <a:bodyPr/>
                    <a:lstStyle/>
                    <a:p>
                      <a:pPr algn="l" defTabSz="914400"/>
                      <a:r>
                        <a:rPr b="0" i="0" strike="noStrike" dirty="0"/>
                        <a:t>FileClose</a:t>
                      </a:r>
                    </a:p>
                  </a:txBody>
                  <a:tcPr horzOverflow="overflow"/>
                </a:tc>
              </a:tr>
              <a:tr h="508000">
                <a:tc>
                  <a:txBody>
                    <a:bodyPr/>
                    <a:lstStyle/>
                    <a:p>
                      <a:pPr algn="l" defTabSz="914400"/>
                      <a:r>
                        <a:rPr b="0" i="0" strike="noStrike" dirty="0"/>
                        <a:t>TableAutoFormat</a:t>
                      </a:r>
                    </a:p>
                  </a:txBody>
                  <a:tcPr horzOverflow="overflow"/>
                </a:tc>
              </a:tr>
              <a:tr h="508000">
                <a:tc>
                  <a:txBody>
                    <a:bodyPr/>
                    <a:lstStyle/>
                    <a:p>
                      <a:pPr algn="l" defTabSz="914400"/>
                      <a:r>
                        <a:rPr b="0" i="0" strike="noStrike" dirty="0"/>
                        <a:t>FormatPainter</a:t>
                      </a:r>
                    </a:p>
                  </a:txBody>
                  <a:tcPr horzOverflow="overflow"/>
                </a:tc>
              </a:tr>
              <a:tr h="508000">
                <a:tc>
                  <a:txBody>
                    <a:bodyPr/>
                    <a:lstStyle/>
                    <a:p>
                      <a:pPr algn="l" defTabSz="914400"/>
                      <a:r>
                        <a:rPr b="0" i="0" strike="noStrike" dirty="0"/>
                        <a:t>FilePrintPreview</a:t>
                      </a:r>
                    </a:p>
                  </a:txBody>
                  <a:tcPr horzOverflow="overflow"/>
                </a:tc>
              </a:tr>
              <a:tr h="508000">
                <a:tc>
                  <a:txBody>
                    <a:bodyPr/>
                    <a:lstStyle/>
                    <a:p>
                      <a:pPr algn="l" defTabSz="914400"/>
                      <a:r>
                        <a:rPr b="0" i="0" strike="noStrike" dirty="0"/>
                        <a:t>PickUpStyle</a:t>
                      </a:r>
                    </a:p>
                  </a:txBody>
                  <a:tcPr horzOverflow="overflow"/>
                </a:tc>
              </a:tr>
              <a:tr h="508000">
                <a:tc>
                  <a:txBody>
                    <a:bodyPr/>
                    <a:lstStyle/>
                    <a:p>
                      <a:pPr algn="l" defTabSz="914400"/>
                      <a:r>
                        <a:rPr b="0" i="0" strike="noStrike" dirty="0"/>
                        <a:t>PasteApplyStyle</a:t>
                      </a:r>
                    </a:p>
                  </a:txBody>
                  <a:tcPr horzOverflow="overflow"/>
                </a:tc>
              </a:tr>
              <a:tr h="508000">
                <a:tc>
                  <a:txBody>
                    <a:bodyPr/>
                    <a:lstStyle/>
                    <a:p>
                      <a:pPr algn="l" defTabSz="914400"/>
                      <a:r>
                        <a:rPr b="0" i="0" strike="noStrike" dirty="0"/>
                        <a:t>Bold</a:t>
                      </a:r>
                    </a:p>
                  </a:txBody>
                  <a:tcPr horzOverflow="overflow"/>
                </a:tc>
              </a:tr>
            </a:tbl>
          </a:graphicData>
        </a:graphic>
      </p:graphicFrame>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Italic</a:t>
                      </a:r>
                    </a:p>
                  </a:txBody>
                  <a:tcPr horzOverflow="overflow"/>
                </a:tc>
              </a:tr>
              <a:tr h="508000">
                <a:tc>
                  <a:txBody>
                    <a:bodyPr/>
                    <a:lstStyle/>
                    <a:p>
                      <a:pPr algn="l" defTabSz="914400"/>
                      <a:r>
                        <a:rPr b="0" i="0" strike="noStrike" dirty="0"/>
                        <a:t>Underline</a:t>
                      </a:r>
                    </a:p>
                  </a:txBody>
                  <a:tcPr horzOverflow="overflow"/>
                </a:tc>
              </a:tr>
              <a:tr h="508000">
                <a:tc>
                  <a:txBody>
                    <a:bodyPr/>
                    <a:lstStyle/>
                    <a:p>
                      <a:pPr algn="l" defTabSz="914400"/>
                      <a:r>
                        <a:rPr b="0" i="0" strike="noStrike" dirty="0"/>
                        <a:t>DarkShading</a:t>
                      </a:r>
                    </a:p>
                  </a:txBody>
                  <a:tcPr horzOverflow="overflow"/>
                </a:tc>
              </a:tr>
              <a:tr h="508000">
                <a:tc>
                  <a:txBody>
                    <a:bodyPr/>
                    <a:lstStyle/>
                    <a:p>
                      <a:pPr algn="l" defTabSz="914400"/>
                      <a:r>
                        <a:rPr b="0" i="0" strike="noStrike" dirty="0"/>
                        <a:t>ParagraphMarks</a:t>
                      </a:r>
                    </a:p>
                  </a:txBody>
                  <a:tcPr horzOverflow="overflow"/>
                </a:tc>
              </a:tr>
              <a:tr h="508000">
                <a:tc>
                  <a:txBody>
                    <a:bodyPr/>
                    <a:lstStyle/>
                    <a:p>
                      <a:pPr algn="l" defTabSz="914400"/>
                      <a:r>
                        <a:rPr b="0" i="0" strike="noStrike" dirty="0"/>
                        <a:t>AlignLeft</a:t>
                      </a:r>
                    </a:p>
                  </a:txBody>
                  <a:tcPr horzOverflow="overflow"/>
                </a:tc>
              </a:tr>
              <a:tr h="508000">
                <a:tc>
                  <a:txBody>
                    <a:bodyPr/>
                    <a:lstStyle/>
                    <a:p>
                      <a:pPr algn="l" defTabSz="914400"/>
                      <a:r>
                        <a:rPr b="0" i="0" strike="noStrike" dirty="0"/>
                        <a:t>AlignRight</a:t>
                      </a:r>
                    </a:p>
                  </a:txBody>
                  <a:tcPr horzOverflow="overflow"/>
                </a:tc>
              </a:tr>
              <a:tr h="508000">
                <a:tc>
                  <a:txBody>
                    <a:bodyPr/>
                    <a:lstStyle/>
                    <a:p>
                      <a:pPr algn="l" defTabSz="914400"/>
                      <a:r>
                        <a:rPr b="0" i="0" strike="noStrike" dirty="0"/>
                        <a:t>AlignCenter</a:t>
                      </a:r>
                    </a:p>
                  </a:txBody>
                  <a:tcPr horzOverflow="overflow"/>
                </a:tc>
              </a:tr>
              <a:tr h="508000">
                <a:tc>
                  <a:txBody>
                    <a:bodyPr/>
                    <a:lstStyle/>
                    <a:p>
                      <a:pPr algn="l" defTabSz="914400"/>
                      <a:r>
                        <a:rPr b="0" i="0" strike="noStrike" dirty="0"/>
                        <a:t>AlignJustify</a:t>
                      </a:r>
                    </a:p>
                  </a:txBody>
                  <a:tcPr horzOverflow="overflow"/>
                </a:tc>
              </a:tr>
              <a:tr h="508000">
                <a:tc>
                  <a:txBody>
                    <a:bodyPr/>
                    <a:lstStyle/>
                    <a:p>
                      <a:pPr algn="l" defTabSz="914400"/>
                      <a:r>
                        <a:rPr b="0" i="0" strike="noStrike" dirty="0"/>
                        <a:t>ContextHelp</a:t>
                      </a:r>
                    </a:p>
                  </a:txBody>
                  <a:tcPr horzOverflow="overflow"/>
                </a:tc>
              </a:tr>
              <a:tr h="508000">
                <a:tc>
                  <a:txBody>
                    <a:bodyPr/>
                    <a:lstStyle/>
                    <a:p>
                      <a:pPr algn="l" defTabSz="914400"/>
                      <a:r>
                        <a:rPr b="0" i="0" strike="noStrike" dirty="0"/>
                        <a:t>HeaderFooterPageNumberInsert</a:t>
                      </a:r>
                    </a:p>
                  </a:txBody>
                  <a:tcPr horzOverflow="overflow"/>
                </a:tc>
              </a:tr>
            </a:tbl>
          </a:graphicData>
        </a:graphic>
      </p:graphicFrame>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Undo</a:t>
                      </a:r>
                    </a:p>
                  </a:txBody>
                  <a:tcPr horzOverflow="overflow"/>
                </a:tc>
              </a:tr>
              <a:tr h="508000">
                <a:tc>
                  <a:txBody>
                    <a:bodyPr/>
                    <a:lstStyle/>
                    <a:p>
                      <a:pPr algn="l" defTabSz="914400"/>
                      <a:r>
                        <a:rPr b="0" i="0" strike="noStrike" dirty="0"/>
                        <a:t>Redo</a:t>
                      </a:r>
                    </a:p>
                  </a:txBody>
                  <a:tcPr horzOverflow="overflow"/>
                </a:tc>
              </a:tr>
              <a:tr h="508000">
                <a:tc>
                  <a:txBody>
                    <a:bodyPr/>
                    <a:lstStyle/>
                    <a:p>
                      <a:pPr algn="l" defTabSz="914400"/>
                      <a:r>
                        <a:rPr b="0" i="0" strike="noStrike" dirty="0"/>
                        <a:t>ControlLine</a:t>
                      </a:r>
                    </a:p>
                  </a:txBody>
                  <a:tcPr horzOverflow="overflow"/>
                </a:tc>
              </a:tr>
              <a:tr h="508000">
                <a:tc>
                  <a:txBody>
                    <a:bodyPr/>
                    <a:lstStyle/>
                    <a:p>
                      <a:pPr algn="l" defTabSz="914400"/>
                      <a:r>
                        <a:rPr b="0" i="0" strike="noStrike" dirty="0"/>
                        <a:t>ControlRectangle</a:t>
                      </a:r>
                    </a:p>
                  </a:txBody>
                  <a:tcPr horzOverflow="overflow"/>
                </a:tc>
              </a:tr>
              <a:tr h="508000">
                <a:tc>
                  <a:txBody>
                    <a:bodyPr/>
                    <a:lstStyle/>
                    <a:p>
                      <a:pPr algn="l" defTabSz="914400"/>
                      <a:r>
                        <a:rPr b="0" i="0" strike="noStrike" dirty="0"/>
                        <a:t>OutlinePromote</a:t>
                      </a:r>
                    </a:p>
                  </a:txBody>
                  <a:tcPr horzOverflow="overflow"/>
                </a:tc>
              </a:tr>
              <a:tr h="508000">
                <a:tc>
                  <a:txBody>
                    <a:bodyPr/>
                    <a:lstStyle/>
                    <a:p>
                      <a:pPr algn="l" defTabSz="914400"/>
                      <a:r>
                        <a:rPr b="0" i="0" strike="noStrike" dirty="0"/>
                        <a:t>OutlineDemote</a:t>
                      </a:r>
                    </a:p>
                  </a:txBody>
                  <a:tcPr horzOverflow="overflow"/>
                </a:tc>
              </a:tr>
              <a:tr h="508000">
                <a:tc>
                  <a:txBody>
                    <a:bodyPr/>
                    <a:lstStyle/>
                    <a:p>
                      <a:pPr algn="l" defTabSz="914400"/>
                      <a:r>
                        <a:rPr b="0" i="0" strike="noStrike" dirty="0"/>
                        <a:t>OutlineMoveUp</a:t>
                      </a:r>
                    </a:p>
                  </a:txBody>
                  <a:tcPr horzOverflow="overflow"/>
                </a:tc>
              </a:tr>
              <a:tr h="508000">
                <a:tc>
                  <a:txBody>
                    <a:bodyPr/>
                    <a:lstStyle/>
                    <a:p>
                      <a:pPr algn="l" defTabSz="914400"/>
                      <a:r>
                        <a:rPr b="0" i="0" strike="noStrike" dirty="0"/>
                        <a:t>OutlineMoveDown</a:t>
                      </a:r>
                    </a:p>
                  </a:txBody>
                  <a:tcPr horzOverflow="overflow"/>
                </a:tc>
              </a:tr>
              <a:tr h="508000">
                <a:tc>
                  <a:txBody>
                    <a:bodyPr/>
                    <a:lstStyle/>
                    <a:p>
                      <a:pPr algn="l" defTabSz="914400"/>
                      <a:r>
                        <a:rPr b="0" i="0" strike="noStrike" dirty="0"/>
                        <a:t>OutlineDemoteToBodyText</a:t>
                      </a:r>
                    </a:p>
                  </a:txBody>
                  <a:tcPr horzOverflow="overflow"/>
                </a:tc>
              </a:tr>
              <a:tr h="508000">
                <a:tc>
                  <a:txBody>
                    <a:bodyPr/>
                    <a:lstStyle/>
                    <a:p>
                      <a:pPr algn="l" defTabSz="914400"/>
                      <a:r>
                        <a:rPr b="0" i="0" strike="noStrike" dirty="0"/>
                        <a:t>OutlineExpand</a:t>
                      </a:r>
                    </a:p>
                  </a:txBody>
                  <a:tcPr horzOverflow="overflow"/>
                </a:tc>
              </a:tr>
            </a:tbl>
          </a:graphicData>
        </a:graphic>
      </p:graphicFrame>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OutlineCollapse</a:t>
                      </a:r>
                    </a:p>
                  </a:txBody>
                  <a:tcPr horzOverflow="overflow"/>
                </a:tc>
              </a:tr>
              <a:tr h="508000">
                <a:tc>
                  <a:txBody>
                    <a:bodyPr/>
                    <a:lstStyle/>
                    <a:p>
                      <a:pPr algn="l" defTabSz="914400"/>
                      <a:r>
                        <a:rPr b="0" i="0" strike="noStrike" dirty="0"/>
                        <a:t>TextBoxInsert</a:t>
                      </a:r>
                    </a:p>
                  </a:txBody>
                  <a:tcPr horzOverflow="overflow"/>
                </a:tc>
              </a:tr>
              <a:tr h="508000">
                <a:tc>
                  <a:txBody>
                    <a:bodyPr/>
                    <a:lstStyle/>
                    <a:p>
                      <a:pPr algn="l" defTabSz="914400"/>
                      <a:r>
                        <a:rPr b="0" i="0" strike="noStrike" dirty="0"/>
                        <a:t>FileFind</a:t>
                      </a:r>
                    </a:p>
                  </a:txBody>
                  <a:tcPr horzOverflow="overflow"/>
                </a:tc>
              </a:tr>
              <a:tr h="508000">
                <a:tc>
                  <a:txBody>
                    <a:bodyPr/>
                    <a:lstStyle/>
                    <a:p>
                      <a:pPr algn="l" defTabSz="914400"/>
                      <a:r>
                        <a:rPr b="0" i="0" strike="noStrike" dirty="0"/>
                        <a:t>FindDialog</a:t>
                      </a:r>
                    </a:p>
                  </a:txBody>
                  <a:tcPr horzOverflow="overflow"/>
                </a:tc>
              </a:tr>
              <a:tr h="508000">
                <a:tc>
                  <a:txBody>
                    <a:bodyPr/>
                    <a:lstStyle/>
                    <a:p>
                      <a:pPr algn="l" defTabSz="914400"/>
                      <a:r>
                        <a:rPr b="0" i="0" strike="noStrike" dirty="0"/>
                        <a:t>TableExcelSpreadsheetInsert</a:t>
                      </a:r>
                    </a:p>
                  </a:txBody>
                  <a:tcPr horzOverflow="overflow"/>
                </a:tc>
              </a:tr>
              <a:tr h="508000">
                <a:tc>
                  <a:txBody>
                    <a:bodyPr/>
                    <a:lstStyle/>
                    <a:p>
                      <a:pPr algn="l" defTabSz="914400"/>
                      <a:r>
                        <a:rPr b="0" i="0" strike="noStrike" dirty="0"/>
                        <a:t>AutoFormat</a:t>
                      </a:r>
                    </a:p>
                  </a:txBody>
                  <a:tcPr horzOverflow="overflow"/>
                </a:tc>
              </a:tr>
              <a:tr h="508000">
                <a:tc>
                  <a:txBody>
                    <a:bodyPr/>
                    <a:lstStyle/>
                    <a:p>
                      <a:pPr algn="l" defTabSz="914400"/>
                      <a:r>
                        <a:rPr b="0" i="0" strike="noStrike" dirty="0"/>
                        <a:t>BorderTop</a:t>
                      </a:r>
                    </a:p>
                  </a:txBody>
                  <a:tcPr horzOverflow="overflow"/>
                </a:tc>
              </a:tr>
              <a:tr h="508000">
                <a:tc>
                  <a:txBody>
                    <a:bodyPr/>
                    <a:lstStyle/>
                    <a:p>
                      <a:pPr algn="l" defTabSz="914400"/>
                      <a:r>
                        <a:rPr b="0" i="0" strike="noStrike" dirty="0"/>
                        <a:t>BorderBottom</a:t>
                      </a:r>
                    </a:p>
                  </a:txBody>
                  <a:tcPr horzOverflow="overflow"/>
                </a:tc>
              </a:tr>
              <a:tr h="508000">
                <a:tc>
                  <a:txBody>
                    <a:bodyPr/>
                    <a:lstStyle/>
                    <a:p>
                      <a:pPr algn="l" defTabSz="914400"/>
                      <a:r>
                        <a:rPr b="0" i="0" strike="noStrike" dirty="0"/>
                        <a:t>BorderLeft</a:t>
                      </a:r>
                    </a:p>
                  </a:txBody>
                  <a:tcPr horzOverflow="overflow"/>
                </a:tc>
              </a:tr>
              <a:tr h="508000">
                <a:tc>
                  <a:txBody>
                    <a:bodyPr/>
                    <a:lstStyle/>
                    <a:p>
                      <a:pPr algn="l" defTabSz="914400"/>
                      <a:r>
                        <a:rPr b="0" i="0" strike="noStrike" dirty="0"/>
                        <a:t>BorderRight</a:t>
                      </a:r>
                    </a:p>
                  </a:txBody>
                  <a:tcPr horzOverflow="overflow"/>
                </a:tc>
              </a:tr>
            </a:tbl>
          </a:graphicData>
        </a:graphic>
      </p:graphicFrame>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BorderInside</a:t>
                      </a:r>
                    </a:p>
                  </a:txBody>
                  <a:tcPr horzOverflow="overflow"/>
                </a:tc>
              </a:tr>
              <a:tr h="508000">
                <a:tc>
                  <a:txBody>
                    <a:bodyPr/>
                    <a:lstStyle/>
                    <a:p>
                      <a:pPr algn="l" defTabSz="914400"/>
                      <a:r>
                        <a:rPr b="0" i="0" strike="noStrike" dirty="0"/>
                        <a:t>BorderOutside</a:t>
                      </a:r>
                    </a:p>
                  </a:txBody>
                  <a:tcPr horzOverflow="overflow"/>
                </a:tc>
              </a:tr>
              <a:tr h="508000">
                <a:tc>
                  <a:txBody>
                    <a:bodyPr/>
                    <a:lstStyle/>
                    <a:p>
                      <a:pPr algn="l" defTabSz="914400"/>
                      <a:r>
                        <a:rPr b="0" i="0" strike="noStrike" dirty="0"/>
                        <a:t>BorderNone</a:t>
                      </a:r>
                    </a:p>
                  </a:txBody>
                  <a:tcPr horzOverflow="overflow"/>
                </a:tc>
              </a:tr>
              <a:tr h="508000">
                <a:tc>
                  <a:txBody>
                    <a:bodyPr/>
                    <a:lstStyle/>
                    <a:p>
                      <a:pPr algn="l" defTabSz="914400"/>
                      <a:r>
                        <a:rPr b="0" i="0" strike="noStrike" dirty="0"/>
                        <a:t>MailMergeGoToFirstRecord</a:t>
                      </a:r>
                    </a:p>
                  </a:txBody>
                  <a:tcPr horzOverflow="overflow"/>
                </a:tc>
              </a:tr>
              <a:tr h="508000">
                <a:tc>
                  <a:txBody>
                    <a:bodyPr/>
                    <a:lstStyle/>
                    <a:p>
                      <a:pPr algn="l" defTabSz="914400"/>
                      <a:r>
                        <a:rPr b="0" i="0" strike="noStrike" dirty="0"/>
                        <a:t>MailMergeGoToPreviousRecord</a:t>
                      </a:r>
                    </a:p>
                  </a:txBody>
                  <a:tcPr horzOverflow="overflow"/>
                </a:tc>
              </a:tr>
              <a:tr h="508000">
                <a:tc>
                  <a:txBody>
                    <a:bodyPr/>
                    <a:lstStyle/>
                    <a:p>
                      <a:pPr algn="l" defTabSz="914400"/>
                      <a:r>
                        <a:rPr b="0" i="0" strike="noStrike" dirty="0"/>
                        <a:t>MailMergeGoToNextRecord</a:t>
                      </a:r>
                    </a:p>
                  </a:txBody>
                  <a:tcPr horzOverflow="overflow"/>
                </a:tc>
              </a:tr>
              <a:tr h="508000">
                <a:tc>
                  <a:txBody>
                    <a:bodyPr/>
                    <a:lstStyle/>
                    <a:p>
                      <a:pPr algn="l" defTabSz="914400"/>
                      <a:r>
                        <a:rPr b="0" i="0" strike="noStrike" dirty="0"/>
                        <a:t>MailMergeGotToLastRecord</a:t>
                      </a:r>
                    </a:p>
                  </a:txBody>
                  <a:tcPr horzOverflow="overflow"/>
                </a:tc>
              </a:tr>
              <a:tr h="508000">
                <a:tc>
                  <a:txBody>
                    <a:bodyPr/>
                    <a:lstStyle/>
                    <a:p>
                      <a:pPr algn="l" defTabSz="914400"/>
                      <a:r>
                        <a:rPr b="0" i="0" strike="noStrike" dirty="0"/>
                        <a:t>MailMergeMergeToDocument</a:t>
                      </a:r>
                    </a:p>
                  </a:txBody>
                  <a:tcPr horzOverflow="overflow"/>
                </a:tc>
              </a:tr>
              <a:tr h="508000">
                <a:tc>
                  <a:txBody>
                    <a:bodyPr/>
                    <a:lstStyle/>
                    <a:p>
                      <a:pPr algn="l" defTabSz="914400"/>
                      <a:r>
                        <a:rPr b="0" i="0" strike="noStrike" dirty="0"/>
                        <a:t>MailMergeMergeToPrinter</a:t>
                      </a:r>
                    </a:p>
                  </a:txBody>
                  <a:tcPr horzOverflow="overflow"/>
                </a:tc>
              </a:tr>
              <a:tr h="508000">
                <a:tc>
                  <a:txBody>
                    <a:bodyPr/>
                    <a:lstStyle/>
                    <a:p>
                      <a:pPr algn="l" defTabSz="914400"/>
                      <a:r>
                        <a:rPr b="0" i="0" strike="noStrike" dirty="0"/>
                        <a:t>MailMergeAutoCheckForErrors</a:t>
                      </a:r>
                    </a:p>
                  </a:txBody>
                  <a:tcPr horzOverflow="overflow"/>
                </a:tc>
              </a:tr>
            </a:tbl>
          </a:graphicData>
        </a:graphic>
      </p:graphicFrame>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DataFormSource</a:t>
                      </a:r>
                    </a:p>
                  </a:txBody>
                  <a:tcPr horzOverflow="overflow"/>
                </a:tc>
              </a:tr>
              <a:tr h="508000">
                <a:tc>
                  <a:txBody>
                    <a:bodyPr/>
                    <a:lstStyle/>
                    <a:p>
                      <a:pPr algn="l" defTabSz="914400"/>
                      <a:r>
                        <a:rPr b="0" i="0" strike="noStrike" dirty="0"/>
                        <a:t>MailMergeResultsPreview</a:t>
                      </a:r>
                    </a:p>
                  </a:txBody>
                  <a:tcPr horzOverflow="overflow"/>
                </a:tc>
              </a:tr>
              <a:tr h="508000">
                <a:tc>
                  <a:txBody>
                    <a:bodyPr/>
                    <a:lstStyle/>
                    <a:p>
                      <a:pPr algn="l" defTabSz="914400"/>
                      <a:r>
                        <a:rPr b="0" i="0" strike="noStrike" dirty="0"/>
                        <a:t>ObjectsGroup</a:t>
                      </a:r>
                    </a:p>
                  </a:txBody>
                  <a:tcPr horzOverflow="overflow"/>
                </a:tc>
              </a:tr>
              <a:tr h="508000">
                <a:tc>
                  <a:txBody>
                    <a:bodyPr/>
                    <a:lstStyle/>
                    <a:p>
                      <a:pPr algn="l" defTabSz="914400"/>
                      <a:r>
                        <a:rPr b="0" i="0" strike="noStrike" dirty="0"/>
                        <a:t>ObjectsUngroup</a:t>
                      </a:r>
                    </a:p>
                  </a:txBody>
                  <a:tcPr horzOverflow="overflow"/>
                </a:tc>
              </a:tr>
              <a:tr h="508000">
                <a:tc>
                  <a:txBody>
                    <a:bodyPr/>
                    <a:lstStyle/>
                    <a:p>
                      <a:pPr algn="l" defTabSz="914400"/>
                      <a:r>
                        <a:rPr b="0" i="0" strike="noStrike" dirty="0"/>
                        <a:t>ObjectBringToFront</a:t>
                      </a:r>
                    </a:p>
                  </a:txBody>
                  <a:tcPr horzOverflow="overflow"/>
                </a:tc>
              </a:tr>
              <a:tr h="508000">
                <a:tc>
                  <a:txBody>
                    <a:bodyPr/>
                    <a:lstStyle/>
                    <a:p>
                      <a:pPr algn="l" defTabSz="914400"/>
                      <a:r>
                        <a:rPr b="0" i="0" strike="noStrike" dirty="0"/>
                        <a:t>ObjectSendToBack</a:t>
                      </a:r>
                    </a:p>
                  </a:txBody>
                  <a:tcPr horzOverflow="overflow"/>
                </a:tc>
              </a:tr>
              <a:tr h="508000">
                <a:tc>
                  <a:txBody>
                    <a:bodyPr/>
                    <a:lstStyle/>
                    <a:p>
                      <a:pPr algn="l" defTabSz="914400"/>
                      <a:r>
                        <a:rPr b="0" i="0" strike="noStrike" dirty="0"/>
                        <a:t>AboveText</a:t>
                      </a:r>
                    </a:p>
                  </a:txBody>
                  <a:tcPr horzOverflow="overflow"/>
                </a:tc>
              </a:tr>
              <a:tr h="508000">
                <a:tc>
                  <a:txBody>
                    <a:bodyPr/>
                    <a:lstStyle/>
                    <a:p>
                      <a:pPr algn="l" defTabSz="914400"/>
                      <a:r>
                        <a:rPr b="0" i="0" strike="noStrike" dirty="0"/>
                        <a:t>BehindText</a:t>
                      </a:r>
                    </a:p>
                  </a:txBody>
                  <a:tcPr horzOverflow="overflow"/>
                </a:tc>
              </a:tr>
              <a:tr h="508000">
                <a:tc>
                  <a:txBody>
                    <a:bodyPr/>
                    <a:lstStyle/>
                    <a:p>
                      <a:pPr algn="l" defTabSz="914400"/>
                      <a:r>
                        <a:rPr b="0" i="0" strike="noStrike" dirty="0"/>
                        <a:t>ObjectBringForward</a:t>
                      </a:r>
                    </a:p>
                  </a:txBody>
                  <a:tcPr horzOverflow="overflow"/>
                </a:tc>
              </a:tr>
              <a:tr h="508000">
                <a:tc>
                  <a:txBody>
                    <a:bodyPr/>
                    <a:lstStyle/>
                    <a:p>
                      <a:pPr algn="l" defTabSz="914400"/>
                      <a:r>
                        <a:rPr b="0" i="0" strike="noStrike" dirty="0"/>
                        <a:t>ObjectSendBackward</a:t>
                      </a:r>
                    </a:p>
                  </a:txBody>
                  <a:tcPr horzOverflow="overflow"/>
                </a:tc>
              </a:tr>
            </a:tbl>
          </a:graphicData>
        </a:graphic>
      </p:graphicFrame>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Magnifier</a:t>
                      </a:r>
                    </a:p>
                  </a:txBody>
                  <a:tcPr horzOverflow="overflow"/>
                </a:tc>
              </a:tr>
              <a:tr h="508000">
                <a:tc>
                  <a:txBody>
                    <a:bodyPr/>
                    <a:lstStyle/>
                    <a:p>
                      <a:pPr algn="l" defTabSz="914400"/>
                      <a:r>
                        <a:rPr b="0" i="0" strike="noStrike" dirty="0"/>
                        <a:t>PrintPreviewShrinkOnePage</a:t>
                      </a:r>
                    </a:p>
                  </a:txBody>
                  <a:tcPr horzOverflow="overflow"/>
                </a:tc>
              </a:tr>
              <a:tr h="508000">
                <a:tc>
                  <a:txBody>
                    <a:bodyPr/>
                    <a:lstStyle/>
                    <a:p>
                      <a:pPr algn="l" defTabSz="914400"/>
                      <a:r>
                        <a:rPr b="0" i="0" strike="noStrike" dirty="0"/>
                        <a:t>MultiplePages</a:t>
                      </a:r>
                    </a:p>
                  </a:txBody>
                  <a:tcPr horzOverflow="overflow"/>
                </a:tc>
              </a:tr>
              <a:tr h="508000">
                <a:tc>
                  <a:txBody>
                    <a:bodyPr/>
                    <a:lstStyle/>
                    <a:p>
                      <a:pPr algn="l" defTabSz="914400"/>
                      <a:r>
                        <a:rPr b="0" i="0" strike="noStrike" dirty="0"/>
                        <a:t>ViewFullScreenView</a:t>
                      </a:r>
                    </a:p>
                  </a:txBody>
                  <a:tcPr horzOverflow="overflow"/>
                </a:tc>
              </a:tr>
              <a:tr h="508000">
                <a:tc>
                  <a:txBody>
                    <a:bodyPr/>
                    <a:lstStyle/>
                    <a:p>
                      <a:pPr algn="l" defTabSz="914400"/>
                      <a:r>
                        <a:rPr b="0" i="0" strike="noStrike" dirty="0"/>
                        <a:t>ViewRulerPowerPoint</a:t>
                      </a:r>
                    </a:p>
                  </a:txBody>
                  <a:tcPr horzOverflow="overflow"/>
                </a:tc>
              </a:tr>
              <a:tr h="508000">
                <a:tc>
                  <a:txBody>
                    <a:bodyPr/>
                    <a:lstStyle/>
                    <a:p>
                      <a:pPr algn="l" defTabSz="914400"/>
                      <a:r>
                        <a:rPr b="0" i="0" strike="noStrike" dirty="0"/>
                        <a:t>VoiceInsert</a:t>
                      </a:r>
                    </a:p>
                  </a:txBody>
                  <a:tcPr horzOverflow="overflow"/>
                </a:tc>
              </a:tr>
              <a:tr h="508000">
                <a:tc>
                  <a:txBody>
                    <a:bodyPr/>
                    <a:lstStyle/>
                    <a:p>
                      <a:pPr algn="l" defTabSz="914400"/>
                      <a:r>
                        <a:rPr b="0" i="0" strike="noStrike" dirty="0"/>
                        <a:t>ObjectsSelect</a:t>
                      </a:r>
                    </a:p>
                  </a:txBody>
                  <a:tcPr horzOverflow="overflow"/>
                </a:tc>
              </a:tr>
              <a:tr h="508000">
                <a:tc>
                  <a:txBody>
                    <a:bodyPr/>
                    <a:lstStyle/>
                    <a:p>
                      <a:pPr algn="l" defTabSz="914400"/>
                      <a:r>
                        <a:rPr b="0" i="0" strike="noStrike" dirty="0"/>
                        <a:t>TableFind</a:t>
                      </a:r>
                    </a:p>
                  </a:txBody>
                  <a:tcPr horzOverflow="overflow"/>
                </a:tc>
              </a:tr>
              <a:tr h="508000">
                <a:tc>
                  <a:txBody>
                    <a:bodyPr/>
                    <a:lstStyle/>
                    <a:p>
                      <a:pPr algn="l" defTabSz="914400"/>
                      <a:r>
                        <a:rPr b="0" i="0" strike="noStrike" dirty="0"/>
                        <a:t>MacroRecord</a:t>
                      </a:r>
                    </a:p>
                  </a:txBody>
                  <a:tcPr horzOverflow="overflow"/>
                </a:tc>
              </a:tr>
              <a:tr h="508000">
                <a:tc>
                  <a:txBody>
                    <a:bodyPr/>
                    <a:lstStyle/>
                    <a:p>
                      <a:pPr algn="l" defTabSz="914400"/>
                      <a:r>
                        <a:rPr b="0" i="0" strike="noStrike" dirty="0"/>
                        <a:t>MacroRecorderPause</a:t>
                      </a:r>
                    </a:p>
                  </a:txBody>
                  <a:tcPr horzOverflow="overflow"/>
                </a:tc>
              </a:tr>
            </a:tbl>
          </a:graphicData>
        </a:graphic>
      </p:graphicFrame>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MacroPlay</a:t>
                      </a:r>
                    </a:p>
                  </a:txBody>
                  <a:tcPr horzOverflow="overflow"/>
                </a:tc>
              </a:tr>
              <a:tr h="508000">
                <a:tc>
                  <a:txBody>
                    <a:bodyPr/>
                    <a:lstStyle/>
                    <a:p>
                      <a:pPr algn="l" defTabSz="914400"/>
                      <a:r>
                        <a:rPr b="0" i="0" strike="noStrike" dirty="0"/>
                        <a:t>ObjectFlipHorizontal</a:t>
                      </a:r>
                    </a:p>
                  </a:txBody>
                  <a:tcPr horzOverflow="overflow"/>
                </a:tc>
              </a:tr>
              <a:tr h="508000">
                <a:tc>
                  <a:txBody>
                    <a:bodyPr/>
                    <a:lstStyle/>
                    <a:p>
                      <a:pPr algn="l" defTabSz="914400"/>
                      <a:r>
                        <a:rPr b="0" i="0" strike="noStrike" dirty="0"/>
                        <a:t>ObjectFlipVertical</a:t>
                      </a:r>
                    </a:p>
                  </a:txBody>
                  <a:tcPr horzOverflow="overflow"/>
                </a:tc>
              </a:tr>
              <a:tr h="508000">
                <a:tc>
                  <a:txBody>
                    <a:bodyPr/>
                    <a:lstStyle/>
                    <a:p>
                      <a:pPr algn="l" defTabSz="914400"/>
                      <a:r>
                        <a:rPr b="0" i="0" strike="noStrike" dirty="0"/>
                        <a:t>ObjectRotateRight90</a:t>
                      </a:r>
                    </a:p>
                  </a:txBody>
                  <a:tcPr horzOverflow="overflow"/>
                </a:tc>
              </a:tr>
              <a:tr h="508000">
                <a:tc>
                  <a:txBody>
                    <a:bodyPr/>
                    <a:lstStyle/>
                    <a:p>
                      <a:pPr algn="l" defTabSz="914400"/>
                      <a:r>
                        <a:rPr b="0" i="0" strike="noStrike" dirty="0"/>
                        <a:t>ObjectRotateLeft90</a:t>
                      </a:r>
                    </a:p>
                  </a:txBody>
                  <a:tcPr horzOverflow="overflow"/>
                </a:tc>
              </a:tr>
              <a:tr h="508000">
                <a:tc>
                  <a:txBody>
                    <a:bodyPr/>
                    <a:lstStyle/>
                    <a:p>
                      <a:pPr algn="l" defTabSz="914400"/>
                      <a:r>
                        <a:rPr b="0" i="0" strike="noStrike" dirty="0"/>
                        <a:t>ShapeFreeform</a:t>
                      </a:r>
                    </a:p>
                  </a:txBody>
                  <a:tcPr horzOverflow="overflow"/>
                </a:tc>
              </a:tr>
              <a:tr h="508000">
                <a:tc>
                  <a:txBody>
                    <a:bodyPr/>
                    <a:lstStyle/>
                    <a:p>
                      <a:pPr algn="l" defTabSz="914400"/>
                      <a:r>
                        <a:rPr b="0" i="0" strike="noStrike" dirty="0"/>
                        <a:t>GroupDrawing</a:t>
                      </a:r>
                    </a:p>
                  </a:txBody>
                  <a:tcPr horzOverflow="overflow"/>
                </a:tc>
              </a:tr>
              <a:tr h="508000">
                <a:tc>
                  <a:txBody>
                    <a:bodyPr/>
                    <a:lstStyle/>
                    <a:p>
                      <a:pPr algn="l" defTabSz="914400"/>
                      <a:r>
                        <a:rPr b="0" i="0" strike="noStrike" dirty="0"/>
                        <a:t>ObjectEditPoints</a:t>
                      </a:r>
                    </a:p>
                  </a:txBody>
                  <a:tcPr horzOverflow="overflow"/>
                </a:tc>
              </a:tr>
              <a:tr h="508000">
                <a:tc>
                  <a:txBody>
                    <a:bodyPr/>
                    <a:lstStyle/>
                    <a:p>
                      <a:pPr algn="l" defTabSz="914400"/>
                      <a:r>
                        <a:rPr b="0" i="0" strike="noStrike" dirty="0"/>
                        <a:t>CalloutOptions</a:t>
                      </a:r>
                    </a:p>
                  </a:txBody>
                  <a:tcPr horzOverflow="overflow"/>
                </a:tc>
              </a:tr>
              <a:tr h="508000">
                <a:tc>
                  <a:txBody>
                    <a:bodyPr/>
                    <a:lstStyle/>
                    <a:p>
                      <a:pPr algn="l" defTabSz="914400"/>
                      <a:r>
                        <a:rPr b="0" i="0" strike="noStrike" dirty="0"/>
                        <a:t>SortUp</a:t>
                      </a:r>
                    </a:p>
                  </a:txBody>
                  <a:tcPr horzOverflow="overflow"/>
                </a:tc>
              </a:tr>
            </a:tbl>
          </a:graphicData>
        </a:graphic>
      </p:graphicFrame>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SortDown</a:t>
                      </a:r>
                    </a:p>
                  </a:txBody>
                  <a:tcPr horzOverflow="overflow"/>
                </a:tc>
              </a:tr>
              <a:tr h="508000">
                <a:tc>
                  <a:txBody>
                    <a:bodyPr/>
                    <a:lstStyle/>
                    <a:p>
                      <a:pPr algn="l" defTabSz="914400"/>
                      <a:r>
                        <a:rPr b="0" i="0" strike="noStrike" dirty="0"/>
                        <a:t>TableDesign</a:t>
                      </a:r>
                    </a:p>
                  </a:txBody>
                  <a:tcPr horzOverflow="overflow"/>
                </a:tc>
              </a:tr>
              <a:tr h="508000">
                <a:tc>
                  <a:txBody>
                    <a:bodyPr/>
                    <a:lstStyle/>
                    <a:p>
                      <a:pPr algn="l" defTabSz="914400"/>
                      <a:r>
                        <a:rPr b="0" i="0" strike="noStrike" dirty="0"/>
                        <a:t>DataFormAddRecord</a:t>
                      </a:r>
                    </a:p>
                  </a:txBody>
                  <a:tcPr horzOverflow="overflow"/>
                </a:tc>
              </a:tr>
              <a:tr h="508000">
                <a:tc>
                  <a:txBody>
                    <a:bodyPr/>
                    <a:lstStyle/>
                    <a:p>
                      <a:pPr algn="l" defTabSz="914400"/>
                      <a:r>
                        <a:rPr b="0" i="0" strike="noStrike" dirty="0"/>
                        <a:t>DataFormDeleteRecord</a:t>
                      </a:r>
                    </a:p>
                  </a:txBody>
                  <a:tcPr horzOverflow="overflow"/>
                </a:tc>
              </a:tr>
              <a:tr h="508000">
                <a:tc>
                  <a:txBody>
                    <a:bodyPr/>
                    <a:lstStyle/>
                    <a:p>
                      <a:pPr algn="l" defTabSz="914400"/>
                      <a:r>
                        <a:rPr b="0" i="0" strike="noStrike" dirty="0"/>
                        <a:t>FieldsUpdate</a:t>
                      </a:r>
                    </a:p>
                  </a:txBody>
                  <a:tcPr horzOverflow="overflow"/>
                </a:tc>
              </a:tr>
              <a:tr h="508000">
                <a:tc>
                  <a:txBody>
                    <a:bodyPr/>
                    <a:lstStyle/>
                    <a:p>
                      <a:pPr algn="l" defTabSz="914400"/>
                      <a:r>
                        <a:rPr b="0" i="0" strike="noStrike" dirty="0"/>
                        <a:t>DatabaseInsert</a:t>
                      </a:r>
                    </a:p>
                  </a:txBody>
                  <a:tcPr horzOverflow="overflow"/>
                </a:tc>
              </a:tr>
              <a:tr h="508000">
                <a:tc>
                  <a:txBody>
                    <a:bodyPr/>
                    <a:lstStyle/>
                    <a:p>
                      <a:pPr algn="l" defTabSz="914400"/>
                      <a:r>
                        <a:rPr b="0" i="0" strike="noStrike" dirty="0"/>
                        <a:t>GridSettings</a:t>
                      </a:r>
                    </a:p>
                  </a:txBody>
                  <a:tcPr horzOverflow="overflow"/>
                </a:tc>
              </a:tr>
              <a:tr h="508000">
                <a:tc>
                  <a:txBody>
                    <a:bodyPr/>
                    <a:lstStyle/>
                    <a:p>
                      <a:pPr algn="l" defTabSz="914400"/>
                      <a:r>
                        <a:rPr b="0" i="0" strike="noStrike" dirty="0"/>
                        <a:t>WordPicture</a:t>
                      </a:r>
                    </a:p>
                  </a:txBody>
                  <a:tcPr horzOverflow="overflow"/>
                </a:tc>
              </a:tr>
              <a:tr h="508000">
                <a:tc>
                  <a:txBody>
                    <a:bodyPr/>
                    <a:lstStyle/>
                    <a:p>
                      <a:pPr algn="l" defTabSz="914400"/>
                      <a:r>
                        <a:rPr b="0" i="0" strike="noStrike" dirty="0"/>
                        <a:t>FormControlEditBox</a:t>
                      </a:r>
                    </a:p>
                  </a:txBody>
                  <a:tcPr horzOverflow="overflow"/>
                </a:tc>
              </a:tr>
              <a:tr h="508000">
                <a:tc>
                  <a:txBody>
                    <a:bodyPr/>
                    <a:lstStyle/>
                    <a:p>
                      <a:pPr algn="l" defTabSz="914400"/>
                      <a:r>
                        <a:rPr b="0" i="0" strike="noStrike" dirty="0"/>
                        <a:t>FormControlCheckBox</a:t>
                      </a:r>
                    </a:p>
                  </a:txBody>
                  <a:tcPr horzOverflow="overflow"/>
                </a:tc>
              </a:tr>
            </a:tbl>
          </a:graphicData>
        </a:graphic>
      </p:graphicFrame>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FormControlComboBox</a:t>
                      </a:r>
                    </a:p>
                  </a:txBody>
                  <a:tcPr horzOverflow="overflow"/>
                </a:tc>
              </a:tr>
              <a:tr h="508000">
                <a:tc>
                  <a:txBody>
                    <a:bodyPr/>
                    <a:lstStyle/>
                    <a:p>
                      <a:pPr algn="l" defTabSz="914400"/>
                      <a:r>
                        <a:rPr b="0" i="0" strike="noStrike" dirty="0"/>
                        <a:t>PropertySheet</a:t>
                      </a:r>
                    </a:p>
                  </a:txBody>
                  <a:tcPr horzOverflow="overflow"/>
                </a:tc>
              </a:tr>
              <a:tr h="508000">
                <a:tc>
                  <a:txBody>
                    <a:bodyPr/>
                    <a:lstStyle/>
                    <a:p>
                      <a:pPr algn="l" defTabSz="914400"/>
                      <a:r>
                        <a:rPr b="0" i="0" strike="noStrike" dirty="0"/>
                        <a:t>FieldShading</a:t>
                      </a:r>
                    </a:p>
                  </a:txBody>
                  <a:tcPr horzOverflow="overflow"/>
                </a:tc>
              </a:tr>
              <a:tr h="508000">
                <a:tc>
                  <a:txBody>
                    <a:bodyPr/>
                    <a:lstStyle/>
                    <a:p>
                      <a:pPr algn="l" defTabSz="914400"/>
                      <a:r>
                        <a:rPr b="0" i="0" strike="noStrike" dirty="0"/>
                        <a:t>ViewDraftView</a:t>
                      </a:r>
                    </a:p>
                  </a:txBody>
                  <a:tcPr horzOverflow="overflow"/>
                </a:tc>
              </a:tr>
              <a:tr h="508000">
                <a:tc>
                  <a:txBody>
                    <a:bodyPr/>
                    <a:lstStyle/>
                    <a:p>
                      <a:pPr algn="l" defTabSz="914400"/>
                      <a:r>
                        <a:rPr b="0" i="0" strike="noStrike" dirty="0"/>
                        <a:t>Lock</a:t>
                      </a:r>
                    </a:p>
                  </a:txBody>
                  <a:tcPr horzOverflow="overflow"/>
                </a:tc>
              </a:tr>
              <a:tr h="508000">
                <a:tc>
                  <a:txBody>
                    <a:bodyPr/>
                    <a:lstStyle/>
                    <a:p>
                      <a:pPr algn="l" defTabSz="914400"/>
                      <a:r>
                        <a:rPr b="0" i="0" strike="noStrike" dirty="0"/>
                        <a:t>AutoSum</a:t>
                      </a:r>
                    </a:p>
                  </a:txBody>
                  <a:tcPr horzOverflow="overflow"/>
                </a:tc>
              </a:tr>
              <a:tr h="508000">
                <a:tc>
                  <a:txBody>
                    <a:bodyPr/>
                    <a:lstStyle/>
                    <a:p>
                      <a:pPr algn="l" defTabSz="914400"/>
                      <a:r>
                        <a:rPr b="0" i="0" strike="noStrike" dirty="0"/>
                        <a:t>MasterDocumentShow</a:t>
                      </a:r>
                    </a:p>
                  </a:txBody>
                  <a:tcPr horzOverflow="overflow"/>
                </a:tc>
              </a:tr>
              <a:tr h="508000">
                <a:tc>
                  <a:txBody>
                    <a:bodyPr/>
                    <a:lstStyle/>
                    <a:p>
                      <a:pPr algn="l" defTabSz="914400"/>
                      <a:r>
                        <a:rPr b="0" i="0" strike="noStrike" dirty="0"/>
                        <a:t>MasterDocumentCreateSubdocument</a:t>
                      </a:r>
                    </a:p>
                  </a:txBody>
                  <a:tcPr horzOverflow="overflow"/>
                </a:tc>
              </a:tr>
              <a:tr h="508000">
                <a:tc>
                  <a:txBody>
                    <a:bodyPr/>
                    <a:lstStyle/>
                    <a:p>
                      <a:pPr algn="l" defTabSz="914400"/>
                      <a:r>
                        <a:rPr b="0" i="0" strike="noStrike" dirty="0"/>
                        <a:t>MasterDocumentUnlinkSubdocument</a:t>
                      </a:r>
                    </a:p>
                  </a:txBody>
                  <a:tcPr horzOverflow="overflow"/>
                </a:tc>
              </a:tr>
              <a:tr h="508000">
                <a:tc>
                  <a:txBody>
                    <a:bodyPr/>
                    <a:lstStyle/>
                    <a:p>
                      <a:pPr algn="l" defTabSz="914400"/>
                      <a:r>
                        <a:rPr b="0" i="0" strike="noStrike" dirty="0"/>
                        <a:t>MasterDocumentInsertSubdocument</a:t>
                      </a:r>
                    </a:p>
                  </a:txBody>
                  <a:tcPr horzOverflow="overflow"/>
                </a:tc>
              </a:tr>
            </a:tbl>
          </a:graphicData>
        </a:graphic>
      </p:graphicFrame>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MasterDocumentSplitSubdocuments</a:t>
                      </a:r>
                    </a:p>
                  </a:txBody>
                  <a:tcPr horzOverflow="overflow"/>
                </a:tc>
              </a:tr>
              <a:tr h="508000">
                <a:tc>
                  <a:txBody>
                    <a:bodyPr/>
                    <a:lstStyle/>
                    <a:p>
                      <a:pPr algn="l" defTabSz="914400"/>
                      <a:r>
                        <a:rPr b="0" i="0" strike="noStrike" dirty="0"/>
                        <a:t>MasterDocumentMergeSubdocuments</a:t>
                      </a:r>
                    </a:p>
                  </a:txBody>
                  <a:tcPr horzOverflow="overflow"/>
                </a:tc>
              </a:tr>
              <a:tr h="508000">
                <a:tc>
                  <a:txBody>
                    <a:bodyPr/>
                    <a:lstStyle/>
                    <a:p>
                      <a:pPr algn="l" defTabSz="914400"/>
                      <a:r>
                        <a:rPr b="0" i="0" strike="noStrike" dirty="0"/>
                        <a:t>MasterDocumentLockSubdocument</a:t>
                      </a:r>
                    </a:p>
                  </a:txBody>
                  <a:tcPr horzOverflow="overflow"/>
                </a:tc>
              </a:tr>
              <a:tr h="508000">
                <a:tc>
                  <a:txBody>
                    <a:bodyPr/>
                    <a:lstStyle/>
                    <a:p>
                      <a:pPr algn="l" defTabSz="914400"/>
                      <a:r>
                        <a:rPr b="0" i="0" strike="noStrike" dirty="0"/>
                        <a:t>HeaderOrFooterShow</a:t>
                      </a:r>
                    </a:p>
                  </a:txBody>
                  <a:tcPr horzOverflow="overflow"/>
                </a:tc>
              </a:tr>
              <a:tr h="508000">
                <a:tc>
                  <a:txBody>
                    <a:bodyPr/>
                    <a:lstStyle/>
                    <a:p>
                      <a:pPr algn="l" defTabSz="914400"/>
                      <a:r>
                        <a:rPr b="0" i="0" strike="noStrike" dirty="0"/>
                        <a:t>HeaderFooterPreviousSection</a:t>
                      </a:r>
                    </a:p>
                  </a:txBody>
                  <a:tcPr horzOverflow="overflow"/>
                </a:tc>
              </a:tr>
              <a:tr h="508000">
                <a:tc>
                  <a:txBody>
                    <a:bodyPr/>
                    <a:lstStyle/>
                    <a:p>
                      <a:pPr algn="l" defTabSz="914400"/>
                      <a:r>
                        <a:rPr b="0" i="0" strike="noStrike" dirty="0"/>
                        <a:t>HeaderFooterNextSection</a:t>
                      </a:r>
                    </a:p>
                  </a:txBody>
                  <a:tcPr horzOverflow="overflow"/>
                </a:tc>
              </a:tr>
              <a:tr h="508000">
                <a:tc>
                  <a:txBody>
                    <a:bodyPr/>
                    <a:lstStyle/>
                    <a:p>
                      <a:pPr algn="l" defTabSz="914400"/>
                      <a:r>
                        <a:rPr b="0" i="0" strike="noStrike" dirty="0"/>
                        <a:t>AlignDialog</a:t>
                      </a:r>
                    </a:p>
                  </a:txBody>
                  <a:tcPr horzOverflow="overflow"/>
                </a:tc>
              </a:tr>
              <a:tr h="508000">
                <a:tc>
                  <a:txBody>
                    <a:bodyPr/>
                    <a:lstStyle/>
                    <a:p>
                      <a:pPr algn="l" defTabSz="914400"/>
                      <a:r>
                        <a:rPr b="0" i="0" strike="noStrike" dirty="0"/>
                        <a:t>MailMergeDocument</a:t>
                      </a:r>
                    </a:p>
                  </a:txBody>
                  <a:tcPr horzOverflow="overflow"/>
                </a:tc>
              </a:tr>
              <a:tr h="508000">
                <a:tc>
                  <a:txBody>
                    <a:bodyPr/>
                    <a:lstStyle/>
                    <a:p>
                      <a:pPr algn="l" defTabSz="914400"/>
                      <a:r>
                        <a:rPr b="0" i="0" strike="noStrike" dirty="0"/>
                        <a:t>MergeOptions</a:t>
                      </a:r>
                    </a:p>
                  </a:txBody>
                  <a:tcPr horzOverflow="overflow"/>
                </a:tc>
              </a:tr>
              <a:tr h="508000">
                <a:tc>
                  <a:txBody>
                    <a:bodyPr/>
                    <a:lstStyle/>
                    <a:p>
                      <a:pPr algn="l" defTabSz="914400"/>
                      <a:r>
                        <a:rPr b="0" i="0" strike="noStrike" dirty="0"/>
                        <a:t>MailMergeHelper</a:t>
                      </a:r>
                    </a:p>
                  </a:txBody>
                  <a:tcPr horzOverflow="overflow"/>
                </a:tc>
              </a:tr>
            </a:tbl>
          </a:graphicData>
        </a:graphic>
      </p:graphicFrame>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PageSetupDialog</a:t>
                      </a:r>
                    </a:p>
                  </a:txBody>
                  <a:tcPr horzOverflow="overflow"/>
                </a:tc>
              </a:tr>
              <a:tr h="508000">
                <a:tc>
                  <a:txBody>
                    <a:bodyPr/>
                    <a:lstStyle/>
                    <a:p>
                      <a:pPr algn="l" defTabSz="914400"/>
                      <a:r>
                        <a:rPr b="0" i="0" strike="noStrike" dirty="0"/>
                        <a:t>BodyTextHide</a:t>
                      </a:r>
                    </a:p>
                  </a:txBody>
                  <a:tcPr horzOverflow="overflow"/>
                </a:tc>
              </a:tr>
              <a:tr h="508000">
                <a:tc>
                  <a:txBody>
                    <a:bodyPr/>
                    <a:lstStyle/>
                    <a:p>
                      <a:pPr algn="l" defTabSz="914400"/>
                      <a:r>
                        <a:rPr b="0" i="0" strike="noStrike" dirty="0"/>
                        <a:t>HeaderFooterLinkToPrevious</a:t>
                      </a:r>
                    </a:p>
                  </a:txBody>
                  <a:tcPr horzOverflow="overflow"/>
                </a:tc>
              </a:tr>
              <a:tr h="508000">
                <a:tc>
                  <a:txBody>
                    <a:bodyPr/>
                    <a:lstStyle/>
                    <a:p>
                      <a:pPr algn="l" defTabSz="914400"/>
                      <a:r>
                        <a:rPr b="0" i="0" strike="noStrike" dirty="0"/>
                        <a:t>OutlineShowFirstLineOnly</a:t>
                      </a:r>
                    </a:p>
                  </a:txBody>
                  <a:tcPr horzOverflow="overflow"/>
                </a:tc>
              </a:tr>
              <a:tr h="508000">
                <a:tc>
                  <a:txBody>
                    <a:bodyPr/>
                    <a:lstStyle/>
                    <a:p>
                      <a:pPr algn="l" defTabSz="914400"/>
                      <a:r>
                        <a:rPr b="0" i="0" strike="noStrike" dirty="0"/>
                        <a:t>OutlineShowTextFormatting</a:t>
                      </a:r>
                    </a:p>
                  </a:txBody>
                  <a:tcPr horzOverflow="overflow"/>
                </a:tc>
              </a:tr>
              <a:tr h="508000">
                <a:tc>
                  <a:txBody>
                    <a:bodyPr/>
                    <a:lstStyle/>
                    <a:p>
                      <a:pPr algn="l" defTabSz="914400"/>
                      <a:r>
                        <a:rPr b="0" i="0" strike="noStrike" dirty="0"/>
                        <a:t>FontDialog</a:t>
                      </a:r>
                    </a:p>
                  </a:txBody>
                  <a:tcPr horzOverflow="overflow"/>
                </a:tc>
              </a:tr>
              <a:tr h="508000">
                <a:tc>
                  <a:txBody>
                    <a:bodyPr/>
                    <a:lstStyle/>
                    <a:p>
                      <a:pPr algn="l" defTabSz="914400"/>
                      <a:r>
                        <a:rPr b="0" i="0" strike="noStrike" dirty="0"/>
                        <a:t>StylesDialogClassic</a:t>
                      </a:r>
                    </a:p>
                  </a:txBody>
                  <a:tcPr horzOverflow="overflow"/>
                </a:tc>
              </a:tr>
              <a:tr h="508000">
                <a:tc>
                  <a:txBody>
                    <a:bodyPr/>
                    <a:lstStyle/>
                    <a:p>
                      <a:pPr algn="l" defTabSz="914400"/>
                      <a:r>
                        <a:rPr b="0" i="0" strike="noStrike" dirty="0"/>
                        <a:t>RoutingSlip</a:t>
                      </a:r>
                    </a:p>
                  </a:txBody>
                  <a:tcPr horzOverflow="overflow"/>
                </a:tc>
              </a:tr>
              <a:tr h="508000">
                <a:tc>
                  <a:txBody>
                    <a:bodyPr/>
                    <a:lstStyle/>
                    <a:p>
                      <a:pPr algn="l" defTabSz="914400"/>
                      <a:r>
                        <a:rPr b="0" i="0" strike="noStrike" dirty="0"/>
                        <a:t>FootnoteInsert</a:t>
                      </a:r>
                    </a:p>
                  </a:txBody>
                  <a:tcPr horzOverflow="overflow"/>
                </a:tc>
              </a:tr>
              <a:tr h="508000">
                <a:tc>
                  <a:txBody>
                    <a:bodyPr/>
                    <a:lstStyle/>
                    <a:p>
                      <a:pPr algn="l" defTabSz="914400"/>
                      <a:r>
                        <a:rPr b="0" i="0" strike="noStrike" dirty="0"/>
                        <a:t>MicrosoftExcel</a:t>
                      </a:r>
                    </a:p>
                  </a:txBody>
                  <a:tcPr horzOverflow="overflow"/>
                </a:tc>
              </a:tr>
            </a:tbl>
          </a:graphicData>
        </a:graphic>
      </p:graphicFrame>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MicrosoftAccess</a:t>
                      </a:r>
                    </a:p>
                  </a:txBody>
                  <a:tcPr horzOverflow="overflow"/>
                </a:tc>
              </a:tr>
              <a:tr h="508000">
                <a:tc>
                  <a:txBody>
                    <a:bodyPr/>
                    <a:lstStyle/>
                    <a:p>
                      <a:pPr algn="l" defTabSz="914400"/>
                      <a:r>
                        <a:rPr b="0" i="0" strike="noStrike" dirty="0"/>
                        <a:t>Schedule</a:t>
                      </a:r>
                    </a:p>
                  </a:txBody>
                  <a:tcPr horzOverflow="overflow"/>
                </a:tc>
              </a:tr>
              <a:tr h="508000">
                <a:tc>
                  <a:txBody>
                    <a:bodyPr/>
                    <a:lstStyle/>
                    <a:p>
                      <a:pPr algn="l" defTabSz="914400"/>
                      <a:r>
                        <a:rPr b="0" i="0" strike="noStrike" dirty="0"/>
                        <a:t>MicrosoftVisualFoxPro</a:t>
                      </a:r>
                    </a:p>
                  </a:txBody>
                  <a:tcPr horzOverflow="overflow"/>
                </a:tc>
              </a:tr>
              <a:tr h="508000">
                <a:tc>
                  <a:txBody>
                    <a:bodyPr/>
                    <a:lstStyle/>
                    <a:p>
                      <a:pPr algn="l" defTabSz="914400"/>
                      <a:r>
                        <a:rPr b="0" i="0" strike="noStrike" dirty="0"/>
                        <a:t>MicrosoftPowerPoint</a:t>
                      </a:r>
                    </a:p>
                  </a:txBody>
                  <a:tcPr horzOverflow="overflow"/>
                </a:tc>
              </a:tr>
              <a:tr h="508000">
                <a:tc>
                  <a:txBody>
                    <a:bodyPr/>
                    <a:lstStyle/>
                    <a:p>
                      <a:pPr algn="l" defTabSz="914400"/>
                      <a:r>
                        <a:rPr b="0" i="0" strike="noStrike" dirty="0"/>
                        <a:t>MicrosoftPublisher</a:t>
                      </a:r>
                    </a:p>
                  </a:txBody>
                  <a:tcPr horzOverflow="overflow"/>
                </a:tc>
              </a:tr>
              <a:tr h="508000">
                <a:tc>
                  <a:txBody>
                    <a:bodyPr/>
                    <a:lstStyle/>
                    <a:p>
                      <a:pPr algn="l" defTabSz="914400"/>
                      <a:r>
                        <a:rPr b="0" i="0" strike="noStrike" dirty="0"/>
                        <a:t>MicrosoftProject</a:t>
                      </a:r>
                    </a:p>
                  </a:txBody>
                  <a:tcPr horzOverflow="overflow"/>
                </a:tc>
              </a:tr>
              <a:tr h="508000">
                <a:tc>
                  <a:txBody>
                    <a:bodyPr/>
                    <a:lstStyle/>
                    <a:p>
                      <a:pPr algn="l" defTabSz="914400"/>
                      <a:r>
                        <a:rPr b="0" i="0" strike="noStrike" dirty="0"/>
                        <a:t>SadFace</a:t>
                      </a:r>
                    </a:p>
                  </a:txBody>
                  <a:tcPr horzOverflow="overflow"/>
                </a:tc>
              </a:tr>
              <a:tr h="508000">
                <a:tc>
                  <a:txBody>
                    <a:bodyPr/>
                    <a:lstStyle/>
                    <a:p>
                      <a:pPr algn="l" defTabSz="914400"/>
                      <a:r>
                        <a:rPr b="0" i="0" strike="noStrike" dirty="0"/>
                        <a:t>Pushpin</a:t>
                      </a:r>
                    </a:p>
                  </a:txBody>
                  <a:tcPr horzOverflow="overflow"/>
                </a:tc>
              </a:tr>
              <a:tr h="508000">
                <a:tc>
                  <a:txBody>
                    <a:bodyPr/>
                    <a:lstStyle/>
                    <a:p>
                      <a:pPr algn="l" defTabSz="914400"/>
                      <a:r>
                        <a:rPr b="0" i="0" strike="noStrike" dirty="0"/>
                        <a:t>Camera</a:t>
                      </a:r>
                    </a:p>
                  </a:txBody>
                  <a:tcPr horzOverflow="overflow"/>
                </a:tc>
              </a:tr>
              <a:tr h="508000">
                <a:tc>
                  <a:txBody>
                    <a:bodyPr/>
                    <a:lstStyle/>
                    <a:p>
                      <a:pPr algn="l" defTabSz="914400"/>
                      <a:r>
                        <a:rPr b="0" i="0" strike="noStrike" dirty="0"/>
                        <a:t>FormControlButton</a:t>
                      </a:r>
                    </a:p>
                  </a:txBody>
                  <a:tcPr horzOverflow="overflow"/>
                </a:tc>
              </a:tr>
            </a:tbl>
          </a:graphicData>
        </a:graphic>
      </p:graphicFrame>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Calculator</a:t>
                      </a:r>
                    </a:p>
                  </a:txBody>
                  <a:tcPr horzOverflow="overflow"/>
                </a:tc>
              </a:tr>
              <a:tr h="508000">
                <a:tc>
                  <a:txBody>
                    <a:bodyPr/>
                    <a:lstStyle/>
                    <a:p>
                      <a:pPr algn="l" defTabSz="914400"/>
                      <a:r>
                        <a:rPr b="0" i="0" strike="noStrike" dirty="0"/>
                        <a:t>ViewPrintLayoutView</a:t>
                      </a:r>
                    </a:p>
                  </a:txBody>
                  <a:tcPr horzOverflow="overflow"/>
                </a:tc>
              </a:tr>
              <a:tr h="508000">
                <a:tc>
                  <a:txBody>
                    <a:bodyPr/>
                    <a:lstStyle/>
                    <a:p>
                      <a:pPr algn="l" defTabSz="914400"/>
                      <a:r>
                        <a:rPr b="0" i="0" strike="noStrike" dirty="0"/>
                        <a:t>FieldCodes</a:t>
                      </a:r>
                    </a:p>
                  </a:txBody>
                  <a:tcPr horzOverflow="overflow"/>
                </a:tc>
              </a:tr>
              <a:tr h="508000">
                <a:tc>
                  <a:txBody>
                    <a:bodyPr/>
                    <a:lstStyle/>
                    <a:p>
                      <a:pPr algn="l" defTabSz="914400"/>
                      <a:r>
                        <a:rPr b="0" i="0" strike="noStrike" dirty="0"/>
                        <a:t>DropCapOptionsDialog</a:t>
                      </a:r>
                    </a:p>
                  </a:txBody>
                  <a:tcPr horzOverflow="overflow"/>
                </a:tc>
              </a:tr>
              <a:tr h="508000">
                <a:tc>
                  <a:txBody>
                    <a:bodyPr/>
                    <a:lstStyle/>
                    <a:p>
                      <a:pPr algn="l" defTabSz="914400"/>
                      <a:r>
                        <a:rPr b="0" i="0" strike="noStrike" dirty="0"/>
                        <a:t>Strikethrough</a:t>
                      </a:r>
                    </a:p>
                  </a:txBody>
                  <a:tcPr horzOverflow="overflow"/>
                </a:tc>
              </a:tr>
              <a:tr h="508000">
                <a:tc>
                  <a:txBody>
                    <a:bodyPr/>
                    <a:lstStyle/>
                    <a:p>
                      <a:pPr algn="l" defTabSz="914400"/>
                      <a:r>
                        <a:rPr b="0" i="0" strike="noStrike" dirty="0"/>
                        <a:t>TextSmallCaps</a:t>
                      </a:r>
                    </a:p>
                  </a:txBody>
                  <a:tcPr horzOverflow="overflow"/>
                </a:tc>
              </a:tr>
              <a:tr h="508000">
                <a:tc>
                  <a:txBody>
                    <a:bodyPr/>
                    <a:lstStyle/>
                    <a:p>
                      <a:pPr algn="l" defTabSz="914400"/>
                      <a:r>
                        <a:rPr b="0" i="0" strike="noStrike" dirty="0"/>
                        <a:t>CellsDelete</a:t>
                      </a:r>
                    </a:p>
                  </a:txBody>
                  <a:tcPr horzOverflow="overflow"/>
                </a:tc>
              </a:tr>
              <a:tr h="508000">
                <a:tc>
                  <a:txBody>
                    <a:bodyPr/>
                    <a:lstStyle/>
                    <a:p>
                      <a:pPr algn="l" defTabSz="914400"/>
                      <a:r>
                        <a:rPr b="0" i="0" strike="noStrike" dirty="0"/>
                        <a:t>TableRowsDelete</a:t>
                      </a:r>
                    </a:p>
                  </a:txBody>
                  <a:tcPr horzOverflow="overflow"/>
                </a:tc>
              </a:tr>
              <a:tr h="508000">
                <a:tc>
                  <a:txBody>
                    <a:bodyPr/>
                    <a:lstStyle/>
                    <a:p>
                      <a:pPr algn="l" defTabSz="914400"/>
                      <a:r>
                        <a:rPr b="0" i="0" strike="noStrike" dirty="0"/>
                        <a:t>TableColumnsDelete</a:t>
                      </a:r>
                    </a:p>
                  </a:txBody>
                  <a:tcPr horzOverflow="overflow"/>
                </a:tc>
              </a:tr>
              <a:tr h="508000">
                <a:tc>
                  <a:txBody>
                    <a:bodyPr/>
                    <a:lstStyle/>
                    <a:p>
                      <a:pPr algn="l" defTabSz="914400"/>
                      <a:r>
                        <a:rPr b="0" i="0" strike="noStrike" dirty="0"/>
                        <a:t>CellsInsertDialog</a:t>
                      </a:r>
                    </a:p>
                  </a:txBody>
                  <a:tcPr horzOverflow="overflow"/>
                </a:tc>
              </a:tr>
            </a:tbl>
          </a:graphicData>
        </a:graphic>
      </p:graphicFrame>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TableRowsInsertWord</a:t>
                      </a:r>
                    </a:p>
                  </a:txBody>
                  <a:tcPr horzOverflow="overflow"/>
                </a:tc>
              </a:tr>
              <a:tr h="508000">
                <a:tc>
                  <a:txBody>
                    <a:bodyPr/>
                    <a:lstStyle/>
                    <a:p>
                      <a:pPr algn="l" defTabSz="914400"/>
                      <a:r>
                        <a:rPr b="0" i="0" strike="noStrike" dirty="0"/>
                        <a:t>QueryInsertColumns</a:t>
                      </a:r>
                    </a:p>
                  </a:txBody>
                  <a:tcPr horzOverflow="overflow"/>
                </a:tc>
              </a:tr>
              <a:tr h="508000">
                <a:tc>
                  <a:txBody>
                    <a:bodyPr/>
                    <a:lstStyle/>
                    <a:p>
                      <a:pPr algn="l" defTabSz="914400"/>
                      <a:r>
                        <a:rPr b="0" i="0" strike="noStrike" dirty="0"/>
                        <a:t>WindowsArrangeAll</a:t>
                      </a:r>
                    </a:p>
                  </a:txBody>
                  <a:tcPr horzOverflow="overflow"/>
                </a:tc>
              </a:tr>
              <a:tr h="508000">
                <a:tc>
                  <a:txBody>
                    <a:bodyPr/>
                    <a:lstStyle/>
                    <a:p>
                      <a:pPr algn="l" defTabSz="914400"/>
                      <a:r>
                        <a:rPr b="0" i="0" strike="noStrike" dirty="0"/>
                        <a:t>MarginsAdjust</a:t>
                      </a:r>
                    </a:p>
                  </a:txBody>
                  <a:tcPr horzOverflow="overflow"/>
                </a:tc>
              </a:tr>
              <a:tr h="508000">
                <a:tc>
                  <a:txBody>
                    <a:bodyPr/>
                    <a:lstStyle/>
                    <a:p>
                      <a:pPr algn="l" defTabSz="914400"/>
                      <a:r>
                        <a:rPr b="0" i="0" strike="noStrike" dirty="0"/>
                        <a:t>ViewGridlinesWord</a:t>
                      </a:r>
                    </a:p>
                  </a:txBody>
                  <a:tcPr horzOverflow="overflow"/>
                </a:tc>
              </a:tr>
              <a:tr h="508000">
                <a:tc>
                  <a:txBody>
                    <a:bodyPr/>
                    <a:lstStyle/>
                    <a:p>
                      <a:pPr algn="l" defTabSz="914400"/>
                      <a:r>
                        <a:rPr b="0" i="0" strike="noStrike" dirty="0"/>
                        <a:t>SubdocumentOpen</a:t>
                      </a:r>
                    </a:p>
                  </a:txBody>
                  <a:tcPr horzOverflow="overflow"/>
                </a:tc>
              </a:tr>
              <a:tr h="508000">
                <a:tc>
                  <a:txBody>
                    <a:bodyPr/>
                    <a:lstStyle/>
                    <a:p>
                      <a:pPr algn="l" defTabSz="914400"/>
                      <a:r>
                        <a:rPr b="0" i="0" strike="noStrike" dirty="0"/>
                        <a:t>WindowSplit</a:t>
                      </a:r>
                    </a:p>
                  </a:txBody>
                  <a:tcPr horzOverflow="overflow"/>
                </a:tc>
              </a:tr>
              <a:tr h="508000">
                <a:tc>
                  <a:txBody>
                    <a:bodyPr/>
                    <a:lstStyle/>
                    <a:p>
                      <a:pPr algn="l" defTabSz="914400"/>
                      <a:r>
                        <a:rPr b="0" i="0" strike="noStrike" dirty="0"/>
                        <a:t>WindowNew</a:t>
                      </a:r>
                    </a:p>
                  </a:txBody>
                  <a:tcPr horzOverflow="overflow"/>
                </a:tc>
              </a:tr>
              <a:tr h="508000">
                <a:tc>
                  <a:txBody>
                    <a:bodyPr/>
                    <a:lstStyle/>
                    <a:p>
                      <a:pPr algn="l" defTabSz="914400"/>
                      <a:r>
                        <a:rPr b="0" i="0" strike="noStrike" dirty="0"/>
                        <a:t>LegalBlackline</a:t>
                      </a:r>
                    </a:p>
                  </a:txBody>
                  <a:tcPr horzOverflow="overflow"/>
                </a:tc>
              </a:tr>
              <a:tr h="508000">
                <a:tc>
                  <a:txBody>
                    <a:bodyPr/>
                    <a:lstStyle/>
                    <a:p>
                      <a:pPr algn="l" defTabSz="914400"/>
                      <a:r>
                        <a:rPr b="0" i="0" strike="noStrike" dirty="0"/>
                        <a:t>ReviewAcceptOrRejectChangeDialog</a:t>
                      </a:r>
                    </a:p>
                  </a:txBody>
                  <a:tcPr horzOverflow="overflow"/>
                </a:tc>
              </a:tr>
            </a:tbl>
          </a:graphicData>
        </a:graphic>
      </p:graphicFrame>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TextAllCaps</a:t>
                      </a:r>
                    </a:p>
                  </a:txBody>
                  <a:tcPr horzOverflow="overflow"/>
                </a:tc>
              </a:tr>
              <a:tr h="508000">
                <a:tc>
                  <a:txBody>
                    <a:bodyPr/>
                    <a:lstStyle/>
                    <a:p>
                      <a:pPr algn="l" defTabSz="914400"/>
                      <a:r>
                        <a:rPr b="0" i="0" strike="noStrike" dirty="0"/>
                        <a:t>PictureDisassemble</a:t>
                      </a:r>
                    </a:p>
                  </a:txBody>
                  <a:tcPr horzOverflow="overflow"/>
                </a:tc>
              </a:tr>
              <a:tr h="508000">
                <a:tc>
                  <a:txBody>
                    <a:bodyPr/>
                    <a:lstStyle/>
                    <a:p>
                      <a:pPr algn="l" defTabSz="914400"/>
                      <a:r>
                        <a:rPr b="0" i="0" strike="noStrike" dirty="0"/>
                        <a:t>SymbolInsert</a:t>
                      </a:r>
                    </a:p>
                  </a:txBody>
                  <a:tcPr horzOverflow="overflow"/>
                </a:tc>
              </a:tr>
              <a:tr h="508000">
                <a:tc>
                  <a:txBody>
                    <a:bodyPr/>
                    <a:lstStyle/>
                    <a:p>
                      <a:pPr algn="l" defTabSz="914400"/>
                      <a:r>
                        <a:rPr b="0" i="0" strike="noStrike" dirty="0"/>
                        <a:t>ChangeCaseDialogClassic</a:t>
                      </a:r>
                    </a:p>
                  </a:txBody>
                  <a:tcPr horzOverflow="overflow"/>
                </a:tc>
              </a:tr>
              <a:tr h="508000">
                <a:tc>
                  <a:txBody>
                    <a:bodyPr/>
                    <a:lstStyle/>
                    <a:p>
                      <a:pPr algn="l" defTabSz="914400"/>
                      <a:r>
                        <a:rPr b="0" i="0" strike="noStrike" dirty="0"/>
                        <a:t>FontSizeDecrease1Point</a:t>
                      </a:r>
                    </a:p>
                  </a:txBody>
                  <a:tcPr horzOverflow="overflow"/>
                </a:tc>
              </a:tr>
              <a:tr h="508000">
                <a:tc>
                  <a:txBody>
                    <a:bodyPr/>
                    <a:lstStyle/>
                    <a:p>
                      <a:pPr algn="l" defTabSz="914400"/>
                      <a:r>
                        <a:rPr b="0" i="0" strike="noStrike" dirty="0"/>
                        <a:t>FontSizeIncrease1Point</a:t>
                      </a:r>
                    </a:p>
                  </a:txBody>
                  <a:tcPr horzOverflow="overflow"/>
                </a:tc>
              </a:tr>
              <a:tr h="508000">
                <a:tc>
                  <a:txBody>
                    <a:bodyPr/>
                    <a:lstStyle/>
                    <a:p>
                      <a:pPr algn="l" defTabSz="914400"/>
                      <a:r>
                        <a:rPr b="0" i="0" strike="noStrike" dirty="0"/>
                        <a:t>Repaginate</a:t>
                      </a:r>
                    </a:p>
                  </a:txBody>
                  <a:tcPr horzOverflow="overflow"/>
                </a:tc>
              </a:tr>
              <a:tr h="508000">
                <a:tc>
                  <a:txBody>
                    <a:bodyPr/>
                    <a:lstStyle/>
                    <a:p>
                      <a:pPr algn="l" defTabSz="914400"/>
                      <a:r>
                        <a:rPr b="0" i="0" strike="noStrike" dirty="0"/>
                        <a:t>ReplaceDialog</a:t>
                      </a:r>
                    </a:p>
                  </a:txBody>
                  <a:tcPr horzOverflow="overflow"/>
                </a:tc>
              </a:tr>
              <a:tr h="508000">
                <a:tc>
                  <a:txBody>
                    <a:bodyPr/>
                    <a:lstStyle/>
                    <a:p>
                      <a:pPr algn="l" defTabSz="914400"/>
                      <a:r>
                        <a:rPr b="0" i="0" strike="noStrike" dirty="0"/>
                        <a:t>StartOfLine</a:t>
                      </a:r>
                    </a:p>
                  </a:txBody>
                  <a:tcPr horzOverflow="overflow"/>
                </a:tc>
              </a:tr>
              <a:tr h="508000">
                <a:tc>
                  <a:txBody>
                    <a:bodyPr/>
                    <a:lstStyle/>
                    <a:p>
                      <a:pPr algn="l" defTabSz="914400"/>
                      <a:r>
                        <a:rPr b="0" i="0" strike="noStrike" dirty="0"/>
                        <a:t>EndOfLine</a:t>
                      </a:r>
                    </a:p>
                  </a:txBody>
                  <a:tcPr horzOverflow="overflow"/>
                </a:tc>
              </a:tr>
            </a:tbl>
          </a:graphicData>
        </a:graphic>
      </p:graphicFrame>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PagePrevious</a:t>
                      </a:r>
                    </a:p>
                  </a:txBody>
                  <a:tcPr horzOverflow="overflow"/>
                </a:tc>
              </a:tr>
              <a:tr h="508000">
                <a:tc>
                  <a:txBody>
                    <a:bodyPr/>
                    <a:lstStyle/>
                    <a:p>
                      <a:pPr algn="l" defTabSz="914400"/>
                      <a:r>
                        <a:rPr b="0" i="0" strike="noStrike" dirty="0"/>
                        <a:t>PageNext</a:t>
                      </a:r>
                    </a:p>
                  </a:txBody>
                  <a:tcPr horzOverflow="overflow"/>
                </a:tc>
              </a:tr>
              <a:tr h="508000">
                <a:tc>
                  <a:txBody>
                    <a:bodyPr/>
                    <a:lstStyle/>
                    <a:p>
                      <a:pPr algn="l" defTabSz="914400"/>
                      <a:r>
                        <a:rPr b="0" i="0" strike="noStrike" dirty="0"/>
                        <a:t>TextBoxInsertVertical</a:t>
                      </a:r>
                    </a:p>
                  </a:txBody>
                  <a:tcPr horzOverflow="overflow"/>
                </a:tc>
              </a:tr>
              <a:tr h="508000">
                <a:tc>
                  <a:txBody>
                    <a:bodyPr/>
                    <a:lstStyle/>
                    <a:p>
                      <a:pPr algn="l" defTabSz="914400"/>
                      <a:r>
                        <a:rPr b="0" i="0" strike="noStrike" dirty="0"/>
                        <a:t>StartOfDocument</a:t>
                      </a:r>
                    </a:p>
                  </a:txBody>
                  <a:tcPr horzOverflow="overflow"/>
                </a:tc>
              </a:tr>
              <a:tr h="508000">
                <a:tc>
                  <a:txBody>
                    <a:bodyPr/>
                    <a:lstStyle/>
                    <a:p>
                      <a:pPr algn="l" defTabSz="914400"/>
                      <a:r>
                        <a:rPr b="0" i="0" strike="noStrike" dirty="0"/>
                        <a:t>EndOfDocument</a:t>
                      </a:r>
                    </a:p>
                  </a:txBody>
                  <a:tcPr horzOverflow="overflow"/>
                </a:tc>
              </a:tr>
              <a:tr h="508000">
                <a:tc>
                  <a:txBody>
                    <a:bodyPr/>
                    <a:lstStyle/>
                    <a:p>
                      <a:pPr algn="l" defTabSz="914400"/>
                      <a:r>
                        <a:rPr b="0" i="0" strike="noStrike" dirty="0"/>
                        <a:t>Grammar</a:t>
                      </a:r>
                    </a:p>
                  </a:txBody>
                  <a:tcPr horzOverflow="overflow"/>
                </a:tc>
              </a:tr>
              <a:tr h="508000">
                <a:tc>
                  <a:txBody>
                    <a:bodyPr/>
                    <a:lstStyle/>
                    <a:p>
                      <a:pPr algn="l" defTabSz="914400"/>
                      <a:r>
                        <a:rPr b="0" i="0" strike="noStrike" dirty="0"/>
                        <a:t>FileCloseOrCloseAll</a:t>
                      </a:r>
                    </a:p>
                  </a:txBody>
                  <a:tcPr horzOverflow="overflow"/>
                </a:tc>
              </a:tr>
              <a:tr h="508000">
                <a:tc>
                  <a:txBody>
                    <a:bodyPr/>
                    <a:lstStyle/>
                    <a:p>
                      <a:pPr algn="l" defTabSz="914400"/>
                      <a:r>
                        <a:rPr b="0" i="0" strike="noStrike" dirty="0"/>
                        <a:t>TextToOrFromTable</a:t>
                      </a:r>
                    </a:p>
                  </a:txBody>
                  <a:tcPr horzOverflow="overflow"/>
                </a:tc>
              </a:tr>
              <a:tr h="508000">
                <a:tc>
                  <a:txBody>
                    <a:bodyPr/>
                    <a:lstStyle/>
                    <a:p>
                      <a:pPr algn="l" defTabSz="914400"/>
                      <a:r>
                        <a:rPr b="0" i="0" strike="noStrike" dirty="0"/>
                        <a:t>TableRowsOrColumnsOrCellsInsert</a:t>
                      </a:r>
                    </a:p>
                  </a:txBody>
                  <a:tcPr horzOverflow="overflow"/>
                </a:tc>
              </a:tr>
              <a:tr h="508000">
                <a:tc>
                  <a:txBody>
                    <a:bodyPr/>
                    <a:lstStyle/>
                    <a:p>
                      <a:pPr algn="l" defTabSz="914400"/>
                      <a:r>
                        <a:rPr b="0" i="0" strike="noStrike" dirty="0"/>
                        <a:t>TableRowsOrColumnsOrCellsDelete</a:t>
                      </a:r>
                    </a:p>
                  </a:txBody>
                  <a:tcPr horzOverflow="overflow"/>
                </a:tc>
              </a:tr>
            </a:tbl>
          </a:graphicData>
        </a:graphic>
      </p:graphicFrame>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RedoOrRepeat</a:t>
                      </a:r>
                    </a:p>
                  </a:txBody>
                  <a:tcPr horzOverflow="overflow"/>
                </a:tc>
              </a:tr>
              <a:tr h="508000">
                <a:tc>
                  <a:txBody>
                    <a:bodyPr/>
                    <a:lstStyle/>
                    <a:p>
                      <a:pPr algn="l" defTabSz="914400"/>
                      <a:r>
                        <a:rPr b="0" i="0" strike="noStrike" dirty="0"/>
                        <a:t>ObjectsRegroup</a:t>
                      </a:r>
                    </a:p>
                  </a:txBody>
                  <a:tcPr horzOverflow="overflow"/>
                </a:tc>
              </a:tr>
              <a:tr h="508000">
                <a:tc>
                  <a:txBody>
                    <a:bodyPr/>
                    <a:lstStyle/>
                    <a:p>
                      <a:pPr algn="l" defTabSz="914400"/>
                      <a:r>
                        <a:rPr b="0" i="0" strike="noStrike" dirty="0"/>
                        <a:t>_3DStyle</a:t>
                      </a:r>
                    </a:p>
                  </a:txBody>
                  <a:tcPr horzOverflow="overflow"/>
                </a:tc>
              </a:tr>
              <a:tr h="508000">
                <a:tc>
                  <a:txBody>
                    <a:bodyPr/>
                    <a:lstStyle/>
                    <a:p>
                      <a:pPr algn="l" defTabSz="914400"/>
                      <a:r>
                        <a:rPr b="0" i="0" strike="noStrike" dirty="0"/>
                        <a:t>TipWizardHelp</a:t>
                      </a:r>
                    </a:p>
                  </a:txBody>
                  <a:tcPr horzOverflow="overflow"/>
                </a:tc>
              </a:tr>
              <a:tr h="508000">
                <a:tc>
                  <a:txBody>
                    <a:bodyPr/>
                    <a:lstStyle/>
                    <a:p>
                      <a:pPr algn="l" defTabSz="914400"/>
                      <a:r>
                        <a:rPr b="0" i="0" strike="noStrike" dirty="0"/>
                        <a:t>AutoFormatChange</a:t>
                      </a:r>
                    </a:p>
                  </a:txBody>
                  <a:tcPr horzOverflow="overflow"/>
                </a:tc>
              </a:tr>
              <a:tr h="508000">
                <a:tc>
                  <a:txBody>
                    <a:bodyPr/>
                    <a:lstStyle/>
                    <a:p>
                      <a:pPr algn="l" defTabSz="914400"/>
                      <a:r>
                        <a:rPr b="0" i="0" strike="noStrike" dirty="0"/>
                        <a:t>AddressBook</a:t>
                      </a:r>
                    </a:p>
                  </a:txBody>
                  <a:tcPr horzOverflow="overflow"/>
                </a:tc>
              </a:tr>
              <a:tr h="508000">
                <a:tc>
                  <a:txBody>
                    <a:bodyPr/>
                    <a:lstStyle/>
                    <a:p>
                      <a:pPr algn="l" defTabSz="914400"/>
                      <a:r>
                        <a:rPr b="0" i="0" strike="noStrike" dirty="0"/>
                        <a:t>Reply</a:t>
                      </a:r>
                    </a:p>
                  </a:txBody>
                  <a:tcPr horzOverflow="overflow"/>
                </a:tc>
              </a:tr>
              <a:tr h="508000">
                <a:tc>
                  <a:txBody>
                    <a:bodyPr/>
                    <a:lstStyle/>
                    <a:p>
                      <a:pPr algn="l" defTabSz="914400"/>
                      <a:r>
                        <a:rPr b="0" i="0" strike="noStrike" dirty="0"/>
                        <a:t>ReplyAll</a:t>
                      </a:r>
                    </a:p>
                  </a:txBody>
                  <a:tcPr horzOverflow="overflow"/>
                </a:tc>
              </a:tr>
              <a:tr h="508000">
                <a:tc>
                  <a:txBody>
                    <a:bodyPr/>
                    <a:lstStyle/>
                    <a:p>
                      <a:pPr algn="l" defTabSz="914400"/>
                      <a:r>
                        <a:rPr b="0" i="0" strike="noStrike" dirty="0"/>
                        <a:t>Forward</a:t>
                      </a:r>
                    </a:p>
                  </a:txBody>
                  <a:tcPr horzOverflow="overflow"/>
                </a:tc>
              </a:tr>
              <a:tr h="508000">
                <a:tc>
                  <a:txBody>
                    <a:bodyPr/>
                    <a:lstStyle/>
                    <a:p>
                      <a:pPr algn="l" defTabSz="914400"/>
                      <a:r>
                        <a:rPr b="0" i="0" strike="noStrike" dirty="0"/>
                        <a:t>MailMove</a:t>
                      </a:r>
                    </a:p>
                  </a:txBody>
                  <a:tcPr horzOverflow="overflow"/>
                </a:tc>
              </a:tr>
            </a:tbl>
          </a:graphicData>
        </a:graphic>
      </p:graphicFrame>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MailDelete</a:t>
                      </a:r>
                    </a:p>
                  </a:txBody>
                  <a:tcPr horzOverflow="overflow"/>
                </a:tc>
              </a:tr>
              <a:tr h="508000">
                <a:tc>
                  <a:txBody>
                    <a:bodyPr/>
                    <a:lstStyle/>
                    <a:p>
                      <a:pPr algn="l" defTabSz="914400"/>
                      <a:r>
                        <a:rPr b="0" i="0" strike="noStrike" dirty="0"/>
                        <a:t>MessagePrevious</a:t>
                      </a:r>
                    </a:p>
                  </a:txBody>
                  <a:tcPr horzOverflow="overflow"/>
                </a:tc>
              </a:tr>
              <a:tr h="508000">
                <a:tc>
                  <a:txBody>
                    <a:bodyPr/>
                    <a:lstStyle/>
                    <a:p>
                      <a:pPr algn="l" defTabSz="914400"/>
                      <a:r>
                        <a:rPr b="0" i="0" strike="noStrike" dirty="0"/>
                        <a:t>MessageNext</a:t>
                      </a:r>
                    </a:p>
                  </a:txBody>
                  <a:tcPr horzOverflow="overflow"/>
                </a:tc>
              </a:tr>
              <a:tr h="508000">
                <a:tc>
                  <a:txBody>
                    <a:bodyPr/>
                    <a:lstStyle/>
                    <a:p>
                      <a:pPr algn="l" defTabSz="914400"/>
                      <a:r>
                        <a:rPr b="0" i="0" strike="noStrike" dirty="0"/>
                        <a:t>CheckNames</a:t>
                      </a:r>
                    </a:p>
                  </a:txBody>
                  <a:tcPr horzOverflow="overflow"/>
                </a:tc>
              </a:tr>
              <a:tr h="508000">
                <a:tc>
                  <a:txBody>
                    <a:bodyPr/>
                    <a:lstStyle/>
                    <a:p>
                      <a:pPr algn="l" defTabSz="914400"/>
                      <a:r>
                        <a:rPr b="0" i="0" strike="noStrike" dirty="0"/>
                        <a:t>MailSelectNames</a:t>
                      </a:r>
                    </a:p>
                  </a:txBody>
                  <a:tcPr horzOverflow="overflow"/>
                </a:tc>
              </a:tr>
              <a:tr h="508000">
                <a:tc>
                  <a:txBody>
                    <a:bodyPr/>
                    <a:lstStyle/>
                    <a:p>
                      <a:pPr algn="l" defTabSz="914400"/>
                      <a:r>
                        <a:rPr b="0" i="0" strike="noStrike" dirty="0"/>
                        <a:t>PrintAreaSetPrintArea</a:t>
                      </a:r>
                    </a:p>
                  </a:txBody>
                  <a:tcPr horzOverflow="overflow"/>
                </a:tc>
              </a:tr>
              <a:tr h="508000">
                <a:tc>
                  <a:txBody>
                    <a:bodyPr/>
                    <a:lstStyle/>
                    <a:p>
                      <a:pPr algn="l" defTabSz="914400"/>
                      <a:r>
                        <a:rPr b="0" i="0" strike="noStrike" dirty="0"/>
                        <a:t>PasteFormatting</a:t>
                      </a:r>
                    </a:p>
                  </a:txBody>
                  <a:tcPr horzOverflow="overflow"/>
                </a:tc>
              </a:tr>
              <a:tr h="508000">
                <a:tc>
                  <a:txBody>
                    <a:bodyPr/>
                    <a:lstStyle/>
                    <a:p>
                      <a:pPr algn="l" defTabSz="914400"/>
                      <a:r>
                        <a:rPr b="0" i="0" strike="noStrike" dirty="0"/>
                        <a:t>FillRight</a:t>
                      </a:r>
                    </a:p>
                  </a:txBody>
                  <a:tcPr horzOverflow="overflow"/>
                </a:tc>
              </a:tr>
              <a:tr h="508000">
                <a:tc>
                  <a:txBody>
                    <a:bodyPr/>
                    <a:lstStyle/>
                    <a:p>
                      <a:pPr algn="l" defTabSz="914400"/>
                      <a:r>
                        <a:rPr b="0" i="0" strike="noStrike" dirty="0"/>
                        <a:t>FillDown</a:t>
                      </a:r>
                    </a:p>
                  </a:txBody>
                  <a:tcPr horzOverflow="overflow"/>
                </a:tc>
              </a:tr>
              <a:tr h="508000">
                <a:tc>
                  <a:txBody>
                    <a:bodyPr/>
                    <a:lstStyle/>
                    <a:p>
                      <a:pPr algn="l" defTabSz="914400"/>
                      <a:r>
                        <a:rPr b="0" i="0" strike="noStrike" dirty="0"/>
                        <a:t>EqualSign</a:t>
                      </a:r>
                    </a:p>
                  </a:txBody>
                  <a:tcPr horzOverflow="overflow"/>
                </a:tc>
              </a:tr>
            </a:tbl>
          </a:graphicData>
        </a:graphic>
      </p:graphicFrame>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PlusSign</a:t>
                      </a:r>
                    </a:p>
                  </a:txBody>
                  <a:tcPr horzOverflow="overflow"/>
                </a:tc>
              </a:tr>
              <a:tr h="508000">
                <a:tc>
                  <a:txBody>
                    <a:bodyPr/>
                    <a:lstStyle/>
                    <a:p>
                      <a:pPr algn="l" defTabSz="914400"/>
                      <a:r>
                        <a:rPr b="0" i="0" strike="noStrike" dirty="0"/>
                        <a:t>MinusSign</a:t>
                      </a:r>
                    </a:p>
                  </a:txBody>
                  <a:tcPr horzOverflow="overflow"/>
                </a:tc>
              </a:tr>
              <a:tr h="508000">
                <a:tc>
                  <a:txBody>
                    <a:bodyPr/>
                    <a:lstStyle/>
                    <a:p>
                      <a:pPr algn="l" defTabSz="914400"/>
                      <a:r>
                        <a:rPr b="0" i="0" strike="noStrike" dirty="0"/>
                        <a:t>MultiplicationSign</a:t>
                      </a:r>
                    </a:p>
                  </a:txBody>
                  <a:tcPr horzOverflow="overflow"/>
                </a:tc>
              </a:tr>
              <a:tr h="508000">
                <a:tc>
                  <a:txBody>
                    <a:bodyPr/>
                    <a:lstStyle/>
                    <a:p>
                      <a:pPr algn="l" defTabSz="914400"/>
                      <a:r>
                        <a:rPr b="0" i="0" strike="noStrike" dirty="0"/>
                        <a:t>DivisionSign</a:t>
                      </a:r>
                    </a:p>
                  </a:txBody>
                  <a:tcPr horzOverflow="overflow"/>
                </a:tc>
              </a:tr>
              <a:tr h="508000">
                <a:tc>
                  <a:txBody>
                    <a:bodyPr/>
                    <a:lstStyle/>
                    <a:p>
                      <a:pPr algn="l" defTabSz="914400"/>
                      <a:r>
                        <a:rPr b="0" i="0" strike="noStrike" dirty="0"/>
                        <a:t>ExponentiationSign</a:t>
                      </a:r>
                    </a:p>
                  </a:txBody>
                  <a:tcPr horzOverflow="overflow"/>
                </a:tc>
              </a:tr>
              <a:tr h="508000">
                <a:tc>
                  <a:txBody>
                    <a:bodyPr/>
                    <a:lstStyle/>
                    <a:p>
                      <a:pPr algn="l" defTabSz="914400"/>
                      <a:r>
                        <a:rPr b="0" i="0" strike="noStrike" dirty="0"/>
                        <a:t>ParenthesisLeft</a:t>
                      </a:r>
                    </a:p>
                  </a:txBody>
                  <a:tcPr horzOverflow="overflow"/>
                </a:tc>
              </a:tr>
              <a:tr h="508000">
                <a:tc>
                  <a:txBody>
                    <a:bodyPr/>
                    <a:lstStyle/>
                    <a:p>
                      <a:pPr algn="l" defTabSz="914400"/>
                      <a:r>
                        <a:rPr b="0" i="0" strike="noStrike" dirty="0"/>
                        <a:t>ParenthesisRight</a:t>
                      </a:r>
                    </a:p>
                  </a:txBody>
                  <a:tcPr horzOverflow="overflow"/>
                </a:tc>
              </a:tr>
              <a:tr h="508000">
                <a:tc>
                  <a:txBody>
                    <a:bodyPr/>
                    <a:lstStyle/>
                    <a:p>
                      <a:pPr algn="l" defTabSz="914400"/>
                      <a:r>
                        <a:rPr b="0" i="0" strike="noStrike" dirty="0"/>
                        <a:t>ColonSign</a:t>
                      </a:r>
                    </a:p>
                  </a:txBody>
                  <a:tcPr horzOverflow="overflow"/>
                </a:tc>
              </a:tr>
              <a:tr h="508000">
                <a:tc>
                  <a:txBody>
                    <a:bodyPr/>
                    <a:lstStyle/>
                    <a:p>
                      <a:pPr algn="l" defTabSz="914400"/>
                      <a:r>
                        <a:rPr b="0" i="0" strike="noStrike" dirty="0"/>
                        <a:t>CommaSign</a:t>
                      </a:r>
                    </a:p>
                  </a:txBody>
                  <a:tcPr horzOverflow="overflow"/>
                </a:tc>
              </a:tr>
              <a:tr h="508000">
                <a:tc>
                  <a:txBody>
                    <a:bodyPr/>
                    <a:lstStyle/>
                    <a:p>
                      <a:pPr algn="l" defTabSz="914400"/>
                      <a:r>
                        <a:rPr b="0" i="0" strike="noStrike" dirty="0"/>
                        <a:t>PercentSign</a:t>
                      </a:r>
                    </a:p>
                  </a:txBody>
                  <a:tcPr horzOverflow="overflow"/>
                </a:tc>
              </a:tr>
            </a:tbl>
          </a:graphicData>
        </a:graphic>
      </p:graphicFrame>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DollarSign</a:t>
                      </a:r>
                    </a:p>
                  </a:txBody>
                  <a:tcPr horzOverflow="overflow"/>
                </a:tc>
              </a:tr>
              <a:tr h="508000">
                <a:tc>
                  <a:txBody>
                    <a:bodyPr/>
                    <a:lstStyle/>
                    <a:p>
                      <a:pPr algn="l" defTabSz="914400"/>
                      <a:r>
                        <a:rPr b="0" i="0" strike="noStrike" dirty="0"/>
                        <a:t>FunctionWizard</a:t>
                      </a:r>
                    </a:p>
                  </a:txBody>
                  <a:tcPr horzOverflow="overflow"/>
                </a:tc>
              </a:tr>
              <a:tr h="508000">
                <a:tc>
                  <a:txBody>
                    <a:bodyPr/>
                    <a:lstStyle/>
                    <a:p>
                      <a:pPr algn="l" defTabSz="914400"/>
                      <a:r>
                        <a:rPr b="0" i="0" strike="noStrike" dirty="0"/>
                        <a:t>AsianLayoutCharacterScaling</a:t>
                      </a:r>
                    </a:p>
                  </a:txBody>
                  <a:tcPr horzOverflow="overflow"/>
                </a:tc>
              </a:tr>
              <a:tr h="508000">
                <a:tc>
                  <a:txBody>
                    <a:bodyPr/>
                    <a:lstStyle/>
                    <a:p>
                      <a:pPr algn="l" defTabSz="914400"/>
                      <a:r>
                        <a:rPr b="0" i="0" strike="noStrike" dirty="0"/>
                        <a:t>ConstrainNumeric</a:t>
                      </a:r>
                    </a:p>
                  </a:txBody>
                  <a:tcPr horzOverflow="overflow"/>
                </a:tc>
              </a:tr>
              <a:tr h="508000">
                <a:tc>
                  <a:txBody>
                    <a:bodyPr/>
                    <a:lstStyle/>
                    <a:p>
                      <a:pPr algn="l" defTabSz="914400"/>
                      <a:r>
                        <a:rPr b="0" i="0" strike="noStrike" dirty="0"/>
                        <a:t>LightShading</a:t>
                      </a:r>
                    </a:p>
                  </a:txBody>
                  <a:tcPr horzOverflow="overflow"/>
                </a:tc>
              </a:tr>
              <a:tr h="508000">
                <a:tc>
                  <a:txBody>
                    <a:bodyPr/>
                    <a:lstStyle/>
                    <a:p>
                      <a:pPr algn="l" defTabSz="914400"/>
                      <a:r>
                        <a:rPr b="0" i="0" strike="noStrike" dirty="0"/>
                        <a:t>AccountingFormat</a:t>
                      </a:r>
                    </a:p>
                  </a:txBody>
                  <a:tcPr horzOverflow="overflow"/>
                </a:tc>
              </a:tr>
              <a:tr h="508000">
                <a:tc>
                  <a:txBody>
                    <a:bodyPr/>
                    <a:lstStyle/>
                    <a:p>
                      <a:pPr algn="l" defTabSz="914400"/>
                      <a:r>
                        <a:rPr b="0" i="0" strike="noStrike" dirty="0"/>
                        <a:t>PercentStyle</a:t>
                      </a:r>
                    </a:p>
                  </a:txBody>
                  <a:tcPr horzOverflow="overflow"/>
                </a:tc>
              </a:tr>
              <a:tr h="508000">
                <a:tc>
                  <a:txBody>
                    <a:bodyPr/>
                    <a:lstStyle/>
                    <a:p>
                      <a:pPr algn="l" defTabSz="914400"/>
                      <a:r>
                        <a:rPr b="0" i="0" strike="noStrike" dirty="0"/>
                        <a:t>CommaStyle</a:t>
                      </a:r>
                    </a:p>
                  </a:txBody>
                  <a:tcPr horzOverflow="overflow"/>
                </a:tc>
              </a:tr>
              <a:tr h="508000">
                <a:tc>
                  <a:txBody>
                    <a:bodyPr/>
                    <a:lstStyle/>
                    <a:p>
                      <a:pPr algn="l" defTabSz="914400"/>
                      <a:r>
                        <a:rPr b="0" i="0" strike="noStrike" dirty="0"/>
                        <a:t>DecimalsIncrease</a:t>
                      </a:r>
                    </a:p>
                  </a:txBody>
                  <a:tcPr horzOverflow="overflow"/>
                </a:tc>
              </a:tr>
              <a:tr h="508000">
                <a:tc>
                  <a:txBody>
                    <a:bodyPr/>
                    <a:lstStyle/>
                    <a:p>
                      <a:pPr algn="l" defTabSz="914400"/>
                      <a:r>
                        <a:rPr b="0" i="0" strike="noStrike" dirty="0"/>
                        <a:t>DecimalsDecrease</a:t>
                      </a:r>
                    </a:p>
                  </a:txBody>
                  <a:tcPr horzOverflow="overflow"/>
                </a:tc>
              </a:tr>
            </a:tbl>
          </a:graphicData>
        </a:graphic>
      </p:graphicFrame>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MergeCenter</a:t>
                      </a:r>
                    </a:p>
                  </a:txBody>
                  <a:tcPr horzOverflow="overflow"/>
                </a:tc>
              </a:tr>
              <a:tr h="508000">
                <a:tc>
                  <a:txBody>
                    <a:bodyPr/>
                    <a:lstStyle/>
                    <a:p>
                      <a:pPr algn="l" defTabSz="914400"/>
                      <a:r>
                        <a:rPr b="0" i="0" strike="noStrike" dirty="0"/>
                        <a:t>FontSizeIncrease</a:t>
                      </a:r>
                    </a:p>
                  </a:txBody>
                  <a:tcPr horzOverflow="overflow"/>
                </a:tc>
              </a:tr>
              <a:tr h="508000">
                <a:tc>
                  <a:txBody>
                    <a:bodyPr/>
                    <a:lstStyle/>
                    <a:p>
                      <a:pPr algn="l" defTabSz="914400"/>
                      <a:r>
                        <a:rPr b="0" i="0" strike="noStrike" dirty="0"/>
                        <a:t>FontSizeDecrease</a:t>
                      </a:r>
                    </a:p>
                  </a:txBody>
                  <a:tcPr horzOverflow="overflow"/>
                </a:tc>
              </a:tr>
              <a:tr h="508000">
                <a:tc>
                  <a:txBody>
                    <a:bodyPr/>
                    <a:lstStyle/>
                    <a:p>
                      <a:pPr algn="l" defTabSz="914400"/>
                      <a:r>
                        <a:rPr b="0" i="0" strike="noStrike" dirty="0"/>
                        <a:t>TextOrientationVertical</a:t>
                      </a:r>
                    </a:p>
                  </a:txBody>
                  <a:tcPr horzOverflow="overflow"/>
                </a:tc>
              </a:tr>
              <a:tr h="508000">
                <a:tc>
                  <a:txBody>
                    <a:bodyPr/>
                    <a:lstStyle/>
                    <a:p>
                      <a:pPr algn="l" defTabSz="914400"/>
                      <a:r>
                        <a:rPr b="0" i="0" strike="noStrike" dirty="0"/>
                        <a:t>TextOrientationRotateUp</a:t>
                      </a:r>
                    </a:p>
                  </a:txBody>
                  <a:tcPr horzOverflow="overflow"/>
                </a:tc>
              </a:tr>
              <a:tr h="508000">
                <a:tc>
                  <a:txBody>
                    <a:bodyPr/>
                    <a:lstStyle/>
                    <a:p>
                      <a:pPr algn="l" defTabSz="914400"/>
                      <a:r>
                        <a:rPr b="0" i="0" strike="noStrike" dirty="0"/>
                        <a:t>TextOrientationRotateDown</a:t>
                      </a:r>
                    </a:p>
                  </a:txBody>
                  <a:tcPr horzOverflow="overflow"/>
                </a:tc>
              </a:tr>
              <a:tr h="508000">
                <a:tc>
                  <a:txBody>
                    <a:bodyPr/>
                    <a:lstStyle/>
                    <a:p>
                      <a:pPr algn="l" defTabSz="914400"/>
                      <a:r>
                        <a:rPr b="0" i="0" strike="noStrike" dirty="0"/>
                        <a:t>AlignDistributeHorizontallyClassic</a:t>
                      </a:r>
                    </a:p>
                  </a:txBody>
                  <a:tcPr horzOverflow="overflow"/>
                </a:tc>
              </a:tr>
              <a:tr h="508000">
                <a:tc>
                  <a:txBody>
                    <a:bodyPr/>
                    <a:lstStyle/>
                    <a:p>
                      <a:pPr algn="l" defTabSz="914400"/>
                      <a:r>
                        <a:rPr b="0" i="0" strike="noStrike" dirty="0"/>
                        <a:t>ShapeScribble</a:t>
                      </a:r>
                    </a:p>
                  </a:txBody>
                  <a:tcPr horzOverflow="overflow"/>
                </a:tc>
              </a:tr>
              <a:tr h="508000">
                <a:tc>
                  <a:txBody>
                    <a:bodyPr/>
                    <a:lstStyle/>
                    <a:p>
                      <a:pPr algn="l" defTabSz="914400"/>
                      <a:r>
                        <a:rPr b="0" i="0" strike="noStrike" dirty="0"/>
                        <a:t>ChartAreaChart</a:t>
                      </a:r>
                    </a:p>
                  </a:txBody>
                  <a:tcPr horzOverflow="overflow"/>
                </a:tc>
              </a:tr>
              <a:tr h="508000">
                <a:tc>
                  <a:txBody>
                    <a:bodyPr/>
                    <a:lstStyle/>
                    <a:p>
                      <a:pPr algn="l" defTabSz="914400"/>
                      <a:r>
                        <a:rPr b="0" i="0" strike="noStrike" dirty="0"/>
                        <a:t>Chart3DBarChart</a:t>
                      </a:r>
                    </a:p>
                  </a:txBody>
                  <a:tcPr horzOverflow="overflow"/>
                </a:tc>
              </a:tr>
            </a:tbl>
          </a:graphicData>
        </a:graphic>
      </p:graphicFrame>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Chart3DColumnChart</a:t>
                      </a:r>
                    </a:p>
                  </a:txBody>
                  <a:tcPr horzOverflow="overflow"/>
                </a:tc>
              </a:tr>
              <a:tr h="508000">
                <a:tc>
                  <a:txBody>
                    <a:bodyPr/>
                    <a:lstStyle/>
                    <a:p>
                      <a:pPr algn="l" defTabSz="914400"/>
                      <a:r>
                        <a:rPr b="0" i="0" strike="noStrike" dirty="0"/>
                        <a:t>Chart3DPieChart</a:t>
                      </a:r>
                    </a:p>
                  </a:txBody>
                  <a:tcPr horzOverflow="overflow"/>
                </a:tc>
              </a:tr>
              <a:tr h="508000">
                <a:tc>
                  <a:txBody>
                    <a:bodyPr/>
                    <a:lstStyle/>
                    <a:p>
                      <a:pPr algn="l" defTabSz="914400"/>
                      <a:r>
                        <a:rPr b="0" i="0" strike="noStrike" dirty="0"/>
                        <a:t>ChartRadarChart</a:t>
                      </a:r>
                    </a:p>
                  </a:txBody>
                  <a:tcPr horzOverflow="overflow"/>
                </a:tc>
              </a:tr>
              <a:tr h="508000">
                <a:tc>
                  <a:txBody>
                    <a:bodyPr/>
                    <a:lstStyle/>
                    <a:p>
                      <a:pPr algn="l" defTabSz="914400"/>
                      <a:r>
                        <a:rPr b="0" i="0" strike="noStrike" dirty="0"/>
                        <a:t>OutlineSymbolsShowHide</a:t>
                      </a:r>
                    </a:p>
                  </a:txBody>
                  <a:tcPr horzOverflow="overflow"/>
                </a:tc>
              </a:tr>
              <a:tr h="508000">
                <a:tc>
                  <a:txBody>
                    <a:bodyPr/>
                    <a:lstStyle/>
                    <a:p>
                      <a:pPr algn="l" defTabSz="914400"/>
                      <a:r>
                        <a:rPr b="0" i="0" strike="noStrike" dirty="0"/>
                        <a:t>TableSelectVisibleCells</a:t>
                      </a:r>
                    </a:p>
                  </a:txBody>
                  <a:tcPr horzOverflow="overflow"/>
                </a:tc>
              </a:tr>
              <a:tr h="508000">
                <a:tc>
                  <a:txBody>
                    <a:bodyPr/>
                    <a:lstStyle/>
                    <a:p>
                      <a:pPr algn="l" defTabSz="914400"/>
                      <a:r>
                        <a:rPr b="0" i="0" strike="noStrike" dirty="0"/>
                        <a:t>SelectCurrentRegion</a:t>
                      </a:r>
                    </a:p>
                  </a:txBody>
                  <a:tcPr horzOverflow="overflow"/>
                </a:tc>
              </a:tr>
              <a:tr h="508000">
                <a:tc>
                  <a:txBody>
                    <a:bodyPr/>
                    <a:lstStyle/>
                    <a:p>
                      <a:pPr algn="l" defTabSz="914400"/>
                      <a:r>
                        <a:rPr b="0" i="0" strike="noStrike" dirty="0"/>
                        <a:t>FreezePanes</a:t>
                      </a:r>
                    </a:p>
                  </a:txBody>
                  <a:tcPr horzOverflow="overflow"/>
                </a:tc>
              </a:tr>
              <a:tr h="508000">
                <a:tc>
                  <a:txBody>
                    <a:bodyPr/>
                    <a:lstStyle/>
                    <a:p>
                      <a:pPr algn="l" defTabSz="914400"/>
                      <a:r>
                        <a:rPr b="0" i="0" strike="noStrike" dirty="0"/>
                        <a:t>ZoomIn</a:t>
                      </a:r>
                    </a:p>
                  </a:txBody>
                  <a:tcPr horzOverflow="overflow"/>
                </a:tc>
              </a:tr>
              <a:tr h="508000">
                <a:tc>
                  <a:txBody>
                    <a:bodyPr/>
                    <a:lstStyle/>
                    <a:p>
                      <a:pPr algn="l" defTabSz="914400"/>
                      <a:r>
                        <a:rPr b="0" i="0" strike="noStrike" dirty="0"/>
                        <a:t>ZoomOut</a:t>
                      </a:r>
                    </a:p>
                  </a:txBody>
                  <a:tcPr horzOverflow="overflow"/>
                </a:tc>
              </a:tr>
              <a:tr h="508000">
                <a:tc>
                  <a:txBody>
                    <a:bodyPr/>
                    <a:lstStyle/>
                    <a:p>
                      <a:pPr algn="l" defTabSz="914400"/>
                      <a:r>
                        <a:rPr b="0" i="0" strike="noStrike" dirty="0"/>
                        <a:t>FormControlRadioButton</a:t>
                      </a:r>
                    </a:p>
                  </a:txBody>
                  <a:tcPr horzOverflow="overflow"/>
                </a:tc>
              </a:tr>
            </a:tbl>
          </a:graphicData>
        </a:graphic>
      </p:graphicFrame>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FormControlScrollBar</a:t>
                      </a:r>
                    </a:p>
                  </a:txBody>
                  <a:tcPr horzOverflow="overflow"/>
                </a:tc>
              </a:tr>
              <a:tr h="508000">
                <a:tc>
                  <a:txBody>
                    <a:bodyPr/>
                    <a:lstStyle/>
                    <a:p>
                      <a:pPr algn="l" defTabSz="914400"/>
                      <a:r>
                        <a:rPr b="0" i="0" strike="noStrike" dirty="0"/>
                        <a:t>FormControlListBox</a:t>
                      </a:r>
                    </a:p>
                  </a:txBody>
                  <a:tcPr horzOverflow="overflow"/>
                </a:tc>
              </a:tr>
              <a:tr h="508000">
                <a:tc>
                  <a:txBody>
                    <a:bodyPr/>
                    <a:lstStyle/>
                    <a:p>
                      <a:pPr algn="l" defTabSz="914400"/>
                      <a:r>
                        <a:rPr b="0" i="0" strike="noStrike" dirty="0"/>
                        <a:t>TraceDependentRemoveArrows</a:t>
                      </a:r>
                    </a:p>
                  </a:txBody>
                  <a:tcPr horzOverflow="overflow"/>
                </a:tc>
              </a:tr>
              <a:tr h="508000">
                <a:tc>
                  <a:txBody>
                    <a:bodyPr/>
                    <a:lstStyle/>
                    <a:p>
                      <a:pPr algn="l" defTabSz="914400"/>
                      <a:r>
                        <a:rPr b="0" i="0" strike="noStrike" dirty="0"/>
                        <a:t>TraceDependents</a:t>
                      </a:r>
                    </a:p>
                  </a:txBody>
                  <a:tcPr horzOverflow="overflow"/>
                </a:tc>
              </a:tr>
              <a:tr h="508000">
                <a:tc>
                  <a:txBody>
                    <a:bodyPr/>
                    <a:lstStyle/>
                    <a:p>
                      <a:pPr algn="l" defTabSz="914400"/>
                      <a:r>
                        <a:rPr b="0" i="0" strike="noStrike" dirty="0"/>
                        <a:t>TracePrecedentsRemoveArrows</a:t>
                      </a:r>
                    </a:p>
                  </a:txBody>
                  <a:tcPr horzOverflow="overflow"/>
                </a:tc>
              </a:tr>
              <a:tr h="508000">
                <a:tc>
                  <a:txBody>
                    <a:bodyPr/>
                    <a:lstStyle/>
                    <a:p>
                      <a:pPr algn="l" defTabSz="914400"/>
                      <a:r>
                        <a:rPr b="0" i="0" strike="noStrike" dirty="0"/>
                        <a:t>TraceRemoveAllArrows</a:t>
                      </a:r>
                    </a:p>
                  </a:txBody>
                  <a:tcPr horzOverflow="overflow"/>
                </a:tc>
              </a:tr>
              <a:tr h="508000">
                <a:tc>
                  <a:txBody>
                    <a:bodyPr/>
                    <a:lstStyle/>
                    <a:p>
                      <a:pPr algn="l" defTabSz="914400"/>
                      <a:r>
                        <a:rPr b="0" i="0" strike="noStrike" dirty="0"/>
                        <a:t>FileUpdate</a:t>
                      </a:r>
                    </a:p>
                  </a:txBody>
                  <a:tcPr horzOverflow="overflow"/>
                </a:tc>
              </a:tr>
              <a:tr h="508000">
                <a:tc>
                  <a:txBody>
                    <a:bodyPr/>
                    <a:lstStyle/>
                    <a:p>
                      <a:pPr algn="l" defTabSz="914400"/>
                      <a:r>
                        <a:rPr b="0" i="0" strike="noStrike" dirty="0"/>
                        <a:t>ReadOnly</a:t>
                      </a:r>
                    </a:p>
                  </a:txBody>
                  <a:tcPr horzOverflow="overflow"/>
                </a:tc>
              </a:tr>
              <a:tr h="508000">
                <a:tc>
                  <a:txBody>
                    <a:bodyPr/>
                    <a:lstStyle/>
                    <a:p>
                      <a:pPr algn="l" defTabSz="914400"/>
                      <a:r>
                        <a:rPr b="0" i="0" strike="noStrike" dirty="0"/>
                        <a:t>AutoFilterClassic</a:t>
                      </a:r>
                    </a:p>
                  </a:txBody>
                  <a:tcPr horzOverflow="overflow"/>
                </a:tc>
              </a:tr>
              <a:tr h="508000">
                <a:tc>
                  <a:txBody>
                    <a:bodyPr/>
                    <a:lstStyle/>
                    <a:p>
                      <a:pPr algn="l" defTabSz="914400"/>
                      <a:r>
                        <a:rPr b="0" i="0" strike="noStrike" dirty="0"/>
                        <a:t>Refresh</a:t>
                      </a:r>
                    </a:p>
                  </a:txBody>
                  <a:tcPr horzOverflow="overflow"/>
                </a:tc>
              </a:tr>
            </a:tbl>
          </a:graphicData>
        </a:graphic>
      </p:graphicFrame>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PivotTableFieldSettings</a:t>
                      </a:r>
                    </a:p>
                  </a:txBody>
                  <a:tcPr horzOverflow="overflow"/>
                </a:tc>
              </a:tr>
              <a:tr h="508000">
                <a:tc>
                  <a:txBody>
                    <a:bodyPr/>
                    <a:lstStyle/>
                    <a:p>
                      <a:pPr algn="l" defTabSz="914400"/>
                      <a:r>
                        <a:rPr b="0" i="0" strike="noStrike" dirty="0"/>
                        <a:t>PivotTableShowPages</a:t>
                      </a:r>
                    </a:p>
                  </a:txBody>
                  <a:tcPr horzOverflow="overflow"/>
                </a:tc>
              </a:tr>
              <a:tr h="508000">
                <a:tc>
                  <a:txBody>
                    <a:bodyPr/>
                    <a:lstStyle/>
                    <a:p>
                      <a:pPr algn="l" defTabSz="914400"/>
                      <a:r>
                        <a:rPr b="0" i="0" strike="noStrike" dirty="0"/>
                        <a:t>OutlineShowDetail</a:t>
                      </a:r>
                    </a:p>
                  </a:txBody>
                  <a:tcPr horzOverflow="overflow"/>
                </a:tc>
              </a:tr>
              <a:tr h="508000">
                <a:tc>
                  <a:txBody>
                    <a:bodyPr/>
                    <a:lstStyle/>
                    <a:p>
                      <a:pPr algn="l" defTabSz="914400"/>
                      <a:r>
                        <a:rPr b="0" i="0" strike="noStrike" dirty="0"/>
                        <a:t>TraceError</a:t>
                      </a:r>
                    </a:p>
                  </a:txBody>
                  <a:tcPr horzOverflow="overflow"/>
                </a:tc>
              </a:tr>
              <a:tr h="508000">
                <a:tc>
                  <a:txBody>
                    <a:bodyPr/>
                    <a:lstStyle/>
                    <a:p>
                      <a:pPr algn="l" defTabSz="914400"/>
                      <a:r>
                        <a:rPr b="0" i="0" strike="noStrike" dirty="0"/>
                        <a:t>OutlineHideDetail</a:t>
                      </a:r>
                    </a:p>
                  </a:txBody>
                  <a:tcPr horzOverflow="overflow"/>
                </a:tc>
              </a:tr>
              <a:tr h="508000">
                <a:tc>
                  <a:txBody>
                    <a:bodyPr/>
                    <a:lstStyle/>
                    <a:p>
                      <a:pPr algn="l" defTabSz="914400"/>
                      <a:r>
                        <a:rPr b="0" i="0" strike="noStrike" dirty="0"/>
                        <a:t>AlignDistributeVerticallyClassic</a:t>
                      </a:r>
                    </a:p>
                  </a:txBody>
                  <a:tcPr horzOverflow="overflow"/>
                </a:tc>
              </a:tr>
              <a:tr h="508000">
                <a:tc>
                  <a:txBody>
                    <a:bodyPr/>
                    <a:lstStyle/>
                    <a:p>
                      <a:pPr algn="l" defTabSz="914400"/>
                      <a:r>
                        <a:rPr b="0" i="0" strike="noStrike" dirty="0"/>
                        <a:t>FormControlGroupBox</a:t>
                      </a:r>
                    </a:p>
                  </a:txBody>
                  <a:tcPr horzOverflow="overflow"/>
                </a:tc>
              </a:tr>
              <a:tr h="508000">
                <a:tc>
                  <a:txBody>
                    <a:bodyPr/>
                    <a:lstStyle/>
                    <a:p>
                      <a:pPr algn="l" defTabSz="914400"/>
                      <a:r>
                        <a:rPr b="0" i="0" strike="noStrike" dirty="0"/>
                        <a:t>FormControlSpinner</a:t>
                      </a:r>
                    </a:p>
                  </a:txBody>
                  <a:tcPr horzOverflow="overflow"/>
                </a:tc>
              </a:tr>
              <a:tr h="508000">
                <a:tc>
                  <a:txBody>
                    <a:bodyPr/>
                    <a:lstStyle/>
                    <a:p>
                      <a:pPr algn="l" defTabSz="914400"/>
                      <a:r>
                        <a:rPr b="0" i="0" strike="noStrike" dirty="0"/>
                        <a:t>TabOrder</a:t>
                      </a:r>
                    </a:p>
                  </a:txBody>
                  <a:tcPr horzOverflow="overflow"/>
                </a:tc>
              </a:tr>
              <a:tr h="508000">
                <a:tc>
                  <a:txBody>
                    <a:bodyPr/>
                    <a:lstStyle/>
                    <a:p>
                      <a:pPr algn="l" defTabSz="914400"/>
                      <a:r>
                        <a:rPr b="0" i="0" strike="noStrike" dirty="0"/>
                        <a:t>RunDialog</a:t>
                      </a:r>
                    </a:p>
                  </a:txBody>
                  <a:tcPr horzOverflow="overflow"/>
                </a:tc>
              </a:tr>
            </a:tbl>
          </a:graphicData>
        </a:graphic>
      </p:graphicFrame>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FormControlCombinationListEdit</a:t>
                      </a:r>
                    </a:p>
                  </a:txBody>
                  <a:tcPr horzOverflow="overflow"/>
                </a:tc>
              </a:tr>
              <a:tr h="508000">
                <a:tc>
                  <a:txBody>
                    <a:bodyPr/>
                    <a:lstStyle/>
                    <a:p>
                      <a:pPr algn="l" defTabSz="914400"/>
                      <a:r>
                        <a:rPr b="0" i="0" strike="noStrike" dirty="0"/>
                        <a:t>FormControlCombinationDropDownEdit</a:t>
                      </a:r>
                    </a:p>
                  </a:txBody>
                  <a:tcPr horzOverflow="overflow"/>
                </a:tc>
              </a:tr>
              <a:tr h="508000">
                <a:tc>
                  <a:txBody>
                    <a:bodyPr/>
                    <a:lstStyle/>
                    <a:p>
                      <a:pPr algn="l" defTabSz="914400"/>
                      <a:r>
                        <a:rPr b="0" i="0" strike="noStrike" dirty="0"/>
                        <a:t>FormControlLabel</a:t>
                      </a:r>
                    </a:p>
                  </a:txBody>
                  <a:tcPr horzOverflow="overflow"/>
                </a:tc>
              </a:tr>
              <a:tr h="508000">
                <a:tc>
                  <a:txBody>
                    <a:bodyPr/>
                    <a:lstStyle/>
                    <a:p>
                      <a:pPr algn="l" defTabSz="914400"/>
                      <a:r>
                        <a:rPr b="0" i="0" strike="noStrike" dirty="0"/>
                        <a:t>Delete</a:t>
                      </a:r>
                    </a:p>
                  </a:txBody>
                  <a:tcPr horzOverflow="overflow"/>
                </a:tc>
              </a:tr>
              <a:tr h="508000">
                <a:tc>
                  <a:txBody>
                    <a:bodyPr/>
                    <a:lstStyle/>
                    <a:p>
                      <a:pPr algn="l" defTabSz="914400"/>
                      <a:r>
                        <a:rPr b="0" i="0" strike="noStrike" dirty="0"/>
                        <a:t>Fish</a:t>
                      </a:r>
                    </a:p>
                  </a:txBody>
                  <a:tcPr horzOverflow="overflow"/>
                </a:tc>
              </a:tr>
              <a:tr h="508000">
                <a:tc>
                  <a:txBody>
                    <a:bodyPr/>
                    <a:lstStyle/>
                    <a:p>
                      <a:pPr algn="l" defTabSz="914400"/>
                      <a:r>
                        <a:rPr b="0" i="0" strike="noStrike" dirty="0"/>
                        <a:t>Coffee</a:t>
                      </a:r>
                    </a:p>
                  </a:txBody>
                  <a:tcPr horzOverflow="overflow"/>
                </a:tc>
              </a:tr>
              <a:tr h="508000">
                <a:tc>
                  <a:txBody>
                    <a:bodyPr/>
                    <a:lstStyle/>
                    <a:p>
                      <a:pPr algn="l" defTabSz="914400"/>
                      <a:r>
                        <a:rPr b="0" i="0" strike="noStrike" dirty="0"/>
                        <a:t>Heart</a:t>
                      </a:r>
                    </a:p>
                  </a:txBody>
                  <a:tcPr horzOverflow="overflow"/>
                </a:tc>
              </a:tr>
              <a:tr h="508000">
                <a:tc>
                  <a:txBody>
                    <a:bodyPr/>
                    <a:lstStyle/>
                    <a:p>
                      <a:pPr algn="l" defTabSz="914400"/>
                      <a:r>
                        <a:rPr b="0" i="0" strike="noStrike" dirty="0"/>
                        <a:t>Diamond</a:t>
                      </a:r>
                    </a:p>
                  </a:txBody>
                  <a:tcPr horzOverflow="overflow"/>
                </a:tc>
              </a:tr>
              <a:tr h="508000">
                <a:tc>
                  <a:txBody>
                    <a:bodyPr/>
                    <a:lstStyle/>
                    <a:p>
                      <a:pPr algn="l" defTabSz="914400"/>
                      <a:r>
                        <a:rPr b="0" i="0" strike="noStrike" dirty="0"/>
                        <a:t>Spade</a:t>
                      </a:r>
                    </a:p>
                  </a:txBody>
                  <a:tcPr horzOverflow="overflow"/>
                </a:tc>
              </a:tr>
              <a:tr h="508000">
                <a:tc>
                  <a:txBody>
                    <a:bodyPr/>
                    <a:lstStyle/>
                    <a:p>
                      <a:pPr algn="l" defTabSz="914400"/>
                      <a:r>
                        <a:rPr b="0" i="0" strike="noStrike" dirty="0"/>
                        <a:t>Club</a:t>
                      </a:r>
                    </a:p>
                  </a:txBody>
                  <a:tcPr horzOverflow="overflow"/>
                </a:tc>
              </a:tr>
            </a:tbl>
          </a:graphicData>
        </a:graphic>
      </p:graphicFrame>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ViewSheetGridlines</a:t>
                      </a:r>
                    </a:p>
                  </a:txBody>
                  <a:tcPr horzOverflow="overflow"/>
                </a:tc>
              </a:tr>
              <a:tr h="508000">
                <a:tc>
                  <a:txBody>
                    <a:bodyPr/>
                    <a:lstStyle/>
                    <a:p>
                      <a:pPr algn="l" defTabSz="914400"/>
                      <a:r>
                        <a:rPr b="0" i="0" strike="noStrike" dirty="0"/>
                        <a:t>TracePrecedents</a:t>
                      </a:r>
                    </a:p>
                  </a:txBody>
                  <a:tcPr horzOverflow="overflow"/>
                </a:tc>
              </a:tr>
              <a:tr h="508000">
                <a:tc>
                  <a:txBody>
                    <a:bodyPr/>
                    <a:lstStyle/>
                    <a:p>
                      <a:pPr algn="l" defTabSz="914400"/>
                      <a:r>
                        <a:rPr b="0" i="0" strike="noStrike" dirty="0"/>
                        <a:t>Info</a:t>
                      </a:r>
                    </a:p>
                  </a:txBody>
                  <a:tcPr horzOverflow="overflow"/>
                </a:tc>
              </a:tr>
              <a:tr h="508000">
                <a:tc>
                  <a:txBody>
                    <a:bodyPr/>
                    <a:lstStyle/>
                    <a:p>
                      <a:pPr algn="l" defTabSz="914400"/>
                      <a:r>
                        <a:rPr b="0" i="0" strike="noStrike" dirty="0"/>
                        <a:t>CodeEdit</a:t>
                      </a:r>
                    </a:p>
                  </a:txBody>
                  <a:tcPr horzOverflow="overflow"/>
                </a:tc>
              </a:tr>
              <a:tr h="508000">
                <a:tc>
                  <a:txBody>
                    <a:bodyPr/>
                    <a:lstStyle/>
                    <a:p>
                      <a:pPr algn="l" defTabSz="914400"/>
                      <a:r>
                        <a:rPr b="0" i="0" strike="noStrike" dirty="0"/>
                        <a:t>InsertDialog</a:t>
                      </a:r>
                    </a:p>
                  </a:txBody>
                  <a:tcPr horzOverflow="overflow"/>
                </a:tc>
              </a:tr>
              <a:tr h="508000">
                <a:tc>
                  <a:txBody>
                    <a:bodyPr/>
                    <a:lstStyle/>
                    <a:p>
                      <a:pPr algn="l" defTabSz="914400"/>
                      <a:r>
                        <a:rPr b="0" i="0" strike="noStrike" dirty="0"/>
                        <a:t>ApplyFilter</a:t>
                      </a:r>
                    </a:p>
                  </a:txBody>
                  <a:tcPr horzOverflow="overflow"/>
                </a:tc>
              </a:tr>
              <a:tr h="508000">
                <a:tc>
                  <a:txBody>
                    <a:bodyPr/>
                    <a:lstStyle/>
                    <a:p>
                      <a:pPr algn="l" defTabSz="914400"/>
                      <a:r>
                        <a:rPr b="0" i="0" strike="noStrike" dirty="0"/>
                        <a:t>DatasheetView</a:t>
                      </a:r>
                    </a:p>
                  </a:txBody>
                  <a:tcPr horzOverflow="overflow"/>
                </a:tc>
              </a:tr>
              <a:tr h="508000">
                <a:tc>
                  <a:txBody>
                    <a:bodyPr/>
                    <a:lstStyle/>
                    <a:p>
                      <a:pPr algn="l" defTabSz="914400"/>
                      <a:r>
                        <a:rPr b="0" i="0" strike="noStrike" dirty="0"/>
                        <a:t>SortAndFilterAdvanced</a:t>
                      </a:r>
                    </a:p>
                  </a:txBody>
                  <a:tcPr horzOverflow="overflow"/>
                </a:tc>
              </a:tr>
              <a:tr h="508000">
                <a:tc>
                  <a:txBody>
                    <a:bodyPr/>
                    <a:lstStyle/>
                    <a:p>
                      <a:pPr algn="l" defTabSz="914400"/>
                      <a:r>
                        <a:rPr b="0" i="0" strike="noStrike" dirty="0"/>
                        <a:t>ControlSubFormReport</a:t>
                      </a:r>
                    </a:p>
                  </a:txBody>
                  <a:tcPr horzOverflow="overflow"/>
                </a:tc>
              </a:tr>
              <a:tr h="508000">
                <a:tc>
                  <a:txBody>
                    <a:bodyPr/>
                    <a:lstStyle/>
                    <a:p>
                      <a:pPr algn="l" defTabSz="914400"/>
                      <a:r>
                        <a:rPr b="0" i="0" strike="noStrike" dirty="0"/>
                        <a:t>FieldList</a:t>
                      </a:r>
                    </a:p>
                  </a:txBody>
                  <a:tcPr horzOverflow="overflow"/>
                </a:tc>
              </a:tr>
            </a:tbl>
          </a:graphicData>
        </a:graphic>
      </p:graphicFrame>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ViewsFormView</a:t>
                      </a:r>
                    </a:p>
                  </a:txBody>
                  <a:tcPr horzOverflow="overflow"/>
                </a:tc>
              </a:tr>
              <a:tr h="508000">
                <a:tc>
                  <a:txBody>
                    <a:bodyPr/>
                    <a:lstStyle/>
                    <a:p>
                      <a:pPr algn="l" defTabSz="914400"/>
                      <a:r>
                        <a:rPr b="0" i="0" strike="noStrike" dirty="0"/>
                        <a:t>Grouping</a:t>
                      </a:r>
                    </a:p>
                  </a:txBody>
                  <a:tcPr horzOverflow="overflow"/>
                </a:tc>
              </a:tr>
              <a:tr h="508000">
                <a:tc>
                  <a:txBody>
                    <a:bodyPr/>
                    <a:lstStyle/>
                    <a:p>
                      <a:pPr algn="l" defTabSz="914400"/>
                      <a:r>
                        <a:rPr b="0" i="0" strike="noStrike" dirty="0"/>
                        <a:t>AdpPrimaryKey</a:t>
                      </a:r>
                    </a:p>
                  </a:txBody>
                  <a:tcPr horzOverflow="overflow"/>
                </a:tc>
              </a:tr>
              <a:tr h="508000">
                <a:tc>
                  <a:txBody>
                    <a:bodyPr/>
                    <a:lstStyle/>
                    <a:p>
                      <a:pPr algn="l" defTabSz="914400"/>
                      <a:r>
                        <a:rPr b="0" i="0" strike="noStrike" dirty="0"/>
                        <a:t>ControlBoundObjectFrame</a:t>
                      </a:r>
                    </a:p>
                  </a:txBody>
                  <a:tcPr horzOverflow="overflow"/>
                </a:tc>
              </a:tr>
              <a:tr h="508000">
                <a:tc>
                  <a:txBody>
                    <a:bodyPr/>
                    <a:lstStyle/>
                    <a:p>
                      <a:pPr algn="l" defTabSz="914400"/>
                      <a:r>
                        <a:rPr b="0" i="0" strike="noStrike" dirty="0"/>
                        <a:t>ControlUnboundObjectFrame</a:t>
                      </a:r>
                    </a:p>
                  </a:txBody>
                  <a:tcPr horzOverflow="overflow"/>
                </a:tc>
              </a:tr>
              <a:tr h="508000">
                <a:tc>
                  <a:txBody>
                    <a:bodyPr/>
                    <a:lstStyle/>
                    <a:p>
                      <a:pPr algn="l" defTabSz="914400"/>
                      <a:r>
                        <a:rPr b="0" i="0" strike="noStrike" dirty="0"/>
                        <a:t>PageBreakInsertOrRemove</a:t>
                      </a:r>
                    </a:p>
                  </a:txBody>
                  <a:tcPr horzOverflow="overflow"/>
                </a:tc>
              </a:tr>
              <a:tr h="508000">
                <a:tc>
                  <a:txBody>
                    <a:bodyPr/>
                    <a:lstStyle/>
                    <a:p>
                      <a:pPr algn="l" defTabSz="914400"/>
                      <a:r>
                        <a:rPr b="0" i="0" strike="noStrike" dirty="0"/>
                        <a:t>PrintSetupDialog</a:t>
                      </a:r>
                    </a:p>
                  </a:txBody>
                  <a:tcPr horzOverflow="overflow"/>
                </a:tc>
              </a:tr>
              <a:tr h="508000">
                <a:tc>
                  <a:txBody>
                    <a:bodyPr/>
                    <a:lstStyle/>
                    <a:p>
                      <a:pPr algn="l" defTabSz="914400"/>
                      <a:r>
                        <a:rPr b="0" i="0" strike="noStrike" dirty="0"/>
                        <a:t>CreateFormInDesignView</a:t>
                      </a:r>
                    </a:p>
                  </a:txBody>
                  <a:tcPr horzOverflow="overflow"/>
                </a:tc>
              </a:tr>
              <a:tr h="508000">
                <a:tc>
                  <a:txBody>
                    <a:bodyPr/>
                    <a:lstStyle/>
                    <a:p>
                      <a:pPr algn="l" defTabSz="914400"/>
                      <a:r>
                        <a:rPr b="0" i="0" strike="noStrike" dirty="0"/>
                        <a:t>CreateQueryFromWizard</a:t>
                      </a:r>
                    </a:p>
                  </a:txBody>
                  <a:tcPr horzOverflow="overflow"/>
                </a:tc>
              </a:tr>
              <a:tr h="508000">
                <a:tc>
                  <a:txBody>
                    <a:bodyPr/>
                    <a:lstStyle/>
                    <a:p>
                      <a:pPr algn="l" defTabSz="914400"/>
                      <a:r>
                        <a:rPr b="0" i="0" strike="noStrike" dirty="0"/>
                        <a:t>CreateReportInDesignView</a:t>
                      </a:r>
                    </a:p>
                  </a:txBody>
                  <a:tcPr horzOverflow="overflow"/>
                </a:tc>
              </a:tr>
            </a:tbl>
          </a:graphicData>
        </a:graphic>
      </p:graphicFrame>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MacroConditions</a:t>
                      </a:r>
                    </a:p>
                  </a:txBody>
                  <a:tcPr horzOverflow="overflow"/>
                </a:tc>
              </a:tr>
              <a:tr h="508000">
                <a:tc>
                  <a:txBody>
                    <a:bodyPr/>
                    <a:lstStyle/>
                    <a:p>
                      <a:pPr algn="l" defTabSz="914400"/>
                      <a:r>
                        <a:rPr b="0" i="0" strike="noStrike" dirty="0"/>
                        <a:t>MacroNames</a:t>
                      </a:r>
                    </a:p>
                  </a:txBody>
                  <a:tcPr horzOverflow="overflow"/>
                </a:tc>
              </a:tr>
              <a:tr h="508000">
                <a:tc>
                  <a:txBody>
                    <a:bodyPr/>
                    <a:lstStyle/>
                    <a:p>
                      <a:pPr algn="l" defTabSz="914400"/>
                      <a:r>
                        <a:rPr b="0" i="0" strike="noStrike" dirty="0"/>
                        <a:t>ControlToggleButton</a:t>
                      </a:r>
                    </a:p>
                  </a:txBody>
                  <a:tcPr horzOverflow="overflow"/>
                </a:tc>
              </a:tr>
              <a:tr h="508000">
                <a:tc>
                  <a:txBody>
                    <a:bodyPr/>
                    <a:lstStyle/>
                    <a:p>
                      <a:pPr algn="l" defTabSz="914400"/>
                      <a:r>
                        <a:rPr b="0" i="0" strike="noStrike" dirty="0"/>
                        <a:t>DatabaseRelationships</a:t>
                      </a:r>
                    </a:p>
                  </a:txBody>
                  <a:tcPr horzOverflow="overflow"/>
                </a:tc>
              </a:tr>
              <a:tr h="508000">
                <a:tc>
                  <a:txBody>
                    <a:bodyPr/>
                    <a:lstStyle/>
                    <a:p>
                      <a:pPr algn="l" defTabSz="914400"/>
                      <a:r>
                        <a:rPr b="0" i="0" strike="noStrike" dirty="0"/>
                        <a:t>TableIndexes</a:t>
                      </a:r>
                    </a:p>
                  </a:txBody>
                  <a:tcPr horzOverflow="overflow"/>
                </a:tc>
              </a:tr>
              <a:tr h="508000">
                <a:tc>
                  <a:txBody>
                    <a:bodyPr/>
                    <a:lstStyle/>
                    <a:p>
                      <a:pPr algn="l" defTabSz="914400"/>
                      <a:r>
                        <a:rPr b="0" i="0" strike="noStrike" dirty="0"/>
                        <a:t>ViewsAdpDiagramSqlView</a:t>
                      </a:r>
                    </a:p>
                  </a:txBody>
                  <a:tcPr horzOverflow="overflow"/>
                </a:tc>
              </a:tr>
              <a:tr h="508000">
                <a:tc>
                  <a:txBody>
                    <a:bodyPr/>
                    <a:lstStyle/>
                    <a:p>
                      <a:pPr algn="l" defTabSz="914400"/>
                      <a:r>
                        <a:rPr b="0" i="0" strike="noStrike" dirty="0"/>
                        <a:t>QueryTableNamesShowHide</a:t>
                      </a:r>
                    </a:p>
                  </a:txBody>
                  <a:tcPr horzOverflow="overflow"/>
                </a:tc>
              </a:tr>
              <a:tr h="508000">
                <a:tc>
                  <a:txBody>
                    <a:bodyPr/>
                    <a:lstStyle/>
                    <a:p>
                      <a:pPr algn="l" defTabSz="914400"/>
                      <a:r>
                        <a:rPr b="0" i="0" strike="noStrike" dirty="0"/>
                        <a:t>QueryShowTable</a:t>
                      </a:r>
                    </a:p>
                  </a:txBody>
                  <a:tcPr horzOverflow="overflow"/>
                </a:tc>
              </a:tr>
              <a:tr h="508000">
                <a:tc>
                  <a:txBody>
                    <a:bodyPr/>
                    <a:lstStyle/>
                    <a:p>
                      <a:pPr algn="l" defTabSz="914400"/>
                      <a:r>
                        <a:rPr b="0" i="0" strike="noStrike" dirty="0"/>
                        <a:t>QuerySelectQueryType</a:t>
                      </a:r>
                    </a:p>
                  </a:txBody>
                  <a:tcPr horzOverflow="overflow"/>
                </a:tc>
              </a:tr>
              <a:tr h="508000">
                <a:tc>
                  <a:txBody>
                    <a:bodyPr/>
                    <a:lstStyle/>
                    <a:p>
                      <a:pPr algn="l" defTabSz="914400"/>
                      <a:r>
                        <a:rPr b="0" i="0" strike="noStrike" dirty="0"/>
                        <a:t>QueryCrosstab</a:t>
                      </a:r>
                    </a:p>
                  </a:txBody>
                  <a:tcPr horzOverflow="overflow"/>
                </a:tc>
              </a:tr>
            </a:tbl>
          </a:graphicData>
        </a:graphic>
      </p:graphicFrame>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QueryMakeTable</a:t>
                      </a:r>
                    </a:p>
                  </a:txBody>
                  <a:tcPr horzOverflow="overflow"/>
                </a:tc>
              </a:tr>
              <a:tr h="508000">
                <a:tc>
                  <a:txBody>
                    <a:bodyPr/>
                    <a:lstStyle/>
                    <a:p>
                      <a:pPr algn="l" defTabSz="914400"/>
                      <a:r>
                        <a:rPr b="0" i="0" strike="noStrike" dirty="0"/>
                        <a:t>QueryUpdate</a:t>
                      </a:r>
                    </a:p>
                  </a:txBody>
                  <a:tcPr horzOverflow="overflow"/>
                </a:tc>
              </a:tr>
              <a:tr h="508000">
                <a:tc>
                  <a:txBody>
                    <a:bodyPr/>
                    <a:lstStyle/>
                    <a:p>
                      <a:pPr algn="l" defTabSz="914400"/>
                      <a:r>
                        <a:rPr b="0" i="0" strike="noStrike" dirty="0"/>
                        <a:t>QueryAppend</a:t>
                      </a:r>
                    </a:p>
                  </a:txBody>
                  <a:tcPr horzOverflow="overflow"/>
                </a:tc>
              </a:tr>
              <a:tr h="508000">
                <a:tc>
                  <a:txBody>
                    <a:bodyPr/>
                    <a:lstStyle/>
                    <a:p>
                      <a:pPr algn="l" defTabSz="914400"/>
                      <a:r>
                        <a:rPr b="0" i="0" strike="noStrike" dirty="0"/>
                        <a:t>QueryDelete</a:t>
                      </a:r>
                    </a:p>
                  </a:txBody>
                  <a:tcPr horzOverflow="overflow"/>
                </a:tc>
              </a:tr>
              <a:tr h="508000">
                <a:tc>
                  <a:txBody>
                    <a:bodyPr/>
                    <a:lstStyle/>
                    <a:p>
                      <a:pPr algn="l" defTabSz="914400"/>
                      <a:r>
                        <a:rPr b="0" i="0" strike="noStrike" dirty="0"/>
                        <a:t>QueryParameters</a:t>
                      </a:r>
                    </a:p>
                  </a:txBody>
                  <a:tcPr horzOverflow="overflow"/>
                </a:tc>
              </a:tr>
              <a:tr h="508000">
                <a:tc>
                  <a:txBody>
                    <a:bodyPr/>
                    <a:lstStyle/>
                    <a:p>
                      <a:pPr algn="l" defTabSz="914400"/>
                      <a:r>
                        <a:rPr b="0" i="0" strike="noStrike" dirty="0"/>
                        <a:t>RecordsSaveRecord</a:t>
                      </a:r>
                    </a:p>
                  </a:txBody>
                  <a:tcPr horzOverflow="overflow"/>
                </a:tc>
              </a:tr>
              <a:tr h="508000">
                <a:tc>
                  <a:txBody>
                    <a:bodyPr/>
                    <a:lstStyle/>
                    <a:p>
                      <a:pPr algn="l" defTabSz="914400"/>
                      <a:r>
                        <a:rPr b="0" i="0" strike="noStrike" dirty="0"/>
                        <a:t>GoToNewRecord</a:t>
                      </a:r>
                    </a:p>
                  </a:txBody>
                  <a:tcPr horzOverflow="overflow"/>
                </a:tc>
              </a:tr>
              <a:tr h="508000">
                <a:tc>
                  <a:txBody>
                    <a:bodyPr/>
                    <a:lstStyle/>
                    <a:p>
                      <a:pPr algn="l" defTabSz="914400"/>
                      <a:r>
                        <a:rPr b="0" i="0" strike="noStrike" dirty="0"/>
                        <a:t>RowHeight</a:t>
                      </a:r>
                    </a:p>
                  </a:txBody>
                  <a:tcPr horzOverflow="overflow"/>
                </a:tc>
              </a:tr>
              <a:tr h="508000">
                <a:tc>
                  <a:txBody>
                    <a:bodyPr/>
                    <a:lstStyle/>
                    <a:p>
                      <a:pPr algn="l" defTabSz="914400"/>
                      <a:r>
                        <a:rPr b="0" i="0" strike="noStrike" dirty="0"/>
                        <a:t>ColumnWidth</a:t>
                      </a:r>
                    </a:p>
                  </a:txBody>
                  <a:tcPr horzOverflow="overflow"/>
                </a:tc>
              </a:tr>
              <a:tr h="508000">
                <a:tc>
                  <a:txBody>
                    <a:bodyPr/>
                    <a:lstStyle/>
                    <a:p>
                      <a:pPr algn="l" defTabSz="914400"/>
                      <a:r>
                        <a:rPr b="0" i="0" strike="noStrike" dirty="0"/>
                        <a:t>RecordsFreezeColumns</a:t>
                      </a:r>
                    </a:p>
                  </a:txBody>
                  <a:tcPr horzOverflow="overflow"/>
                </a:tc>
              </a:tr>
            </a:tbl>
          </a:graphicData>
        </a:graphic>
      </p:graphicFrame>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GridlinesGallery</a:t>
                      </a:r>
                    </a:p>
                  </a:txBody>
                  <a:tcPr horzOverflow="overflow"/>
                </a:tc>
              </a:tr>
              <a:tr h="508000">
                <a:tc>
                  <a:txBody>
                    <a:bodyPr/>
                    <a:lstStyle/>
                    <a:p>
                      <a:pPr algn="l" defTabSz="914400"/>
                      <a:r>
                        <a:rPr b="0" i="0" strike="noStrike" dirty="0"/>
                        <a:t>OleObjectctInsert</a:t>
                      </a:r>
                    </a:p>
                  </a:txBody>
                  <a:tcPr horzOverflow="overflow"/>
                </a:tc>
              </a:tr>
              <a:tr h="508000">
                <a:tc>
                  <a:txBody>
                    <a:bodyPr/>
                    <a:lstStyle/>
                    <a:p>
                      <a:pPr algn="l" defTabSz="914400"/>
                      <a:r>
                        <a:rPr b="0" i="0" strike="noStrike" dirty="0"/>
                        <a:t>ControlToolboxOutlook</a:t>
                      </a:r>
                    </a:p>
                  </a:txBody>
                  <a:tcPr horzOverflow="overflow"/>
                </a:tc>
              </a:tr>
              <a:tr h="508000">
                <a:tc>
                  <a:txBody>
                    <a:bodyPr/>
                    <a:lstStyle/>
                    <a:p>
                      <a:pPr algn="l" defTabSz="914400"/>
                      <a:r>
                        <a:rPr b="0" i="0" strike="noStrike" dirty="0"/>
                        <a:t>SnapToGrid</a:t>
                      </a:r>
                    </a:p>
                  </a:txBody>
                  <a:tcPr horzOverflow="overflow"/>
                </a:tc>
              </a:tr>
              <a:tr h="508000">
                <a:tc>
                  <a:txBody>
                    <a:bodyPr/>
                    <a:lstStyle/>
                    <a:p>
                      <a:pPr algn="l" defTabSz="914400"/>
                      <a:r>
                        <a:rPr b="0" i="0" strike="noStrike" dirty="0"/>
                        <a:t>SizeToFit</a:t>
                      </a:r>
                    </a:p>
                  </a:txBody>
                  <a:tcPr horzOverflow="overflow"/>
                </a:tc>
              </a:tr>
              <a:tr h="508000">
                <a:tc>
                  <a:txBody>
                    <a:bodyPr/>
                    <a:lstStyle/>
                    <a:p>
                      <a:pPr algn="l" defTabSz="914400"/>
                      <a:r>
                        <a:rPr b="0" i="0" strike="noStrike" dirty="0"/>
                        <a:t>PageHeaderOrFooterShowHide</a:t>
                      </a:r>
                    </a:p>
                  </a:txBody>
                  <a:tcPr horzOverflow="overflow"/>
                </a:tc>
              </a:tr>
              <a:tr h="508000">
                <a:tc>
                  <a:txBody>
                    <a:bodyPr/>
                    <a:lstStyle/>
                    <a:p>
                      <a:pPr algn="l" defTabSz="914400"/>
                      <a:r>
                        <a:rPr b="0" i="0" strike="noStrike" dirty="0"/>
                        <a:t>FormHeaderOrFooterShowHide</a:t>
                      </a:r>
                    </a:p>
                  </a:txBody>
                  <a:tcPr horzOverflow="overflow"/>
                </a:tc>
              </a:tr>
              <a:tr h="508000">
                <a:tc>
                  <a:txBody>
                    <a:bodyPr/>
                    <a:lstStyle/>
                    <a:p>
                      <a:pPr algn="l" defTabSz="914400"/>
                      <a:r>
                        <a:rPr b="0" i="0" strike="noStrike" dirty="0"/>
                        <a:t>First10RecordsPreview</a:t>
                      </a:r>
                    </a:p>
                  </a:txBody>
                  <a:tcPr horzOverflow="overflow"/>
                </a:tc>
              </a:tr>
              <a:tr h="508000">
                <a:tc>
                  <a:txBody>
                    <a:bodyPr/>
                    <a:lstStyle/>
                    <a:p>
                      <a:pPr algn="l" defTabSz="914400"/>
                      <a:r>
                        <a:rPr b="0" i="0" strike="noStrike" dirty="0"/>
                        <a:t>ControlSpecialEffectRaised</a:t>
                      </a:r>
                    </a:p>
                  </a:txBody>
                  <a:tcPr horzOverflow="overflow"/>
                </a:tc>
              </a:tr>
              <a:tr h="508000">
                <a:tc>
                  <a:txBody>
                    <a:bodyPr/>
                    <a:lstStyle/>
                    <a:p>
                      <a:pPr algn="l" defTabSz="914400"/>
                      <a:r>
                        <a:rPr b="0" i="0" strike="noStrike" dirty="0"/>
                        <a:t>ControlSpecialEffectSunken</a:t>
                      </a:r>
                    </a:p>
                  </a:txBody>
                  <a:tcPr horzOverflow="overflow"/>
                </a:tc>
              </a:tr>
            </a:tbl>
          </a:graphicData>
        </a:graphic>
      </p:graphicFrame>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AutoDial</a:t>
                      </a:r>
                    </a:p>
                  </a:txBody>
                  <a:tcPr horzOverflow="overflow"/>
                </a:tc>
              </a:tr>
              <a:tr h="508000">
                <a:tc>
                  <a:txBody>
                    <a:bodyPr/>
                    <a:lstStyle/>
                    <a:p>
                      <a:pPr algn="l" defTabSz="914400"/>
                      <a:r>
                        <a:rPr b="0" i="0" strike="noStrike" dirty="0"/>
                        <a:t>FindNext</a:t>
                      </a:r>
                    </a:p>
                  </a:txBody>
                  <a:tcPr horzOverflow="overflow"/>
                </a:tc>
              </a:tr>
              <a:tr h="508000">
                <a:tc>
                  <a:txBody>
                    <a:bodyPr/>
                    <a:lstStyle/>
                    <a:p>
                      <a:pPr algn="l" defTabSz="914400"/>
                      <a:r>
                        <a:rPr b="0" i="0" strike="noStrike" dirty="0"/>
                        <a:t>PasteDuplicate</a:t>
                      </a:r>
                    </a:p>
                  </a:txBody>
                  <a:tcPr horzOverflow="overflow"/>
                </a:tc>
              </a:tr>
              <a:tr h="508000">
                <a:tc>
                  <a:txBody>
                    <a:bodyPr/>
                    <a:lstStyle/>
                    <a:p>
                      <a:pPr algn="l" defTabSz="914400"/>
                      <a:r>
                        <a:rPr b="0" i="0" strike="noStrike" dirty="0"/>
                        <a:t>DatabasePermissions</a:t>
                      </a:r>
                    </a:p>
                  </a:txBody>
                  <a:tcPr horzOverflow="overflow"/>
                </a:tc>
              </a:tr>
              <a:tr h="508000">
                <a:tc>
                  <a:txBody>
                    <a:bodyPr/>
                    <a:lstStyle/>
                    <a:p>
                      <a:pPr algn="l" defTabSz="914400"/>
                      <a:r>
                        <a:rPr b="0" i="0" strike="noStrike" dirty="0"/>
                        <a:t>ControlAlignToGrid</a:t>
                      </a:r>
                    </a:p>
                  </a:txBody>
                  <a:tcPr horzOverflow="overflow"/>
                </a:tc>
              </a:tr>
              <a:tr h="508000">
                <a:tc>
                  <a:txBody>
                    <a:bodyPr/>
                    <a:lstStyle/>
                    <a:p>
                      <a:pPr algn="l" defTabSz="914400"/>
                      <a:r>
                        <a:rPr b="0" i="0" strike="noStrike" dirty="0"/>
                        <a:t>ControlSpecialEffectFlat</a:t>
                      </a:r>
                    </a:p>
                  </a:txBody>
                  <a:tcPr horzOverflow="overflow"/>
                </a:tc>
              </a:tr>
              <a:tr h="508000">
                <a:tc>
                  <a:txBody>
                    <a:bodyPr/>
                    <a:lstStyle/>
                    <a:p>
                      <a:pPr algn="l" defTabSz="914400"/>
                      <a:r>
                        <a:rPr b="0" i="0" strike="noStrike" dirty="0"/>
                        <a:t>CreateTableInDesignView</a:t>
                      </a:r>
                    </a:p>
                  </a:txBody>
                  <a:tcPr horzOverflow="overflow"/>
                </a:tc>
              </a:tr>
              <a:tr h="508000">
                <a:tc>
                  <a:txBody>
                    <a:bodyPr/>
                    <a:lstStyle/>
                    <a:p>
                      <a:pPr algn="l" defTabSz="914400"/>
                      <a:r>
                        <a:rPr b="0" i="0" strike="noStrike" dirty="0"/>
                        <a:t>MacroDefault</a:t>
                      </a:r>
                    </a:p>
                  </a:txBody>
                  <a:tcPr horzOverflow="overflow"/>
                </a:tc>
              </a:tr>
              <a:tr h="508000">
                <a:tc>
                  <a:txBody>
                    <a:bodyPr/>
                    <a:lstStyle/>
                    <a:p>
                      <a:pPr algn="l" defTabSz="914400"/>
                      <a:r>
                        <a:rPr b="0" i="0" strike="noStrike" dirty="0"/>
                        <a:t>ModuleInsert</a:t>
                      </a:r>
                    </a:p>
                  </a:txBody>
                  <a:tcPr horzOverflow="overflow"/>
                </a:tc>
              </a:tr>
              <a:tr h="508000">
                <a:tc>
                  <a:txBody>
                    <a:bodyPr/>
                    <a:lstStyle/>
                    <a:p>
                      <a:pPr algn="l" defTabSz="914400"/>
                      <a:r>
                        <a:rPr b="0" i="0" strike="noStrike" dirty="0"/>
                        <a:t>FilterToggleFilter</a:t>
                      </a:r>
                    </a:p>
                  </a:txBody>
                  <a:tcPr horzOverflow="overflow"/>
                </a:tc>
              </a:tr>
            </a:tbl>
          </a:graphicData>
        </a:graphic>
      </p:graphicFrame>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FilterClearAllFilters</a:t>
                      </a:r>
                    </a:p>
                  </a:txBody>
                  <a:tcPr horzOverflow="overflow"/>
                </a:tc>
              </a:tr>
              <a:tr h="508000">
                <a:tc>
                  <a:txBody>
                    <a:bodyPr/>
                    <a:lstStyle/>
                    <a:p>
                      <a:pPr algn="l" defTabSz="914400"/>
                      <a:r>
                        <a:rPr b="0" i="0" strike="noStrike" dirty="0"/>
                        <a:t>Head</a:t>
                      </a:r>
                    </a:p>
                  </a:txBody>
                  <a:tcPr horzOverflow="overflow"/>
                </a:tc>
              </a:tr>
              <a:tr h="508000">
                <a:tc>
                  <a:txBody>
                    <a:bodyPr/>
                    <a:lstStyle/>
                    <a:p>
                      <a:pPr algn="l" defTabSz="914400"/>
                      <a:r>
                        <a:rPr b="0" i="0" strike="noStrike" dirty="0"/>
                        <a:t>ReminderSound</a:t>
                      </a:r>
                    </a:p>
                  </a:txBody>
                  <a:tcPr horzOverflow="overflow"/>
                </a:tc>
              </a:tr>
              <a:tr h="508000">
                <a:tc>
                  <a:txBody>
                    <a:bodyPr/>
                    <a:lstStyle/>
                    <a:p>
                      <a:pPr algn="l" defTabSz="914400"/>
                      <a:r>
                        <a:rPr b="0" i="0" strike="noStrike" dirty="0"/>
                        <a:t>CreateModule</a:t>
                      </a:r>
                    </a:p>
                  </a:txBody>
                  <a:tcPr horzOverflow="overflow"/>
                </a:tc>
              </a:tr>
              <a:tr h="508000">
                <a:tc>
                  <a:txBody>
                    <a:bodyPr/>
                    <a:lstStyle/>
                    <a:p>
                      <a:pPr algn="l" defTabSz="914400"/>
                      <a:r>
                        <a:rPr b="0" i="0" strike="noStrike" dirty="0"/>
                        <a:t>RelationshipsDirectRelationships</a:t>
                      </a:r>
                    </a:p>
                  </a:txBody>
                  <a:tcPr horzOverflow="overflow"/>
                </a:tc>
              </a:tr>
              <a:tr h="508000">
                <a:tc>
                  <a:txBody>
                    <a:bodyPr/>
                    <a:lstStyle/>
                    <a:p>
                      <a:pPr algn="l" defTabSz="914400"/>
                      <a:r>
                        <a:rPr b="0" i="0" strike="noStrike" dirty="0"/>
                        <a:t>RelationshipDesignAllRelationships</a:t>
                      </a:r>
                    </a:p>
                  </a:txBody>
                  <a:tcPr horzOverflow="overflow"/>
                </a:tc>
              </a:tr>
              <a:tr h="508000">
                <a:tc>
                  <a:txBody>
                    <a:bodyPr/>
                    <a:lstStyle/>
                    <a:p>
                      <a:pPr algn="l" defTabSz="914400"/>
                      <a:r>
                        <a:rPr b="0" i="0" strike="noStrike" dirty="0"/>
                        <a:t>ControlWizards</a:t>
                      </a:r>
                    </a:p>
                  </a:txBody>
                  <a:tcPr horzOverflow="overflow"/>
                </a:tc>
              </a:tr>
              <a:tr h="508000">
                <a:tc>
                  <a:txBody>
                    <a:bodyPr/>
                    <a:lstStyle/>
                    <a:p>
                      <a:pPr algn="l" defTabSz="914400"/>
                      <a:r>
                        <a:rPr b="0" i="0" strike="noStrike" dirty="0"/>
                        <a:t>MergeToWord</a:t>
                      </a:r>
                    </a:p>
                  </a:txBody>
                  <a:tcPr horzOverflow="overflow"/>
                </a:tc>
              </a:tr>
              <a:tr h="508000">
                <a:tc>
                  <a:txBody>
                    <a:bodyPr/>
                    <a:lstStyle/>
                    <a:p>
                      <a:pPr algn="l" defTabSz="914400"/>
                      <a:r>
                        <a:rPr b="0" i="0" strike="noStrike" dirty="0"/>
                        <a:t>FilterAdvancedByForm</a:t>
                      </a:r>
                    </a:p>
                  </a:txBody>
                  <a:tcPr horzOverflow="overflow"/>
                </a:tc>
              </a:tr>
              <a:tr h="508000">
                <a:tc>
                  <a:txBody>
                    <a:bodyPr/>
                    <a:lstStyle/>
                    <a:p>
                      <a:pPr algn="l" defTabSz="914400"/>
                      <a:r>
                        <a:rPr b="0" i="0" strike="noStrike" dirty="0"/>
                        <a:t>CreateMacro</a:t>
                      </a:r>
                    </a:p>
                  </a:txBody>
                  <a:tcPr horzOverflow="overflow"/>
                </a:tc>
              </a:tr>
            </a:tbl>
          </a:graphicData>
        </a:graphic>
      </p:graphicFrame>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AutoFormatWizard</a:t>
                      </a:r>
                    </a:p>
                  </a:txBody>
                  <a:tcPr horzOverflow="overflow"/>
                </a:tc>
              </a:tr>
              <a:tr h="508000">
                <a:tc>
                  <a:txBody>
                    <a:bodyPr/>
                    <a:lstStyle/>
                    <a:p>
                      <a:pPr algn="l" defTabSz="914400"/>
                      <a:r>
                        <a:rPr b="0" i="0" strike="noStrike" dirty="0"/>
                        <a:t>PrintPreviewZoomTwoPages</a:t>
                      </a:r>
                    </a:p>
                  </a:txBody>
                  <a:tcPr horzOverflow="overflow"/>
                </a:tc>
              </a:tr>
              <a:tr h="508000">
                <a:tc>
                  <a:txBody>
                    <a:bodyPr/>
                    <a:lstStyle/>
                    <a:p>
                      <a:pPr algn="l" defTabSz="914400"/>
                      <a:r>
                        <a:rPr b="0" i="0" strike="noStrike" dirty="0"/>
                        <a:t>FilterBySelection</a:t>
                      </a:r>
                    </a:p>
                  </a:txBody>
                  <a:tcPr horzOverflow="overflow"/>
                </a:tc>
              </a:tr>
              <a:tr h="508000">
                <a:tc>
                  <a:txBody>
                    <a:bodyPr/>
                    <a:lstStyle/>
                    <a:p>
                      <a:pPr algn="l" defTabSz="914400"/>
                      <a:r>
                        <a:rPr b="0" i="0" strike="noStrike" dirty="0"/>
                        <a:t>RecordsDeleteRecord</a:t>
                      </a:r>
                    </a:p>
                  </a:txBody>
                  <a:tcPr horzOverflow="overflow"/>
                </a:tc>
              </a:tr>
              <a:tr h="508000">
                <a:tc>
                  <a:txBody>
                    <a:bodyPr/>
                    <a:lstStyle/>
                    <a:p>
                      <a:pPr algn="l" defTabSz="914400"/>
                      <a:r>
                        <a:rPr b="0" i="0" strike="noStrike" dirty="0"/>
                        <a:t>QueryBuilder</a:t>
                      </a:r>
                    </a:p>
                  </a:txBody>
                  <a:tcPr horzOverflow="overflow"/>
                </a:tc>
              </a:tr>
              <a:tr h="508000">
                <a:tc>
                  <a:txBody>
                    <a:bodyPr/>
                    <a:lstStyle/>
                    <a:p>
                      <a:pPr algn="l" defTabSz="914400"/>
                      <a:r>
                        <a:rPr b="0" i="0" strike="noStrike" dirty="0"/>
                        <a:t>DatabaseDocumenter</a:t>
                      </a:r>
                    </a:p>
                  </a:txBody>
                  <a:tcPr horzOverflow="overflow"/>
                </a:tc>
              </a:tr>
              <a:tr h="508000">
                <a:tc>
                  <a:txBody>
                    <a:bodyPr/>
                    <a:lstStyle/>
                    <a:p>
                      <a:pPr algn="l" defTabSz="914400"/>
                      <a:r>
                        <a:rPr b="0" i="0" strike="noStrike" dirty="0"/>
                        <a:t>DatabaseAnalyzePerformance</a:t>
                      </a:r>
                    </a:p>
                  </a:txBody>
                  <a:tcPr horzOverflow="overflow"/>
                </a:tc>
              </a:tr>
              <a:tr h="508000">
                <a:tc>
                  <a:txBody>
                    <a:bodyPr/>
                    <a:lstStyle/>
                    <a:p>
                      <a:pPr algn="l" defTabSz="914400"/>
                      <a:r>
                        <a:rPr b="0" i="0" strike="noStrike" dirty="0"/>
                        <a:t>DatabaseAnalyzeTable</a:t>
                      </a:r>
                    </a:p>
                  </a:txBody>
                  <a:tcPr horzOverflow="overflow"/>
                </a:tc>
              </a:tr>
              <a:tr h="508000">
                <a:tc>
                  <a:txBody>
                    <a:bodyPr/>
                    <a:lstStyle/>
                    <a:p>
                      <a:pPr algn="l" defTabSz="914400"/>
                      <a:r>
                        <a:rPr b="0" i="0" strike="noStrike" dirty="0"/>
                        <a:t>ObjectsAlignLeft</a:t>
                      </a:r>
                    </a:p>
                  </a:txBody>
                  <a:tcPr horzOverflow="overflow"/>
                </a:tc>
              </a:tr>
              <a:tr h="508000">
                <a:tc>
                  <a:txBody>
                    <a:bodyPr/>
                    <a:lstStyle/>
                    <a:p>
                      <a:pPr algn="l" defTabSz="914400"/>
                      <a:r>
                        <a:rPr b="0" i="0" strike="noStrike" dirty="0"/>
                        <a:t>ObjectsAlignRight</a:t>
                      </a:r>
                    </a:p>
                  </a:txBody>
                  <a:tcPr horzOverflow="overflow"/>
                </a:tc>
              </a:tr>
            </a:tbl>
          </a:graphicData>
        </a:graphic>
      </p:graphicFrame>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ObjectsAlignTop</a:t>
                      </a:r>
                    </a:p>
                  </a:txBody>
                  <a:tcPr horzOverflow="overflow"/>
                </a:tc>
              </a:tr>
              <a:tr h="508000">
                <a:tc>
                  <a:txBody>
                    <a:bodyPr/>
                    <a:lstStyle/>
                    <a:p>
                      <a:pPr algn="l" defTabSz="914400"/>
                      <a:r>
                        <a:rPr b="0" i="0" strike="noStrike" dirty="0"/>
                        <a:t>ObjectsAlignBottom</a:t>
                      </a:r>
                    </a:p>
                  </a:txBody>
                  <a:tcPr horzOverflow="overflow"/>
                </a:tc>
              </a:tr>
              <a:tr h="508000">
                <a:tc>
                  <a:txBody>
                    <a:bodyPr/>
                    <a:lstStyle/>
                    <a:p>
                      <a:pPr algn="l" defTabSz="914400"/>
                      <a:r>
                        <a:rPr b="0" i="0" strike="noStrike" dirty="0"/>
                        <a:t>ObjectsAlignCenterHorizontal</a:t>
                      </a:r>
                    </a:p>
                  </a:txBody>
                  <a:tcPr horzOverflow="overflow"/>
                </a:tc>
              </a:tr>
              <a:tr h="508000">
                <a:tc>
                  <a:txBody>
                    <a:bodyPr/>
                    <a:lstStyle/>
                    <a:p>
                      <a:pPr algn="l" defTabSz="914400"/>
                      <a:r>
                        <a:rPr b="0" i="0" strike="noStrike" dirty="0"/>
                        <a:t>ObjectsAlignMiddleVertical</a:t>
                      </a:r>
                    </a:p>
                  </a:txBody>
                  <a:tcPr horzOverflow="overflow"/>
                </a:tc>
              </a:tr>
              <a:tr h="508000">
                <a:tc>
                  <a:txBody>
                    <a:bodyPr/>
                    <a:lstStyle/>
                    <a:p>
                      <a:pPr algn="l" defTabSz="914400"/>
                      <a:r>
                        <a:rPr b="0" i="0" strike="noStrike" dirty="0"/>
                        <a:t>SlideNew</a:t>
                      </a:r>
                    </a:p>
                  </a:txBody>
                  <a:tcPr horzOverflow="overflow"/>
                </a:tc>
              </a:tr>
              <a:tr h="508000">
                <a:tc>
                  <a:txBody>
                    <a:bodyPr/>
                    <a:lstStyle/>
                    <a:p>
                      <a:pPr algn="l" defTabSz="914400"/>
                      <a:r>
                        <a:rPr b="0" i="0" strike="noStrike" dirty="0"/>
                        <a:t>ClipArtInsert</a:t>
                      </a:r>
                    </a:p>
                  </a:txBody>
                  <a:tcPr horzOverflow="overflow"/>
                </a:tc>
              </a:tr>
              <a:tr h="508000">
                <a:tc>
                  <a:txBody>
                    <a:bodyPr/>
                    <a:lstStyle/>
                    <a:p>
                      <a:pPr algn="l" defTabSz="914400"/>
                      <a:r>
                        <a:rPr b="0" i="0" strike="noStrike" dirty="0"/>
                        <a:t>CreateHandoutsInWord</a:t>
                      </a:r>
                    </a:p>
                  </a:txBody>
                  <a:tcPr horzOverflow="overflow"/>
                </a:tc>
              </a:tr>
              <a:tr h="508000">
                <a:tc>
                  <a:txBody>
                    <a:bodyPr/>
                    <a:lstStyle/>
                    <a:p>
                      <a:pPr algn="l" defTabSz="914400"/>
                      <a:r>
                        <a:rPr b="0" i="0" strike="noStrike" dirty="0"/>
                        <a:t>Shadow</a:t>
                      </a:r>
                    </a:p>
                  </a:txBody>
                  <a:tcPr horzOverflow="overflow"/>
                </a:tc>
              </a:tr>
              <a:tr h="508000">
                <a:tc>
                  <a:txBody>
                    <a:bodyPr/>
                    <a:lstStyle/>
                    <a:p>
                      <a:pPr algn="l" defTabSz="914400"/>
                      <a:r>
                        <a:rPr b="0" i="0" strike="noStrike" dirty="0"/>
                        <a:t>ObjectRotateFree</a:t>
                      </a:r>
                    </a:p>
                  </a:txBody>
                  <a:tcPr horzOverflow="overflow"/>
                </a:tc>
              </a:tr>
              <a:tr h="508000">
                <a:tc>
                  <a:txBody>
                    <a:bodyPr/>
                    <a:lstStyle/>
                    <a:p>
                      <a:pPr algn="l" defTabSz="914400"/>
                      <a:r>
                        <a:rPr b="0" i="0" strike="noStrike" dirty="0"/>
                        <a:t>ShapesMoreShapes</a:t>
                      </a:r>
                    </a:p>
                  </a:txBody>
                  <a:tcPr horzOverflow="overflow"/>
                </a:tc>
              </a:tr>
            </a:tbl>
          </a:graphicData>
        </a:graphic>
      </p:graphicFrame>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CopyToPersonalContacts</a:t>
                      </a:r>
                    </a:p>
                  </a:txBody>
                  <a:tcPr horzOverflow="overflow"/>
                </a:tc>
              </a:tr>
              <a:tr h="508000">
                <a:tc>
                  <a:txBody>
                    <a:bodyPr/>
                    <a:lstStyle/>
                    <a:p>
                      <a:pPr algn="l" defTabSz="914400"/>
                      <a:r>
                        <a:rPr b="0" i="0" strike="noStrike" dirty="0"/>
                        <a:t>ParagraphSpacingIncrease</a:t>
                      </a:r>
                    </a:p>
                  </a:txBody>
                  <a:tcPr horzOverflow="overflow"/>
                </a:tc>
              </a:tr>
              <a:tr h="508000">
                <a:tc>
                  <a:txBody>
                    <a:bodyPr/>
                    <a:lstStyle/>
                    <a:p>
                      <a:pPr algn="l" defTabSz="914400"/>
                      <a:r>
                        <a:rPr b="0" i="0" strike="noStrike" dirty="0"/>
                        <a:t>ParagraphSpacingDecrease</a:t>
                      </a:r>
                    </a:p>
                  </a:txBody>
                  <a:tcPr horzOverflow="overflow"/>
                </a:tc>
              </a:tr>
              <a:tr h="508000">
                <a:tc>
                  <a:txBody>
                    <a:bodyPr/>
                    <a:lstStyle/>
                    <a:p>
                      <a:pPr algn="l" defTabSz="914400"/>
                      <a:r>
                        <a:rPr b="0" i="0" strike="noStrike" dirty="0"/>
                        <a:t>SlideMasterMasterLayout</a:t>
                      </a:r>
                    </a:p>
                  </a:txBody>
                  <a:tcPr horzOverflow="overflow"/>
                </a:tc>
              </a:tr>
              <a:tr h="508000">
                <a:tc>
                  <a:txBody>
                    <a:bodyPr/>
                    <a:lstStyle/>
                    <a:p>
                      <a:pPr algn="l" defTabSz="914400"/>
                      <a:r>
                        <a:rPr b="0" i="0" strike="noStrike" dirty="0"/>
                        <a:t>OrganizationChartInsert</a:t>
                      </a:r>
                    </a:p>
                  </a:txBody>
                  <a:tcPr horzOverflow="overflow"/>
                </a:tc>
              </a:tr>
              <a:tr h="508000">
                <a:tc>
                  <a:txBody>
                    <a:bodyPr/>
                    <a:lstStyle/>
                    <a:p>
                      <a:pPr algn="l" defTabSz="914400"/>
                      <a:r>
                        <a:rPr b="0" i="0" strike="noStrike" dirty="0"/>
                        <a:t>CollapseAll</a:t>
                      </a:r>
                    </a:p>
                  </a:txBody>
                  <a:tcPr horzOverflow="overflow"/>
                </a:tc>
              </a:tr>
              <a:tr h="508000">
                <a:tc>
                  <a:txBody>
                    <a:bodyPr/>
                    <a:lstStyle/>
                    <a:p>
                      <a:pPr algn="l" defTabSz="914400"/>
                      <a:r>
                        <a:rPr b="0" i="0" strike="noStrike" dirty="0"/>
                        <a:t>OutlineExpandAll</a:t>
                      </a:r>
                    </a:p>
                  </a:txBody>
                  <a:tcPr horzOverflow="overflow"/>
                </a:tc>
              </a:tr>
              <a:tr h="508000">
                <a:tc>
                  <a:txBody>
                    <a:bodyPr/>
                    <a:lstStyle/>
                    <a:p>
                      <a:pPr algn="l" defTabSz="914400"/>
                      <a:r>
                        <a:rPr b="0" i="0" strike="noStrike" dirty="0"/>
                        <a:t>CombineCharacters</a:t>
                      </a:r>
                    </a:p>
                  </a:txBody>
                  <a:tcPr horzOverflow="overflow"/>
                </a:tc>
              </a:tr>
              <a:tr h="508000">
                <a:tc>
                  <a:txBody>
                    <a:bodyPr/>
                    <a:lstStyle/>
                    <a:p>
                      <a:pPr algn="l" defTabSz="914400"/>
                      <a:r>
                        <a:rPr b="0" i="0" strike="noStrike" dirty="0"/>
                        <a:t>DoubleStrikethrough</a:t>
                      </a:r>
                    </a:p>
                  </a:txBody>
                  <a:tcPr horzOverflow="overflow"/>
                </a:tc>
              </a:tr>
              <a:tr h="508000">
                <a:tc>
                  <a:txBody>
                    <a:bodyPr/>
                    <a:lstStyle/>
                    <a:p>
                      <a:pPr algn="l" defTabSz="914400"/>
                      <a:r>
                        <a:rPr b="0" i="0" strike="noStrike" dirty="0"/>
                        <a:t>QueryInsertColumn</a:t>
                      </a:r>
                    </a:p>
                  </a:txBody>
                  <a:tcPr horzOverflow="overflow"/>
                </a:tc>
              </a:tr>
            </a:tbl>
          </a:graphicData>
        </a:graphic>
      </p:graphicFrame>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EncryptMessage</a:t>
                      </a:r>
                    </a:p>
                  </a:txBody>
                  <a:tcPr horzOverflow="overflow"/>
                </a:tc>
              </a:tr>
              <a:tr h="508000">
                <a:tc>
                  <a:txBody>
                    <a:bodyPr/>
                    <a:lstStyle/>
                    <a:p>
                      <a:pPr algn="l" defTabSz="914400"/>
                      <a:r>
                        <a:rPr b="0" i="0" strike="noStrike" dirty="0"/>
                        <a:t>DigitallySignMessage</a:t>
                      </a:r>
                    </a:p>
                  </a:txBody>
                  <a:tcPr horzOverflow="overflow"/>
                </a:tc>
              </a:tr>
              <a:tr h="508000">
                <a:tc>
                  <a:txBody>
                    <a:bodyPr/>
                    <a:lstStyle/>
                    <a:p>
                      <a:pPr algn="l" defTabSz="914400"/>
                      <a:r>
                        <a:rPr b="0" i="0" strike="noStrike" dirty="0"/>
                        <a:t>CreateMailRule</a:t>
                      </a:r>
                    </a:p>
                  </a:txBody>
                  <a:tcPr horzOverflow="overflow"/>
                </a:tc>
              </a:tr>
              <a:tr h="508000">
                <a:tc>
                  <a:txBody>
                    <a:bodyPr/>
                    <a:lstStyle/>
                    <a:p>
                      <a:pPr algn="l" defTabSz="914400"/>
                      <a:r>
                        <a:rPr b="0" i="0" strike="noStrike" dirty="0"/>
                        <a:t>ViewNormalViewExcel</a:t>
                      </a:r>
                    </a:p>
                  </a:txBody>
                  <a:tcPr horzOverflow="overflow"/>
                </a:tc>
              </a:tr>
              <a:tr h="508000">
                <a:tc>
                  <a:txBody>
                    <a:bodyPr/>
                    <a:lstStyle/>
                    <a:p>
                      <a:pPr algn="l" defTabSz="914400"/>
                      <a:r>
                        <a:rPr b="0" i="0" strike="noStrike" dirty="0"/>
                        <a:t>ViewPageBreakPreviewView</a:t>
                      </a:r>
                    </a:p>
                  </a:txBody>
                  <a:tcPr horzOverflow="overflow"/>
                </a:tc>
              </a:tr>
              <a:tr h="508000">
                <a:tc>
                  <a:txBody>
                    <a:bodyPr/>
                    <a:lstStyle/>
                    <a:p>
                      <a:pPr algn="l" defTabSz="914400"/>
                      <a:r>
                        <a:rPr b="0" i="0" strike="noStrike" dirty="0"/>
                        <a:t>SlideHide</a:t>
                      </a:r>
                    </a:p>
                  </a:txBody>
                  <a:tcPr horzOverflow="overflow"/>
                </a:tc>
              </a:tr>
              <a:tr h="508000">
                <a:tc>
                  <a:txBody>
                    <a:bodyPr/>
                    <a:lstStyle/>
                    <a:p>
                      <a:pPr algn="l" defTabSz="914400"/>
                      <a:r>
                        <a:rPr b="0" i="0" strike="noStrike" dirty="0"/>
                        <a:t>AnimationCustom</a:t>
                      </a:r>
                    </a:p>
                  </a:txBody>
                  <a:tcPr horzOverflow="overflow"/>
                </a:tc>
              </a:tr>
              <a:tr h="508000">
                <a:tc>
                  <a:txBody>
                    <a:bodyPr/>
                    <a:lstStyle/>
                    <a:p>
                      <a:pPr algn="l" defTabSz="914400"/>
                      <a:r>
                        <a:rPr b="0" i="0" strike="noStrike" dirty="0"/>
                        <a:t>PictureCrop</a:t>
                      </a:r>
                    </a:p>
                  </a:txBody>
                  <a:tcPr horzOverflow="overflow"/>
                </a:tc>
              </a:tr>
              <a:tr h="508000">
                <a:tc>
                  <a:txBody>
                    <a:bodyPr/>
                    <a:lstStyle/>
                    <a:p>
                      <a:pPr algn="l" defTabSz="914400"/>
                      <a:r>
                        <a:rPr b="0" i="0" strike="noStrike" dirty="0"/>
                        <a:t>SlideShowRehearseTimings</a:t>
                      </a:r>
                    </a:p>
                  </a:txBody>
                  <a:tcPr horzOverflow="overflow"/>
                </a:tc>
              </a:tr>
              <a:tr h="508000">
                <a:tc>
                  <a:txBody>
                    <a:bodyPr/>
                    <a:lstStyle/>
                    <a:p>
                      <a:pPr algn="l" defTabSz="914400"/>
                      <a:r>
                        <a:rPr b="0" i="0" strike="noStrike" dirty="0"/>
                        <a:t>ViewSlideView</a:t>
                      </a:r>
                    </a:p>
                  </a:txBody>
                  <a:tcPr horzOverflow="overflow"/>
                </a:tc>
              </a:tr>
            </a:tbl>
          </a:graphicData>
        </a:graphic>
      </p:graphicFrame>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ViewOutlineView</a:t>
                      </a:r>
                    </a:p>
                  </a:txBody>
                  <a:tcPr horzOverflow="overflow"/>
                </a:tc>
              </a:tr>
              <a:tr h="508000">
                <a:tc>
                  <a:txBody>
                    <a:bodyPr/>
                    <a:lstStyle/>
                    <a:p>
                      <a:pPr algn="l" defTabSz="914400"/>
                      <a:r>
                        <a:rPr b="0" i="0" strike="noStrike" dirty="0"/>
                        <a:t>ViewSlideSorterView</a:t>
                      </a:r>
                    </a:p>
                  </a:txBody>
                  <a:tcPr horzOverflow="overflow"/>
                </a:tc>
              </a:tr>
              <a:tr h="508000">
                <a:tc>
                  <a:txBody>
                    <a:bodyPr/>
                    <a:lstStyle/>
                    <a:p>
                      <a:pPr algn="l" defTabSz="914400"/>
                      <a:r>
                        <a:rPr b="0" i="0" strike="noStrike" dirty="0"/>
                        <a:t>ViewNotesPageView</a:t>
                      </a:r>
                    </a:p>
                  </a:txBody>
                  <a:tcPr horzOverflow="overflow"/>
                </a:tc>
              </a:tr>
              <a:tr h="508000">
                <a:tc>
                  <a:txBody>
                    <a:bodyPr/>
                    <a:lstStyle/>
                    <a:p>
                      <a:pPr algn="l" defTabSz="914400"/>
                      <a:r>
                        <a:rPr b="0" i="0" strike="noStrike" dirty="0"/>
                        <a:t>ViewSlideShowView</a:t>
                      </a:r>
                    </a:p>
                  </a:txBody>
                  <a:tcPr horzOverflow="overflow"/>
                </a:tc>
              </a:tr>
              <a:tr h="508000">
                <a:tc>
                  <a:txBody>
                    <a:bodyPr/>
                    <a:lstStyle/>
                    <a:p>
                      <a:pPr algn="l" defTabSz="914400"/>
                      <a:r>
                        <a:rPr b="0" i="0" strike="noStrike" dirty="0"/>
                        <a:t>ViewSlideMasterView</a:t>
                      </a:r>
                    </a:p>
                  </a:txBody>
                  <a:tcPr horzOverflow="overflow"/>
                </a:tc>
              </a:tr>
              <a:tr h="508000">
                <a:tc>
                  <a:txBody>
                    <a:bodyPr/>
                    <a:lstStyle/>
                    <a:p>
                      <a:pPr algn="l" defTabSz="914400"/>
                      <a:r>
                        <a:rPr b="0" i="0" strike="noStrike" dirty="0"/>
                        <a:t>FileCloseAll</a:t>
                      </a:r>
                    </a:p>
                  </a:txBody>
                  <a:tcPr horzOverflow="overflow"/>
                </a:tc>
              </a:tr>
              <a:tr h="508000">
                <a:tc>
                  <a:txBody>
                    <a:bodyPr/>
                    <a:lstStyle/>
                    <a:p>
                      <a:pPr algn="l" defTabSz="914400"/>
                      <a:r>
                        <a:rPr b="0" i="0" strike="noStrike" dirty="0"/>
                        <a:t>FileSaveAs</a:t>
                      </a:r>
                    </a:p>
                  </a:txBody>
                  <a:tcPr horzOverflow="overflow"/>
                </a:tc>
              </a:tr>
              <a:tr h="508000">
                <a:tc>
                  <a:txBody>
                    <a:bodyPr/>
                    <a:lstStyle/>
                    <a:p>
                      <a:pPr algn="l" defTabSz="914400"/>
                      <a:r>
                        <a:rPr b="0" i="0" strike="noStrike" dirty="0"/>
                        <a:t>SaveAll</a:t>
                      </a:r>
                    </a:p>
                  </a:txBody>
                  <a:tcPr horzOverflow="overflow"/>
                </a:tc>
              </a:tr>
              <a:tr h="508000">
                <a:tc>
                  <a:txBody>
                    <a:bodyPr/>
                    <a:lstStyle/>
                    <a:p>
                      <a:pPr algn="l" defTabSz="914400"/>
                      <a:r>
                        <a:rPr b="0" i="0" strike="noStrike" dirty="0"/>
                        <a:t>AdvancedFileProperties</a:t>
                      </a:r>
                    </a:p>
                  </a:txBody>
                  <a:tcPr horzOverflow="overflow"/>
                </a:tc>
              </a:tr>
              <a:tr h="508000">
                <a:tc>
                  <a:txBody>
                    <a:bodyPr/>
                    <a:lstStyle/>
                    <a:p>
                      <a:pPr algn="l" defTabSz="914400"/>
                      <a:r>
                        <a:rPr b="0" i="0" strike="noStrike" dirty="0"/>
                        <a:t>DocumentTemplate</a:t>
                      </a:r>
                    </a:p>
                  </a:txBody>
                  <a:tcPr horzOverflow="overflow"/>
                </a:tc>
              </a:tr>
            </a:tbl>
          </a:graphicData>
        </a:graphic>
      </p:graphicFrame>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FileExit</a:t>
                      </a:r>
                    </a:p>
                  </a:txBody>
                  <a:tcPr horzOverflow="overflow"/>
                </a:tc>
              </a:tr>
              <a:tr h="508000">
                <a:tc>
                  <a:txBody>
                    <a:bodyPr/>
                    <a:lstStyle/>
                    <a:p>
                      <a:pPr algn="l" defTabSz="914400"/>
                      <a:r>
                        <a:rPr b="0" i="0" strike="noStrike" dirty="0"/>
                        <a:t>PasteSpecialDialog</a:t>
                      </a:r>
                    </a:p>
                  </a:txBody>
                  <a:tcPr horzOverflow="overflow"/>
                </a:tc>
              </a:tr>
              <a:tr h="508000">
                <a:tc>
                  <a:txBody>
                    <a:bodyPr/>
                    <a:lstStyle/>
                    <a:p>
                      <a:pPr algn="l" defTabSz="914400"/>
                      <a:r>
                        <a:rPr b="0" i="0" strike="noStrike" dirty="0"/>
                        <a:t>SelectAll</a:t>
                      </a:r>
                    </a:p>
                  </a:txBody>
                  <a:tcPr horzOverflow="overflow"/>
                </a:tc>
              </a:tr>
              <a:tr h="508000">
                <a:tc>
                  <a:txBody>
                    <a:bodyPr/>
                    <a:lstStyle/>
                    <a:p>
                      <a:pPr algn="l" defTabSz="914400"/>
                      <a:r>
                        <a:rPr b="0" i="0" strike="noStrike" dirty="0"/>
                        <a:t>GoTo</a:t>
                      </a:r>
                    </a:p>
                  </a:txBody>
                  <a:tcPr horzOverflow="overflow"/>
                </a:tc>
              </a:tr>
              <a:tr h="508000">
                <a:tc>
                  <a:txBody>
                    <a:bodyPr/>
                    <a:lstStyle/>
                    <a:p>
                      <a:pPr algn="l" defTabSz="914400"/>
                      <a:r>
                        <a:rPr b="0" i="0" strike="noStrike" dirty="0"/>
                        <a:t>BookmarkInsert</a:t>
                      </a:r>
                    </a:p>
                  </a:txBody>
                  <a:tcPr horzOverflow="overflow"/>
                </a:tc>
              </a:tr>
              <a:tr h="508000">
                <a:tc>
                  <a:txBody>
                    <a:bodyPr/>
                    <a:lstStyle/>
                    <a:p>
                      <a:pPr algn="l" defTabSz="914400"/>
                      <a:r>
                        <a:rPr b="0" i="0" strike="noStrike" dirty="0"/>
                        <a:t>FileLinksToFiles</a:t>
                      </a:r>
                    </a:p>
                  </a:txBody>
                  <a:tcPr horzOverflow="overflow"/>
                </a:tc>
              </a:tr>
              <a:tr h="508000">
                <a:tc>
                  <a:txBody>
                    <a:bodyPr/>
                    <a:lstStyle/>
                    <a:p>
                      <a:pPr algn="l" defTabSz="914400"/>
                      <a:r>
                        <a:rPr b="0" i="0" strike="noStrike" dirty="0"/>
                        <a:t>ViewOnlineLayoutViewClassic</a:t>
                      </a:r>
                    </a:p>
                  </a:txBody>
                  <a:tcPr horzOverflow="overflow"/>
                </a:tc>
              </a:tr>
              <a:tr h="508000">
                <a:tc>
                  <a:txBody>
                    <a:bodyPr/>
                    <a:lstStyle/>
                    <a:p>
                      <a:pPr algn="l" defTabSz="914400"/>
                      <a:r>
                        <a:rPr b="0" i="0" strike="noStrike" dirty="0"/>
                        <a:t>HeaderFooterInsert</a:t>
                      </a:r>
                    </a:p>
                  </a:txBody>
                  <a:tcPr horzOverflow="overflow"/>
                </a:tc>
              </a:tr>
              <a:tr h="508000">
                <a:tc>
                  <a:txBody>
                    <a:bodyPr/>
                    <a:lstStyle/>
                    <a:p>
                      <a:pPr algn="l" defTabSz="914400"/>
                      <a:r>
                        <a:rPr b="0" i="0" strike="noStrike" dirty="0"/>
                        <a:t>FootnotesEndnotesShow</a:t>
                      </a:r>
                    </a:p>
                  </a:txBody>
                  <a:tcPr horzOverflow="overflow"/>
                </a:tc>
              </a:tr>
              <a:tr h="508000">
                <a:tc>
                  <a:txBody>
                    <a:bodyPr/>
                    <a:lstStyle/>
                    <a:p>
                      <a:pPr algn="l" defTabSz="914400"/>
                      <a:r>
                        <a:rPr b="0" i="0" strike="noStrike" dirty="0"/>
                        <a:t>BreakInsertDialog</a:t>
                      </a:r>
                    </a:p>
                  </a:txBody>
                  <a:tcPr horzOverflow="overflow"/>
                </a:tc>
              </a:tr>
            </a:tbl>
          </a:graphicData>
        </a:graphic>
      </p:graphicFrame>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DateAndTimeInsert</a:t>
                      </a:r>
                    </a:p>
                  </a:txBody>
                  <a:tcPr horzOverflow="overflow"/>
                </a:tc>
              </a:tr>
              <a:tr h="508000">
                <a:tc>
                  <a:txBody>
                    <a:bodyPr/>
                    <a:lstStyle/>
                    <a:p>
                      <a:pPr algn="l" defTabSz="914400"/>
                      <a:r>
                        <a:rPr b="0" i="0" strike="noStrike" dirty="0"/>
                        <a:t>NumberInsert</a:t>
                      </a:r>
                    </a:p>
                  </a:txBody>
                  <a:tcPr horzOverflow="overflow"/>
                </a:tc>
              </a:tr>
              <a:tr h="508000">
                <a:tc>
                  <a:txBody>
                    <a:bodyPr/>
                    <a:lstStyle/>
                    <a:p>
                      <a:pPr algn="l" defTabSz="914400"/>
                      <a:r>
                        <a:rPr b="0" i="0" strike="noStrike" dirty="0"/>
                        <a:t>FieldInsert</a:t>
                      </a:r>
                    </a:p>
                  </a:txBody>
                  <a:tcPr horzOverflow="overflow"/>
                </a:tc>
              </a:tr>
              <a:tr h="508000">
                <a:tc>
                  <a:txBody>
                    <a:bodyPr/>
                    <a:lstStyle/>
                    <a:p>
                      <a:pPr algn="l" defTabSz="914400"/>
                      <a:r>
                        <a:rPr b="0" i="0" strike="noStrike" dirty="0"/>
                        <a:t>CaptionInsert</a:t>
                      </a:r>
                    </a:p>
                  </a:txBody>
                  <a:tcPr horzOverflow="overflow"/>
                </a:tc>
              </a:tr>
              <a:tr h="508000">
                <a:tc>
                  <a:txBody>
                    <a:bodyPr/>
                    <a:lstStyle/>
                    <a:p>
                      <a:pPr algn="l" defTabSz="914400"/>
                      <a:r>
                        <a:rPr b="0" i="0" strike="noStrike" dirty="0"/>
                        <a:t>CrossReferenceInsert</a:t>
                      </a:r>
                    </a:p>
                  </a:txBody>
                  <a:tcPr horzOverflow="overflow"/>
                </a:tc>
              </a:tr>
              <a:tr h="508000">
                <a:tc>
                  <a:txBody>
                    <a:bodyPr/>
                    <a:lstStyle/>
                    <a:p>
                      <a:pPr algn="l" defTabSz="914400"/>
                      <a:r>
                        <a:rPr b="0" i="0" strike="noStrike" dirty="0"/>
                        <a:t>TextFromFileInsert</a:t>
                      </a:r>
                    </a:p>
                  </a:txBody>
                  <a:tcPr horzOverflow="overflow"/>
                </a:tc>
              </a:tr>
              <a:tr h="508000">
                <a:tc>
                  <a:txBody>
                    <a:bodyPr/>
                    <a:lstStyle/>
                    <a:p>
                      <a:pPr algn="l" defTabSz="914400"/>
                      <a:r>
                        <a:rPr b="0" i="0" strike="noStrike" dirty="0"/>
                        <a:t>ParagraphDialog</a:t>
                      </a:r>
                    </a:p>
                  </a:txBody>
                  <a:tcPr horzOverflow="overflow"/>
                </a:tc>
              </a:tr>
              <a:tr h="508000">
                <a:tc>
                  <a:txBody>
                    <a:bodyPr/>
                    <a:lstStyle/>
                    <a:p>
                      <a:pPr algn="l" defTabSz="914400"/>
                      <a:r>
                        <a:rPr b="0" i="0" strike="noStrike" dirty="0"/>
                        <a:t>BordersShadingDialog</a:t>
                      </a:r>
                    </a:p>
                  </a:txBody>
                  <a:tcPr horzOverflow="overflow"/>
                </a:tc>
              </a:tr>
              <a:tr h="508000">
                <a:tc>
                  <a:txBody>
                    <a:bodyPr/>
                    <a:lstStyle/>
                    <a:p>
                      <a:pPr algn="l" defTabSz="914400"/>
                      <a:r>
                        <a:rPr b="0" i="0" strike="noStrike" dirty="0"/>
                        <a:t>TextDirectionOptionsDialog</a:t>
                      </a:r>
                    </a:p>
                  </a:txBody>
                  <a:tcPr horzOverflow="overflow"/>
                </a:tc>
              </a:tr>
              <a:tr h="508000">
                <a:tc>
                  <a:txBody>
                    <a:bodyPr/>
                    <a:lstStyle/>
                    <a:p>
                      <a:pPr algn="l" defTabSz="914400"/>
                      <a:r>
                        <a:rPr b="0" i="0" strike="noStrike" dirty="0"/>
                        <a:t>BulletsAndNumberingBulletsDialog</a:t>
                      </a:r>
                    </a:p>
                  </a:txBody>
                  <a:tcPr horzOverflow="overflow"/>
                </a:tc>
              </a:tr>
            </a:tbl>
          </a:graphicData>
        </a:graphic>
      </p:graphicFrame>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AutoFormatDialog</a:t>
                      </a:r>
                    </a:p>
                  </a:txBody>
                  <a:tcPr horzOverflow="overflow"/>
                </a:tc>
              </a:tr>
              <a:tr h="508000">
                <a:tc>
                  <a:txBody>
                    <a:bodyPr/>
                    <a:lstStyle/>
                    <a:p>
                      <a:pPr algn="l" defTabSz="914400"/>
                      <a:r>
                        <a:rPr b="0" i="0" strike="noStrike" dirty="0"/>
                        <a:t>SetLanguage</a:t>
                      </a:r>
                    </a:p>
                  </a:txBody>
                  <a:tcPr horzOverflow="overflow"/>
                </a:tc>
              </a:tr>
              <a:tr h="508000">
                <a:tc>
                  <a:txBody>
                    <a:bodyPr/>
                    <a:lstStyle/>
                    <a:p>
                      <a:pPr algn="l" defTabSz="914400"/>
                      <a:r>
                        <a:rPr b="0" i="0" strike="noStrike" dirty="0"/>
                        <a:t>WordCount</a:t>
                      </a:r>
                    </a:p>
                  </a:txBody>
                  <a:tcPr horzOverflow="overflow"/>
                </a:tc>
              </a:tr>
              <a:tr h="508000">
                <a:tc>
                  <a:txBody>
                    <a:bodyPr/>
                    <a:lstStyle/>
                    <a:p>
                      <a:pPr algn="l" defTabSz="914400"/>
                      <a:r>
                        <a:rPr b="0" i="0" strike="noStrike" dirty="0"/>
                        <a:t>AutoCorrect</a:t>
                      </a:r>
                    </a:p>
                  </a:txBody>
                  <a:tcPr horzOverflow="overflow"/>
                </a:tc>
              </a:tr>
              <a:tr h="508000">
                <a:tc>
                  <a:txBody>
                    <a:bodyPr/>
                    <a:lstStyle/>
                    <a:p>
                      <a:pPr algn="l" defTabSz="914400"/>
                      <a:r>
                        <a:rPr b="0" i="0" strike="noStrike" dirty="0"/>
                        <a:t>EnvelopesAndLabels</a:t>
                      </a:r>
                    </a:p>
                  </a:txBody>
                  <a:tcPr horzOverflow="overflow"/>
                </a:tc>
              </a:tr>
              <a:tr h="508000">
                <a:tc>
                  <a:txBody>
                    <a:bodyPr/>
                    <a:lstStyle/>
                    <a:p>
                      <a:pPr algn="l" defTabSz="914400"/>
                      <a:r>
                        <a:rPr b="0" i="0" strike="noStrike" dirty="0"/>
                        <a:t>LabelsDialog</a:t>
                      </a:r>
                    </a:p>
                  </a:txBody>
                  <a:tcPr horzOverflow="overflow"/>
                </a:tc>
              </a:tr>
              <a:tr h="508000">
                <a:tc>
                  <a:txBody>
                    <a:bodyPr/>
                    <a:lstStyle/>
                    <a:p>
                      <a:pPr algn="l" defTabSz="914400"/>
                      <a:r>
                        <a:rPr b="0" i="0" strike="noStrike" dirty="0"/>
                        <a:t>MergeCells</a:t>
                      </a:r>
                    </a:p>
                  </a:txBody>
                  <a:tcPr horzOverflow="overflow"/>
                </a:tc>
              </a:tr>
              <a:tr h="508000">
                <a:tc>
                  <a:txBody>
                    <a:bodyPr/>
                    <a:lstStyle/>
                    <a:p>
                      <a:pPr algn="l" defTabSz="914400"/>
                      <a:r>
                        <a:rPr b="0" i="0" strike="noStrike" dirty="0"/>
                        <a:t>SplitCells</a:t>
                      </a:r>
                    </a:p>
                  </a:txBody>
                  <a:tcPr horzOverflow="overflow"/>
                </a:tc>
              </a:tr>
              <a:tr h="508000">
                <a:tc>
                  <a:txBody>
                    <a:bodyPr/>
                    <a:lstStyle/>
                    <a:p>
                      <a:pPr algn="l" defTabSz="914400"/>
                      <a:r>
                        <a:rPr b="0" i="0" strike="noStrike" dirty="0"/>
                        <a:t>TableRowSelect</a:t>
                      </a:r>
                    </a:p>
                  </a:txBody>
                  <a:tcPr horzOverflow="overflow"/>
                </a:tc>
              </a:tr>
              <a:tr h="508000">
                <a:tc>
                  <a:txBody>
                    <a:bodyPr/>
                    <a:lstStyle/>
                    <a:p>
                      <a:pPr algn="l" defTabSz="914400"/>
                      <a:r>
                        <a:rPr b="0" i="0" strike="noStrike" dirty="0"/>
                        <a:t>TableColumnSelect</a:t>
                      </a:r>
                    </a:p>
                  </a:txBody>
                  <a:tcPr horzOverflow="overflow"/>
                </a:tc>
              </a:tr>
            </a:tbl>
          </a:graphicData>
        </a:graphic>
      </p:graphicFrame>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TableSelect</a:t>
                      </a:r>
                    </a:p>
                  </a:txBody>
                  <a:tcPr horzOverflow="overflow"/>
                </a:tc>
              </a:tr>
              <a:tr h="508000">
                <a:tc>
                  <a:txBody>
                    <a:bodyPr/>
                    <a:lstStyle/>
                    <a:p>
                      <a:pPr algn="l" defTabSz="914400"/>
                      <a:r>
                        <a:rPr b="0" i="0" strike="noStrike" dirty="0"/>
                        <a:t>TableRepeatHeaderRows</a:t>
                      </a:r>
                    </a:p>
                  </a:txBody>
                  <a:tcPr horzOverflow="overflow"/>
                </a:tc>
              </a:tr>
              <a:tr h="508000">
                <a:tc>
                  <a:txBody>
                    <a:bodyPr/>
                    <a:lstStyle/>
                    <a:p>
                      <a:pPr algn="l" defTabSz="914400"/>
                      <a:r>
                        <a:rPr b="0" i="0" strike="noStrike" dirty="0"/>
                        <a:t>ConvertTextToTable</a:t>
                      </a:r>
                    </a:p>
                  </a:txBody>
                  <a:tcPr horzOverflow="overflow"/>
                </a:tc>
              </a:tr>
              <a:tr h="508000">
                <a:tc>
                  <a:txBody>
                    <a:bodyPr/>
                    <a:lstStyle/>
                    <a:p>
                      <a:pPr algn="l" defTabSz="914400"/>
                      <a:r>
                        <a:rPr b="0" i="0" strike="noStrike" dirty="0"/>
                        <a:t>TableFormulaDialog</a:t>
                      </a:r>
                    </a:p>
                  </a:txBody>
                  <a:tcPr horzOverflow="overflow"/>
                </a:tc>
              </a:tr>
              <a:tr h="508000">
                <a:tc>
                  <a:txBody>
                    <a:bodyPr/>
                    <a:lstStyle/>
                    <a:p>
                      <a:pPr algn="l" defTabSz="914400"/>
                      <a:r>
                        <a:rPr b="0" i="0" strike="noStrike" dirty="0"/>
                        <a:t>TableSplitTable</a:t>
                      </a:r>
                    </a:p>
                  </a:txBody>
                  <a:tcPr horzOverflow="overflow"/>
                </a:tc>
              </a:tr>
              <a:tr h="508000">
                <a:tc>
                  <a:txBody>
                    <a:bodyPr/>
                    <a:lstStyle/>
                    <a:p>
                      <a:pPr algn="l" defTabSz="914400"/>
                      <a:r>
                        <a:rPr b="0" i="0" strike="noStrike" dirty="0"/>
                        <a:t>ShowClipboard</a:t>
                      </a:r>
                    </a:p>
                  </a:txBody>
                  <a:tcPr horzOverflow="overflow"/>
                </a:tc>
              </a:tr>
              <a:tr h="508000">
                <a:tc>
                  <a:txBody>
                    <a:bodyPr/>
                    <a:lstStyle/>
                    <a:p>
                      <a:pPr algn="l" defTabSz="914400"/>
                      <a:r>
                        <a:rPr b="0" i="0" strike="noStrike" dirty="0"/>
                        <a:t>TechnicalSupport</a:t>
                      </a:r>
                    </a:p>
                  </a:txBody>
                  <a:tcPr horzOverflow="overflow"/>
                </a:tc>
              </a:tr>
              <a:tr h="508000">
                <a:tc>
                  <a:txBody>
                    <a:bodyPr/>
                    <a:lstStyle/>
                    <a:p>
                      <a:pPr algn="l" defTabSz="914400"/>
                      <a:r>
                        <a:rPr b="0" i="0" strike="noStrike" dirty="0"/>
                        <a:t>ImeDictionaryUpdate</a:t>
                      </a:r>
                    </a:p>
                  </a:txBody>
                  <a:tcPr horzOverflow="overflow"/>
                </a:tc>
              </a:tr>
              <a:tr h="508000">
                <a:tc>
                  <a:txBody>
                    <a:bodyPr/>
                    <a:lstStyle/>
                    <a:p>
                      <a:pPr algn="l" defTabSz="914400"/>
                      <a:r>
                        <a:rPr b="0" i="0" strike="noStrike" dirty="0"/>
                        <a:t>OutlookTaskCreate</a:t>
                      </a:r>
                    </a:p>
                  </a:txBody>
                  <a:tcPr horzOverflow="overflow"/>
                </a:tc>
              </a:tr>
              <a:tr h="508000">
                <a:tc>
                  <a:txBody>
                    <a:bodyPr/>
                    <a:lstStyle/>
                    <a:p>
                      <a:pPr algn="l" defTabSz="914400"/>
                      <a:r>
                        <a:rPr b="0" i="0" strike="noStrike" dirty="0"/>
                        <a:t>WindowMinimize</a:t>
                      </a:r>
                    </a:p>
                  </a:txBody>
                  <a:tcPr horzOverflow="overflow"/>
                </a:tc>
              </a:tr>
            </a:tbl>
          </a:graphicData>
        </a:graphic>
      </p:graphicFrame>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WindowRestore</a:t>
                      </a:r>
                    </a:p>
                  </a:txBody>
                  <a:tcPr horzOverflow="overflow"/>
                </a:tc>
              </a:tr>
              <a:tr h="508000">
                <a:tc>
                  <a:txBody>
                    <a:bodyPr/>
                    <a:lstStyle/>
                    <a:p>
                      <a:pPr algn="l" defTabSz="914400"/>
                      <a:r>
                        <a:rPr b="0" i="0" strike="noStrike" dirty="0"/>
                        <a:t>WindowClose</a:t>
                      </a:r>
                    </a:p>
                  </a:txBody>
                  <a:tcPr horzOverflow="overflow"/>
                </a:tc>
              </a:tr>
              <a:tr h="508000">
                <a:tc>
                  <a:txBody>
                    <a:bodyPr/>
                    <a:lstStyle/>
                    <a:p>
                      <a:pPr algn="l" defTabSz="914400"/>
                      <a:r>
                        <a:rPr b="0" i="0" strike="noStrike" dirty="0"/>
                        <a:t>WindowSaveWorkspace</a:t>
                      </a:r>
                    </a:p>
                  </a:txBody>
                  <a:tcPr horzOverflow="overflow"/>
                </a:tc>
              </a:tr>
              <a:tr h="508000">
                <a:tc>
                  <a:txBody>
                    <a:bodyPr/>
                    <a:lstStyle/>
                    <a:p>
                      <a:pPr algn="l" defTabSz="914400"/>
                      <a:r>
                        <a:rPr b="0" i="0" strike="noStrike" dirty="0"/>
                        <a:t>SheetDelete</a:t>
                      </a:r>
                    </a:p>
                  </a:txBody>
                  <a:tcPr horzOverflow="overflow"/>
                </a:tc>
              </a:tr>
              <a:tr h="508000">
                <a:tc>
                  <a:txBody>
                    <a:bodyPr/>
                    <a:lstStyle/>
                    <a:p>
                      <a:pPr algn="l" defTabSz="914400"/>
                      <a:r>
                        <a:rPr b="0" i="0" strike="noStrike" dirty="0"/>
                        <a:t>ViewFormulaBar</a:t>
                      </a:r>
                    </a:p>
                  </a:txBody>
                  <a:tcPr horzOverflow="overflow"/>
                </a:tc>
              </a:tr>
              <a:tr h="508000">
                <a:tc>
                  <a:txBody>
                    <a:bodyPr/>
                    <a:lstStyle/>
                    <a:p>
                      <a:pPr algn="l" defTabSz="914400"/>
                      <a:r>
                        <a:rPr b="0" i="0" strike="noStrike" dirty="0"/>
                        <a:t>SheetInsert</a:t>
                      </a:r>
                    </a:p>
                  </a:txBody>
                  <a:tcPr horzOverflow="overflow"/>
                </a:tc>
              </a:tr>
              <a:tr h="508000">
                <a:tc>
                  <a:txBody>
                    <a:bodyPr/>
                    <a:lstStyle/>
                    <a:p>
                      <a:pPr algn="l" defTabSz="914400"/>
                      <a:r>
                        <a:rPr b="0" i="0" strike="noStrike" dirty="0"/>
                        <a:t>FormatCellsDialog</a:t>
                      </a:r>
                    </a:p>
                  </a:txBody>
                  <a:tcPr horzOverflow="overflow"/>
                </a:tc>
              </a:tr>
              <a:tr h="508000">
                <a:tc>
                  <a:txBody>
                    <a:bodyPr/>
                    <a:lstStyle/>
                    <a:p>
                      <a:pPr algn="l" defTabSz="914400"/>
                      <a:r>
                        <a:rPr b="0" i="0" strike="noStrike" dirty="0"/>
                        <a:t>DataFormExcel</a:t>
                      </a:r>
                    </a:p>
                  </a:txBody>
                  <a:tcPr horzOverflow="overflow"/>
                </a:tc>
              </a:tr>
              <a:tr h="508000">
                <a:tc>
                  <a:txBody>
                    <a:bodyPr/>
                    <a:lstStyle/>
                    <a:p>
                      <a:pPr algn="l" defTabSz="914400"/>
                      <a:r>
                        <a:rPr b="0" i="0" strike="noStrike" dirty="0"/>
                        <a:t>OutlineSubtotals</a:t>
                      </a:r>
                    </a:p>
                  </a:txBody>
                  <a:tcPr horzOverflow="overflow"/>
                </a:tc>
              </a:tr>
              <a:tr h="508000">
                <a:tc>
                  <a:txBody>
                    <a:bodyPr/>
                    <a:lstStyle/>
                    <a:p>
                      <a:pPr algn="l" defTabSz="914400"/>
                      <a:r>
                        <a:rPr b="0" i="0" strike="noStrike" dirty="0"/>
                        <a:t>Consolidate</a:t>
                      </a:r>
                    </a:p>
                  </a:txBody>
                  <a:tcPr horzOverflow="overflow"/>
                </a:tc>
              </a:tr>
            </a:tbl>
          </a:graphicData>
        </a:graphic>
      </p:graphicFrame>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WindowHide</a:t>
                      </a:r>
                    </a:p>
                  </a:txBody>
                  <a:tcPr horzOverflow="overflow"/>
                </a:tc>
              </a:tr>
              <a:tr h="508000">
                <a:tc>
                  <a:txBody>
                    <a:bodyPr/>
                    <a:lstStyle/>
                    <a:p>
                      <a:pPr algn="l" defTabSz="914400"/>
                      <a:r>
                        <a:rPr b="0" i="0" strike="noStrike" dirty="0"/>
                        <a:t>WindowUnhide</a:t>
                      </a:r>
                    </a:p>
                  </a:txBody>
                  <a:tcPr horzOverflow="overflow"/>
                </a:tc>
              </a:tr>
              <a:tr h="508000">
                <a:tc>
                  <a:txBody>
                    <a:bodyPr/>
                    <a:lstStyle/>
                    <a:p>
                      <a:pPr algn="l" defTabSz="914400"/>
                      <a:r>
                        <a:rPr b="0" i="0" strike="noStrike" dirty="0"/>
                        <a:t>FillUp</a:t>
                      </a:r>
                    </a:p>
                  </a:txBody>
                  <a:tcPr horzOverflow="overflow"/>
                </a:tc>
              </a:tr>
              <a:tr h="508000">
                <a:tc>
                  <a:txBody>
                    <a:bodyPr/>
                    <a:lstStyle/>
                    <a:p>
                      <a:pPr algn="l" defTabSz="914400"/>
                      <a:r>
                        <a:rPr b="0" i="0" strike="noStrike" dirty="0"/>
                        <a:t>FillLeft</a:t>
                      </a:r>
                    </a:p>
                  </a:txBody>
                  <a:tcPr horzOverflow="overflow"/>
                </a:tc>
              </a:tr>
              <a:tr h="508000">
                <a:tc>
                  <a:txBody>
                    <a:bodyPr/>
                    <a:lstStyle/>
                    <a:p>
                      <a:pPr algn="l" defTabSz="914400"/>
                      <a:r>
                        <a:rPr b="0" i="0" strike="noStrike" dirty="0"/>
                        <a:t>ClearFormats</a:t>
                      </a:r>
                    </a:p>
                  </a:txBody>
                  <a:tcPr horzOverflow="overflow"/>
                </a:tc>
              </a:tr>
              <a:tr h="508000">
                <a:tc>
                  <a:txBody>
                    <a:bodyPr/>
                    <a:lstStyle/>
                    <a:p>
                      <a:pPr algn="l" defTabSz="914400"/>
                      <a:r>
                        <a:rPr b="0" i="0" strike="noStrike" dirty="0"/>
                        <a:t>NameCreateFromSelection</a:t>
                      </a:r>
                    </a:p>
                  </a:txBody>
                  <a:tcPr horzOverflow="overflow"/>
                </a:tc>
              </a:tr>
              <a:tr h="508000">
                <a:tc>
                  <a:txBody>
                    <a:bodyPr/>
                    <a:lstStyle/>
                    <a:p>
                      <a:pPr algn="l" defTabSz="914400"/>
                      <a:r>
                        <a:rPr b="0" i="0" strike="noStrike" dirty="0"/>
                        <a:t>SheetProtect</a:t>
                      </a:r>
                    </a:p>
                  </a:txBody>
                  <a:tcPr horzOverflow="overflow"/>
                </a:tc>
              </a:tr>
              <a:tr h="508000">
                <a:tc>
                  <a:txBody>
                    <a:bodyPr/>
                    <a:lstStyle/>
                    <a:p>
                      <a:pPr algn="l" defTabSz="914400"/>
                      <a:r>
                        <a:rPr b="0" i="0" strike="noStrike" dirty="0"/>
                        <a:t>ReviewProtectWorkbook</a:t>
                      </a:r>
                    </a:p>
                  </a:txBody>
                  <a:tcPr horzOverflow="overflow"/>
                </a:tc>
              </a:tr>
              <a:tr h="508000">
                <a:tc>
                  <a:txBody>
                    <a:bodyPr/>
                    <a:lstStyle/>
                    <a:p>
                      <a:pPr algn="l" defTabSz="914400"/>
                      <a:r>
                        <a:rPr b="0" i="0" strike="noStrike" dirty="0"/>
                        <a:t>MacroRelativeReferences</a:t>
                      </a:r>
                    </a:p>
                  </a:txBody>
                  <a:tcPr horzOverflow="overflow"/>
                </a:tc>
              </a:tr>
              <a:tr h="508000">
                <a:tc>
                  <a:txBody>
                    <a:bodyPr/>
                    <a:lstStyle/>
                    <a:p>
                      <a:pPr algn="l" defTabSz="914400"/>
                      <a:r>
                        <a:rPr b="0" i="0" strike="noStrike" dirty="0"/>
                        <a:t>Filter</a:t>
                      </a:r>
                    </a:p>
                  </a:txBody>
                  <a:tcPr horzOverflow="overflow"/>
                </a:tc>
              </a:tr>
            </a:tbl>
          </a:graphicData>
        </a:graphic>
      </p:graphicFrame>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SortClear</a:t>
                      </a:r>
                    </a:p>
                  </a:txBody>
                  <a:tcPr horzOverflow="overflow"/>
                </a:tc>
              </a:tr>
              <a:tr h="508000">
                <a:tc>
                  <a:txBody>
                    <a:bodyPr/>
                    <a:lstStyle/>
                    <a:p>
                      <a:pPr algn="l" defTabSz="914400"/>
                      <a:r>
                        <a:rPr b="0" i="0" strike="noStrike" dirty="0"/>
                        <a:t>AdvancedFilterDialog</a:t>
                      </a:r>
                    </a:p>
                  </a:txBody>
                  <a:tcPr horzOverflow="overflow"/>
                </a:tc>
              </a:tr>
              <a:tr h="508000">
                <a:tc>
                  <a:txBody>
                    <a:bodyPr/>
                    <a:lstStyle/>
                    <a:p>
                      <a:pPr algn="l" defTabSz="914400"/>
                      <a:r>
                        <a:rPr b="0" i="0" strike="noStrike" dirty="0"/>
                        <a:t>OutlineSettings</a:t>
                      </a:r>
                    </a:p>
                  </a:txBody>
                  <a:tcPr horzOverflow="overflow"/>
                </a:tc>
              </a:tr>
              <a:tr h="508000">
                <a:tc>
                  <a:txBody>
                    <a:bodyPr/>
                    <a:lstStyle/>
                    <a:p>
                      <a:pPr algn="l" defTabSz="914400"/>
                      <a:r>
                        <a:rPr b="0" i="0" strike="noStrike" dirty="0"/>
                        <a:t>PrintPreviewClose</a:t>
                      </a:r>
                    </a:p>
                  </a:txBody>
                  <a:tcPr horzOverflow="overflow"/>
                </a:tc>
              </a:tr>
              <a:tr h="508000">
                <a:tc>
                  <a:txBody>
                    <a:bodyPr/>
                    <a:lstStyle/>
                    <a:p>
                      <a:pPr algn="l" defTabSz="914400"/>
                      <a:r>
                        <a:rPr b="0" i="0" strike="noStrike" dirty="0"/>
                        <a:t>HeaderFooterClose</a:t>
                      </a:r>
                    </a:p>
                  </a:txBody>
                  <a:tcPr horzOverflow="overflow"/>
                </a:tc>
              </a:tr>
              <a:tr h="508000">
                <a:tc>
                  <a:txBody>
                    <a:bodyPr/>
                    <a:lstStyle/>
                    <a:p>
                      <a:pPr algn="l" defTabSz="914400"/>
                      <a:r>
                        <a:rPr b="0" i="0" strike="noStrike" dirty="0"/>
                        <a:t>ZoomDialog</a:t>
                      </a:r>
                    </a:p>
                  </a:txBody>
                  <a:tcPr horzOverflow="overflow"/>
                </a:tc>
              </a:tr>
              <a:tr h="508000">
                <a:tc>
                  <a:txBody>
                    <a:bodyPr/>
                    <a:lstStyle/>
                    <a:p>
                      <a:pPr algn="l" defTabSz="914400"/>
                      <a:r>
                        <a:rPr b="0" i="0" strike="noStrike" dirty="0"/>
                        <a:t>SortDialogClassic</a:t>
                      </a:r>
                    </a:p>
                  </a:txBody>
                  <a:tcPr horzOverflow="overflow"/>
                </a:tc>
              </a:tr>
              <a:tr h="508000">
                <a:tc>
                  <a:txBody>
                    <a:bodyPr/>
                    <a:lstStyle/>
                    <a:p>
                      <a:pPr algn="l" defTabSz="914400"/>
                      <a:r>
                        <a:rPr b="0" i="0" strike="noStrike" dirty="0"/>
                        <a:t>ConvertTableToText</a:t>
                      </a:r>
                    </a:p>
                  </a:txBody>
                  <a:tcPr horzOverflow="overflow"/>
                </a:tc>
              </a:tr>
              <a:tr h="508000">
                <a:tc>
                  <a:txBody>
                    <a:bodyPr/>
                    <a:lstStyle/>
                    <a:p>
                      <a:pPr algn="l" defTabSz="914400"/>
                      <a:r>
                        <a:rPr b="0" i="0" strike="noStrike" dirty="0"/>
                        <a:t>PictureInsertFromFilePowerPoint</a:t>
                      </a:r>
                    </a:p>
                  </a:txBody>
                  <a:tcPr horzOverflow="overflow"/>
                </a:tc>
              </a:tr>
              <a:tr h="508000">
                <a:tc>
                  <a:txBody>
                    <a:bodyPr/>
                    <a:lstStyle/>
                    <a:p>
                      <a:pPr algn="l" defTabSz="914400"/>
                      <a:r>
                        <a:rPr b="0" i="0" strike="noStrike" dirty="0"/>
                        <a:t>ExchangeFolder</a:t>
                      </a:r>
                    </a:p>
                  </a:txBody>
                  <a:tcPr horzOverflow="overflow"/>
                </a:tc>
              </a:tr>
            </a:tbl>
          </a:graphicData>
        </a:graphic>
      </p:graphicFrame>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VisualBasicReferences</a:t>
                      </a:r>
                    </a:p>
                  </a:txBody>
                  <a:tcPr horzOverflow="overflow"/>
                </a:tc>
              </a:tr>
              <a:tr h="508000">
                <a:tc>
                  <a:txBody>
                    <a:bodyPr/>
                    <a:lstStyle/>
                    <a:p>
                      <a:pPr algn="l" defTabSz="914400"/>
                      <a:r>
                        <a:rPr b="0" i="0" strike="noStrike" dirty="0"/>
                        <a:t>ViewCustomViews</a:t>
                      </a:r>
                    </a:p>
                  </a:txBody>
                  <a:tcPr horzOverflow="overflow"/>
                </a:tc>
              </a:tr>
              <a:tr h="508000">
                <a:tc>
                  <a:txBody>
                    <a:bodyPr/>
                    <a:lstStyle/>
                    <a:p>
                      <a:pPr algn="l" defTabSz="914400"/>
                      <a:r>
                        <a:rPr b="0" i="0" strike="noStrike" dirty="0"/>
                        <a:t>SheetBackground</a:t>
                      </a:r>
                    </a:p>
                  </a:txBody>
                  <a:tcPr horzOverflow="overflow"/>
                </a:tc>
              </a:tr>
              <a:tr h="508000">
                <a:tc>
                  <a:txBody>
                    <a:bodyPr/>
                    <a:lstStyle/>
                    <a:p>
                      <a:pPr algn="l" defTabSz="914400"/>
                      <a:r>
                        <a:rPr b="0" i="0" strike="noStrike" dirty="0"/>
                        <a:t>ChartEditDataSource</a:t>
                      </a:r>
                    </a:p>
                  </a:txBody>
                  <a:tcPr horzOverflow="overflow"/>
                </a:tc>
              </a:tr>
              <a:tr h="508000">
                <a:tc>
                  <a:txBody>
                    <a:bodyPr/>
                    <a:lstStyle/>
                    <a:p>
                      <a:pPr algn="l" defTabSz="914400"/>
                      <a:r>
                        <a:rPr b="0" i="0" strike="noStrike" dirty="0"/>
                        <a:t>ChartPlacement</a:t>
                      </a:r>
                    </a:p>
                  </a:txBody>
                  <a:tcPr horzOverflow="overflow"/>
                </a:tc>
              </a:tr>
              <a:tr h="508000">
                <a:tc>
                  <a:txBody>
                    <a:bodyPr/>
                    <a:lstStyle/>
                    <a:p>
                      <a:pPr algn="l" defTabSz="914400"/>
                      <a:r>
                        <a:rPr b="0" i="0" strike="noStrike" dirty="0"/>
                        <a:t>CalculateNow</a:t>
                      </a:r>
                    </a:p>
                  </a:txBody>
                  <a:tcPr horzOverflow="overflow"/>
                </a:tc>
              </a:tr>
              <a:tr h="508000">
                <a:tc>
                  <a:txBody>
                    <a:bodyPr/>
                    <a:lstStyle/>
                    <a:p>
                      <a:pPr algn="l" defTabSz="914400"/>
                      <a:r>
                        <a:rPr b="0" i="0" strike="noStrike" dirty="0"/>
                        <a:t>ObjectEditDialog</a:t>
                      </a:r>
                    </a:p>
                  </a:txBody>
                  <a:tcPr horzOverflow="overflow"/>
                </a:tc>
              </a:tr>
              <a:tr h="508000">
                <a:tc>
                  <a:txBody>
                    <a:bodyPr/>
                    <a:lstStyle/>
                    <a:p>
                      <a:pPr algn="l" defTabSz="914400"/>
                      <a:r>
                        <a:rPr b="0" i="0" strike="noStrike" dirty="0"/>
                        <a:t>ObjectFormatDialog</a:t>
                      </a:r>
                    </a:p>
                  </a:txBody>
                  <a:tcPr horzOverflow="overflow"/>
                </a:tc>
              </a:tr>
              <a:tr h="508000">
                <a:tc>
                  <a:txBody>
                    <a:bodyPr/>
                    <a:lstStyle/>
                    <a:p>
                      <a:pPr algn="l" defTabSz="914400"/>
                      <a:r>
                        <a:rPr b="0" i="0" strike="noStrike" dirty="0"/>
                        <a:t>QueryRunQuery</a:t>
                      </a:r>
                    </a:p>
                  </a:txBody>
                  <a:tcPr horzOverflow="overflow"/>
                </a:tc>
              </a:tr>
              <a:tr h="508000">
                <a:tc>
                  <a:txBody>
                    <a:bodyPr/>
                    <a:lstStyle/>
                    <a:p>
                      <a:pPr algn="l" defTabSz="914400"/>
                      <a:r>
                        <a:rPr b="0" i="0" strike="noStrike" dirty="0"/>
                        <a:t>ControlImage</a:t>
                      </a:r>
                    </a:p>
                  </a:txBody>
                  <a:tcPr horzOverflow="overflow"/>
                </a:tc>
              </a:tr>
            </a:tbl>
          </a:graphicData>
        </a:graphic>
      </p:graphicFrame>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RulerShowHide</a:t>
                      </a:r>
                    </a:p>
                  </a:txBody>
                  <a:tcPr horzOverflow="overflow"/>
                </a:tc>
              </a:tr>
              <a:tr h="508000">
                <a:tc>
                  <a:txBody>
                    <a:bodyPr/>
                    <a:lstStyle/>
                    <a:p>
                      <a:pPr algn="l" defTabSz="914400"/>
                      <a:r>
                        <a:rPr b="0" i="0" strike="noStrike" dirty="0"/>
                        <a:t>GridShowHide</a:t>
                      </a:r>
                    </a:p>
                  </a:txBody>
                  <a:tcPr horzOverflow="overflow"/>
                </a:tc>
              </a:tr>
              <a:tr h="508000">
                <a:tc>
                  <a:txBody>
                    <a:bodyPr/>
                    <a:lstStyle/>
                    <a:p>
                      <a:pPr algn="l" defTabSz="914400"/>
                      <a:r>
                        <a:rPr b="0" i="0" strike="noStrike" dirty="0"/>
                        <a:t>ContentsAndIndex</a:t>
                      </a:r>
                    </a:p>
                  </a:txBody>
                  <a:tcPr horzOverflow="overflow"/>
                </a:tc>
              </a:tr>
              <a:tr h="508000">
                <a:tc>
                  <a:txBody>
                    <a:bodyPr/>
                    <a:lstStyle/>
                    <a:p>
                      <a:pPr algn="l" defTabSz="914400"/>
                      <a:r>
                        <a:rPr b="0" i="0" strike="noStrike" dirty="0"/>
                        <a:t>Help</a:t>
                      </a:r>
                    </a:p>
                  </a:txBody>
                  <a:tcPr horzOverflow="overflow"/>
                </a:tc>
              </a:tr>
              <a:tr h="508000">
                <a:tc>
                  <a:txBody>
                    <a:bodyPr/>
                    <a:lstStyle/>
                    <a:p>
                      <a:pPr algn="l" defTabSz="914400"/>
                      <a:r>
                        <a:rPr b="0" i="0" strike="noStrike" dirty="0"/>
                        <a:t>PivotTableEnableSelection</a:t>
                      </a:r>
                    </a:p>
                  </a:txBody>
                  <a:tcPr horzOverflow="overflow"/>
                </a:tc>
              </a:tr>
              <a:tr h="508000">
                <a:tc>
                  <a:txBody>
                    <a:bodyPr/>
                    <a:lstStyle/>
                    <a:p>
                      <a:pPr algn="l" defTabSz="914400"/>
                      <a:r>
                        <a:rPr b="0" i="0" strike="noStrike" dirty="0"/>
                        <a:t>PivotTableListFormulas</a:t>
                      </a:r>
                    </a:p>
                  </a:txBody>
                  <a:tcPr horzOverflow="overflow"/>
                </a:tc>
              </a:tr>
              <a:tr h="508000">
                <a:tc>
                  <a:txBody>
                    <a:bodyPr/>
                    <a:lstStyle/>
                    <a:p>
                      <a:pPr algn="l" defTabSz="914400"/>
                      <a:r>
                        <a:rPr b="0" i="0" strike="noStrike" dirty="0"/>
                        <a:t>PivotTableSelectData</a:t>
                      </a:r>
                    </a:p>
                  </a:txBody>
                  <a:tcPr horzOverflow="overflow"/>
                </a:tc>
              </a:tr>
              <a:tr h="508000">
                <a:tc>
                  <a:txBody>
                    <a:bodyPr/>
                    <a:lstStyle/>
                    <a:p>
                      <a:pPr algn="l" defTabSz="914400"/>
                      <a:r>
                        <a:rPr b="0" i="0" strike="noStrike" dirty="0"/>
                        <a:t>PivotTableSelectLabelAndData</a:t>
                      </a:r>
                    </a:p>
                  </a:txBody>
                  <a:tcPr horzOverflow="overflow"/>
                </a:tc>
              </a:tr>
              <a:tr h="508000">
                <a:tc>
                  <a:txBody>
                    <a:bodyPr/>
                    <a:lstStyle/>
                    <a:p>
                      <a:pPr algn="l" defTabSz="914400"/>
                      <a:r>
                        <a:rPr b="0" i="0" strike="noStrike" dirty="0"/>
                        <a:t>PivotTableSelectLabel</a:t>
                      </a:r>
                    </a:p>
                  </a:txBody>
                  <a:tcPr horzOverflow="overflow"/>
                </a:tc>
              </a:tr>
              <a:tr h="508000">
                <a:tc>
                  <a:txBody>
                    <a:bodyPr/>
                    <a:lstStyle/>
                    <a:p>
                      <a:pPr algn="l" defTabSz="914400"/>
                      <a:r>
                        <a:rPr b="0" i="0" strike="noStrike" dirty="0"/>
                        <a:t>CalculateSheet</a:t>
                      </a:r>
                    </a:p>
                  </a:txBody>
                  <a:tcPr horzOverflow="overflow"/>
                </a:tc>
              </a:tr>
            </a:tbl>
          </a:graphicData>
        </a:graphic>
      </p:graphicFrame>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FontColorMoreColorsDialog</a:t>
                      </a:r>
                    </a:p>
                  </a:txBody>
                  <a:tcPr horzOverflow="overflow"/>
                </a:tc>
              </a:tr>
              <a:tr h="508000">
                <a:tc>
                  <a:txBody>
                    <a:bodyPr/>
                    <a:lstStyle/>
                    <a:p>
                      <a:pPr algn="l" defTabSz="914400"/>
                      <a:r>
                        <a:rPr b="0" i="0" strike="noStrike" dirty="0"/>
                        <a:t>FillEffects</a:t>
                      </a:r>
                    </a:p>
                  </a:txBody>
                  <a:tcPr horzOverflow="overflow"/>
                </a:tc>
              </a:tr>
              <a:tr h="508000">
                <a:tc>
                  <a:txBody>
                    <a:bodyPr/>
                    <a:lstStyle/>
                    <a:p>
                      <a:pPr algn="l" defTabSz="914400"/>
                      <a:r>
                        <a:rPr b="0" i="0" strike="noStrike" dirty="0"/>
                        <a:t>TextOrientationAngleCounterclockwise</a:t>
                      </a:r>
                    </a:p>
                  </a:txBody>
                  <a:tcPr horzOverflow="overflow"/>
                </a:tc>
              </a:tr>
              <a:tr h="508000">
                <a:tc>
                  <a:txBody>
                    <a:bodyPr/>
                    <a:lstStyle/>
                    <a:p>
                      <a:pPr algn="l" defTabSz="914400"/>
                      <a:r>
                        <a:rPr b="0" i="0" strike="noStrike" dirty="0"/>
                        <a:t>TextOrientationAngleClockwise</a:t>
                      </a:r>
                    </a:p>
                  </a:txBody>
                  <a:tcPr horzOverflow="overflow"/>
                </a:tc>
              </a:tr>
              <a:tr h="508000">
                <a:tc>
                  <a:txBody>
                    <a:bodyPr/>
                    <a:lstStyle/>
                    <a:p>
                      <a:pPr algn="l" defTabSz="914400"/>
                      <a:r>
                        <a:rPr b="0" i="0" strike="noStrike" dirty="0"/>
                        <a:t>HyperlinkOpenExcel</a:t>
                      </a:r>
                    </a:p>
                  </a:txBody>
                  <a:tcPr horzOverflow="overflow"/>
                </a:tc>
              </a:tr>
              <a:tr h="508000">
                <a:tc>
                  <a:txBody>
                    <a:bodyPr/>
                    <a:lstStyle/>
                    <a:p>
                      <a:pPr algn="l" defTabSz="914400"/>
                      <a:r>
                        <a:rPr b="0" i="0" strike="noStrike" dirty="0"/>
                        <a:t>OpenStartPage</a:t>
                      </a:r>
                    </a:p>
                  </a:txBody>
                  <a:tcPr horzOverflow="overflow"/>
                </a:tc>
              </a:tr>
              <a:tr h="508000">
                <a:tc>
                  <a:txBody>
                    <a:bodyPr/>
                    <a:lstStyle/>
                    <a:p>
                      <a:pPr algn="l" defTabSz="914400"/>
                      <a:r>
                        <a:rPr b="0" i="0" strike="noStrike" dirty="0"/>
                        <a:t>WebGoBack</a:t>
                      </a:r>
                    </a:p>
                  </a:txBody>
                  <a:tcPr horzOverflow="overflow"/>
                </a:tc>
              </a:tr>
              <a:tr h="508000">
                <a:tc>
                  <a:txBody>
                    <a:bodyPr/>
                    <a:lstStyle/>
                    <a:p>
                      <a:pPr algn="l" defTabSz="914400"/>
                      <a:r>
                        <a:rPr b="0" i="0" strike="noStrike" dirty="0"/>
                        <a:t>WebGoForward</a:t>
                      </a:r>
                    </a:p>
                  </a:txBody>
                  <a:tcPr horzOverflow="overflow"/>
                </a:tc>
              </a:tr>
              <a:tr h="508000">
                <a:tc>
                  <a:txBody>
                    <a:bodyPr/>
                    <a:lstStyle/>
                    <a:p>
                      <a:pPr algn="l" defTabSz="914400"/>
                      <a:r>
                        <a:rPr b="0" i="0" strike="noStrike" dirty="0"/>
                        <a:t>AddToFavorites</a:t>
                      </a:r>
                    </a:p>
                  </a:txBody>
                  <a:tcPr horzOverflow="overflow"/>
                </a:tc>
              </a:tr>
              <a:tr h="508000">
                <a:tc>
                  <a:txBody>
                    <a:bodyPr/>
                    <a:lstStyle/>
                    <a:p>
                      <a:pPr algn="l" defTabSz="914400"/>
                      <a:r>
                        <a:rPr b="0" i="0" strike="noStrike" dirty="0"/>
                        <a:t>BrowsePrevious</a:t>
                      </a:r>
                    </a:p>
                  </a:txBody>
                  <a:tcPr horzOverflow="overflow"/>
                </a:tc>
              </a:tr>
            </a:tbl>
          </a:graphicData>
        </a:graphic>
      </p:graphicFrame>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BrowseNext</a:t>
                      </a:r>
                    </a:p>
                  </a:txBody>
                  <a:tcPr horzOverflow="overflow"/>
                </a:tc>
              </a:tr>
              <a:tr h="508000">
                <a:tc>
                  <a:txBody>
                    <a:bodyPr/>
                    <a:lstStyle/>
                    <a:p>
                      <a:pPr algn="l" defTabSz="914400"/>
                      <a:r>
                        <a:rPr b="0" i="0" strike="noStrike" dirty="0"/>
                        <a:t>BrowseSelector</a:t>
                      </a:r>
                    </a:p>
                  </a:txBody>
                  <a:tcPr horzOverflow="overflow"/>
                </a:tc>
              </a:tr>
              <a:tr h="508000">
                <a:tc>
                  <a:txBody>
                    <a:bodyPr/>
                    <a:lstStyle/>
                    <a:p>
                      <a:pPr algn="l" defTabSz="914400"/>
                      <a:r>
                        <a:rPr b="0" i="0" strike="noStrike" dirty="0"/>
                        <a:t>SmartArtInsert</a:t>
                      </a:r>
                    </a:p>
                  </a:txBody>
                  <a:tcPr horzOverflow="overflow"/>
                </a:tc>
              </a:tr>
              <a:tr h="508000">
                <a:tc>
                  <a:txBody>
                    <a:bodyPr/>
                    <a:lstStyle/>
                    <a:p>
                      <a:pPr algn="l" defTabSz="914400"/>
                      <a:r>
                        <a:rPr b="0" i="0" strike="noStrike" dirty="0"/>
                        <a:t>ShapeRerouteConnectors</a:t>
                      </a:r>
                    </a:p>
                  </a:txBody>
                  <a:tcPr horzOverflow="overflow"/>
                </a:tc>
              </a:tr>
              <a:tr h="508000">
                <a:tc>
                  <a:txBody>
                    <a:bodyPr/>
                    <a:lstStyle/>
                    <a:p>
                      <a:pPr algn="l" defTabSz="914400"/>
                      <a:r>
                        <a:rPr b="0" i="0" strike="noStrike" dirty="0"/>
                        <a:t>ObjectNudgeUp</a:t>
                      </a:r>
                    </a:p>
                  </a:txBody>
                  <a:tcPr horzOverflow="overflow"/>
                </a:tc>
              </a:tr>
              <a:tr h="508000">
                <a:tc>
                  <a:txBody>
                    <a:bodyPr/>
                    <a:lstStyle/>
                    <a:p>
                      <a:pPr algn="l" defTabSz="914400"/>
                      <a:r>
                        <a:rPr b="0" i="0" strike="noStrike" dirty="0"/>
                        <a:t>ObjectNudgeDown</a:t>
                      </a:r>
                    </a:p>
                  </a:txBody>
                  <a:tcPr horzOverflow="overflow"/>
                </a:tc>
              </a:tr>
              <a:tr h="508000">
                <a:tc>
                  <a:txBody>
                    <a:bodyPr/>
                    <a:lstStyle/>
                    <a:p>
                      <a:pPr algn="l" defTabSz="914400"/>
                      <a:r>
                        <a:rPr b="0" i="0" strike="noStrike" dirty="0"/>
                        <a:t>ObjectNudgeLeft</a:t>
                      </a:r>
                    </a:p>
                  </a:txBody>
                  <a:tcPr horzOverflow="overflow"/>
                </a:tc>
              </a:tr>
              <a:tr h="508000">
                <a:tc>
                  <a:txBody>
                    <a:bodyPr/>
                    <a:lstStyle/>
                    <a:p>
                      <a:pPr algn="l" defTabSz="914400"/>
                      <a:r>
                        <a:rPr b="0" i="0" strike="noStrike" dirty="0"/>
                        <a:t>ObjectNudgeRight</a:t>
                      </a:r>
                    </a:p>
                  </a:txBody>
                  <a:tcPr horzOverflow="overflow"/>
                </a:tc>
              </a:tr>
              <a:tr h="508000">
                <a:tc>
                  <a:txBody>
                    <a:bodyPr/>
                    <a:lstStyle/>
                    <a:p>
                      <a:pPr algn="l" defTabSz="914400"/>
                      <a:r>
                        <a:rPr b="0" i="0" strike="noStrike" dirty="0"/>
                        <a:t>ShapeCurve</a:t>
                      </a:r>
                    </a:p>
                  </a:txBody>
                  <a:tcPr horzOverflow="overflow"/>
                </a:tc>
              </a:tr>
              <a:tr h="508000">
                <a:tc>
                  <a:txBody>
                    <a:bodyPr/>
                    <a:lstStyle/>
                    <a:p>
                      <a:pPr algn="l" defTabSz="914400"/>
                      <a:r>
                        <a:rPr b="0" i="0" strike="noStrike" dirty="0"/>
                        <a:t>ShapeStraightConnector</a:t>
                      </a:r>
                    </a:p>
                  </a:txBody>
                  <a:tcPr horzOverflow="overflow"/>
                </a:tc>
              </a:tr>
            </a:tbl>
          </a:graphicData>
        </a:graphic>
      </p:graphicFrame>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ShapeElbowConnector</a:t>
                      </a:r>
                    </a:p>
                  </a:txBody>
                  <a:tcPr horzOverflow="overflow"/>
                </a:tc>
              </a:tr>
              <a:tr h="508000">
                <a:tc>
                  <a:txBody>
                    <a:bodyPr/>
                    <a:lstStyle/>
                    <a:p>
                      <a:pPr algn="l" defTabSz="914400"/>
                      <a:r>
                        <a:rPr b="0" i="0" strike="noStrike" dirty="0"/>
                        <a:t>ObjectFillMoreColorsDialog</a:t>
                      </a:r>
                    </a:p>
                  </a:txBody>
                  <a:tcPr horzOverflow="overflow"/>
                </a:tc>
              </a:tr>
              <a:tr h="508000">
                <a:tc>
                  <a:txBody>
                    <a:bodyPr/>
                    <a:lstStyle/>
                    <a:p>
                      <a:pPr algn="l" defTabSz="914400"/>
                      <a:r>
                        <a:rPr b="0" i="0" strike="noStrike" dirty="0"/>
                        <a:t>ObjectBorderOutlineColorMoreColorsDialog</a:t>
                      </a:r>
                    </a:p>
                  </a:txBody>
                  <a:tcPr horzOverflow="overflow"/>
                </a:tc>
              </a:tr>
              <a:tr h="508000">
                <a:tc>
                  <a:txBody>
                    <a:bodyPr/>
                    <a:lstStyle/>
                    <a:p>
                      <a:pPr algn="l" defTabSz="914400"/>
                      <a:r>
                        <a:rPr b="0" i="0" strike="noStrike" dirty="0"/>
                        <a:t>LineStylesDialog</a:t>
                      </a:r>
                    </a:p>
                  </a:txBody>
                  <a:tcPr horzOverflow="overflow"/>
                </a:tc>
              </a:tr>
              <a:tr h="508000">
                <a:tc>
                  <a:txBody>
                    <a:bodyPr/>
                    <a:lstStyle/>
                    <a:p>
                      <a:pPr algn="l" defTabSz="914400"/>
                      <a:r>
                        <a:rPr b="0" i="0" strike="noStrike" dirty="0"/>
                        <a:t>ArrowsMore</a:t>
                      </a:r>
                    </a:p>
                  </a:txBody>
                  <a:tcPr horzOverflow="overflow"/>
                </a:tc>
              </a:tr>
              <a:tr h="508000">
                <a:tc>
                  <a:txBody>
                    <a:bodyPr/>
                    <a:lstStyle/>
                    <a:p>
                      <a:pPr algn="l" defTabSz="914400"/>
                      <a:r>
                        <a:rPr b="0" i="0" strike="noStrike" dirty="0"/>
                        <a:t>TextEffectAlignment</a:t>
                      </a:r>
                    </a:p>
                  </a:txBody>
                  <a:tcPr horzOverflow="overflow"/>
                </a:tc>
              </a:tr>
              <a:tr h="508000">
                <a:tc>
                  <a:txBody>
                    <a:bodyPr/>
                    <a:lstStyle/>
                    <a:p>
                      <a:pPr algn="l" defTabSz="914400"/>
                      <a:r>
                        <a:rPr b="0" i="0" strike="noStrike" dirty="0"/>
                        <a:t>TextEffectTracking</a:t>
                      </a:r>
                    </a:p>
                  </a:txBody>
                  <a:tcPr horzOverflow="overflow"/>
                </a:tc>
              </a:tr>
              <a:tr h="508000">
                <a:tc>
                  <a:txBody>
                    <a:bodyPr/>
                    <a:lstStyle/>
                    <a:p>
                      <a:pPr algn="l" defTabSz="914400"/>
                      <a:r>
                        <a:rPr b="0" i="0" strike="noStrike" dirty="0"/>
                        <a:t>WordArtVerticalText</a:t>
                      </a:r>
                    </a:p>
                  </a:txBody>
                  <a:tcPr horzOverflow="overflow"/>
                </a:tc>
              </a:tr>
              <a:tr h="508000">
                <a:tc>
                  <a:txBody>
                    <a:bodyPr/>
                    <a:lstStyle/>
                    <a:p>
                      <a:pPr algn="l" defTabSz="914400"/>
                      <a:r>
                        <a:rPr b="0" i="0" strike="noStrike" dirty="0"/>
                        <a:t>WordArtEvenTextHeightClassic</a:t>
                      </a:r>
                    </a:p>
                  </a:txBody>
                  <a:tcPr horzOverflow="overflow"/>
                </a:tc>
              </a:tr>
              <a:tr h="508000">
                <a:tc>
                  <a:txBody>
                    <a:bodyPr/>
                    <a:lstStyle/>
                    <a:p>
                      <a:pPr algn="l" defTabSz="914400"/>
                      <a:r>
                        <a:rPr b="0" i="0" strike="noStrike" dirty="0"/>
                        <a:t>ContrastMore</a:t>
                      </a:r>
                    </a:p>
                  </a:txBody>
                  <a:tcPr horzOverflow="overflow"/>
                </a:tc>
              </a:tr>
            </a:tbl>
          </a:graphicData>
        </a:graphic>
      </p:graphicFrame>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ContrastLess</a:t>
                      </a:r>
                    </a:p>
                  </a:txBody>
                  <a:tcPr horzOverflow="overflow"/>
                </a:tc>
              </a:tr>
              <a:tr h="508000">
                <a:tc>
                  <a:txBody>
                    <a:bodyPr/>
                    <a:lstStyle/>
                    <a:p>
                      <a:pPr algn="l" defTabSz="914400"/>
                      <a:r>
                        <a:rPr b="0" i="0" strike="noStrike" dirty="0"/>
                        <a:t>BrightnessMore</a:t>
                      </a:r>
                    </a:p>
                  </a:txBody>
                  <a:tcPr horzOverflow="overflow"/>
                </a:tc>
              </a:tr>
              <a:tr h="508000">
                <a:tc>
                  <a:txBody>
                    <a:bodyPr/>
                    <a:lstStyle/>
                    <a:p>
                      <a:pPr algn="l" defTabSz="914400"/>
                      <a:r>
                        <a:rPr b="0" i="0" strike="noStrike" dirty="0"/>
                        <a:t>BrightnessLess</a:t>
                      </a:r>
                    </a:p>
                  </a:txBody>
                  <a:tcPr horzOverflow="overflow"/>
                </a:tc>
              </a:tr>
              <a:tr h="508000">
                <a:tc>
                  <a:txBody>
                    <a:bodyPr/>
                    <a:lstStyle/>
                    <a:p>
                      <a:pPr algn="l" defTabSz="914400"/>
                      <a:r>
                        <a:rPr b="0" i="0" strike="noStrike" dirty="0"/>
                        <a:t>ShadowNudgeUpClassic</a:t>
                      </a:r>
                    </a:p>
                  </a:txBody>
                  <a:tcPr horzOverflow="overflow"/>
                </a:tc>
              </a:tr>
              <a:tr h="508000">
                <a:tc>
                  <a:txBody>
                    <a:bodyPr/>
                    <a:lstStyle/>
                    <a:p>
                      <a:pPr algn="l" defTabSz="914400"/>
                      <a:r>
                        <a:rPr b="0" i="0" strike="noStrike" dirty="0"/>
                        <a:t>ShadowNudgeDownClassic</a:t>
                      </a:r>
                    </a:p>
                  </a:txBody>
                  <a:tcPr horzOverflow="overflow"/>
                </a:tc>
              </a:tr>
              <a:tr h="508000">
                <a:tc>
                  <a:txBody>
                    <a:bodyPr/>
                    <a:lstStyle/>
                    <a:p>
                      <a:pPr algn="l" defTabSz="914400"/>
                      <a:r>
                        <a:rPr b="0" i="0" strike="noStrike" dirty="0"/>
                        <a:t>ShadowNudgeLeftClassic</a:t>
                      </a:r>
                    </a:p>
                  </a:txBody>
                  <a:tcPr horzOverflow="overflow"/>
                </a:tc>
              </a:tr>
              <a:tr h="508000">
                <a:tc>
                  <a:txBody>
                    <a:bodyPr/>
                    <a:lstStyle/>
                    <a:p>
                      <a:pPr algn="l" defTabSz="914400"/>
                      <a:r>
                        <a:rPr b="0" i="0" strike="noStrike" dirty="0"/>
                        <a:t>ShadowNudgeRightClassic</a:t>
                      </a:r>
                    </a:p>
                  </a:txBody>
                  <a:tcPr horzOverflow="overflow"/>
                </a:tc>
              </a:tr>
              <a:tr h="508000">
                <a:tc>
                  <a:txBody>
                    <a:bodyPr/>
                    <a:lstStyle/>
                    <a:p>
                      <a:pPr algn="l" defTabSz="914400"/>
                      <a:r>
                        <a:rPr b="0" i="0" strike="noStrike" dirty="0"/>
                        <a:t>ObjectShadowColorMoreColorsDialog</a:t>
                      </a:r>
                    </a:p>
                  </a:txBody>
                  <a:tcPr horzOverflow="overflow"/>
                </a:tc>
              </a:tr>
              <a:tr h="508000">
                <a:tc>
                  <a:txBody>
                    <a:bodyPr/>
                    <a:lstStyle/>
                    <a:p>
                      <a:pPr algn="l" defTabSz="914400"/>
                      <a:r>
                        <a:rPr b="0" i="0" strike="noStrike" dirty="0"/>
                        <a:t>HighImportance</a:t>
                      </a:r>
                    </a:p>
                  </a:txBody>
                  <a:tcPr horzOverflow="overflow"/>
                </a:tc>
              </a:tr>
              <a:tr h="508000">
                <a:tc>
                  <a:txBody>
                    <a:bodyPr/>
                    <a:lstStyle/>
                    <a:p>
                      <a:pPr algn="l" defTabSz="914400"/>
                      <a:r>
                        <a:rPr b="0" i="0" strike="noStrike" dirty="0"/>
                        <a:t>LowImportance</a:t>
                      </a:r>
                    </a:p>
                  </a:txBody>
                  <a:tcPr horzOverflow="overflow"/>
                </a:tc>
              </a:tr>
            </a:tbl>
          </a:graphicData>
        </a:graphic>
      </p:graphicFrame>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AttachMenu</a:t>
                      </a:r>
                    </a:p>
                  </a:txBody>
                  <a:tcPr horzOverflow="overflow"/>
                </a:tc>
              </a:tr>
              <a:tr h="508000">
                <a:tc>
                  <a:txBody>
                    <a:bodyPr/>
                    <a:lstStyle/>
                    <a:p>
                      <a:pPr algn="l" defTabSz="914400"/>
                      <a:r>
                        <a:rPr b="0" i="0" strike="noStrike" dirty="0"/>
                        <a:t>InviteAttendees</a:t>
                      </a:r>
                    </a:p>
                  </a:txBody>
                  <a:tcPr horzOverflow="overflow"/>
                </a:tc>
              </a:tr>
              <a:tr h="508000">
                <a:tc>
                  <a:txBody>
                    <a:bodyPr/>
                    <a:lstStyle/>
                    <a:p>
                      <a:pPr algn="l" defTabSz="914400"/>
                      <a:r>
                        <a:rPr b="0" i="0" strike="noStrike" dirty="0"/>
                        <a:t>AcceptInvitation</a:t>
                      </a:r>
                    </a:p>
                  </a:txBody>
                  <a:tcPr horzOverflow="overflow"/>
                </a:tc>
              </a:tr>
              <a:tr h="508000">
                <a:tc>
                  <a:txBody>
                    <a:bodyPr/>
                    <a:lstStyle/>
                    <a:p>
                      <a:pPr algn="l" defTabSz="914400"/>
                      <a:r>
                        <a:rPr b="0" i="0" strike="noStrike" dirty="0"/>
                        <a:t>DeclineInvitation</a:t>
                      </a:r>
                    </a:p>
                  </a:txBody>
                  <a:tcPr horzOverflow="overflow"/>
                </a:tc>
              </a:tr>
              <a:tr h="508000">
                <a:tc>
                  <a:txBody>
                    <a:bodyPr/>
                    <a:lstStyle/>
                    <a:p>
                      <a:pPr algn="l" defTabSz="914400"/>
                      <a:r>
                        <a:rPr b="0" i="0" strike="noStrike" dirty="0"/>
                        <a:t>TentativeAcceptInvitation</a:t>
                      </a:r>
                    </a:p>
                  </a:txBody>
                  <a:tcPr horzOverflow="overflow"/>
                </a:tc>
              </a:tr>
              <a:tr h="508000">
                <a:tc>
                  <a:txBody>
                    <a:bodyPr/>
                    <a:lstStyle/>
                    <a:p>
                      <a:pPr algn="l" defTabSz="914400"/>
                      <a:r>
                        <a:rPr b="0" i="0" strike="noStrike" dirty="0"/>
                        <a:t>NewContact</a:t>
                      </a:r>
                    </a:p>
                  </a:txBody>
                  <a:tcPr horzOverflow="overflow"/>
                </a:tc>
              </a:tr>
              <a:tr h="508000">
                <a:tc>
                  <a:txBody>
                    <a:bodyPr/>
                    <a:lstStyle/>
                    <a:p>
                      <a:pPr algn="l" defTabSz="914400"/>
                      <a:r>
                        <a:rPr b="0" i="0" strike="noStrike" dirty="0"/>
                        <a:t>NewTask</a:t>
                      </a:r>
                    </a:p>
                  </a:txBody>
                  <a:tcPr horzOverflow="overflow"/>
                </a:tc>
              </a:tr>
              <a:tr h="508000">
                <a:tc>
                  <a:txBody>
                    <a:bodyPr/>
                    <a:lstStyle/>
                    <a:p>
                      <a:pPr algn="l" defTabSz="914400"/>
                      <a:r>
                        <a:rPr b="0" i="0" strike="noStrike" dirty="0"/>
                        <a:t>NewAppointment</a:t>
                      </a:r>
                    </a:p>
                  </a:txBody>
                  <a:tcPr horzOverflow="overflow"/>
                </a:tc>
              </a:tr>
              <a:tr h="508000">
                <a:tc>
                  <a:txBody>
                    <a:bodyPr/>
                    <a:lstStyle/>
                    <a:p>
                      <a:pPr algn="l" defTabSz="914400"/>
                      <a:r>
                        <a:rPr b="0" i="0" strike="noStrike" dirty="0"/>
                        <a:t>TextAlignLeft</a:t>
                      </a:r>
                    </a:p>
                  </a:txBody>
                  <a:tcPr horzOverflow="overflow"/>
                </a:tc>
              </a:tr>
              <a:tr h="508000">
                <a:tc>
                  <a:txBody>
                    <a:bodyPr/>
                    <a:lstStyle/>
                    <a:p>
                      <a:pPr algn="l" defTabSz="914400"/>
                      <a:r>
                        <a:rPr b="0" i="0" strike="noStrike" dirty="0"/>
                        <a:t>TextAlignCenter</a:t>
                      </a:r>
                    </a:p>
                  </a:txBody>
                  <a:tcPr horzOverflow="overflow"/>
                </a:tc>
              </a:tr>
            </a:tbl>
          </a:graphicData>
        </a:graphic>
      </p:graphicFrame>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ShapeRectangle</a:t>
                      </a:r>
                    </a:p>
                  </a:txBody>
                  <a:tcPr horzOverflow="overflow"/>
                </a:tc>
              </a:tr>
              <a:tr h="508000">
                <a:tc>
                  <a:txBody>
                    <a:bodyPr/>
                    <a:lstStyle/>
                    <a:p>
                      <a:pPr algn="l" defTabSz="914400"/>
                      <a:r>
                        <a:rPr b="0" i="0" strike="noStrike" dirty="0"/>
                        <a:t>ShapeRoundedRectangle</a:t>
                      </a:r>
                    </a:p>
                  </a:txBody>
                  <a:tcPr horzOverflow="overflow"/>
                </a:tc>
              </a:tr>
              <a:tr h="508000">
                <a:tc>
                  <a:txBody>
                    <a:bodyPr/>
                    <a:lstStyle/>
                    <a:p>
                      <a:pPr algn="l" defTabSz="914400"/>
                      <a:r>
                        <a:rPr b="0" i="0" strike="noStrike" dirty="0"/>
                        <a:t>ShapeIsoscelesTriangle</a:t>
                      </a:r>
                    </a:p>
                  </a:txBody>
                  <a:tcPr horzOverflow="overflow"/>
                </a:tc>
              </a:tr>
              <a:tr h="508000">
                <a:tc>
                  <a:txBody>
                    <a:bodyPr/>
                    <a:lstStyle/>
                    <a:p>
                      <a:pPr algn="l" defTabSz="914400"/>
                      <a:r>
                        <a:rPr b="0" i="0" strike="noStrike" dirty="0"/>
                        <a:t>ShapeOval</a:t>
                      </a:r>
                    </a:p>
                  </a:txBody>
                  <a:tcPr horzOverflow="overflow"/>
                </a:tc>
              </a:tr>
              <a:tr h="508000">
                <a:tc>
                  <a:txBody>
                    <a:bodyPr/>
                    <a:lstStyle/>
                    <a:p>
                      <a:pPr algn="l" defTabSz="914400"/>
                      <a:r>
                        <a:rPr b="0" i="0" strike="noStrike" dirty="0"/>
                        <a:t>ShapeSmileyFace</a:t>
                      </a:r>
                    </a:p>
                  </a:txBody>
                  <a:tcPr horzOverflow="overflow"/>
                </a:tc>
              </a:tr>
              <a:tr h="508000">
                <a:tc>
                  <a:txBody>
                    <a:bodyPr/>
                    <a:lstStyle/>
                    <a:p>
                      <a:pPr algn="l" defTabSz="914400"/>
                      <a:r>
                        <a:rPr b="0" i="0" strike="noStrike" dirty="0"/>
                        <a:t>ShapeDonut</a:t>
                      </a:r>
                    </a:p>
                  </a:txBody>
                  <a:tcPr horzOverflow="overflow"/>
                </a:tc>
              </a:tr>
              <a:tr h="508000">
                <a:tc>
                  <a:txBody>
                    <a:bodyPr/>
                    <a:lstStyle/>
                    <a:p>
                      <a:pPr algn="l" defTabSz="914400"/>
                      <a:r>
                        <a:rPr b="0" i="0" strike="noStrike" dirty="0"/>
                        <a:t>ShapeLeftBrace</a:t>
                      </a:r>
                    </a:p>
                  </a:txBody>
                  <a:tcPr horzOverflow="overflow"/>
                </a:tc>
              </a:tr>
              <a:tr h="508000">
                <a:tc>
                  <a:txBody>
                    <a:bodyPr/>
                    <a:lstStyle/>
                    <a:p>
                      <a:pPr algn="l" defTabSz="914400"/>
                      <a:r>
                        <a:rPr b="0" i="0" strike="noStrike" dirty="0"/>
                        <a:t>ShapeRightBrace</a:t>
                      </a:r>
                    </a:p>
                  </a:txBody>
                  <a:tcPr horzOverflow="overflow"/>
                </a:tc>
              </a:tr>
              <a:tr h="508000">
                <a:tc>
                  <a:txBody>
                    <a:bodyPr/>
                    <a:lstStyle/>
                    <a:p>
                      <a:pPr algn="l" defTabSz="914400"/>
                      <a:r>
                        <a:rPr b="0" i="0" strike="noStrike" dirty="0"/>
                        <a:t>ShapeArc</a:t>
                      </a:r>
                    </a:p>
                  </a:txBody>
                  <a:tcPr horzOverflow="overflow"/>
                </a:tc>
              </a:tr>
              <a:tr h="508000">
                <a:tc>
                  <a:txBody>
                    <a:bodyPr/>
                    <a:lstStyle/>
                    <a:p>
                      <a:pPr algn="l" defTabSz="914400"/>
                      <a:r>
                        <a:rPr b="0" i="0" strike="noStrike" dirty="0"/>
                        <a:t>ShapeLightningBolt</a:t>
                      </a:r>
                    </a:p>
                  </a:txBody>
                  <a:tcPr horzOverflow="overflow"/>
                </a:tc>
              </a:tr>
            </a:tbl>
          </a:graphicData>
        </a:graphic>
      </p:graphicFrame>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ShapeHeart</a:t>
                      </a:r>
                    </a:p>
                  </a:txBody>
                  <a:tcPr horzOverflow="overflow"/>
                </a:tc>
              </a:tr>
              <a:tr h="508000">
                <a:tc>
                  <a:txBody>
                    <a:bodyPr/>
                    <a:lstStyle/>
                    <a:p>
                      <a:pPr algn="l" defTabSz="914400"/>
                      <a:r>
                        <a:rPr b="0" i="0" strike="noStrike" dirty="0"/>
                        <a:t>ShapeRightArrow</a:t>
                      </a:r>
                    </a:p>
                  </a:txBody>
                  <a:tcPr horzOverflow="overflow"/>
                </a:tc>
              </a:tr>
              <a:tr h="508000">
                <a:tc>
                  <a:txBody>
                    <a:bodyPr/>
                    <a:lstStyle/>
                    <a:p>
                      <a:pPr algn="l" defTabSz="914400"/>
                      <a:r>
                        <a:rPr b="0" i="0" strike="noStrike" dirty="0"/>
                        <a:t>ShapeLeftArrow</a:t>
                      </a:r>
                    </a:p>
                  </a:txBody>
                  <a:tcPr horzOverflow="overflow"/>
                </a:tc>
              </a:tr>
              <a:tr h="508000">
                <a:tc>
                  <a:txBody>
                    <a:bodyPr/>
                    <a:lstStyle/>
                    <a:p>
                      <a:pPr algn="l" defTabSz="914400"/>
                      <a:r>
                        <a:rPr b="0" i="0" strike="noStrike" dirty="0"/>
                        <a:t>ShapeUpArrow</a:t>
                      </a:r>
                    </a:p>
                  </a:txBody>
                  <a:tcPr horzOverflow="overflow"/>
                </a:tc>
              </a:tr>
              <a:tr h="508000">
                <a:tc>
                  <a:txBody>
                    <a:bodyPr/>
                    <a:lstStyle/>
                    <a:p>
                      <a:pPr algn="l" defTabSz="914400"/>
                      <a:r>
                        <a:rPr b="0" i="0" strike="noStrike" dirty="0"/>
                        <a:t>ShapeDownArrow</a:t>
                      </a:r>
                    </a:p>
                  </a:txBody>
                  <a:tcPr horzOverflow="overflow"/>
                </a:tc>
              </a:tr>
              <a:tr h="508000">
                <a:tc>
                  <a:txBody>
                    <a:bodyPr/>
                    <a:lstStyle/>
                    <a:p>
                      <a:pPr algn="l" defTabSz="914400"/>
                      <a:r>
                        <a:rPr b="0" i="0" strike="noStrike" dirty="0"/>
                        <a:t>ShapeRoundedRectangularCallout</a:t>
                      </a:r>
                    </a:p>
                  </a:txBody>
                  <a:tcPr horzOverflow="overflow"/>
                </a:tc>
              </a:tr>
              <a:tr h="508000">
                <a:tc>
                  <a:txBody>
                    <a:bodyPr/>
                    <a:lstStyle/>
                    <a:p>
                      <a:pPr algn="l" defTabSz="914400"/>
                      <a:r>
                        <a:rPr b="0" i="0" strike="noStrike" dirty="0"/>
                        <a:t>ShapeStar</a:t>
                      </a:r>
                    </a:p>
                  </a:txBody>
                  <a:tcPr horzOverflow="overflow"/>
                </a:tc>
              </a:tr>
              <a:tr h="508000">
                <a:tc>
                  <a:txBody>
                    <a:bodyPr/>
                    <a:lstStyle/>
                    <a:p>
                      <a:pPr algn="l" defTabSz="914400"/>
                      <a:r>
                        <a:rPr b="0" i="0" strike="noStrike" dirty="0"/>
                        <a:t>ShapeSeal8</a:t>
                      </a:r>
                    </a:p>
                  </a:txBody>
                  <a:tcPr horzOverflow="overflow"/>
                </a:tc>
              </a:tr>
              <a:tr h="508000">
                <a:tc>
                  <a:txBody>
                    <a:bodyPr/>
                    <a:lstStyle/>
                    <a:p>
                      <a:pPr algn="l" defTabSz="914400"/>
                      <a:r>
                        <a:rPr b="0" i="0" strike="noStrike" dirty="0"/>
                        <a:t>ShapeSeal16</a:t>
                      </a:r>
                    </a:p>
                  </a:txBody>
                  <a:tcPr horzOverflow="overflow"/>
                </a:tc>
              </a:tr>
              <a:tr h="508000">
                <a:tc>
                  <a:txBody>
                    <a:bodyPr/>
                    <a:lstStyle/>
                    <a:p>
                      <a:pPr algn="l" defTabSz="914400"/>
                      <a:r>
                        <a:rPr b="0" i="0" strike="noStrike" dirty="0"/>
                        <a:t>ShapeSeal24</a:t>
                      </a:r>
                    </a:p>
                  </a:txBody>
                  <a:tcPr horzOverflow="overflow"/>
                </a:tc>
              </a:tr>
            </a:tbl>
          </a:graphicData>
        </a:graphic>
      </p:graphicFrame>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TextAlignRight</a:t>
                      </a:r>
                    </a:p>
                  </a:txBody>
                  <a:tcPr horzOverflow="overflow"/>
                </a:tc>
              </a:tr>
              <a:tr h="508000">
                <a:tc>
                  <a:txBody>
                    <a:bodyPr/>
                    <a:lstStyle/>
                    <a:p>
                      <a:pPr algn="l" defTabSz="914400"/>
                      <a:r>
                        <a:rPr b="0" i="0" strike="noStrike" dirty="0"/>
                        <a:t>TextAlignLetterJustify</a:t>
                      </a:r>
                    </a:p>
                  </a:txBody>
                  <a:tcPr horzOverflow="overflow"/>
                </a:tc>
              </a:tr>
              <a:tr h="508000">
                <a:tc>
                  <a:txBody>
                    <a:bodyPr/>
                    <a:lstStyle/>
                    <a:p>
                      <a:pPr algn="l" defTabSz="914400"/>
                      <a:r>
                        <a:rPr b="0" i="0" strike="noStrike" dirty="0"/>
                        <a:t>TextAlignWordJustify</a:t>
                      </a:r>
                    </a:p>
                  </a:txBody>
                  <a:tcPr horzOverflow="overflow"/>
                </a:tc>
              </a:tr>
              <a:tr h="508000">
                <a:tc>
                  <a:txBody>
                    <a:bodyPr/>
                    <a:lstStyle/>
                    <a:p>
                      <a:pPr algn="l" defTabSz="914400"/>
                      <a:r>
                        <a:rPr b="0" i="0" strike="noStrike" dirty="0"/>
                        <a:t>TextAlignStretchJustify</a:t>
                      </a:r>
                    </a:p>
                  </a:txBody>
                  <a:tcPr horzOverflow="overflow"/>
                </a:tc>
              </a:tr>
              <a:tr h="508000">
                <a:tc>
                  <a:txBody>
                    <a:bodyPr/>
                    <a:lstStyle/>
                    <a:p>
                      <a:pPr algn="l" defTabSz="914400"/>
                      <a:r>
                        <a:rPr b="0" i="0" strike="noStrike" dirty="0"/>
                        <a:t>PictureReset</a:t>
                      </a:r>
                    </a:p>
                  </a:txBody>
                  <a:tcPr horzOverflow="overflow"/>
                </a:tc>
              </a:tr>
              <a:tr h="508000">
                <a:tc>
                  <a:txBody>
                    <a:bodyPr/>
                    <a:lstStyle/>
                    <a:p>
                      <a:pPr algn="l" defTabSz="914400"/>
                      <a:r>
                        <a:rPr b="0" i="0" strike="noStrike" dirty="0"/>
                        <a:t>PictureRecolorAutomatic</a:t>
                      </a:r>
                    </a:p>
                  </a:txBody>
                  <a:tcPr horzOverflow="overflow"/>
                </a:tc>
              </a:tr>
              <a:tr h="508000">
                <a:tc>
                  <a:txBody>
                    <a:bodyPr/>
                    <a:lstStyle/>
                    <a:p>
                      <a:pPr algn="l" defTabSz="914400"/>
                      <a:r>
                        <a:rPr b="0" i="0" strike="noStrike" dirty="0"/>
                        <a:t>PictureRecolorGrayscale</a:t>
                      </a:r>
                    </a:p>
                  </a:txBody>
                  <a:tcPr horzOverflow="overflow"/>
                </a:tc>
              </a:tr>
              <a:tr h="508000">
                <a:tc>
                  <a:txBody>
                    <a:bodyPr/>
                    <a:lstStyle/>
                    <a:p>
                      <a:pPr algn="l" defTabSz="914400"/>
                      <a:r>
                        <a:rPr b="0" i="0" strike="noStrike" dirty="0"/>
                        <a:t>PictureRecolorBlackAndWhite</a:t>
                      </a:r>
                    </a:p>
                  </a:txBody>
                  <a:tcPr horzOverflow="overflow"/>
                </a:tc>
              </a:tr>
              <a:tr h="508000">
                <a:tc>
                  <a:txBody>
                    <a:bodyPr/>
                    <a:lstStyle/>
                    <a:p>
                      <a:pPr algn="l" defTabSz="914400"/>
                      <a:r>
                        <a:rPr b="0" i="0" strike="noStrike" dirty="0"/>
                        <a:t>PictureRecolorWashout</a:t>
                      </a:r>
                    </a:p>
                  </a:txBody>
                  <a:tcPr horzOverflow="overflow"/>
                </a:tc>
              </a:tr>
              <a:tr h="508000">
                <a:tc>
                  <a:txBody>
                    <a:bodyPr/>
                    <a:lstStyle/>
                    <a:p>
                      <a:pPr algn="l" defTabSz="914400"/>
                      <a:r>
                        <a:rPr b="0" i="0" strike="noStrike" dirty="0"/>
                        <a:t>TextWrappingSquare</a:t>
                      </a:r>
                    </a:p>
                  </a:txBody>
                  <a:tcPr horzOverflow="overflow"/>
                </a:tc>
              </a:tr>
            </a:tbl>
          </a:graphicData>
        </a:graphic>
      </p:graphicFrame>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TextWrappingTight</a:t>
                      </a:r>
                    </a:p>
                  </a:txBody>
                  <a:tcPr horzOverflow="overflow"/>
                </a:tc>
              </a:tr>
              <a:tr h="508000">
                <a:tc>
                  <a:txBody>
                    <a:bodyPr/>
                    <a:lstStyle/>
                    <a:p>
                      <a:pPr algn="l" defTabSz="914400"/>
                      <a:r>
                        <a:rPr b="0" i="0" strike="noStrike" dirty="0"/>
                        <a:t>TextWrappingNoneClassic</a:t>
                      </a:r>
                    </a:p>
                  </a:txBody>
                  <a:tcPr horzOverflow="overflow"/>
                </a:tc>
              </a:tr>
              <a:tr h="508000">
                <a:tc>
                  <a:txBody>
                    <a:bodyPr/>
                    <a:lstStyle/>
                    <a:p>
                      <a:pPr algn="l" defTabSz="914400"/>
                      <a:r>
                        <a:rPr b="0" i="0" strike="noStrike" dirty="0"/>
                        <a:t>TextWrappingEditWrapPoints</a:t>
                      </a:r>
                    </a:p>
                  </a:txBody>
                  <a:tcPr horzOverflow="overflow"/>
                </a:tc>
              </a:tr>
              <a:tr h="508000">
                <a:tc>
                  <a:txBody>
                    <a:bodyPr/>
                    <a:lstStyle/>
                    <a:p>
                      <a:pPr algn="l" defTabSz="914400"/>
                      <a:r>
                        <a:rPr b="0" i="0" strike="noStrike" dirty="0"/>
                        <a:t>_3DEffectsOnOffClassic</a:t>
                      </a:r>
                    </a:p>
                  </a:txBody>
                  <a:tcPr horzOverflow="overflow"/>
                </a:tc>
              </a:tr>
              <a:tr h="508000">
                <a:tc>
                  <a:txBody>
                    <a:bodyPr/>
                    <a:lstStyle/>
                    <a:p>
                      <a:pPr algn="l" defTabSz="914400"/>
                      <a:r>
                        <a:rPr b="0" i="0" strike="noStrike" dirty="0"/>
                        <a:t>_3DTiltDownClassic</a:t>
                      </a:r>
                    </a:p>
                  </a:txBody>
                  <a:tcPr horzOverflow="overflow"/>
                </a:tc>
              </a:tr>
              <a:tr h="508000">
                <a:tc>
                  <a:txBody>
                    <a:bodyPr/>
                    <a:lstStyle/>
                    <a:p>
                      <a:pPr algn="l" defTabSz="914400"/>
                      <a:r>
                        <a:rPr b="0" i="0" strike="noStrike" dirty="0"/>
                        <a:t>_3DTiltUpClassic</a:t>
                      </a:r>
                    </a:p>
                  </a:txBody>
                  <a:tcPr horzOverflow="overflow"/>
                </a:tc>
              </a:tr>
              <a:tr h="508000">
                <a:tc>
                  <a:txBody>
                    <a:bodyPr/>
                    <a:lstStyle/>
                    <a:p>
                      <a:pPr algn="l" defTabSz="914400"/>
                      <a:r>
                        <a:rPr b="0" i="0" strike="noStrike" dirty="0"/>
                        <a:t>_3DTiltLeftClassic</a:t>
                      </a:r>
                    </a:p>
                  </a:txBody>
                  <a:tcPr horzOverflow="overflow"/>
                </a:tc>
              </a:tr>
              <a:tr h="508000">
                <a:tc>
                  <a:txBody>
                    <a:bodyPr/>
                    <a:lstStyle/>
                    <a:p>
                      <a:pPr algn="l" defTabSz="914400"/>
                      <a:r>
                        <a:rPr b="0" i="0" strike="noStrike" dirty="0"/>
                        <a:t>_3DTiltRightClassic</a:t>
                      </a:r>
                    </a:p>
                  </a:txBody>
                  <a:tcPr horzOverflow="overflow"/>
                </a:tc>
              </a:tr>
              <a:tr h="508000">
                <a:tc>
                  <a:txBody>
                    <a:bodyPr/>
                    <a:lstStyle/>
                    <a:p>
                      <a:pPr algn="l" defTabSz="914400"/>
                      <a:r>
                        <a:rPr b="0" i="0" strike="noStrike" dirty="0"/>
                        <a:t>_3DExtrusionDirectionClassic</a:t>
                      </a:r>
                    </a:p>
                  </a:txBody>
                  <a:tcPr horzOverflow="overflow"/>
                </a:tc>
              </a:tr>
              <a:tr h="508000">
                <a:tc>
                  <a:txBody>
                    <a:bodyPr/>
                    <a:lstStyle/>
                    <a:p>
                      <a:pPr algn="l" defTabSz="914400"/>
                      <a:r>
                        <a:rPr b="0" i="0" strike="noStrike" dirty="0"/>
                        <a:t>_3DLightingClassic</a:t>
                      </a:r>
                    </a:p>
                  </a:txBody>
                  <a:tcPr horzOverflow="overflow"/>
                </a:tc>
              </a:tr>
            </a:tbl>
          </a:graphicData>
        </a:graphic>
      </p:graphicFrame>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_3DSurfaceMaterialClassic</a:t>
                      </a:r>
                    </a:p>
                  </a:txBody>
                  <a:tcPr horzOverflow="overflow"/>
                </a:tc>
              </a:tr>
              <a:tr h="508000">
                <a:tc>
                  <a:txBody>
                    <a:bodyPr/>
                    <a:lstStyle/>
                    <a:p>
                      <a:pPr algn="l" defTabSz="914400"/>
                      <a:r>
                        <a:rPr b="0" i="0" strike="noStrike" dirty="0"/>
                        <a:t>_3DExtrusionDepthNoneClassic</a:t>
                      </a:r>
                    </a:p>
                  </a:txBody>
                  <a:tcPr horzOverflow="overflow"/>
                </a:tc>
              </a:tr>
              <a:tr h="508000">
                <a:tc>
                  <a:txBody>
                    <a:bodyPr/>
                    <a:lstStyle/>
                    <a:p>
                      <a:pPr algn="l" defTabSz="914400"/>
                      <a:r>
                        <a:rPr b="0" i="0" strike="noStrike" dirty="0"/>
                        <a:t>_3DExtrusionDepth36Classic</a:t>
                      </a:r>
                    </a:p>
                  </a:txBody>
                  <a:tcPr horzOverflow="overflow"/>
                </a:tc>
              </a:tr>
              <a:tr h="508000">
                <a:tc>
                  <a:txBody>
                    <a:bodyPr/>
                    <a:lstStyle/>
                    <a:p>
                      <a:pPr algn="l" defTabSz="914400"/>
                      <a:r>
                        <a:rPr b="0" i="0" strike="noStrike" dirty="0"/>
                        <a:t>_3DExtrusionDepth72Classic</a:t>
                      </a:r>
                    </a:p>
                  </a:txBody>
                  <a:tcPr horzOverflow="overflow"/>
                </a:tc>
              </a:tr>
              <a:tr h="508000">
                <a:tc>
                  <a:txBody>
                    <a:bodyPr/>
                    <a:lstStyle/>
                    <a:p>
                      <a:pPr algn="l" defTabSz="914400"/>
                      <a:r>
                        <a:rPr b="0" i="0" strike="noStrike" dirty="0"/>
                        <a:t>_3DExtrusionDepth144Classic</a:t>
                      </a:r>
                    </a:p>
                  </a:txBody>
                  <a:tcPr horzOverflow="overflow"/>
                </a:tc>
              </a:tr>
              <a:tr h="508000">
                <a:tc>
                  <a:txBody>
                    <a:bodyPr/>
                    <a:lstStyle/>
                    <a:p>
                      <a:pPr algn="l" defTabSz="914400"/>
                      <a:r>
                        <a:rPr b="0" i="0" strike="noStrike" dirty="0"/>
                        <a:t>_3DExtrusionDepth288Classic</a:t>
                      </a:r>
                    </a:p>
                  </a:txBody>
                  <a:tcPr horzOverflow="overflow"/>
                </a:tc>
              </a:tr>
              <a:tr h="508000">
                <a:tc>
                  <a:txBody>
                    <a:bodyPr/>
                    <a:lstStyle/>
                    <a:p>
                      <a:pPr algn="l" defTabSz="914400"/>
                      <a:r>
                        <a:rPr b="0" i="0" strike="noStrike" dirty="0"/>
                        <a:t>_3DExtrusionDepthInfinityClassic</a:t>
                      </a:r>
                    </a:p>
                  </a:txBody>
                  <a:tcPr horzOverflow="overflow"/>
                </a:tc>
              </a:tr>
              <a:tr h="508000">
                <a:tc>
                  <a:txBody>
                    <a:bodyPr/>
                    <a:lstStyle/>
                    <a:p>
                      <a:pPr algn="l" defTabSz="914400"/>
                      <a:r>
                        <a:rPr b="0" i="0" strike="noStrike" dirty="0"/>
                        <a:t>_3DExtrusionPerspectiveClassic</a:t>
                      </a:r>
                    </a:p>
                  </a:txBody>
                  <a:tcPr horzOverflow="overflow"/>
                </a:tc>
              </a:tr>
              <a:tr h="508000">
                <a:tc>
                  <a:txBody>
                    <a:bodyPr/>
                    <a:lstStyle/>
                    <a:p>
                      <a:pPr algn="l" defTabSz="914400"/>
                      <a:r>
                        <a:rPr b="0" i="0" strike="noStrike" dirty="0"/>
                        <a:t>_3DExtrusionParallelClassic</a:t>
                      </a:r>
                    </a:p>
                  </a:txBody>
                  <a:tcPr horzOverflow="overflow"/>
                </a:tc>
              </a:tr>
              <a:tr h="508000">
                <a:tc>
                  <a:txBody>
                    <a:bodyPr/>
                    <a:lstStyle/>
                    <a:p>
                      <a:pPr algn="l" defTabSz="914400"/>
                      <a:r>
                        <a:rPr b="0" i="0" strike="noStrike" dirty="0"/>
                        <a:t>_3DLightingFlatClassic</a:t>
                      </a:r>
                    </a:p>
                  </a:txBody>
                  <a:tcPr horzOverflow="overflow"/>
                </a:tc>
              </a:tr>
            </a:tbl>
          </a:graphicData>
        </a:graphic>
      </p:graphicFrame>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_3DLightingNormalClassic</a:t>
                      </a:r>
                    </a:p>
                  </a:txBody>
                  <a:tcPr horzOverflow="overflow"/>
                </a:tc>
              </a:tr>
              <a:tr h="508000">
                <a:tc>
                  <a:txBody>
                    <a:bodyPr/>
                    <a:lstStyle/>
                    <a:p>
                      <a:pPr algn="l" defTabSz="914400"/>
                      <a:r>
                        <a:rPr b="0" i="0" strike="noStrike" dirty="0"/>
                        <a:t>_3DLightingDimClassic</a:t>
                      </a:r>
                    </a:p>
                  </a:txBody>
                  <a:tcPr horzOverflow="overflow"/>
                </a:tc>
              </a:tr>
              <a:tr h="508000">
                <a:tc>
                  <a:txBody>
                    <a:bodyPr/>
                    <a:lstStyle/>
                    <a:p>
                      <a:pPr algn="l" defTabSz="914400"/>
                      <a:r>
                        <a:rPr b="0" i="0" strike="noStrike" dirty="0"/>
                        <a:t>_3DSurfaceMatteClassic</a:t>
                      </a:r>
                    </a:p>
                  </a:txBody>
                  <a:tcPr horzOverflow="overflow"/>
                </a:tc>
              </a:tr>
              <a:tr h="508000">
                <a:tc>
                  <a:txBody>
                    <a:bodyPr/>
                    <a:lstStyle/>
                    <a:p>
                      <a:pPr algn="l" defTabSz="914400"/>
                      <a:r>
                        <a:rPr b="0" i="0" strike="noStrike" dirty="0"/>
                        <a:t>_3DSurfacePlasticClassic</a:t>
                      </a:r>
                    </a:p>
                  </a:txBody>
                  <a:tcPr horzOverflow="overflow"/>
                </a:tc>
              </a:tr>
              <a:tr h="508000">
                <a:tc>
                  <a:txBody>
                    <a:bodyPr/>
                    <a:lstStyle/>
                    <a:p>
                      <a:pPr algn="l" defTabSz="914400"/>
                      <a:r>
                        <a:rPr b="0" i="0" strike="noStrike" dirty="0"/>
                        <a:t>_3DSurfaceMetalClassic</a:t>
                      </a:r>
                    </a:p>
                  </a:txBody>
                  <a:tcPr horzOverflow="overflow"/>
                </a:tc>
              </a:tr>
              <a:tr h="508000">
                <a:tc>
                  <a:txBody>
                    <a:bodyPr/>
                    <a:lstStyle/>
                    <a:p>
                      <a:pPr algn="l" defTabSz="914400"/>
                      <a:r>
                        <a:rPr b="0" i="0" strike="noStrike" dirty="0"/>
                        <a:t>_3DSurfaceWireFrameClassic</a:t>
                      </a:r>
                    </a:p>
                  </a:txBody>
                  <a:tcPr horzOverflow="overflow"/>
                </a:tc>
              </a:tr>
              <a:tr h="508000">
                <a:tc>
                  <a:txBody>
                    <a:bodyPr/>
                    <a:lstStyle/>
                    <a:p>
                      <a:pPr algn="l" defTabSz="914400"/>
                      <a:r>
                        <a:rPr b="0" i="0" strike="noStrike" dirty="0"/>
                        <a:t>ObjectEditText</a:t>
                      </a:r>
                    </a:p>
                  </a:txBody>
                  <a:tcPr horzOverflow="overflow"/>
                </a:tc>
              </a:tr>
              <a:tr h="508000">
                <a:tc>
                  <a:txBody>
                    <a:bodyPr/>
                    <a:lstStyle/>
                    <a:p>
                      <a:pPr algn="l" defTabSz="914400"/>
                      <a:r>
                        <a:rPr b="0" i="0" strike="noStrike" dirty="0"/>
                        <a:t>SnapToShapes</a:t>
                      </a:r>
                    </a:p>
                  </a:txBody>
                  <a:tcPr horzOverflow="overflow"/>
                </a:tc>
              </a:tr>
              <a:tr h="508000">
                <a:tc>
                  <a:txBody>
                    <a:bodyPr/>
                    <a:lstStyle/>
                    <a:p>
                      <a:pPr algn="l" defTabSz="914400"/>
                      <a:r>
                        <a:rPr b="0" i="0" strike="noStrike" dirty="0"/>
                        <a:t>TextWrappingMenuClassic</a:t>
                      </a:r>
                    </a:p>
                  </a:txBody>
                  <a:tcPr horzOverflow="overflow"/>
                </a:tc>
              </a:tr>
              <a:tr h="508000">
                <a:tc>
                  <a:txBody>
                    <a:bodyPr/>
                    <a:lstStyle/>
                    <a:p>
                      <a:pPr algn="l" defTabSz="914400"/>
                      <a:r>
                        <a:rPr b="0" i="0" strike="noStrike" dirty="0"/>
                        <a:t>WindowsArrangeIcons</a:t>
                      </a:r>
                    </a:p>
                  </a:txBody>
                  <a:tcPr horzOverflow="overflow"/>
                </a:tc>
              </a:tr>
            </a:tbl>
          </a:graphicData>
        </a:graphic>
      </p:graphicFrame>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PictureFormatDialog</a:t>
                      </a:r>
                    </a:p>
                  </a:txBody>
                  <a:tcPr horzOverflow="overflow"/>
                </a:tc>
              </a:tr>
              <a:tr h="508000">
                <a:tc>
                  <a:txBody>
                    <a:bodyPr/>
                    <a:lstStyle/>
                    <a:p>
                      <a:pPr algn="l" defTabSz="914400"/>
                      <a:r>
                        <a:rPr b="0" i="0" strike="noStrike" dirty="0"/>
                        <a:t>ViewVisualBasicCode</a:t>
                      </a:r>
                    </a:p>
                  </a:txBody>
                  <a:tcPr horzOverflow="overflow"/>
                </a:tc>
              </a:tr>
              <a:tr h="508000">
                <a:tc>
                  <a:txBody>
                    <a:bodyPr/>
                    <a:lstStyle/>
                    <a:p>
                      <a:pPr algn="l" defTabSz="914400"/>
                      <a:r>
                        <a:rPr b="0" i="0" strike="noStrike" dirty="0"/>
                        <a:t>RemoveFromCalendar</a:t>
                      </a:r>
                    </a:p>
                  </a:txBody>
                  <a:tcPr horzOverflow="overflow"/>
                </a:tc>
              </a:tr>
              <a:tr h="508000">
                <a:tc>
                  <a:txBody>
                    <a:bodyPr/>
                    <a:lstStyle/>
                    <a:p>
                      <a:pPr algn="l" defTabSz="914400"/>
                      <a:r>
                        <a:rPr b="0" i="0" strike="noStrike" dirty="0"/>
                        <a:t>MasterViewClose</a:t>
                      </a:r>
                    </a:p>
                  </a:txBody>
                  <a:tcPr horzOverflow="overflow"/>
                </a:tc>
              </a:tr>
              <a:tr h="508000">
                <a:tc>
                  <a:txBody>
                    <a:bodyPr/>
                    <a:lstStyle/>
                    <a:p>
                      <a:pPr algn="l" defTabSz="914400"/>
                      <a:r>
                        <a:rPr b="0" i="0" strike="noStrike" dirty="0"/>
                        <a:t>CreateShortcutMenuFromMacro</a:t>
                      </a:r>
                    </a:p>
                  </a:txBody>
                  <a:tcPr horzOverflow="overflow"/>
                </a:tc>
              </a:tr>
              <a:tr h="508000">
                <a:tc>
                  <a:txBody>
                    <a:bodyPr/>
                    <a:lstStyle/>
                    <a:p>
                      <a:pPr algn="l" defTabSz="914400"/>
                      <a:r>
                        <a:rPr b="0" i="0" strike="noStrike" dirty="0"/>
                        <a:t>DrawingNewClassic</a:t>
                      </a:r>
                    </a:p>
                  </a:txBody>
                  <a:tcPr horzOverflow="overflow"/>
                </a:tc>
              </a:tr>
              <a:tr h="508000">
                <a:tc>
                  <a:txBody>
                    <a:bodyPr/>
                    <a:lstStyle/>
                    <a:p>
                      <a:pPr algn="l" defTabSz="914400"/>
                      <a:r>
                        <a:rPr b="0" i="0" strike="noStrike" dirty="0"/>
                        <a:t>HyperlinkInsert</a:t>
                      </a:r>
                    </a:p>
                  </a:txBody>
                  <a:tcPr horzOverflow="overflow"/>
                </a:tc>
              </a:tr>
              <a:tr h="508000">
                <a:tc>
                  <a:txBody>
                    <a:bodyPr/>
                    <a:lstStyle/>
                    <a:p>
                      <a:pPr algn="l" defTabSz="914400"/>
                      <a:r>
                        <a:rPr b="0" i="0" strike="noStrike" dirty="0"/>
                        <a:t>HyperlinkEdit</a:t>
                      </a:r>
                    </a:p>
                  </a:txBody>
                  <a:tcPr horzOverflow="overflow"/>
                </a:tc>
              </a:tr>
              <a:tr h="508000">
                <a:tc>
                  <a:txBody>
                    <a:bodyPr/>
                    <a:lstStyle/>
                    <a:p>
                      <a:pPr algn="l" defTabSz="914400"/>
                      <a:r>
                        <a:rPr b="0" i="0" strike="noStrike" dirty="0"/>
                        <a:t>ReviewNewComment</a:t>
                      </a:r>
                    </a:p>
                  </a:txBody>
                  <a:tcPr horzOverflow="overflow"/>
                </a:tc>
              </a:tr>
              <a:tr h="508000">
                <a:tc>
                  <a:txBody>
                    <a:bodyPr/>
                    <a:lstStyle/>
                    <a:p>
                      <a:pPr algn="l" defTabSz="914400"/>
                      <a:r>
                        <a:rPr b="0" i="0" strike="noStrike" dirty="0"/>
                        <a:t>ReviewPreviousComment</a:t>
                      </a:r>
                    </a:p>
                  </a:txBody>
                  <a:tcPr horzOverflow="overflow"/>
                </a:tc>
              </a:tr>
            </a:tbl>
          </a:graphicData>
        </a:graphic>
      </p:graphicFrame>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ReviewNextComment</a:t>
                      </a:r>
                    </a:p>
                  </a:txBody>
                  <a:tcPr horzOverflow="overflow"/>
                </a:tc>
              </a:tr>
              <a:tr h="508000">
                <a:tc>
                  <a:txBody>
                    <a:bodyPr/>
                    <a:lstStyle/>
                    <a:p>
                      <a:pPr algn="l" defTabSz="914400"/>
                      <a:r>
                        <a:rPr b="0" i="0" strike="noStrike" dirty="0"/>
                        <a:t>ReviewDeleteComment</a:t>
                      </a:r>
                    </a:p>
                  </a:txBody>
                  <a:tcPr horzOverflow="overflow"/>
                </a:tc>
              </a:tr>
              <a:tr h="508000">
                <a:tc>
                  <a:txBody>
                    <a:bodyPr/>
                    <a:lstStyle/>
                    <a:p>
                      <a:pPr algn="l" defTabSz="914400"/>
                      <a:r>
                        <a:rPr b="0" i="0" strike="noStrike" dirty="0"/>
                        <a:t>ReviewShowOrHideComment</a:t>
                      </a:r>
                    </a:p>
                  </a:txBody>
                  <a:tcPr horzOverflow="overflow"/>
                </a:tc>
              </a:tr>
              <a:tr h="508000">
                <a:tc>
                  <a:txBody>
                    <a:bodyPr/>
                    <a:lstStyle/>
                    <a:p>
                      <a:pPr algn="l" defTabSz="914400"/>
                      <a:r>
                        <a:rPr b="0" i="0" strike="noStrike" dirty="0"/>
                        <a:t>ReviewShowAllComments</a:t>
                      </a:r>
                    </a:p>
                  </a:txBody>
                  <a:tcPr horzOverflow="overflow"/>
                </a:tc>
              </a:tr>
              <a:tr h="508000">
                <a:tc>
                  <a:txBody>
                    <a:bodyPr/>
                    <a:lstStyle/>
                    <a:p>
                      <a:pPr algn="l" defTabSz="914400"/>
                      <a:r>
                        <a:rPr b="0" i="0" strike="noStrike" dirty="0"/>
                        <a:t>PivotTableOptions</a:t>
                      </a:r>
                    </a:p>
                  </a:txBody>
                  <a:tcPr horzOverflow="overflow"/>
                </a:tc>
              </a:tr>
              <a:tr h="508000">
                <a:tc>
                  <a:txBody>
                    <a:bodyPr/>
                    <a:lstStyle/>
                    <a:p>
                      <a:pPr algn="l" defTabSz="914400"/>
                      <a:r>
                        <a:rPr b="0" i="0" strike="noStrike" dirty="0"/>
                        <a:t>DesignMode</a:t>
                      </a:r>
                    </a:p>
                  </a:txBody>
                  <a:tcPr horzOverflow="overflow"/>
                </a:tc>
              </a:tr>
              <a:tr h="508000">
                <a:tc>
                  <a:txBody>
                    <a:bodyPr/>
                    <a:lstStyle/>
                    <a:p>
                      <a:pPr algn="l" defTabSz="914400"/>
                      <a:r>
                        <a:rPr b="0" i="0" strike="noStrike" dirty="0"/>
                        <a:t>WordArtInsertDialogClassic</a:t>
                      </a:r>
                    </a:p>
                  </a:txBody>
                  <a:tcPr horzOverflow="overflow"/>
                </a:tc>
              </a:tr>
              <a:tr h="508000">
                <a:tc>
                  <a:txBody>
                    <a:bodyPr/>
                    <a:lstStyle/>
                    <a:p>
                      <a:pPr algn="l" defTabSz="914400"/>
                      <a:r>
                        <a:rPr b="0" i="0" strike="noStrike" dirty="0"/>
                        <a:t>FormFieldProperties</a:t>
                      </a:r>
                    </a:p>
                  </a:txBody>
                  <a:tcPr horzOverflow="overflow"/>
                </a:tc>
              </a:tr>
              <a:tr h="508000">
                <a:tc>
                  <a:txBody>
                    <a:bodyPr/>
                    <a:lstStyle/>
                    <a:p>
                      <a:pPr algn="l" defTabSz="914400"/>
                      <a:r>
                        <a:rPr b="0" i="0" strike="noStrike" dirty="0"/>
                        <a:t>PhoneticGuideEdit</a:t>
                      </a:r>
                    </a:p>
                  </a:txBody>
                  <a:tcPr horzOverflow="overflow"/>
                </a:tc>
              </a:tr>
              <a:tr h="508000">
                <a:tc>
                  <a:txBody>
                    <a:bodyPr/>
                    <a:lstStyle/>
                    <a:p>
                      <a:pPr algn="l" defTabSz="914400"/>
                      <a:r>
                        <a:rPr b="0" i="0" strike="noStrike" dirty="0"/>
                        <a:t>FullScreenViewClassic</a:t>
                      </a:r>
                    </a:p>
                  </a:txBody>
                  <a:tcPr horzOverflow="overflow"/>
                </a:tc>
              </a:tr>
            </a:tbl>
          </a:graphicData>
        </a:graphic>
      </p:graphicFrame>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PhoneticGuideSettings</a:t>
                      </a:r>
                    </a:p>
                  </a:txBody>
                  <a:tcPr horzOverflow="overflow"/>
                </a:tc>
              </a:tr>
              <a:tr h="508000">
                <a:tc>
                  <a:txBody>
                    <a:bodyPr/>
                    <a:lstStyle/>
                    <a:p>
                      <a:pPr algn="l" defTabSz="914400"/>
                      <a:r>
                        <a:rPr b="0" i="0" strike="noStrike" dirty="0"/>
                        <a:t>PhoneticGuideFieldShow</a:t>
                      </a:r>
                    </a:p>
                  </a:txBody>
                  <a:tcPr horzOverflow="overflow"/>
                </a:tc>
              </a:tr>
              <a:tr h="508000">
                <a:tc>
                  <a:txBody>
                    <a:bodyPr/>
                    <a:lstStyle/>
                    <a:p>
                      <a:pPr algn="l" defTabSz="914400"/>
                      <a:r>
                        <a:rPr b="0" i="0" strike="noStrike" dirty="0"/>
                        <a:t>CircularReferences</a:t>
                      </a:r>
                    </a:p>
                  </a:txBody>
                  <a:tcPr horzOverflow="overflow"/>
                </a:tc>
              </a:tr>
              <a:tr h="508000">
                <a:tc>
                  <a:txBody>
                    <a:bodyPr/>
                    <a:lstStyle/>
                    <a:p>
                      <a:pPr algn="l" defTabSz="914400"/>
                      <a:r>
                        <a:rPr b="0" i="0" strike="noStrike" dirty="0"/>
                        <a:t>MasterDocumentExpandOrCollapseSubdocuments</a:t>
                      </a:r>
                    </a:p>
                  </a:txBody>
                  <a:tcPr horzOverflow="overflow"/>
                </a:tc>
              </a:tr>
              <a:tr h="508000">
                <a:tc>
                  <a:txBody>
                    <a:bodyPr/>
                    <a:lstStyle/>
                    <a:p>
                      <a:pPr algn="l" defTabSz="914400"/>
                      <a:r>
                        <a:rPr b="0" i="0" strike="noStrike" dirty="0"/>
                        <a:t>Chart3DConeChart</a:t>
                      </a:r>
                    </a:p>
                  </a:txBody>
                  <a:tcPr horzOverflow="overflow"/>
                </a:tc>
              </a:tr>
              <a:tr h="508000">
                <a:tc>
                  <a:txBody>
                    <a:bodyPr/>
                    <a:lstStyle/>
                    <a:p>
                      <a:pPr algn="l" defTabSz="914400"/>
                      <a:r>
                        <a:rPr b="0" i="0" strike="noStrike" dirty="0"/>
                        <a:t>InternationalCurrency</a:t>
                      </a:r>
                    </a:p>
                  </a:txBody>
                  <a:tcPr horzOverflow="overflow"/>
                </a:tc>
              </a:tr>
              <a:tr h="508000">
                <a:tc>
                  <a:txBody>
                    <a:bodyPr/>
                    <a:lstStyle/>
                    <a:p>
                      <a:pPr algn="l" defTabSz="914400"/>
                      <a:r>
                        <a:rPr b="0" i="0" strike="noStrike" dirty="0"/>
                        <a:t>ObjectsAlignCenterInFormHorixontally</a:t>
                      </a:r>
                    </a:p>
                  </a:txBody>
                  <a:tcPr horzOverflow="overflow"/>
                </a:tc>
              </a:tr>
              <a:tr h="508000">
                <a:tc>
                  <a:txBody>
                    <a:bodyPr/>
                    <a:lstStyle/>
                    <a:p>
                      <a:pPr algn="l" defTabSz="914400"/>
                      <a:r>
                        <a:rPr b="0" i="0" strike="noStrike" dirty="0"/>
                        <a:t>ObjectsAlignCenterInFormVertically</a:t>
                      </a:r>
                    </a:p>
                  </a:txBody>
                  <a:tcPr horzOverflow="overflow"/>
                </a:tc>
              </a:tr>
              <a:tr h="508000">
                <a:tc>
                  <a:txBody>
                    <a:bodyPr/>
                    <a:lstStyle/>
                    <a:p>
                      <a:pPr algn="l" defTabSz="914400"/>
                      <a:r>
                        <a:rPr b="0" i="0" strike="noStrike" dirty="0"/>
                        <a:t>SizeToControlWidth</a:t>
                      </a:r>
                    </a:p>
                  </a:txBody>
                  <a:tcPr horzOverflow="overflow"/>
                </a:tc>
              </a:tr>
              <a:tr h="508000">
                <a:tc>
                  <a:txBody>
                    <a:bodyPr/>
                    <a:lstStyle/>
                    <a:p>
                      <a:pPr algn="l" defTabSz="914400"/>
                      <a:r>
                        <a:rPr b="0" i="0" strike="noStrike" dirty="0"/>
                        <a:t>SizeToControlHeight</a:t>
                      </a:r>
                    </a:p>
                  </a:txBody>
                  <a:tcPr horzOverflow="overflow"/>
                </a:tc>
              </a:tr>
            </a:tbl>
          </a:graphicData>
        </a:graphic>
      </p:graphicFrame>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SizeToControlHeightAndWidth</a:t>
                      </a:r>
                    </a:p>
                  </a:txBody>
                  <a:tcPr horzOverflow="overflow"/>
                </a:tc>
              </a:tr>
              <a:tr h="508000">
                <a:tc>
                  <a:txBody>
                    <a:bodyPr/>
                    <a:lstStyle/>
                    <a:p>
                      <a:pPr algn="l" defTabSz="914400"/>
                      <a:r>
                        <a:rPr b="0" i="0" strike="noStrike" dirty="0"/>
                        <a:t>HorizontalSpacingDecrease</a:t>
                      </a:r>
                    </a:p>
                  </a:txBody>
                  <a:tcPr horzOverflow="overflow"/>
                </a:tc>
              </a:tr>
              <a:tr h="508000">
                <a:tc>
                  <a:txBody>
                    <a:bodyPr/>
                    <a:lstStyle/>
                    <a:p>
                      <a:pPr algn="l" defTabSz="914400"/>
                      <a:r>
                        <a:rPr b="0" i="0" strike="noStrike" dirty="0"/>
                        <a:t>HorizontalSpacingIncrease</a:t>
                      </a:r>
                    </a:p>
                  </a:txBody>
                  <a:tcPr horzOverflow="overflow"/>
                </a:tc>
              </a:tr>
              <a:tr h="508000">
                <a:tc>
                  <a:txBody>
                    <a:bodyPr/>
                    <a:lstStyle/>
                    <a:p>
                      <a:pPr algn="l" defTabSz="914400"/>
                      <a:r>
                        <a:rPr b="0" i="0" strike="noStrike" dirty="0"/>
                        <a:t>ObjectsAlignDistributeHorizontallyRemove</a:t>
                      </a:r>
                    </a:p>
                  </a:txBody>
                  <a:tcPr horzOverflow="overflow"/>
                </a:tc>
              </a:tr>
              <a:tr h="508000">
                <a:tc>
                  <a:txBody>
                    <a:bodyPr/>
                    <a:lstStyle/>
                    <a:p>
                      <a:pPr algn="l" defTabSz="914400"/>
                      <a:r>
                        <a:rPr b="0" i="0" strike="noStrike" dirty="0"/>
                        <a:t>VerticalSpacingDecrease</a:t>
                      </a:r>
                    </a:p>
                  </a:txBody>
                  <a:tcPr horzOverflow="overflow"/>
                </a:tc>
              </a:tr>
              <a:tr h="508000">
                <a:tc>
                  <a:txBody>
                    <a:bodyPr/>
                    <a:lstStyle/>
                    <a:p>
                      <a:pPr algn="l" defTabSz="914400"/>
                      <a:r>
                        <a:rPr b="0" i="0" strike="noStrike" dirty="0"/>
                        <a:t>VerticalSpacingIncrease</a:t>
                      </a:r>
                    </a:p>
                  </a:txBody>
                  <a:tcPr horzOverflow="overflow"/>
                </a:tc>
              </a:tr>
              <a:tr h="508000">
                <a:tc>
                  <a:txBody>
                    <a:bodyPr/>
                    <a:lstStyle/>
                    <a:p>
                      <a:pPr algn="l" defTabSz="914400"/>
                      <a:r>
                        <a:rPr b="0" i="0" strike="noStrike" dirty="0"/>
                        <a:t>ObjectsAlignDistributeVerticallyRemove</a:t>
                      </a:r>
                    </a:p>
                  </a:txBody>
                  <a:tcPr horzOverflow="overflow"/>
                </a:tc>
              </a:tr>
              <a:tr h="508000">
                <a:tc>
                  <a:txBody>
                    <a:bodyPr/>
                    <a:lstStyle/>
                    <a:p>
                      <a:pPr algn="l" defTabSz="914400"/>
                      <a:r>
                        <a:rPr b="0" i="0" strike="noStrike" dirty="0"/>
                        <a:t>ObjectsArrangeBottom</a:t>
                      </a:r>
                    </a:p>
                  </a:txBody>
                  <a:tcPr horzOverflow="overflow"/>
                </a:tc>
              </a:tr>
              <a:tr h="508000">
                <a:tc>
                  <a:txBody>
                    <a:bodyPr/>
                    <a:lstStyle/>
                    <a:p>
                      <a:pPr algn="l" defTabSz="914400"/>
                      <a:r>
                        <a:rPr b="0" i="0" strike="noStrike" dirty="0"/>
                        <a:t>ObjectsArrangeRight</a:t>
                      </a:r>
                    </a:p>
                  </a:txBody>
                  <a:tcPr horzOverflow="overflow"/>
                </a:tc>
              </a:tr>
              <a:tr h="508000">
                <a:tc>
                  <a:txBody>
                    <a:bodyPr/>
                    <a:lstStyle/>
                    <a:p>
                      <a:pPr algn="l" defTabSz="914400"/>
                      <a:r>
                        <a:rPr b="0" i="0" strike="noStrike" dirty="0"/>
                        <a:t>CancelMeeting</a:t>
                      </a:r>
                    </a:p>
                  </a:txBody>
                  <a:tcPr horzOverflow="overflow"/>
                </a:tc>
              </a:tr>
            </a:tbl>
          </a:graphicData>
        </a:graphic>
      </p:graphicFrame>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Private</a:t>
                      </a:r>
                    </a:p>
                  </a:txBody>
                  <a:tcPr horzOverflow="overflow"/>
                </a:tc>
              </a:tr>
              <a:tr h="508000">
                <a:tc>
                  <a:txBody>
                    <a:bodyPr/>
                    <a:lstStyle/>
                    <a:p>
                      <a:pPr algn="l" defTabSz="914400"/>
                      <a:r>
                        <a:rPr b="0" i="0" strike="noStrike" dirty="0"/>
                        <a:t>AcceptTask</a:t>
                      </a:r>
                    </a:p>
                  </a:txBody>
                  <a:tcPr horzOverflow="overflow"/>
                </a:tc>
              </a:tr>
              <a:tr h="508000">
                <a:tc>
                  <a:txBody>
                    <a:bodyPr/>
                    <a:lstStyle/>
                    <a:p>
                      <a:pPr algn="l" defTabSz="914400"/>
                      <a:r>
                        <a:rPr b="0" i="0" strike="noStrike" dirty="0"/>
                        <a:t>SaveAndNew</a:t>
                      </a:r>
                    </a:p>
                  </a:txBody>
                  <a:tcPr horzOverflow="overflow"/>
                </a:tc>
              </a:tr>
              <a:tr h="508000">
                <a:tc>
                  <a:txBody>
                    <a:bodyPr/>
                    <a:lstStyle/>
                    <a:p>
                      <a:pPr algn="l" defTabSz="914400"/>
                      <a:r>
                        <a:rPr b="0" i="0" strike="noStrike" dirty="0"/>
                        <a:t>CopyFolder</a:t>
                      </a:r>
                    </a:p>
                  </a:txBody>
                  <a:tcPr horzOverflow="overflow"/>
                </a:tc>
              </a:tr>
              <a:tr h="508000">
                <a:tc>
                  <a:txBody>
                    <a:bodyPr/>
                    <a:lstStyle/>
                    <a:p>
                      <a:pPr algn="l" defTabSz="914400"/>
                      <a:r>
                        <a:rPr b="0" i="0" strike="noStrike" dirty="0"/>
                        <a:t>EmptyTrash</a:t>
                      </a:r>
                    </a:p>
                  </a:txBody>
                  <a:tcPr horzOverflow="overflow"/>
                </a:tc>
              </a:tr>
              <a:tr h="508000">
                <a:tc>
                  <a:txBody>
                    <a:bodyPr/>
                    <a:lstStyle/>
                    <a:p>
                      <a:pPr algn="l" defTabSz="914400"/>
                      <a:r>
                        <a:rPr b="0" i="0" strike="noStrike" dirty="0"/>
                        <a:t>RecordInJournal</a:t>
                      </a:r>
                    </a:p>
                  </a:txBody>
                  <a:tcPr horzOverflow="overflow"/>
                </a:tc>
              </a:tr>
              <a:tr h="508000">
                <a:tc>
                  <a:txBody>
                    <a:bodyPr/>
                    <a:lstStyle/>
                    <a:p>
                      <a:pPr algn="l" defTabSz="914400"/>
                      <a:r>
                        <a:rPr b="0" i="0" strike="noStrike" dirty="0"/>
                        <a:t>MarkAsUnread</a:t>
                      </a:r>
                    </a:p>
                  </a:txBody>
                  <a:tcPr horzOverflow="overflow"/>
                </a:tc>
              </a:tr>
              <a:tr h="508000">
                <a:tc>
                  <a:txBody>
                    <a:bodyPr/>
                    <a:lstStyle/>
                    <a:p>
                      <a:pPr algn="l" defTabSz="914400"/>
                      <a:r>
                        <a:rPr b="0" i="0" strike="noStrike" dirty="0"/>
                        <a:t>CopyToFolder</a:t>
                      </a:r>
                    </a:p>
                  </a:txBody>
                  <a:tcPr horzOverflow="overflow"/>
                </a:tc>
              </a:tr>
              <a:tr h="508000">
                <a:tc>
                  <a:txBody>
                    <a:bodyPr/>
                    <a:lstStyle/>
                    <a:p>
                      <a:pPr algn="l" defTabSz="914400"/>
                      <a:r>
                        <a:rPr b="0" i="0" strike="noStrike" dirty="0"/>
                        <a:t>MoveToFolder</a:t>
                      </a:r>
                    </a:p>
                  </a:txBody>
                  <a:tcPr horzOverflow="overflow"/>
                </a:tc>
              </a:tr>
              <a:tr h="508000">
                <a:tc>
                  <a:txBody>
                    <a:bodyPr/>
                    <a:lstStyle/>
                    <a:p>
                      <a:pPr algn="l" defTabSz="914400"/>
                      <a:r>
                        <a:rPr b="0" i="0" strike="noStrike" dirty="0"/>
                        <a:t>ShapeFillColorPickerClassic</a:t>
                      </a:r>
                    </a:p>
                  </a:txBody>
                  <a:tcPr horzOverflow="overflow"/>
                </a:tc>
              </a:tr>
            </a:tbl>
          </a:graphicData>
        </a:graphic>
      </p:graphicFrame>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ControlLineColorPicker</a:t>
                      </a:r>
                    </a:p>
                  </a:txBody>
                  <a:tcPr horzOverflow="overflow"/>
                </a:tc>
              </a:tr>
              <a:tr h="508000">
                <a:tc>
                  <a:txBody>
                    <a:bodyPr/>
                    <a:lstStyle/>
                    <a:p>
                      <a:pPr algn="l" defTabSz="914400"/>
                      <a:r>
                        <a:rPr b="0" i="0" strike="noStrike" dirty="0"/>
                        <a:t>VisualBasic</a:t>
                      </a:r>
                    </a:p>
                  </a:txBody>
                  <a:tcPr horzOverflow="overflow"/>
                </a:tc>
              </a:tr>
              <a:tr h="508000">
                <a:tc>
                  <a:txBody>
                    <a:bodyPr/>
                    <a:lstStyle/>
                    <a:p>
                      <a:pPr algn="l" defTabSz="914400"/>
                      <a:r>
                        <a:rPr b="0" i="0" strike="noStrike" dirty="0"/>
                        <a:t>DoubleBottomBorder</a:t>
                      </a:r>
                    </a:p>
                  </a:txBody>
                  <a:tcPr horzOverflow="overflow"/>
                </a:tc>
              </a:tr>
              <a:tr h="508000">
                <a:tc>
                  <a:txBody>
                    <a:bodyPr/>
                    <a:lstStyle/>
                    <a:p>
                      <a:pPr algn="l" defTabSz="914400"/>
                      <a:r>
                        <a:rPr b="0" i="0" strike="noStrike" dirty="0"/>
                        <a:t>BorderThickBottom</a:t>
                      </a:r>
                    </a:p>
                  </a:txBody>
                  <a:tcPr horzOverflow="overflow"/>
                </a:tc>
              </a:tr>
              <a:tr h="508000">
                <a:tc>
                  <a:txBody>
                    <a:bodyPr/>
                    <a:lstStyle/>
                    <a:p>
                      <a:pPr algn="l" defTabSz="914400"/>
                      <a:r>
                        <a:rPr b="0" i="0" strike="noStrike" dirty="0"/>
                        <a:t>BorderTopAndBottom</a:t>
                      </a:r>
                    </a:p>
                  </a:txBody>
                  <a:tcPr horzOverflow="overflow"/>
                </a:tc>
              </a:tr>
              <a:tr h="508000">
                <a:tc>
                  <a:txBody>
                    <a:bodyPr/>
                    <a:lstStyle/>
                    <a:p>
                      <a:pPr algn="l" defTabSz="914400"/>
                      <a:r>
                        <a:rPr b="0" i="0" strike="noStrike" dirty="0"/>
                        <a:t>BorderTopAndDoubleBottom</a:t>
                      </a:r>
                    </a:p>
                  </a:txBody>
                  <a:tcPr horzOverflow="overflow"/>
                </a:tc>
              </a:tr>
              <a:tr h="508000">
                <a:tc>
                  <a:txBody>
                    <a:bodyPr/>
                    <a:lstStyle/>
                    <a:p>
                      <a:pPr algn="l" defTabSz="914400"/>
                      <a:r>
                        <a:rPr b="0" i="0" strike="noStrike" dirty="0"/>
                        <a:t>BorderTopAndThickBottom</a:t>
                      </a:r>
                    </a:p>
                  </a:txBody>
                  <a:tcPr horzOverflow="overflow"/>
                </a:tc>
              </a:tr>
              <a:tr h="508000">
                <a:tc>
                  <a:txBody>
                    <a:bodyPr/>
                    <a:lstStyle/>
                    <a:p>
                      <a:pPr algn="l" defTabSz="914400"/>
                      <a:r>
                        <a:rPr b="0" i="0" strike="noStrike" dirty="0"/>
                        <a:t>BordersAll</a:t>
                      </a:r>
                    </a:p>
                  </a:txBody>
                  <a:tcPr horzOverflow="overflow"/>
                </a:tc>
              </a:tr>
              <a:tr h="508000">
                <a:tc>
                  <a:txBody>
                    <a:bodyPr/>
                    <a:lstStyle/>
                    <a:p>
                      <a:pPr algn="l" defTabSz="914400"/>
                      <a:r>
                        <a:rPr b="0" i="0" strike="noStrike" dirty="0"/>
                        <a:t>BorderThickOutside</a:t>
                      </a:r>
                    </a:p>
                  </a:txBody>
                  <a:tcPr horzOverflow="overflow"/>
                </a:tc>
              </a:tr>
              <a:tr h="508000">
                <a:tc>
                  <a:txBody>
                    <a:bodyPr/>
                    <a:lstStyle/>
                    <a:p>
                      <a:pPr algn="l" defTabSz="914400"/>
                      <a:r>
                        <a:rPr b="0" i="0" strike="noStrike" dirty="0"/>
                        <a:t>SlideBackgroundFormatDialog</a:t>
                      </a:r>
                    </a:p>
                  </a:txBody>
                  <a:tcPr horzOverflow="overflow"/>
                </a:tc>
              </a:tr>
            </a:tbl>
          </a:graphicData>
        </a:graphic>
      </p:graphicFrame>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AutoSummarize</a:t>
                      </a:r>
                    </a:p>
                  </a:txBody>
                  <a:tcPr horzOverflow="overflow"/>
                </a:tc>
              </a:tr>
              <a:tr h="508000">
                <a:tc>
                  <a:txBody>
                    <a:bodyPr/>
                    <a:lstStyle/>
                    <a:p>
                      <a:pPr algn="l" defTabSz="914400"/>
                      <a:r>
                        <a:rPr b="0" i="0" strike="noStrike" dirty="0"/>
                        <a:t>ViewDocumentMap</a:t>
                      </a:r>
                    </a:p>
                  </a:txBody>
                  <a:tcPr horzOverflow="overflow"/>
                </a:tc>
              </a:tr>
              <a:tr h="508000">
                <a:tc>
                  <a:txBody>
                    <a:bodyPr/>
                    <a:lstStyle/>
                    <a:p>
                      <a:pPr algn="l" defTabSz="914400"/>
                      <a:r>
                        <a:rPr b="0" i="0" strike="noStrike" dirty="0"/>
                        <a:t>ReviewAcceptChange</a:t>
                      </a:r>
                    </a:p>
                  </a:txBody>
                  <a:tcPr horzOverflow="overflow"/>
                </a:tc>
              </a:tr>
              <a:tr h="508000">
                <a:tc>
                  <a:txBody>
                    <a:bodyPr/>
                    <a:lstStyle/>
                    <a:p>
                      <a:pPr algn="l" defTabSz="914400"/>
                      <a:r>
                        <a:rPr b="0" i="0" strike="noStrike" dirty="0"/>
                        <a:t>ReviewRejectChange</a:t>
                      </a:r>
                    </a:p>
                  </a:txBody>
                  <a:tcPr horzOverflow="overflow"/>
                </a:tc>
              </a:tr>
              <a:tr h="508000">
                <a:tc>
                  <a:txBody>
                    <a:bodyPr/>
                    <a:lstStyle/>
                    <a:p>
                      <a:pPr algn="l" defTabSz="914400"/>
                      <a:r>
                        <a:rPr b="0" i="0" strike="noStrike" dirty="0"/>
                        <a:t>TableDrawBorderPenStyle</a:t>
                      </a:r>
                    </a:p>
                  </a:txBody>
                  <a:tcPr horzOverflow="overflow"/>
                </a:tc>
              </a:tr>
              <a:tr h="508000">
                <a:tc>
                  <a:txBody>
                    <a:bodyPr/>
                    <a:lstStyle/>
                    <a:p>
                      <a:pPr algn="l" defTabSz="914400"/>
                      <a:r>
                        <a:rPr b="0" i="0" strike="noStrike" dirty="0"/>
                        <a:t>Font</a:t>
                      </a:r>
                    </a:p>
                  </a:txBody>
                  <a:tcPr horzOverflow="overflow"/>
                </a:tc>
              </a:tr>
              <a:tr h="508000">
                <a:tc>
                  <a:txBody>
                    <a:bodyPr/>
                    <a:lstStyle/>
                    <a:p>
                      <a:pPr algn="l" defTabSz="914400"/>
                      <a:r>
                        <a:rPr b="0" i="0" strike="noStrike" dirty="0"/>
                        <a:t>FontSize</a:t>
                      </a:r>
                    </a:p>
                  </a:txBody>
                  <a:tcPr horzOverflow="overflow"/>
                </a:tc>
              </a:tr>
              <a:tr h="508000">
                <a:tc>
                  <a:txBody>
                    <a:bodyPr/>
                    <a:lstStyle/>
                    <a:p>
                      <a:pPr algn="l" defTabSz="914400"/>
                      <a:r>
                        <a:rPr b="0" i="0" strike="noStrike" dirty="0"/>
                        <a:t>ZoomClassic</a:t>
                      </a:r>
                    </a:p>
                  </a:txBody>
                  <a:tcPr horzOverflow="overflow"/>
                </a:tc>
              </a:tr>
              <a:tr h="508000">
                <a:tc>
                  <a:txBody>
                    <a:bodyPr/>
                    <a:lstStyle/>
                    <a:p>
                      <a:pPr algn="l" defTabSz="914400"/>
                      <a:r>
                        <a:rPr b="0" i="0" strike="noStrike" dirty="0"/>
                        <a:t>CreateMap</a:t>
                      </a:r>
                    </a:p>
                  </a:txBody>
                  <a:tcPr horzOverflow="overflow"/>
                </a:tc>
              </a:tr>
              <a:tr h="508000">
                <a:tc>
                  <a:txBody>
                    <a:bodyPr/>
                    <a:lstStyle/>
                    <a:p>
                      <a:pPr algn="l" defTabSz="914400"/>
                      <a:r>
                        <a:rPr b="0" i="0" strike="noStrike" dirty="0"/>
                        <a:t>MergeCellsAcross</a:t>
                      </a:r>
                    </a:p>
                  </a:txBody>
                  <a:tcPr horzOverflow="overflow"/>
                </a:tc>
              </a:tr>
            </a:tbl>
          </a:graphicData>
        </a:graphic>
      </p:graphicFrame>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FieldChooser</a:t>
                      </a:r>
                    </a:p>
                  </a:txBody>
                  <a:tcPr horzOverflow="overflow"/>
                </a:tc>
              </a:tr>
              <a:tr h="508000">
                <a:tc>
                  <a:txBody>
                    <a:bodyPr/>
                    <a:lstStyle/>
                    <a:p>
                      <a:pPr algn="l" defTabSz="914400"/>
                      <a:r>
                        <a:rPr b="0" i="0" strike="noStrike" dirty="0"/>
                        <a:t>MessageHeaderToggle</a:t>
                      </a:r>
                    </a:p>
                  </a:txBody>
                  <a:tcPr horzOverflow="overflow"/>
                </a:tc>
              </a:tr>
              <a:tr h="508000">
                <a:tc>
                  <a:txBody>
                    <a:bodyPr/>
                    <a:lstStyle/>
                    <a:p>
                      <a:pPr algn="l" defTabSz="914400"/>
                      <a:r>
                        <a:rPr b="0" i="0" strike="noStrike" dirty="0"/>
                        <a:t>MeetingRequest</a:t>
                      </a:r>
                    </a:p>
                  </a:txBody>
                  <a:tcPr horzOverflow="overflow"/>
                </a:tc>
              </a:tr>
              <a:tr h="508000">
                <a:tc>
                  <a:txBody>
                    <a:bodyPr/>
                    <a:lstStyle/>
                    <a:p>
                      <a:pPr algn="l" defTabSz="914400"/>
                      <a:r>
                        <a:rPr b="0" i="0" strike="noStrike" dirty="0"/>
                        <a:t>NewNote</a:t>
                      </a:r>
                    </a:p>
                  </a:txBody>
                  <a:tcPr horzOverflow="overflow"/>
                </a:tc>
              </a:tr>
              <a:tr h="508000">
                <a:tc>
                  <a:txBody>
                    <a:bodyPr/>
                    <a:lstStyle/>
                    <a:p>
                      <a:pPr algn="l" defTabSz="914400"/>
                      <a:r>
                        <a:rPr b="0" i="0" strike="noStrike" dirty="0"/>
                        <a:t>RecurrenceEdit</a:t>
                      </a:r>
                    </a:p>
                  </a:txBody>
                  <a:tcPr horzOverflow="overflow"/>
                </a:tc>
              </a:tr>
              <a:tr h="508000">
                <a:tc>
                  <a:txBody>
                    <a:bodyPr/>
                    <a:lstStyle/>
                    <a:p>
                      <a:pPr algn="l" defTabSz="914400"/>
                      <a:r>
                        <a:rPr b="0" i="0" strike="noStrike" dirty="0"/>
                        <a:t>SendStatusReport</a:t>
                      </a:r>
                    </a:p>
                  </a:txBody>
                  <a:tcPr horzOverflow="overflow"/>
                </a:tc>
              </a:tr>
              <a:tr h="508000">
                <a:tc>
                  <a:txBody>
                    <a:bodyPr/>
                    <a:lstStyle/>
                    <a:p>
                      <a:pPr algn="l" defTabSz="914400"/>
                      <a:r>
                        <a:rPr b="0" i="0" strike="noStrike" dirty="0"/>
                        <a:t>ImagerScan</a:t>
                      </a:r>
                    </a:p>
                  </a:txBody>
                  <a:tcPr horzOverflow="overflow"/>
                </a:tc>
              </a:tr>
              <a:tr h="508000">
                <a:tc>
                  <a:txBody>
                    <a:bodyPr/>
                    <a:lstStyle/>
                    <a:p>
                      <a:pPr algn="l" defTabSz="914400"/>
                      <a:r>
                        <a:rPr b="0" i="0" strike="noStrike" dirty="0"/>
                        <a:t>QueryReturnGallery</a:t>
                      </a:r>
                    </a:p>
                  </a:txBody>
                  <a:tcPr horzOverflow="overflow"/>
                </a:tc>
              </a:tr>
              <a:tr h="508000">
                <a:tc>
                  <a:txBody>
                    <a:bodyPr/>
                    <a:lstStyle/>
                    <a:p>
                      <a:pPr algn="l" defTabSz="914400"/>
                      <a:r>
                        <a:rPr b="0" i="0" strike="noStrike" dirty="0"/>
                        <a:t>SelectRecord</a:t>
                      </a:r>
                    </a:p>
                  </a:txBody>
                  <a:tcPr horzOverflow="overflow"/>
                </a:tc>
              </a:tr>
              <a:tr h="508000">
                <a:tc>
                  <a:txBody>
                    <a:bodyPr/>
                    <a:lstStyle/>
                    <a:p>
                      <a:pPr algn="l" defTabSz="914400"/>
                      <a:r>
                        <a:rPr b="0" i="0" strike="noStrike" dirty="0"/>
                        <a:t>SelectAllRecords</a:t>
                      </a:r>
                    </a:p>
                  </a:txBody>
                  <a:tcPr horzOverflow="overflow"/>
                </a:tc>
              </a:tr>
            </a:tbl>
          </a:graphicData>
        </a:graphic>
      </p:graphicFrame>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TableTestValidationRules</a:t>
                      </a:r>
                    </a:p>
                  </a:txBody>
                  <a:tcPr horzOverflow="overflow"/>
                </a:tc>
              </a:tr>
              <a:tr h="508000">
                <a:tc>
                  <a:txBody>
                    <a:bodyPr/>
                    <a:lstStyle/>
                    <a:p>
                      <a:pPr algn="l" defTabSz="914400"/>
                      <a:r>
                        <a:rPr b="0" i="0" strike="noStrike" dirty="0"/>
                        <a:t>RelationshipsClearLayout</a:t>
                      </a:r>
                    </a:p>
                  </a:txBody>
                  <a:tcPr horzOverflow="overflow"/>
                </a:tc>
              </a:tr>
              <a:tr h="508000">
                <a:tc>
                  <a:txBody>
                    <a:bodyPr/>
                    <a:lstStyle/>
                    <a:p>
                      <a:pPr algn="l" defTabSz="914400"/>
                      <a:r>
                        <a:rPr b="0" i="0" strike="noStrike" dirty="0"/>
                        <a:t>SaveAsQuery</a:t>
                      </a:r>
                    </a:p>
                  </a:txBody>
                  <a:tcPr horzOverflow="overflow"/>
                </a:tc>
              </a:tr>
              <a:tr h="508000">
                <a:tc>
                  <a:txBody>
                    <a:bodyPr/>
                    <a:lstStyle/>
                    <a:p>
                      <a:pPr algn="l" defTabSz="914400"/>
                      <a:r>
                        <a:rPr b="0" i="0" strike="noStrike" dirty="0"/>
                        <a:t>LoadFromQuery</a:t>
                      </a:r>
                    </a:p>
                  </a:txBody>
                  <a:tcPr horzOverflow="overflow"/>
                </a:tc>
              </a:tr>
              <a:tr h="508000">
                <a:tc>
                  <a:txBody>
                    <a:bodyPr/>
                    <a:lstStyle/>
                    <a:p>
                      <a:pPr algn="l" defTabSz="914400"/>
                      <a:r>
                        <a:rPr b="0" i="0" strike="noStrike" dirty="0"/>
                        <a:t>DatasheetColumnRename</a:t>
                      </a:r>
                    </a:p>
                  </a:txBody>
                  <a:tcPr horzOverflow="overflow"/>
                </a:tc>
              </a:tr>
              <a:tr h="508000">
                <a:tc>
                  <a:txBody>
                    <a:bodyPr/>
                    <a:lstStyle/>
                    <a:p>
                      <a:pPr algn="l" defTabSz="914400"/>
                      <a:r>
                        <a:rPr b="0" i="0" strike="noStrike" dirty="0"/>
                        <a:t>FileServerLinkTables</a:t>
                      </a:r>
                    </a:p>
                  </a:txBody>
                  <a:tcPr horzOverflow="overflow"/>
                </a:tc>
              </a:tr>
              <a:tr h="508000">
                <a:tc>
                  <a:txBody>
                    <a:bodyPr/>
                    <a:lstStyle/>
                    <a:p>
                      <a:pPr algn="l" defTabSz="914400"/>
                      <a:r>
                        <a:rPr b="0" i="0" strike="noStrike" dirty="0"/>
                        <a:t>DatasheetColumnLookup</a:t>
                      </a:r>
                    </a:p>
                  </a:txBody>
                  <a:tcPr horzOverflow="overflow"/>
                </a:tc>
              </a:tr>
              <a:tr h="508000">
                <a:tc>
                  <a:txBody>
                    <a:bodyPr/>
                    <a:lstStyle/>
                    <a:p>
                      <a:pPr algn="l" defTabSz="914400"/>
                      <a:r>
                        <a:rPr b="0" i="0" strike="noStrike" dirty="0"/>
                        <a:t>RecordsRefreshRecords</a:t>
                      </a:r>
                    </a:p>
                  </a:txBody>
                  <a:tcPr horzOverflow="overflow"/>
                </a:tc>
              </a:tr>
              <a:tr h="508000">
                <a:tc>
                  <a:txBody>
                    <a:bodyPr/>
                    <a:lstStyle/>
                    <a:p>
                      <a:pPr algn="l" defTabSz="914400"/>
                      <a:r>
                        <a:rPr b="0" i="0" strike="noStrike" dirty="0"/>
                        <a:t>RelationshipsEditRelationships</a:t>
                      </a:r>
                    </a:p>
                  </a:txBody>
                  <a:tcPr horzOverflow="overflow"/>
                </a:tc>
              </a:tr>
              <a:tr h="508000">
                <a:tc>
                  <a:txBody>
                    <a:bodyPr/>
                    <a:lstStyle/>
                    <a:p>
                      <a:pPr algn="l" defTabSz="914400"/>
                      <a:r>
                        <a:rPr b="0" i="0" strike="noStrike" dirty="0"/>
                        <a:t>RelationshipsHideTable</a:t>
                      </a:r>
                    </a:p>
                  </a:txBody>
                  <a:tcPr horzOverflow="overflow"/>
                </a:tc>
              </a:tr>
            </a:tbl>
          </a:graphicData>
        </a:graphic>
      </p:graphicFrame>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ReplicationRecoverDesignMaster</a:t>
                      </a:r>
                    </a:p>
                  </a:txBody>
                  <a:tcPr horzOverflow="overflow"/>
                </a:tc>
              </a:tr>
              <a:tr h="508000">
                <a:tc>
                  <a:txBody>
                    <a:bodyPr/>
                    <a:lstStyle/>
                    <a:p>
                      <a:pPr algn="l" defTabSz="914400"/>
                      <a:r>
                        <a:rPr b="0" i="0" strike="noStrike" dirty="0"/>
                        <a:t>ReplicationResolveConflicts</a:t>
                      </a:r>
                    </a:p>
                  </a:txBody>
                  <a:tcPr horzOverflow="overflow"/>
                </a:tc>
              </a:tr>
              <a:tr h="508000">
                <a:tc>
                  <a:txBody>
                    <a:bodyPr/>
                    <a:lstStyle/>
                    <a:p>
                      <a:pPr algn="l" defTabSz="914400"/>
                      <a:r>
                        <a:rPr b="0" i="0" strike="noStrike" dirty="0"/>
                        <a:t>ReplicationCreateReplica</a:t>
                      </a:r>
                    </a:p>
                  </a:txBody>
                  <a:tcPr horzOverflow="overflow"/>
                </a:tc>
              </a:tr>
              <a:tr h="508000">
                <a:tc>
                  <a:txBody>
                    <a:bodyPr/>
                    <a:lstStyle/>
                    <a:p>
                      <a:pPr algn="l" defTabSz="914400"/>
                      <a:r>
                        <a:rPr b="0" i="0" strike="noStrike" dirty="0"/>
                        <a:t>ReplicationSynchronizeNow</a:t>
                      </a:r>
                    </a:p>
                  </a:txBody>
                  <a:tcPr horzOverflow="overflow"/>
                </a:tc>
              </a:tr>
              <a:tr h="508000">
                <a:tc>
                  <a:txBody>
                    <a:bodyPr/>
                    <a:lstStyle/>
                    <a:p>
                      <a:pPr algn="l" defTabSz="914400"/>
                      <a:r>
                        <a:rPr b="0" i="0" strike="noStrike" dirty="0"/>
                        <a:t>SetDatabasePassword</a:t>
                      </a:r>
                    </a:p>
                  </a:txBody>
                  <a:tcPr horzOverflow="overflow"/>
                </a:tc>
              </a:tr>
              <a:tr h="508000">
                <a:tc>
                  <a:txBody>
                    <a:bodyPr/>
                    <a:lstStyle/>
                    <a:p>
                      <a:pPr algn="l" defTabSz="914400"/>
                      <a:r>
                        <a:rPr b="0" i="0" strike="noStrike" dirty="0"/>
                        <a:t>DatabaseUserLevelSecurityWizard</a:t>
                      </a:r>
                    </a:p>
                  </a:txBody>
                  <a:tcPr horzOverflow="overflow"/>
                </a:tc>
              </a:tr>
              <a:tr h="508000">
                <a:tc>
                  <a:txBody>
                    <a:bodyPr/>
                    <a:lstStyle/>
                    <a:p>
                      <a:pPr algn="l" defTabSz="914400"/>
                      <a:r>
                        <a:rPr b="0" i="0" strike="noStrike" dirty="0"/>
                        <a:t>DatabaseUserAndGroupAccounts</a:t>
                      </a:r>
                    </a:p>
                  </a:txBody>
                  <a:tcPr horzOverflow="overflow"/>
                </a:tc>
              </a:tr>
              <a:tr h="508000">
                <a:tc>
                  <a:txBody>
                    <a:bodyPr/>
                    <a:lstStyle/>
                    <a:p>
                      <a:pPr algn="l" defTabSz="914400"/>
                      <a:r>
                        <a:rPr b="0" i="0" strike="noStrike" dirty="0"/>
                        <a:t>ControlSpecialEffectEtched</a:t>
                      </a:r>
                    </a:p>
                  </a:txBody>
                  <a:tcPr horzOverflow="overflow"/>
                </a:tc>
              </a:tr>
              <a:tr h="508000">
                <a:tc>
                  <a:txBody>
                    <a:bodyPr/>
                    <a:lstStyle/>
                    <a:p>
                      <a:pPr algn="l" defTabSz="914400"/>
                      <a:r>
                        <a:rPr b="0" i="0" strike="noStrike" dirty="0"/>
                        <a:t>ControlSpecialEffectShadowed</a:t>
                      </a:r>
                    </a:p>
                  </a:txBody>
                  <a:tcPr horzOverflow="overflow"/>
                </a:tc>
              </a:tr>
              <a:tr h="508000">
                <a:tc>
                  <a:txBody>
                    <a:bodyPr/>
                    <a:lstStyle/>
                    <a:p>
                      <a:pPr algn="l" defTabSz="914400"/>
                      <a:r>
                        <a:rPr b="0" i="0" strike="noStrike" dirty="0"/>
                        <a:t>ControlSpecialEffectChiseled</a:t>
                      </a:r>
                    </a:p>
                  </a:txBody>
                  <a:tcPr horzOverflow="overflow"/>
                </a:tc>
              </a:tr>
            </a:tbl>
          </a:graphicData>
        </a:graphic>
      </p:graphicFrame>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WindowsCascade</a:t>
                      </a:r>
                    </a:p>
                  </a:txBody>
                  <a:tcPr horzOverflow="overflow"/>
                </a:tc>
              </a:tr>
              <a:tr h="508000">
                <a:tc>
                  <a:txBody>
                    <a:bodyPr/>
                    <a:lstStyle/>
                    <a:p>
                      <a:pPr algn="l" defTabSz="914400"/>
                      <a:r>
                        <a:rPr b="0" i="0" strike="noStrike" dirty="0"/>
                        <a:t>PositionFitToWindow</a:t>
                      </a:r>
                    </a:p>
                  </a:txBody>
                  <a:tcPr horzOverflow="overflow"/>
                </a:tc>
              </a:tr>
              <a:tr h="508000">
                <a:tc>
                  <a:txBody>
                    <a:bodyPr/>
                    <a:lstStyle/>
                    <a:p>
                      <a:pPr algn="l" defTabSz="914400"/>
                      <a:r>
                        <a:rPr b="0" i="0" strike="noStrike" dirty="0"/>
                        <a:t>BorderInsideHorizontal</a:t>
                      </a:r>
                    </a:p>
                  </a:txBody>
                  <a:tcPr horzOverflow="overflow"/>
                </a:tc>
              </a:tr>
              <a:tr h="508000">
                <a:tc>
                  <a:txBody>
                    <a:bodyPr/>
                    <a:lstStyle/>
                    <a:p>
                      <a:pPr algn="l" defTabSz="914400"/>
                      <a:r>
                        <a:rPr b="0" i="0" strike="noStrike" dirty="0"/>
                        <a:t>BorderInsideVertical</a:t>
                      </a:r>
                    </a:p>
                  </a:txBody>
                  <a:tcPr horzOverflow="overflow"/>
                </a:tc>
              </a:tr>
              <a:tr h="508000">
                <a:tc>
                  <a:txBody>
                    <a:bodyPr/>
                    <a:lstStyle/>
                    <a:p>
                      <a:pPr algn="l" defTabSz="914400"/>
                      <a:r>
                        <a:rPr b="0" i="0" strike="noStrike" dirty="0"/>
                        <a:t>BorderDiagonalDown</a:t>
                      </a:r>
                    </a:p>
                  </a:txBody>
                  <a:tcPr horzOverflow="overflow"/>
                </a:tc>
              </a:tr>
              <a:tr h="508000">
                <a:tc>
                  <a:txBody>
                    <a:bodyPr/>
                    <a:lstStyle/>
                    <a:p>
                      <a:pPr algn="l" defTabSz="914400"/>
                      <a:r>
                        <a:rPr b="0" i="0" strike="noStrike" dirty="0"/>
                        <a:t>BorderDiagonalUp</a:t>
                      </a:r>
                    </a:p>
                  </a:txBody>
                  <a:tcPr horzOverflow="overflow"/>
                </a:tc>
              </a:tr>
              <a:tr h="508000">
                <a:tc>
                  <a:txBody>
                    <a:bodyPr/>
                    <a:lstStyle/>
                    <a:p>
                      <a:pPr algn="l" defTabSz="914400"/>
                      <a:r>
                        <a:rPr b="0" i="0" strike="noStrike" dirty="0"/>
                        <a:t>MagicEightBall</a:t>
                      </a:r>
                    </a:p>
                  </a:txBody>
                  <a:tcPr horzOverflow="overflow"/>
                </a:tc>
              </a:tr>
              <a:tr h="508000">
                <a:tc>
                  <a:txBody>
                    <a:bodyPr/>
                    <a:lstStyle/>
                    <a:p>
                      <a:pPr algn="l" defTabSz="914400"/>
                      <a:r>
                        <a:rPr b="0" i="0" strike="noStrike" dirty="0"/>
                        <a:t>TextDirectionLeftToRight</a:t>
                      </a:r>
                    </a:p>
                  </a:txBody>
                  <a:tcPr horzOverflow="overflow"/>
                </a:tc>
              </a:tr>
              <a:tr h="508000">
                <a:tc>
                  <a:txBody>
                    <a:bodyPr/>
                    <a:lstStyle/>
                    <a:p>
                      <a:pPr algn="l" defTabSz="914400"/>
                      <a:r>
                        <a:rPr b="0" i="0" strike="noStrike" dirty="0"/>
                        <a:t>TextDirectionRightToLeft</a:t>
                      </a:r>
                    </a:p>
                  </a:txBody>
                  <a:tcPr horzOverflow="overflow"/>
                </a:tc>
              </a:tr>
              <a:tr h="508000">
                <a:tc>
                  <a:txBody>
                    <a:bodyPr/>
                    <a:lstStyle/>
                    <a:p>
                      <a:pPr algn="l" defTabSz="914400"/>
                      <a:r>
                        <a:rPr b="0" i="0" strike="noStrike" dirty="0"/>
                        <a:t>ActiveXCheckBox</a:t>
                      </a:r>
                    </a:p>
                  </a:txBody>
                  <a:tcPr horzOverflow="overflow"/>
                </a:tc>
              </a:tr>
            </a:tbl>
          </a:graphicData>
        </a:graphic>
      </p:graphicFrame>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FindDialogExcel</a:t>
                      </a:r>
                    </a:p>
                  </a:txBody>
                  <a:tcPr horzOverflow="overflow"/>
                </a:tc>
              </a:tr>
              <a:tr h="508000">
                <a:tc>
                  <a:txBody>
                    <a:bodyPr/>
                    <a:lstStyle/>
                    <a:p>
                      <a:pPr algn="l" defTabSz="914400"/>
                      <a:r>
                        <a:rPr b="0" i="0" strike="noStrike" dirty="0"/>
                        <a:t>ActiveXTextBox</a:t>
                      </a:r>
                    </a:p>
                  </a:txBody>
                  <a:tcPr horzOverflow="overflow"/>
                </a:tc>
              </a:tr>
              <a:tr h="508000">
                <a:tc>
                  <a:txBody>
                    <a:bodyPr/>
                    <a:lstStyle/>
                    <a:p>
                      <a:pPr algn="l" defTabSz="914400"/>
                      <a:r>
                        <a:rPr b="0" i="0" strike="noStrike" dirty="0"/>
                        <a:t>ActiveXButton</a:t>
                      </a:r>
                    </a:p>
                  </a:txBody>
                  <a:tcPr horzOverflow="overflow"/>
                </a:tc>
              </a:tr>
              <a:tr h="508000">
                <a:tc>
                  <a:txBody>
                    <a:bodyPr/>
                    <a:lstStyle/>
                    <a:p>
                      <a:pPr algn="l" defTabSz="914400"/>
                      <a:r>
                        <a:rPr b="0" i="0" strike="noStrike" dirty="0"/>
                        <a:t>ActiveXRadioButton</a:t>
                      </a:r>
                    </a:p>
                  </a:txBody>
                  <a:tcPr horzOverflow="overflow"/>
                </a:tc>
              </a:tr>
              <a:tr h="508000">
                <a:tc>
                  <a:txBody>
                    <a:bodyPr/>
                    <a:lstStyle/>
                    <a:p>
                      <a:pPr algn="l" defTabSz="914400"/>
                      <a:r>
                        <a:rPr b="0" i="0" strike="noStrike" dirty="0"/>
                        <a:t>ActiveXListBox</a:t>
                      </a:r>
                    </a:p>
                  </a:txBody>
                  <a:tcPr horzOverflow="overflow"/>
                </a:tc>
              </a:tr>
              <a:tr h="508000">
                <a:tc>
                  <a:txBody>
                    <a:bodyPr/>
                    <a:lstStyle/>
                    <a:p>
                      <a:pPr algn="l" defTabSz="914400"/>
                      <a:r>
                        <a:rPr b="0" i="0" strike="noStrike" dirty="0"/>
                        <a:t>ActiveXComboBox</a:t>
                      </a:r>
                    </a:p>
                  </a:txBody>
                  <a:tcPr horzOverflow="overflow"/>
                </a:tc>
              </a:tr>
              <a:tr h="508000">
                <a:tc>
                  <a:txBody>
                    <a:bodyPr/>
                    <a:lstStyle/>
                    <a:p>
                      <a:pPr algn="l" defTabSz="914400"/>
                      <a:r>
                        <a:rPr b="0" i="0" strike="noStrike" dirty="0"/>
                        <a:t>ActiveXToggleButton</a:t>
                      </a:r>
                    </a:p>
                  </a:txBody>
                  <a:tcPr horzOverflow="overflow"/>
                </a:tc>
              </a:tr>
              <a:tr h="508000">
                <a:tc>
                  <a:txBody>
                    <a:bodyPr/>
                    <a:lstStyle/>
                    <a:p>
                      <a:pPr algn="l" defTabSz="914400"/>
                      <a:r>
                        <a:rPr b="0" i="0" strike="noStrike" dirty="0"/>
                        <a:t>ActiveXSpinButton</a:t>
                      </a:r>
                    </a:p>
                  </a:txBody>
                  <a:tcPr horzOverflow="overflow"/>
                </a:tc>
              </a:tr>
              <a:tr h="508000">
                <a:tc>
                  <a:txBody>
                    <a:bodyPr/>
                    <a:lstStyle/>
                    <a:p>
                      <a:pPr algn="l" defTabSz="914400"/>
                      <a:r>
                        <a:rPr b="0" i="0" strike="noStrike" dirty="0"/>
                        <a:t>ActiveXScrollBar</a:t>
                      </a:r>
                    </a:p>
                  </a:txBody>
                  <a:tcPr horzOverflow="overflow"/>
                </a:tc>
              </a:tr>
              <a:tr h="508000">
                <a:tc>
                  <a:txBody>
                    <a:bodyPr/>
                    <a:lstStyle/>
                    <a:p>
                      <a:pPr algn="l" defTabSz="914400"/>
                      <a:r>
                        <a:rPr b="0" i="0" strike="noStrike" dirty="0"/>
                        <a:t>ActiveXLabel</a:t>
                      </a:r>
                    </a:p>
                  </a:txBody>
                  <a:tcPr horzOverflow="overflow"/>
                </a:tc>
              </a:tr>
            </a:tbl>
          </a:graphicData>
        </a:graphic>
      </p:graphicFrame>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ShowBcc</a:t>
                      </a:r>
                    </a:p>
                  </a:txBody>
                  <a:tcPr horzOverflow="overflow"/>
                </a:tc>
              </a:tr>
              <a:tr h="508000">
                <a:tc>
                  <a:txBody>
                    <a:bodyPr/>
                    <a:lstStyle/>
                    <a:p>
                      <a:pPr algn="l" defTabSz="914400"/>
                      <a:r>
                        <a:rPr b="0" i="0" strike="noStrike" dirty="0"/>
                        <a:t>ShowFrom</a:t>
                      </a:r>
                    </a:p>
                  </a:txBody>
                  <a:tcPr horzOverflow="overflow"/>
                </a:tc>
              </a:tr>
              <a:tr h="508000">
                <a:tc>
                  <a:txBody>
                    <a:bodyPr/>
                    <a:lstStyle/>
                    <a:p>
                      <a:pPr algn="l" defTabSz="914400"/>
                      <a:r>
                        <a:rPr b="0" i="0" strike="noStrike" dirty="0"/>
                        <a:t>DefinePrintStyles</a:t>
                      </a:r>
                    </a:p>
                  </a:txBody>
                  <a:tcPr horzOverflow="overflow"/>
                </a:tc>
              </a:tr>
              <a:tr h="508000">
                <a:tc>
                  <a:txBody>
                    <a:bodyPr/>
                    <a:lstStyle/>
                    <a:p>
                      <a:pPr algn="l" defTabSz="914400"/>
                      <a:r>
                        <a:rPr b="0" i="0" strike="noStrike" dirty="0"/>
                        <a:t>TagMarkComplete</a:t>
                      </a:r>
                    </a:p>
                  </a:txBody>
                  <a:tcPr horzOverflow="overflow"/>
                </a:tc>
              </a:tr>
              <a:tr h="508000">
                <a:tc>
                  <a:txBody>
                    <a:bodyPr/>
                    <a:lstStyle/>
                    <a:p>
                      <a:pPr algn="l" defTabSz="914400"/>
                      <a:r>
                        <a:rPr b="0" i="0" strike="noStrike" dirty="0"/>
                        <a:t>NewContactFromSameCompany</a:t>
                      </a:r>
                    </a:p>
                  </a:txBody>
                  <a:tcPr horzOverflow="overflow"/>
                </a:tc>
              </a:tr>
              <a:tr h="508000">
                <a:tc>
                  <a:txBody>
                    <a:bodyPr/>
                    <a:lstStyle/>
                    <a:p>
                      <a:pPr algn="l" defTabSz="914400"/>
                      <a:r>
                        <a:rPr b="0" i="0" strike="noStrike" dirty="0"/>
                        <a:t>ChooseForm</a:t>
                      </a:r>
                    </a:p>
                  </a:txBody>
                  <a:tcPr horzOverflow="overflow"/>
                </a:tc>
              </a:tr>
              <a:tr h="508000">
                <a:tc>
                  <a:txBody>
                    <a:bodyPr/>
                    <a:lstStyle/>
                    <a:p>
                      <a:pPr algn="l" defTabSz="914400"/>
                      <a:r>
                        <a:rPr b="0" i="0" strike="noStrike" dirty="0"/>
                        <a:t>RecoverInviteToMeeting</a:t>
                      </a:r>
                    </a:p>
                  </a:txBody>
                  <a:tcPr horzOverflow="overflow"/>
                </a:tc>
              </a:tr>
              <a:tr h="508000">
                <a:tc>
                  <a:txBody>
                    <a:bodyPr/>
                    <a:lstStyle/>
                    <a:p>
                      <a:pPr algn="l" defTabSz="914400"/>
                      <a:r>
                        <a:rPr b="0" i="0" strike="noStrike" dirty="0"/>
                        <a:t>FormPublish</a:t>
                      </a:r>
                    </a:p>
                  </a:txBody>
                  <a:tcPr horzOverflow="overflow"/>
                </a:tc>
              </a:tr>
              <a:tr h="508000">
                <a:tc>
                  <a:txBody>
                    <a:bodyPr/>
                    <a:lstStyle/>
                    <a:p>
                      <a:pPr algn="l" defTabSz="914400"/>
                      <a:r>
                        <a:rPr b="0" i="0" strike="noStrike" dirty="0"/>
                        <a:t>SkipOccurrence</a:t>
                      </a:r>
                    </a:p>
                  </a:txBody>
                  <a:tcPr horzOverflow="overflow"/>
                </a:tc>
              </a:tr>
              <a:tr h="508000">
                <a:tc>
                  <a:txBody>
                    <a:bodyPr/>
                    <a:lstStyle/>
                    <a:p>
                      <a:pPr algn="l" defTabSz="914400"/>
                      <a:r>
                        <a:rPr b="0" i="0" strike="noStrike" dirty="0"/>
                        <a:t>RightToLeftDocument</a:t>
                      </a:r>
                    </a:p>
                  </a:txBody>
                  <a:tcPr horzOverflow="overflow"/>
                </a:tc>
              </a:tr>
            </a:tbl>
          </a:graphicData>
        </a:graphic>
      </p:graphicFrame>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EditQuery</a:t>
                      </a:r>
                    </a:p>
                  </a:txBody>
                  <a:tcPr horzOverflow="overflow"/>
                </a:tc>
              </a:tr>
              <a:tr h="508000">
                <a:tc>
                  <a:txBody>
                    <a:bodyPr/>
                    <a:lstStyle/>
                    <a:p>
                      <a:pPr algn="l" defTabSz="914400"/>
                      <a:r>
                        <a:rPr b="0" i="0" strike="noStrike" dirty="0"/>
                        <a:t>DataRangeProperties</a:t>
                      </a:r>
                    </a:p>
                  </a:txBody>
                  <a:tcPr horzOverflow="overflow"/>
                </a:tc>
              </a:tr>
              <a:tr h="508000">
                <a:tc>
                  <a:txBody>
                    <a:bodyPr/>
                    <a:lstStyle/>
                    <a:p>
                      <a:pPr algn="l" defTabSz="914400"/>
                      <a:r>
                        <a:rPr b="0" i="0" strike="noStrike" dirty="0"/>
                        <a:t>RefreshAll</a:t>
                      </a:r>
                    </a:p>
                  </a:txBody>
                  <a:tcPr horzOverflow="overflow"/>
                </a:tc>
              </a:tr>
              <a:tr h="508000">
                <a:tc>
                  <a:txBody>
                    <a:bodyPr/>
                    <a:lstStyle/>
                    <a:p>
                      <a:pPr algn="l" defTabSz="914400"/>
                      <a:r>
                        <a:rPr b="0" i="0" strike="noStrike" dirty="0"/>
                        <a:t>RefreshCancel</a:t>
                      </a:r>
                    </a:p>
                  </a:txBody>
                  <a:tcPr horzOverflow="overflow"/>
                </a:tc>
              </a:tr>
              <a:tr h="508000">
                <a:tc>
                  <a:txBody>
                    <a:bodyPr/>
                    <a:lstStyle/>
                    <a:p>
                      <a:pPr algn="l" defTabSz="914400"/>
                      <a:r>
                        <a:rPr b="0" i="0" strike="noStrike" dirty="0"/>
                        <a:t>RefreshStatus</a:t>
                      </a:r>
                    </a:p>
                  </a:txBody>
                  <a:tcPr horzOverflow="overflow"/>
                </a:tc>
              </a:tr>
              <a:tr h="508000">
                <a:tc>
                  <a:txBody>
                    <a:bodyPr/>
                    <a:lstStyle/>
                    <a:p>
                      <a:pPr algn="l" defTabSz="914400"/>
                      <a:r>
                        <a:rPr b="0" i="0" strike="noStrike" dirty="0"/>
                        <a:t>ClearAll</a:t>
                      </a:r>
                    </a:p>
                  </a:txBody>
                  <a:tcPr horzOverflow="overflow"/>
                </a:tc>
              </a:tr>
              <a:tr h="508000">
                <a:tc>
                  <a:txBody>
                    <a:bodyPr/>
                    <a:lstStyle/>
                    <a:p>
                      <a:pPr algn="l" defTabSz="914400"/>
                      <a:r>
                        <a:rPr b="0" i="0" strike="noStrike" dirty="0"/>
                        <a:t>NewPostInThisFolder</a:t>
                      </a:r>
                    </a:p>
                  </a:txBody>
                  <a:tcPr horzOverflow="overflow"/>
                </a:tc>
              </a:tr>
              <a:tr h="508000">
                <a:tc>
                  <a:txBody>
                    <a:bodyPr/>
                    <a:lstStyle/>
                    <a:p>
                      <a:pPr algn="l" defTabSz="914400"/>
                      <a:r>
                        <a:rPr b="0" i="0" strike="noStrike" dirty="0"/>
                        <a:t>ReplyToAttendeesWithMessage</a:t>
                      </a:r>
                    </a:p>
                  </a:txBody>
                  <a:tcPr horzOverflow="overflow"/>
                </a:tc>
              </a:tr>
              <a:tr h="508000">
                <a:tc>
                  <a:txBody>
                    <a:bodyPr/>
                    <a:lstStyle/>
                    <a:p>
                      <a:pPr algn="l" defTabSz="914400"/>
                      <a:r>
                        <a:rPr b="0" i="0" strike="noStrike" dirty="0"/>
                        <a:t>SaveAndClose</a:t>
                      </a:r>
                    </a:p>
                  </a:txBody>
                  <a:tcPr horzOverflow="overflow"/>
                </a:tc>
              </a:tr>
              <a:tr h="508000">
                <a:tc>
                  <a:txBody>
                    <a:bodyPr/>
                    <a:lstStyle/>
                    <a:p>
                      <a:pPr algn="l" defTabSz="914400"/>
                      <a:r>
                        <a:rPr b="0" i="0" strike="noStrike" dirty="0"/>
                        <a:t>AssignTask</a:t>
                      </a:r>
                    </a:p>
                  </a:txBody>
                  <a:tcPr horzOverflow="overflow"/>
                </a:tc>
              </a:tr>
            </a:tbl>
          </a:graphicData>
        </a:graphic>
      </p:graphicFrame>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Recurrence</a:t>
                      </a:r>
                    </a:p>
                  </a:txBody>
                  <a:tcPr horzOverflow="overflow"/>
                </a:tc>
              </a:tr>
              <a:tr h="508000">
                <a:tc>
                  <a:txBody>
                    <a:bodyPr/>
                    <a:lstStyle/>
                    <a:p>
                      <a:pPr algn="l" defTabSz="914400"/>
                      <a:r>
                        <a:rPr b="0" i="0" strike="noStrike" dirty="0"/>
                        <a:t>NewMessageToContact</a:t>
                      </a:r>
                    </a:p>
                  </a:txBody>
                  <a:tcPr horzOverflow="overflow"/>
                </a:tc>
              </a:tr>
              <a:tr h="508000">
                <a:tc>
                  <a:txBody>
                    <a:bodyPr/>
                    <a:lstStyle/>
                    <a:p>
                      <a:pPr algn="l" defTabSz="914400"/>
                      <a:r>
                        <a:rPr b="0" i="0" strike="noStrike" dirty="0"/>
                        <a:t>NewTaskForContact</a:t>
                      </a:r>
                    </a:p>
                  </a:txBody>
                  <a:tcPr horzOverflow="overflow"/>
                </a:tc>
              </a:tr>
              <a:tr h="508000">
                <a:tc>
                  <a:txBody>
                    <a:bodyPr/>
                    <a:lstStyle/>
                    <a:p>
                      <a:pPr algn="l" defTabSz="914400"/>
                      <a:r>
                        <a:rPr b="0" i="0" strike="noStrike" dirty="0"/>
                        <a:t>NewMeetingWithContact</a:t>
                      </a:r>
                    </a:p>
                  </a:txBody>
                  <a:tcPr horzOverflow="overflow"/>
                </a:tc>
              </a:tr>
              <a:tr h="508000">
                <a:tc>
                  <a:txBody>
                    <a:bodyPr/>
                    <a:lstStyle/>
                    <a:p>
                      <a:pPr algn="l" defTabSz="914400"/>
                      <a:r>
                        <a:rPr b="0" i="0" strike="noStrike" dirty="0"/>
                        <a:t>NewMessageToAttendees</a:t>
                      </a:r>
                    </a:p>
                  </a:txBody>
                  <a:tcPr horzOverflow="overflow"/>
                </a:tc>
              </a:tr>
              <a:tr h="508000">
                <a:tc>
                  <a:txBody>
                    <a:bodyPr/>
                    <a:lstStyle/>
                    <a:p>
                      <a:pPr algn="l" defTabSz="914400"/>
                      <a:r>
                        <a:rPr b="0" i="0" strike="noStrike" dirty="0"/>
                        <a:t>SendUpdate</a:t>
                      </a:r>
                    </a:p>
                  </a:txBody>
                  <a:tcPr horzOverflow="overflow"/>
                </a:tc>
              </a:tr>
              <a:tr h="508000">
                <a:tc>
                  <a:txBody>
                    <a:bodyPr/>
                    <a:lstStyle/>
                    <a:p>
                      <a:pPr algn="l" defTabSz="914400"/>
                      <a:r>
                        <a:rPr b="0" i="0" strike="noStrike" dirty="0"/>
                        <a:t>ReplyToAllAttendeesWithMessage</a:t>
                      </a:r>
                    </a:p>
                  </a:txBody>
                  <a:tcPr horzOverflow="overflow"/>
                </a:tc>
              </a:tr>
              <a:tr h="508000">
                <a:tc>
                  <a:txBody>
                    <a:bodyPr/>
                    <a:lstStyle/>
                    <a:p>
                      <a:pPr algn="l" defTabSz="914400"/>
                      <a:r>
                        <a:rPr b="0" i="0" strike="noStrike" dirty="0"/>
                        <a:t>PostReplyToFolder</a:t>
                      </a:r>
                    </a:p>
                  </a:txBody>
                  <a:tcPr horzOverflow="overflow"/>
                </a:tc>
              </a:tr>
              <a:tr h="508000">
                <a:tc>
                  <a:txBody>
                    <a:bodyPr/>
                    <a:lstStyle/>
                    <a:p>
                      <a:pPr algn="l" defTabSz="914400"/>
                      <a:r>
                        <a:rPr b="0" i="0" strike="noStrike" dirty="0"/>
                        <a:t>ViewAppointmentInCalendar</a:t>
                      </a:r>
                    </a:p>
                  </a:txBody>
                  <a:tcPr horzOverflow="overflow"/>
                </a:tc>
              </a:tr>
              <a:tr h="508000">
                <a:tc>
                  <a:txBody>
                    <a:bodyPr/>
                    <a:lstStyle/>
                    <a:p>
                      <a:pPr algn="l" defTabSz="914400"/>
                      <a:r>
                        <a:rPr b="0" i="0" strike="noStrike" dirty="0"/>
                        <a:t>NewJournalEntry</a:t>
                      </a:r>
                    </a:p>
                  </a:txBody>
                  <a:tcPr horzOverflow="overflow"/>
                </a:tc>
              </a:tr>
            </a:tbl>
          </a:graphicData>
        </a:graphic>
      </p:graphicFrame>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NewMailMessage</a:t>
                      </a:r>
                    </a:p>
                  </a:txBody>
                  <a:tcPr horzOverflow="overflow"/>
                </a:tc>
              </a:tr>
              <a:tr h="508000">
                <a:tc>
                  <a:txBody>
                    <a:bodyPr/>
                    <a:lstStyle/>
                    <a:p>
                      <a:pPr algn="l" defTabSz="914400"/>
                      <a:r>
                        <a:rPr b="0" i="0" strike="noStrike" dirty="0"/>
                        <a:t>CancelAcceptTask</a:t>
                      </a:r>
                    </a:p>
                  </a:txBody>
                  <a:tcPr horzOverflow="overflow"/>
                </a:tc>
              </a:tr>
              <a:tr h="508000">
                <a:tc>
                  <a:txBody>
                    <a:bodyPr/>
                    <a:lstStyle/>
                    <a:p>
                      <a:pPr algn="l" defTabSz="914400"/>
                      <a:r>
                        <a:rPr b="0" i="0" strike="noStrike" dirty="0"/>
                        <a:t>CancelTaskAssignment</a:t>
                      </a:r>
                    </a:p>
                  </a:txBody>
                  <a:tcPr horzOverflow="overflow"/>
                </a:tc>
              </a:tr>
              <a:tr h="508000">
                <a:tc>
                  <a:txBody>
                    <a:bodyPr/>
                    <a:lstStyle/>
                    <a:p>
                      <a:pPr algn="l" defTabSz="914400"/>
                      <a:r>
                        <a:rPr b="0" i="0" strike="noStrike" dirty="0"/>
                        <a:t>CancelDeclineTask</a:t>
                      </a:r>
                    </a:p>
                  </a:txBody>
                  <a:tcPr horzOverflow="overflow"/>
                </a:tc>
              </a:tr>
              <a:tr h="508000">
                <a:tc>
                  <a:txBody>
                    <a:bodyPr/>
                    <a:lstStyle/>
                    <a:p>
                      <a:pPr algn="l" defTabSz="914400"/>
                      <a:r>
                        <a:rPr b="0" i="0" strike="noStrike" dirty="0"/>
                        <a:t>NewTaskRequest2</a:t>
                      </a:r>
                    </a:p>
                  </a:txBody>
                  <a:tcPr horzOverflow="overflow"/>
                </a:tc>
              </a:tr>
              <a:tr h="508000">
                <a:tc>
                  <a:txBody>
                    <a:bodyPr/>
                    <a:lstStyle/>
                    <a:p>
                      <a:pPr algn="l" defTabSz="914400"/>
                      <a:r>
                        <a:rPr b="0" i="0" strike="noStrike" dirty="0"/>
                        <a:t>RecurrenceEditSeries</a:t>
                      </a:r>
                    </a:p>
                  </a:txBody>
                  <a:tcPr horzOverflow="overflow"/>
                </a:tc>
              </a:tr>
              <a:tr h="508000">
                <a:tc>
                  <a:txBody>
                    <a:bodyPr/>
                    <a:lstStyle/>
                    <a:p>
                      <a:pPr algn="l" defTabSz="914400"/>
                      <a:r>
                        <a:rPr b="0" i="0" strike="noStrike" dirty="0"/>
                        <a:t>DataValidation</a:t>
                      </a:r>
                    </a:p>
                  </a:txBody>
                  <a:tcPr horzOverflow="overflow"/>
                </a:tc>
              </a:tr>
              <a:tr h="508000">
                <a:tc>
                  <a:txBody>
                    <a:bodyPr/>
                    <a:lstStyle/>
                    <a:p>
                      <a:pPr algn="l" defTabSz="914400"/>
                      <a:r>
                        <a:rPr b="0" i="0" strike="noStrike" dirty="0"/>
                        <a:t>DataValidationCircleInvalid</a:t>
                      </a:r>
                    </a:p>
                  </a:txBody>
                  <a:tcPr horzOverflow="overflow"/>
                </a:tc>
              </a:tr>
              <a:tr h="508000">
                <a:tc>
                  <a:txBody>
                    <a:bodyPr/>
                    <a:lstStyle/>
                    <a:p>
                      <a:pPr algn="l" defTabSz="914400"/>
                      <a:r>
                        <a:rPr b="0" i="0" strike="noStrike" dirty="0"/>
                        <a:t>ReviewShareWorkbook</a:t>
                      </a:r>
                    </a:p>
                  </a:txBody>
                  <a:tcPr horzOverflow="overflow"/>
                </a:tc>
              </a:tr>
              <a:tr h="508000">
                <a:tc>
                  <a:txBody>
                    <a:bodyPr/>
                    <a:lstStyle/>
                    <a:p>
                      <a:pPr algn="l" defTabSz="914400"/>
                      <a:r>
                        <a:rPr b="0" i="0" strike="noStrike" dirty="0"/>
                        <a:t>ReviewTrackChanges</a:t>
                      </a:r>
                    </a:p>
                  </a:txBody>
                  <a:tcPr horzOverflow="overflow"/>
                </a:tc>
              </a:tr>
            </a:tbl>
          </a:graphicData>
        </a:graphic>
      </p:graphicFrame>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ReviewHighlightChanges</a:t>
                      </a:r>
                    </a:p>
                  </a:txBody>
                  <a:tcPr horzOverflow="overflow"/>
                </a:tc>
              </a:tr>
              <a:tr h="508000">
                <a:tc>
                  <a:txBody>
                    <a:bodyPr/>
                    <a:lstStyle/>
                    <a:p>
                      <a:pPr algn="l" defTabSz="914400"/>
                      <a:r>
                        <a:rPr b="0" i="0" strike="noStrike" dirty="0"/>
                        <a:t>DatabaseQueryNew</a:t>
                      </a:r>
                    </a:p>
                  </a:txBody>
                  <a:tcPr horzOverflow="overflow"/>
                </a:tc>
              </a:tr>
              <a:tr h="508000">
                <a:tc>
                  <a:txBody>
                    <a:bodyPr/>
                    <a:lstStyle/>
                    <a:p>
                      <a:pPr algn="l" defTabSz="914400"/>
                      <a:r>
                        <a:rPr b="0" i="0" strike="noStrike" dirty="0"/>
                        <a:t>DataValidationClearValidationCircles</a:t>
                      </a:r>
                    </a:p>
                  </a:txBody>
                  <a:tcPr horzOverflow="overflow"/>
                </a:tc>
              </a:tr>
              <a:tr h="508000">
                <a:tc>
                  <a:txBody>
                    <a:bodyPr/>
                    <a:lstStyle/>
                    <a:p>
                      <a:pPr algn="l" defTabSz="914400"/>
                      <a:r>
                        <a:rPr b="0" i="0" strike="noStrike" dirty="0"/>
                        <a:t>ReviewEditComment</a:t>
                      </a:r>
                    </a:p>
                  </a:txBody>
                  <a:tcPr horzOverflow="overflow"/>
                </a:tc>
              </a:tr>
              <a:tr h="508000">
                <a:tc>
                  <a:txBody>
                    <a:bodyPr/>
                    <a:lstStyle/>
                    <a:p>
                      <a:pPr algn="l" defTabSz="914400"/>
                      <a:r>
                        <a:rPr b="0" i="0" strike="noStrike" dirty="0"/>
                        <a:t>TableDrawTable</a:t>
                      </a:r>
                    </a:p>
                  </a:txBody>
                  <a:tcPr horzOverflow="overflow"/>
                </a:tc>
              </a:tr>
              <a:tr h="508000">
                <a:tc>
                  <a:txBody>
                    <a:bodyPr/>
                    <a:lstStyle/>
                    <a:p>
                      <a:pPr algn="l" defTabSz="914400"/>
                      <a:r>
                        <a:rPr b="0" i="0" strike="noStrike" dirty="0"/>
                        <a:t>TableEraser</a:t>
                      </a:r>
                    </a:p>
                  </a:txBody>
                  <a:tcPr horzOverflow="overflow"/>
                </a:tc>
              </a:tr>
              <a:tr h="508000">
                <a:tc>
                  <a:txBody>
                    <a:bodyPr/>
                    <a:lstStyle/>
                    <a:p>
                      <a:pPr algn="l" defTabSz="914400"/>
                      <a:r>
                        <a:rPr b="0" i="0" strike="noStrike" dirty="0"/>
                        <a:t>TableCellAlignTop</a:t>
                      </a:r>
                    </a:p>
                  </a:txBody>
                  <a:tcPr horzOverflow="overflow"/>
                </a:tc>
              </a:tr>
              <a:tr h="508000">
                <a:tc>
                  <a:txBody>
                    <a:bodyPr/>
                    <a:lstStyle/>
                    <a:p>
                      <a:pPr algn="l" defTabSz="914400"/>
                      <a:r>
                        <a:rPr b="0" i="0" strike="noStrike" dirty="0"/>
                        <a:t>TableCellAlignCenterVertically</a:t>
                      </a:r>
                    </a:p>
                  </a:txBody>
                  <a:tcPr horzOverflow="overflow"/>
                </a:tc>
              </a:tr>
              <a:tr h="508000">
                <a:tc>
                  <a:txBody>
                    <a:bodyPr/>
                    <a:lstStyle/>
                    <a:p>
                      <a:pPr algn="l" defTabSz="914400"/>
                      <a:r>
                        <a:rPr b="0" i="0" strike="noStrike" dirty="0"/>
                        <a:t>TableCellAlignBottom</a:t>
                      </a:r>
                    </a:p>
                  </a:txBody>
                  <a:tcPr horzOverflow="overflow"/>
                </a:tc>
              </a:tr>
              <a:tr h="508000">
                <a:tc>
                  <a:txBody>
                    <a:bodyPr/>
                    <a:lstStyle/>
                    <a:p>
                      <a:pPr algn="l" defTabSz="914400"/>
                      <a:r>
                        <a:rPr b="0" i="0" strike="noStrike" dirty="0"/>
                        <a:t>TableColumnsDistribute</a:t>
                      </a:r>
                    </a:p>
                  </a:txBody>
                  <a:tcPr horzOverflow="overflow"/>
                </a:tc>
              </a:tr>
            </a:tbl>
          </a:graphicData>
        </a:graphic>
      </p:graphicFrame>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TableRowsDistribute</a:t>
                      </a:r>
                    </a:p>
                  </a:txBody>
                  <a:tcPr horzOverflow="overflow"/>
                </a:tc>
              </a:tr>
              <a:tr h="508000">
                <a:tc>
                  <a:txBody>
                    <a:bodyPr/>
                    <a:lstStyle/>
                    <a:p>
                      <a:pPr algn="l" defTabSz="914400"/>
                      <a:r>
                        <a:rPr b="0" i="0" strike="noStrike" dirty="0"/>
                        <a:t>FileCompactAndRepairDatabase</a:t>
                      </a:r>
                    </a:p>
                  </a:txBody>
                  <a:tcPr horzOverflow="overflow"/>
                </a:tc>
              </a:tr>
              <a:tr h="508000">
                <a:tc>
                  <a:txBody>
                    <a:bodyPr/>
                    <a:lstStyle/>
                    <a:p>
                      <a:pPr algn="l" defTabSz="914400"/>
                      <a:r>
                        <a:rPr b="0" i="0" strike="noStrike" dirty="0"/>
                        <a:t>DatabaseMakeMdeFile</a:t>
                      </a:r>
                    </a:p>
                  </a:txBody>
                  <a:tcPr horzOverflow="overflow"/>
                </a:tc>
              </a:tr>
              <a:tr h="508000">
                <a:tc>
                  <a:txBody>
                    <a:bodyPr/>
                    <a:lstStyle/>
                    <a:p>
                      <a:pPr algn="l" defTabSz="914400"/>
                      <a:r>
                        <a:rPr b="0" i="0" strike="noStrike" dirty="0"/>
                        <a:t>DatabaseEncodeDecode</a:t>
                      </a:r>
                    </a:p>
                  </a:txBody>
                  <a:tcPr horzOverflow="overflow"/>
                </a:tc>
              </a:tr>
              <a:tr h="508000">
                <a:tc>
                  <a:txBody>
                    <a:bodyPr/>
                    <a:lstStyle/>
                    <a:p>
                      <a:pPr algn="l" defTabSz="914400"/>
                      <a:r>
                        <a:rPr b="0" i="0" strike="noStrike" dirty="0"/>
                        <a:t>SizeToTallest</a:t>
                      </a:r>
                    </a:p>
                  </a:txBody>
                  <a:tcPr horzOverflow="overflow"/>
                </a:tc>
              </a:tr>
              <a:tr h="508000">
                <a:tc>
                  <a:txBody>
                    <a:bodyPr/>
                    <a:lstStyle/>
                    <a:p>
                      <a:pPr algn="l" defTabSz="914400"/>
                      <a:r>
                        <a:rPr b="0" i="0" strike="noStrike" dirty="0"/>
                        <a:t>SizeToShortest</a:t>
                      </a:r>
                    </a:p>
                  </a:txBody>
                  <a:tcPr horzOverflow="overflow"/>
                </a:tc>
              </a:tr>
              <a:tr h="508000">
                <a:tc>
                  <a:txBody>
                    <a:bodyPr/>
                    <a:lstStyle/>
                    <a:p>
                      <a:pPr algn="l" defTabSz="914400"/>
                      <a:r>
                        <a:rPr b="0" i="0" strike="noStrike" dirty="0"/>
                        <a:t>SizeToWidest</a:t>
                      </a:r>
                    </a:p>
                  </a:txBody>
                  <a:tcPr horzOverflow="overflow"/>
                </a:tc>
              </a:tr>
              <a:tr h="508000">
                <a:tc>
                  <a:txBody>
                    <a:bodyPr/>
                    <a:lstStyle/>
                    <a:p>
                      <a:pPr algn="l" defTabSz="914400"/>
                      <a:r>
                        <a:rPr b="0" i="0" strike="noStrike" dirty="0"/>
                        <a:t>SizeToNarrowest</a:t>
                      </a:r>
                    </a:p>
                  </a:txBody>
                  <a:tcPr horzOverflow="overflow"/>
                </a:tc>
              </a:tr>
              <a:tr h="508000">
                <a:tc>
                  <a:txBody>
                    <a:bodyPr/>
                    <a:lstStyle/>
                    <a:p>
                      <a:pPr algn="l" defTabSz="914400"/>
                      <a:r>
                        <a:rPr b="0" i="0" strike="noStrike" dirty="0"/>
                        <a:t>QueryUnionQuery</a:t>
                      </a:r>
                    </a:p>
                  </a:txBody>
                  <a:tcPr horzOverflow="overflow"/>
                </a:tc>
              </a:tr>
              <a:tr h="508000">
                <a:tc>
                  <a:txBody>
                    <a:bodyPr/>
                    <a:lstStyle/>
                    <a:p>
                      <a:pPr algn="l" defTabSz="914400"/>
                      <a:r>
                        <a:rPr b="0" i="0" strike="noStrike" dirty="0"/>
                        <a:t>QueryDataDefinition</a:t>
                      </a:r>
                    </a:p>
                  </a:txBody>
                  <a:tcPr horzOverflow="overflow"/>
                </a:tc>
              </a:tr>
            </a:tbl>
          </a:graphicData>
        </a:graphic>
      </p:graphicFrame>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QuerySqlPassThroughQuery</a:t>
                      </a:r>
                    </a:p>
                  </a:txBody>
                  <a:tcPr horzOverflow="overflow"/>
                </a:tc>
              </a:tr>
              <a:tr h="508000">
                <a:tc>
                  <a:txBody>
                    <a:bodyPr/>
                    <a:lstStyle/>
                    <a:p>
                      <a:pPr algn="l" defTabSz="914400"/>
                      <a:r>
                        <a:rPr b="0" i="0" strike="noStrike" dirty="0"/>
                        <a:t>ClearGrid</a:t>
                      </a:r>
                    </a:p>
                  </a:txBody>
                  <a:tcPr horzOverflow="overflow"/>
                </a:tc>
              </a:tr>
              <a:tr h="508000">
                <a:tc>
                  <a:txBody>
                    <a:bodyPr/>
                    <a:lstStyle/>
                    <a:p>
                      <a:pPr algn="l" defTabSz="914400"/>
                      <a:r>
                        <a:rPr b="0" i="0" strike="noStrike" dirty="0"/>
                        <a:t>ActiveXFrame</a:t>
                      </a:r>
                    </a:p>
                  </a:txBody>
                  <a:tcPr horzOverflow="overflow"/>
                </a:tc>
              </a:tr>
              <a:tr h="508000">
                <a:tc>
                  <a:txBody>
                    <a:bodyPr/>
                    <a:lstStyle/>
                    <a:p>
                      <a:pPr algn="l" defTabSz="914400"/>
                      <a:r>
                        <a:rPr b="0" i="0" strike="noStrike" dirty="0"/>
                        <a:t>ActiveXImage</a:t>
                      </a:r>
                    </a:p>
                  </a:txBody>
                  <a:tcPr horzOverflow="overflow"/>
                </a:tc>
              </a:tr>
              <a:tr h="508000">
                <a:tc>
                  <a:txBody>
                    <a:bodyPr/>
                    <a:lstStyle/>
                    <a:p>
                      <a:pPr algn="l" defTabSz="914400"/>
                      <a:r>
                        <a:rPr b="0" i="0" strike="noStrike" dirty="0"/>
                        <a:t>ShapeConnectorStyleStraight</a:t>
                      </a:r>
                    </a:p>
                  </a:txBody>
                  <a:tcPr horzOverflow="overflow"/>
                </a:tc>
              </a:tr>
              <a:tr h="508000">
                <a:tc>
                  <a:txBody>
                    <a:bodyPr/>
                    <a:lstStyle/>
                    <a:p>
                      <a:pPr algn="l" defTabSz="914400"/>
                      <a:r>
                        <a:rPr b="0" i="0" strike="noStrike" dirty="0"/>
                        <a:t>ShapeConnectorStyleElbow</a:t>
                      </a:r>
                    </a:p>
                  </a:txBody>
                  <a:tcPr horzOverflow="overflow"/>
                </a:tc>
              </a:tr>
              <a:tr h="508000">
                <a:tc>
                  <a:txBody>
                    <a:bodyPr/>
                    <a:lstStyle/>
                    <a:p>
                      <a:pPr algn="l" defTabSz="914400"/>
                      <a:r>
                        <a:rPr b="0" i="0" strike="noStrike" dirty="0"/>
                        <a:t>ShapeConnectorStyleCurved</a:t>
                      </a:r>
                    </a:p>
                  </a:txBody>
                  <a:tcPr horzOverflow="overflow"/>
                </a:tc>
              </a:tr>
              <a:tr h="508000">
                <a:tc>
                  <a:txBody>
                    <a:bodyPr/>
                    <a:lstStyle/>
                    <a:p>
                      <a:pPr algn="l" defTabSz="914400"/>
                      <a:r>
                        <a:rPr b="0" i="0" strike="noStrike" dirty="0"/>
                        <a:t>WordArtEditTextClassic</a:t>
                      </a:r>
                    </a:p>
                  </a:txBody>
                  <a:tcPr horzOverflow="overflow"/>
                </a:tc>
              </a:tr>
              <a:tr h="508000">
                <a:tc>
                  <a:txBody>
                    <a:bodyPr/>
                    <a:lstStyle/>
                    <a:p>
                      <a:pPr algn="l" defTabSz="914400"/>
                      <a:r>
                        <a:rPr b="0" i="0" strike="noStrike" dirty="0"/>
                        <a:t>FilterByResource</a:t>
                      </a:r>
                    </a:p>
                  </a:txBody>
                  <a:tcPr horzOverflow="overflow"/>
                </a:tc>
              </a:tr>
              <a:tr h="508000">
                <a:tc>
                  <a:txBody>
                    <a:bodyPr/>
                    <a:lstStyle/>
                    <a:p>
                      <a:pPr algn="l" defTabSz="914400"/>
                      <a:r>
                        <a:rPr b="0" i="0" strike="noStrike" dirty="0"/>
                        <a:t>TableInsertCellsDialog</a:t>
                      </a:r>
                    </a:p>
                  </a:txBody>
                  <a:tcPr horzOverflow="overflow"/>
                </a:tc>
              </a:tr>
            </a:tbl>
          </a:graphicData>
        </a:graphic>
      </p:graphicFrame>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DeleteCells2</a:t>
                      </a:r>
                    </a:p>
                  </a:txBody>
                  <a:tcPr horzOverflow="overflow"/>
                </a:tc>
              </a:tr>
              <a:tr h="508000">
                <a:tc>
                  <a:txBody>
                    <a:bodyPr/>
                    <a:lstStyle/>
                    <a:p>
                      <a:pPr algn="l" defTabSz="914400"/>
                      <a:r>
                        <a:rPr b="0" i="0" strike="noStrike" dirty="0"/>
                        <a:t>TableDeleteRows</a:t>
                      </a:r>
                    </a:p>
                  </a:txBody>
                  <a:tcPr horzOverflow="overflow"/>
                </a:tc>
              </a:tr>
              <a:tr h="508000">
                <a:tc>
                  <a:txBody>
                    <a:bodyPr/>
                    <a:lstStyle/>
                    <a:p>
                      <a:pPr algn="l" defTabSz="914400"/>
                      <a:r>
                        <a:rPr b="0" i="0" strike="noStrike" dirty="0"/>
                        <a:t>TableDeleteColumns</a:t>
                      </a:r>
                    </a:p>
                  </a:txBody>
                  <a:tcPr horzOverflow="overflow"/>
                </a:tc>
              </a:tr>
              <a:tr h="508000">
                <a:tc>
                  <a:txBody>
                    <a:bodyPr/>
                    <a:lstStyle/>
                    <a:p>
                      <a:pPr algn="l" defTabSz="914400"/>
                      <a:r>
                        <a:rPr b="0" i="0" strike="noStrike" dirty="0"/>
                        <a:t>Organizer</a:t>
                      </a:r>
                    </a:p>
                  </a:txBody>
                  <a:tcPr horzOverflow="overflow"/>
                </a:tc>
              </a:tr>
              <a:tr h="508000">
                <a:tc>
                  <a:txBody>
                    <a:bodyPr/>
                    <a:lstStyle/>
                    <a:p>
                      <a:pPr algn="l" defTabSz="914400"/>
                      <a:r>
                        <a:rPr b="0" i="0" strike="noStrike" dirty="0"/>
                        <a:t>ShadowOnOrOffClassic</a:t>
                      </a:r>
                    </a:p>
                  </a:txBody>
                  <a:tcPr horzOverflow="overflow"/>
                </a:tc>
              </a:tr>
              <a:tr h="508000">
                <a:tc>
                  <a:txBody>
                    <a:bodyPr/>
                    <a:lstStyle/>
                    <a:p>
                      <a:pPr algn="l" defTabSz="914400"/>
                      <a:r>
                        <a:rPr b="0" i="0" strike="noStrike" dirty="0"/>
                        <a:t>MacroRecorderStop</a:t>
                      </a:r>
                    </a:p>
                  </a:txBody>
                  <a:tcPr horzOverflow="overflow"/>
                </a:tc>
              </a:tr>
              <a:tr h="508000">
                <a:tc>
                  <a:txBody>
                    <a:bodyPr/>
                    <a:lstStyle/>
                    <a:p>
                      <a:pPr algn="l" defTabSz="914400"/>
                      <a:r>
                        <a:rPr b="0" i="0" strike="noStrike" dirty="0"/>
                        <a:t>FileSendAsAttachment</a:t>
                      </a:r>
                    </a:p>
                  </a:txBody>
                  <a:tcPr horzOverflow="overflow"/>
                </a:tc>
              </a:tr>
              <a:tr h="508000">
                <a:tc>
                  <a:txBody>
                    <a:bodyPr/>
                    <a:lstStyle/>
                    <a:p>
                      <a:pPr algn="l" defTabSz="914400"/>
                      <a:r>
                        <a:rPr b="0" i="0" strike="noStrike" dirty="0"/>
                        <a:t>AutoSummaryViewByHighlight</a:t>
                      </a:r>
                    </a:p>
                  </a:txBody>
                  <a:tcPr horzOverflow="overflow"/>
                </a:tc>
              </a:tr>
              <a:tr h="508000">
                <a:tc>
                  <a:txBody>
                    <a:bodyPr/>
                    <a:lstStyle/>
                    <a:p>
                      <a:pPr algn="l" defTabSz="914400"/>
                      <a:r>
                        <a:rPr b="0" i="0" strike="noStrike" dirty="0"/>
                        <a:t>MasterDocument</a:t>
                      </a:r>
                    </a:p>
                  </a:txBody>
                  <a:tcPr horzOverflow="overflow"/>
                </a:tc>
              </a:tr>
              <a:tr h="508000">
                <a:tc>
                  <a:txBody>
                    <a:bodyPr/>
                    <a:lstStyle/>
                    <a:p>
                      <a:pPr algn="l" defTabSz="914400"/>
                      <a:r>
                        <a:rPr b="0" i="0" strike="noStrike" dirty="0"/>
                        <a:t>ChangeCase</a:t>
                      </a:r>
                    </a:p>
                  </a:txBody>
                  <a:tcPr horzOverflow="overflow"/>
                </a:tc>
              </a:tr>
            </a:tbl>
          </a:graphicData>
        </a:graphic>
      </p:graphicFrame>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ListNumFieldInsert</a:t>
                      </a:r>
                    </a:p>
                  </a:txBody>
                  <a:tcPr horzOverflow="overflow"/>
                </a:tc>
              </a:tr>
              <a:tr h="508000">
                <a:tc>
                  <a:txBody>
                    <a:bodyPr/>
                    <a:lstStyle/>
                    <a:p>
                      <a:pPr algn="l" defTabSz="914400"/>
                      <a:r>
                        <a:rPr b="0" i="0" strike="noStrike" dirty="0"/>
                        <a:t>ParagraphSpaceBeforeNone</a:t>
                      </a:r>
                    </a:p>
                  </a:txBody>
                  <a:tcPr horzOverflow="overflow"/>
                </a:tc>
              </a:tr>
              <a:tr h="508000">
                <a:tc>
                  <a:txBody>
                    <a:bodyPr/>
                    <a:lstStyle/>
                    <a:p>
                      <a:pPr algn="l" defTabSz="914400"/>
                      <a:r>
                        <a:rPr b="0" i="0" strike="noStrike" dirty="0"/>
                        <a:t>ParagraphSpaceBefore</a:t>
                      </a:r>
                    </a:p>
                  </a:txBody>
                  <a:tcPr horzOverflow="overflow"/>
                </a:tc>
              </a:tr>
              <a:tr h="508000">
                <a:tc>
                  <a:txBody>
                    <a:bodyPr/>
                    <a:lstStyle/>
                    <a:p>
                      <a:pPr algn="l" defTabSz="914400"/>
                      <a:r>
                        <a:rPr b="0" i="0" strike="noStrike" dirty="0"/>
                        <a:t>ParagraphSpaceAddOrRemoveBefore</a:t>
                      </a:r>
                    </a:p>
                  </a:txBody>
                  <a:tcPr horzOverflow="overflow"/>
                </a:tc>
              </a:tr>
              <a:tr h="508000">
                <a:tc>
                  <a:txBody>
                    <a:bodyPr/>
                    <a:lstStyle/>
                    <a:p>
                      <a:pPr algn="l" defTabSz="914400"/>
                      <a:r>
                        <a:rPr b="0" i="0" strike="noStrike" dirty="0"/>
                        <a:t>PagePreviousWord</a:t>
                      </a:r>
                    </a:p>
                  </a:txBody>
                  <a:tcPr horzOverflow="overflow"/>
                </a:tc>
              </a:tr>
              <a:tr h="508000">
                <a:tc>
                  <a:txBody>
                    <a:bodyPr/>
                    <a:lstStyle/>
                    <a:p>
                      <a:pPr algn="l" defTabSz="914400"/>
                      <a:r>
                        <a:rPr b="0" i="0" strike="noStrike" dirty="0"/>
                        <a:t>PageNextWord</a:t>
                      </a:r>
                    </a:p>
                  </a:txBody>
                  <a:tcPr horzOverflow="overflow"/>
                </a:tc>
              </a:tr>
              <a:tr h="508000">
                <a:tc>
                  <a:txBody>
                    <a:bodyPr/>
                    <a:lstStyle/>
                    <a:p>
                      <a:pPr algn="l" defTabSz="914400"/>
                      <a:r>
                        <a:rPr b="0" i="0" strike="noStrike" dirty="0"/>
                        <a:t>MailMergeRecepientsUseExistingList</a:t>
                      </a:r>
                    </a:p>
                  </a:txBody>
                  <a:tcPr horzOverflow="overflow"/>
                </a:tc>
              </a:tr>
              <a:tr h="508000">
                <a:tc>
                  <a:txBody>
                    <a:bodyPr/>
                    <a:lstStyle/>
                    <a:p>
                      <a:pPr algn="l" defTabSz="914400"/>
                      <a:r>
                        <a:rPr b="0" i="0" strike="noStrike" dirty="0"/>
                        <a:t>FootnoteNextWord</a:t>
                      </a:r>
                    </a:p>
                  </a:txBody>
                  <a:tcPr horzOverflow="overflow"/>
                </a:tc>
              </a:tr>
              <a:tr h="508000">
                <a:tc>
                  <a:txBody>
                    <a:bodyPr/>
                    <a:lstStyle/>
                    <a:p>
                      <a:pPr algn="l" defTabSz="914400"/>
                      <a:r>
                        <a:rPr b="0" i="0" strike="noStrike" dirty="0"/>
                        <a:t>EndnoteInsertWord</a:t>
                      </a:r>
                    </a:p>
                  </a:txBody>
                  <a:tcPr horzOverflow="overflow"/>
                </a:tc>
              </a:tr>
              <a:tr h="508000">
                <a:tc>
                  <a:txBody>
                    <a:bodyPr/>
                    <a:lstStyle/>
                    <a:p>
                      <a:pPr algn="l" defTabSz="914400"/>
                      <a:r>
                        <a:rPr b="0" i="0" strike="noStrike" dirty="0"/>
                        <a:t>IndexMarkEntry</a:t>
                      </a:r>
                    </a:p>
                  </a:txBody>
                  <a:tcPr horzOverflow="overflow"/>
                </a:tc>
              </a:tr>
            </a:tbl>
          </a:graphicData>
        </a:graphic>
      </p:graphicFrame>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CitationMark</a:t>
                      </a:r>
                    </a:p>
                  </a:txBody>
                  <a:tcPr horzOverflow="overflow"/>
                </a:tc>
              </a:tr>
              <a:tr h="508000">
                <a:tc>
                  <a:txBody>
                    <a:bodyPr/>
                    <a:lstStyle/>
                    <a:p>
                      <a:pPr algn="l" defTabSz="914400"/>
                      <a:r>
                        <a:rPr b="0" i="0" strike="noStrike" dirty="0"/>
                        <a:t>IndexInsert</a:t>
                      </a:r>
                    </a:p>
                  </a:txBody>
                  <a:tcPr horzOverflow="overflow"/>
                </a:tc>
              </a:tr>
              <a:tr h="508000">
                <a:tc>
                  <a:txBody>
                    <a:bodyPr/>
                    <a:lstStyle/>
                    <a:p>
                      <a:pPr algn="l" defTabSz="914400"/>
                      <a:r>
                        <a:rPr b="0" i="0" strike="noStrike" dirty="0"/>
                        <a:t>TableOfContentsDialog</a:t>
                      </a:r>
                    </a:p>
                  </a:txBody>
                  <a:tcPr horzOverflow="overflow"/>
                </a:tc>
              </a:tr>
              <a:tr h="508000">
                <a:tc>
                  <a:txBody>
                    <a:bodyPr/>
                    <a:lstStyle/>
                    <a:p>
                      <a:pPr algn="l" defTabSz="914400"/>
                      <a:r>
                        <a:rPr b="0" i="0" strike="noStrike" dirty="0"/>
                        <a:t>TableOfFiguresInsert</a:t>
                      </a:r>
                    </a:p>
                  </a:txBody>
                  <a:tcPr horzOverflow="overflow"/>
                </a:tc>
              </a:tr>
              <a:tr h="508000">
                <a:tc>
                  <a:txBody>
                    <a:bodyPr/>
                    <a:lstStyle/>
                    <a:p>
                      <a:pPr algn="l" defTabSz="914400"/>
                      <a:r>
                        <a:rPr b="0" i="0" strike="noStrike" dirty="0"/>
                        <a:t>TableOfAuthoritiesInsert</a:t>
                      </a:r>
                    </a:p>
                  </a:txBody>
                  <a:tcPr horzOverflow="overflow"/>
                </a:tc>
              </a:tr>
              <a:tr h="508000">
                <a:tc>
                  <a:txBody>
                    <a:bodyPr/>
                    <a:lstStyle/>
                    <a:p>
                      <a:pPr algn="l" defTabSz="914400"/>
                      <a:r>
                        <a:rPr b="0" i="0" strike="noStrike" dirty="0"/>
                        <a:t>TextBoxLinkCreate</a:t>
                      </a:r>
                    </a:p>
                  </a:txBody>
                  <a:tcPr horzOverflow="overflow"/>
                </a:tc>
              </a:tr>
              <a:tr h="508000">
                <a:tc>
                  <a:txBody>
                    <a:bodyPr/>
                    <a:lstStyle/>
                    <a:p>
                      <a:pPr algn="l" defTabSz="914400"/>
                      <a:r>
                        <a:rPr b="0" i="0" strike="noStrike" dirty="0"/>
                        <a:t>TextBoxLinkBreak</a:t>
                      </a:r>
                    </a:p>
                  </a:txBody>
                  <a:tcPr horzOverflow="overflow"/>
                </a:tc>
              </a:tr>
              <a:tr h="508000">
                <a:tc>
                  <a:txBody>
                    <a:bodyPr/>
                    <a:lstStyle/>
                    <a:p>
                      <a:pPr algn="l" defTabSz="914400"/>
                      <a:r>
                        <a:rPr b="0" i="0" strike="noStrike" dirty="0"/>
                        <a:t>TextBoxNextLinked</a:t>
                      </a:r>
                    </a:p>
                  </a:txBody>
                  <a:tcPr horzOverflow="overflow"/>
                </a:tc>
              </a:tr>
              <a:tr h="508000">
                <a:tc>
                  <a:txBody>
                    <a:bodyPr/>
                    <a:lstStyle/>
                    <a:p>
                      <a:pPr algn="l" defTabSz="914400"/>
                      <a:r>
                        <a:rPr b="0" i="0" strike="noStrike" dirty="0"/>
                        <a:t>TextBoxPreviousLinked</a:t>
                      </a:r>
                    </a:p>
                  </a:txBody>
                  <a:tcPr horzOverflow="overflow"/>
                </a:tc>
              </a:tr>
              <a:tr h="508000">
                <a:tc>
                  <a:txBody>
                    <a:bodyPr/>
                    <a:lstStyle/>
                    <a:p>
                      <a:pPr algn="l" defTabSz="914400"/>
                      <a:r>
                        <a:rPr b="0" i="0" strike="noStrike" dirty="0"/>
                        <a:t>CompareAndCombine</a:t>
                      </a:r>
                    </a:p>
                  </a:txBody>
                  <a:tcPr horzOverflow="overflow"/>
                </a:tc>
              </a:tr>
            </a:tbl>
          </a:graphicData>
        </a:graphic>
      </p:graphicFrame>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PrintOptionsMenuWord</a:t>
                      </a:r>
                    </a:p>
                  </a:txBody>
                  <a:tcPr horzOverflow="overflow"/>
                </a:tc>
              </a:tr>
              <a:tr h="508000">
                <a:tc>
                  <a:txBody>
                    <a:bodyPr/>
                    <a:lstStyle/>
                    <a:p>
                      <a:pPr algn="l" defTabSz="914400"/>
                      <a:r>
                        <a:rPr b="0" i="0" strike="noStrike" dirty="0"/>
                        <a:t>PageNumberFormat</a:t>
                      </a:r>
                    </a:p>
                  </a:txBody>
                  <a:tcPr horzOverflow="overflow"/>
                </a:tc>
              </a:tr>
              <a:tr h="508000">
                <a:tc>
                  <a:txBody>
                    <a:bodyPr/>
                    <a:lstStyle/>
                    <a:p>
                      <a:pPr algn="l" defTabSz="914400"/>
                      <a:r>
                        <a:rPr b="0" i="0" strike="noStrike" dirty="0"/>
                        <a:t>CancelInvitation</a:t>
                      </a:r>
                    </a:p>
                  </a:txBody>
                  <a:tcPr horzOverflow="overflow"/>
                </a:tc>
              </a:tr>
              <a:tr h="508000">
                <a:tc>
                  <a:txBody>
                    <a:bodyPr/>
                    <a:lstStyle/>
                    <a:p>
                      <a:pPr algn="l" defTabSz="914400"/>
                      <a:r>
                        <a:rPr b="0" i="0" strike="noStrike" dirty="0"/>
                        <a:t>ContactWebPage</a:t>
                      </a:r>
                    </a:p>
                  </a:txBody>
                  <a:tcPr horzOverflow="overflow"/>
                </a:tc>
              </a:tr>
              <a:tr h="508000">
                <a:tc>
                  <a:txBody>
                    <a:bodyPr/>
                    <a:lstStyle/>
                    <a:p>
                      <a:pPr algn="l" defTabSz="914400"/>
                      <a:r>
                        <a:rPr b="0" i="0" strike="noStrike" dirty="0"/>
                        <a:t>AttachItem</a:t>
                      </a:r>
                    </a:p>
                  </a:txBody>
                  <a:tcPr horzOverflow="overflow"/>
                </a:tc>
              </a:tr>
              <a:tr h="508000">
                <a:tc>
                  <a:txBody>
                    <a:bodyPr/>
                    <a:lstStyle/>
                    <a:p>
                      <a:pPr algn="l" defTabSz="914400"/>
                      <a:r>
                        <a:rPr b="0" i="0" strike="noStrike" dirty="0"/>
                        <a:t>SendAgain</a:t>
                      </a:r>
                    </a:p>
                  </a:txBody>
                  <a:tcPr horzOverflow="overflow"/>
                </a:tc>
              </a:tr>
              <a:tr h="508000">
                <a:tc>
                  <a:txBody>
                    <a:bodyPr/>
                    <a:lstStyle/>
                    <a:p>
                      <a:pPr algn="l" defTabSz="914400"/>
                      <a:r>
                        <a:rPr b="0" i="0" strike="noStrike" dirty="0"/>
                        <a:t>EditComposePage</a:t>
                      </a:r>
                    </a:p>
                  </a:txBody>
                  <a:tcPr horzOverflow="overflow"/>
                </a:tc>
              </a:tr>
              <a:tr h="508000">
                <a:tc>
                  <a:txBody>
                    <a:bodyPr/>
                    <a:lstStyle/>
                    <a:p>
                      <a:pPr algn="l" defTabSz="914400"/>
                      <a:r>
                        <a:rPr b="0" i="0" strike="noStrike" dirty="0"/>
                        <a:t>EditReadPage</a:t>
                      </a:r>
                    </a:p>
                  </a:txBody>
                  <a:tcPr horzOverflow="overflow"/>
                </a:tc>
              </a:tr>
              <a:tr h="508000">
                <a:tc>
                  <a:txBody>
                    <a:bodyPr/>
                    <a:lstStyle/>
                    <a:p>
                      <a:pPr algn="l" defTabSz="914400"/>
                      <a:r>
                        <a:rPr b="0" i="0" strike="noStrike" dirty="0"/>
                        <a:t>DesignThisForm</a:t>
                      </a:r>
                    </a:p>
                  </a:txBody>
                  <a:tcPr horzOverflow="overflow"/>
                </a:tc>
              </a:tr>
              <a:tr h="508000">
                <a:tc>
                  <a:txBody>
                    <a:bodyPr/>
                    <a:lstStyle/>
                    <a:p>
                      <a:pPr algn="l" defTabSz="914400"/>
                      <a:r>
                        <a:rPr b="0" i="0" strike="noStrike" dirty="0"/>
                        <a:t>FileNewDefault</a:t>
                      </a:r>
                    </a:p>
                  </a:txBody>
                  <a:tcPr horzOverflow="overflow"/>
                </a:tc>
              </a:tr>
            </a:tbl>
          </a:graphicData>
        </a:graphic>
      </p:graphicFrame>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FilePrintQuick</a:t>
                      </a:r>
                    </a:p>
                  </a:txBody>
                  <a:tcPr horzOverflow="overflow"/>
                </a:tc>
              </a:tr>
              <a:tr h="508000">
                <a:tc>
                  <a:txBody>
                    <a:bodyPr/>
                    <a:lstStyle/>
                    <a:p>
                      <a:pPr algn="l" defTabSz="914400"/>
                      <a:r>
                        <a:rPr b="0" i="0" strike="noStrike" dirty="0"/>
                        <a:t>WindowsTileVertically</a:t>
                      </a:r>
                    </a:p>
                  </a:txBody>
                  <a:tcPr horzOverflow="overflow"/>
                </a:tc>
              </a:tr>
              <a:tr h="508000">
                <a:tc>
                  <a:txBody>
                    <a:bodyPr/>
                    <a:lstStyle/>
                    <a:p>
                      <a:pPr algn="l" defTabSz="914400"/>
                      <a:r>
                        <a:rPr b="0" i="0" strike="noStrike" dirty="0"/>
                        <a:t>WindowsTileHorizontally</a:t>
                      </a:r>
                    </a:p>
                  </a:txBody>
                  <a:tcPr horzOverflow="overflow"/>
                </a:tc>
              </a:tr>
              <a:tr h="508000">
                <a:tc>
                  <a:txBody>
                    <a:bodyPr/>
                    <a:lstStyle/>
                    <a:p>
                      <a:pPr algn="l" defTabSz="914400"/>
                      <a:r>
                        <a:rPr b="0" i="0" strike="noStrike" dirty="0"/>
                        <a:t>SpellingAndGrammar</a:t>
                      </a:r>
                    </a:p>
                  </a:txBody>
                  <a:tcPr horzOverflow="overflow"/>
                </a:tc>
              </a:tr>
              <a:tr h="508000">
                <a:tc>
                  <a:txBody>
                    <a:bodyPr/>
                    <a:lstStyle/>
                    <a:p>
                      <a:pPr algn="l" defTabSz="914400"/>
                      <a:r>
                        <a:rPr b="0" i="0" strike="noStrike" dirty="0"/>
                        <a:t>CopyToPersonalCalendar</a:t>
                      </a:r>
                    </a:p>
                  </a:txBody>
                  <a:tcPr horzOverflow="overflow"/>
                </a:tc>
              </a:tr>
              <a:tr h="508000">
                <a:tc>
                  <a:txBody>
                    <a:bodyPr/>
                    <a:lstStyle/>
                    <a:p>
                      <a:pPr algn="l" defTabSz="914400"/>
                      <a:r>
                        <a:rPr b="0" i="0" strike="noStrike" dirty="0"/>
                        <a:t>CopyToPersonalTaskList</a:t>
                      </a:r>
                    </a:p>
                  </a:txBody>
                  <a:tcPr horzOverflow="overflow"/>
                </a:tc>
              </a:tr>
              <a:tr h="508000">
                <a:tc>
                  <a:txBody>
                    <a:bodyPr/>
                    <a:lstStyle/>
                    <a:p>
                      <a:pPr algn="l" defTabSz="914400"/>
                      <a:r>
                        <a:rPr b="0" i="0" strike="noStrike" dirty="0"/>
                        <a:t>Post</a:t>
                      </a:r>
                    </a:p>
                  </a:txBody>
                  <a:tcPr horzOverflow="overflow"/>
                </a:tc>
              </a:tr>
              <a:tr h="508000">
                <a:tc>
                  <a:txBody>
                    <a:bodyPr/>
                    <a:lstStyle/>
                    <a:p>
                      <a:pPr algn="l" defTabSz="914400"/>
                      <a:r>
                        <a:rPr b="0" i="0" strike="noStrike" dirty="0"/>
                        <a:t>NewOfficeDocument</a:t>
                      </a:r>
                    </a:p>
                  </a:txBody>
                  <a:tcPr horzOverflow="overflow"/>
                </a:tc>
              </a:tr>
              <a:tr h="508000">
                <a:tc>
                  <a:txBody>
                    <a:bodyPr/>
                    <a:lstStyle/>
                    <a:p>
                      <a:pPr algn="l" defTabSz="914400"/>
                      <a:r>
                        <a:rPr b="0" i="0" strike="noStrike" dirty="0"/>
                        <a:t>CreateClassModule</a:t>
                      </a:r>
                    </a:p>
                  </a:txBody>
                  <a:tcPr horzOverflow="overflow"/>
                </a:tc>
              </a:tr>
              <a:tr h="508000">
                <a:tc>
                  <a:txBody>
                    <a:bodyPr/>
                    <a:lstStyle/>
                    <a:p>
                      <a:pPr algn="l" defTabSz="914400"/>
                      <a:r>
                        <a:rPr b="0" i="0" strike="noStrike" dirty="0"/>
                        <a:t>ControlTabControl</a:t>
                      </a:r>
                    </a:p>
                  </a:txBody>
                  <a:tcPr horzOverflow="overflow"/>
                </a:tc>
              </a:tr>
            </a:tbl>
          </a:graphicData>
        </a:graphic>
      </p:graphicFrame>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ControlPage</a:t>
                      </a:r>
                    </a:p>
                  </a:txBody>
                  <a:tcPr horzOverflow="overflow"/>
                </a:tc>
              </a:tr>
              <a:tr h="508000">
                <a:tc>
                  <a:txBody>
                    <a:bodyPr/>
                    <a:lstStyle/>
                    <a:p>
                      <a:pPr algn="l" defTabSz="914400"/>
                      <a:r>
                        <a:rPr b="0" i="0" strike="noStrike" dirty="0"/>
                        <a:t>ReviewPreviousChangeClassic</a:t>
                      </a:r>
                    </a:p>
                  </a:txBody>
                  <a:tcPr horzOverflow="overflow"/>
                </a:tc>
              </a:tr>
              <a:tr h="508000">
                <a:tc>
                  <a:txBody>
                    <a:bodyPr/>
                    <a:lstStyle/>
                    <a:p>
                      <a:pPr algn="l" defTabSz="914400"/>
                      <a:r>
                        <a:rPr b="0" i="0" strike="noStrike" dirty="0"/>
                        <a:t>ReviewNextChangeClassic</a:t>
                      </a:r>
                    </a:p>
                  </a:txBody>
                  <a:tcPr horzOverflow="overflow"/>
                </a:tc>
              </a:tr>
              <a:tr h="508000">
                <a:tc>
                  <a:txBody>
                    <a:bodyPr/>
                    <a:lstStyle/>
                    <a:p>
                      <a:pPr algn="l" defTabSz="914400"/>
                      <a:r>
                        <a:rPr b="0" i="0" strike="noStrike" dirty="0"/>
                        <a:t>DialMenu</a:t>
                      </a:r>
                    </a:p>
                  </a:txBody>
                  <a:tcPr horzOverflow="overflow"/>
                </a:tc>
              </a:tr>
              <a:tr h="508000">
                <a:tc>
                  <a:txBody>
                    <a:bodyPr/>
                    <a:lstStyle/>
                    <a:p>
                      <a:pPr algn="l" defTabSz="914400"/>
                      <a:r>
                        <a:rPr b="0" i="0" strike="noStrike" dirty="0"/>
                        <a:t>SendDefault</a:t>
                      </a:r>
                    </a:p>
                  </a:txBody>
                  <a:tcPr horzOverflow="overflow"/>
                </a:tc>
              </a:tr>
              <a:tr h="508000">
                <a:tc>
                  <a:txBody>
                    <a:bodyPr/>
                    <a:lstStyle/>
                    <a:p>
                      <a:pPr algn="l" defTabSz="914400"/>
                      <a:r>
                        <a:rPr b="0" i="0" strike="noStrike" dirty="0"/>
                        <a:t>MessageProperties</a:t>
                      </a:r>
                    </a:p>
                  </a:txBody>
                  <a:tcPr horzOverflow="overflow"/>
                </a:tc>
              </a:tr>
              <a:tr h="508000">
                <a:tc>
                  <a:txBody>
                    <a:bodyPr/>
                    <a:lstStyle/>
                    <a:p>
                      <a:pPr algn="l" defTabSz="914400"/>
                      <a:r>
                        <a:rPr b="0" i="0" strike="noStrike" dirty="0"/>
                        <a:t>PictureInsertFromFile</a:t>
                      </a:r>
                    </a:p>
                  </a:txBody>
                  <a:tcPr horzOverflow="overflow"/>
                </a:tc>
              </a:tr>
              <a:tr h="508000">
                <a:tc>
                  <a:txBody>
                    <a:bodyPr/>
                    <a:lstStyle/>
                    <a:p>
                      <a:pPr algn="l" defTabSz="914400"/>
                      <a:r>
                        <a:rPr b="0" i="0" strike="noStrike" dirty="0"/>
                        <a:t>TableDrawBorderPenWeight</a:t>
                      </a:r>
                    </a:p>
                  </a:txBody>
                  <a:tcPr horzOverflow="overflow"/>
                </a:tc>
              </a:tr>
              <a:tr h="508000">
                <a:tc>
                  <a:txBody>
                    <a:bodyPr/>
                    <a:lstStyle/>
                    <a:p>
                      <a:pPr algn="l" defTabSz="914400"/>
                      <a:r>
                        <a:rPr b="0" i="0" strike="noStrike" dirty="0"/>
                        <a:t>FormatObject2</a:t>
                      </a:r>
                    </a:p>
                  </a:txBody>
                  <a:tcPr horzOverflow="overflow"/>
                </a:tc>
              </a:tr>
              <a:tr h="508000">
                <a:tc>
                  <a:txBody>
                    <a:bodyPr/>
                    <a:lstStyle/>
                    <a:p>
                      <a:pPr algn="l" defTabSz="914400"/>
                      <a:r>
                        <a:rPr b="0" i="0" strike="noStrike" dirty="0"/>
                        <a:t>TableShowGridlines</a:t>
                      </a:r>
                    </a:p>
                  </a:txBody>
                  <a:tcPr horzOverflow="overflow"/>
                </a:tc>
              </a:tr>
            </a:tbl>
          </a:graphicData>
        </a:graphic>
      </p:graphicFrame>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TableBorderPenColorPicker</a:t>
                      </a:r>
                    </a:p>
                  </a:txBody>
                  <a:tcPr horzOverflow="overflow"/>
                </a:tc>
              </a:tr>
              <a:tr h="508000">
                <a:tc>
                  <a:txBody>
                    <a:bodyPr/>
                    <a:lstStyle/>
                    <a:p>
                      <a:pPr algn="l" defTabSz="914400"/>
                      <a:r>
                        <a:rPr b="0" i="0" strike="noStrike" dirty="0"/>
                        <a:t>ShowAutoShapesAndDrawingBars</a:t>
                      </a:r>
                    </a:p>
                  </a:txBody>
                  <a:tcPr horzOverflow="overflow"/>
                </a:tc>
              </a:tr>
              <a:tr h="508000">
                <a:tc>
                  <a:txBody>
                    <a:bodyPr/>
                    <a:lstStyle/>
                    <a:p>
                      <a:pPr algn="l" defTabSz="914400"/>
                      <a:r>
                        <a:rPr b="0" i="0" strike="noStrike" dirty="0"/>
                        <a:t>ShapeStraightConnectorArrow</a:t>
                      </a:r>
                    </a:p>
                  </a:txBody>
                  <a:tcPr horzOverflow="overflow"/>
                </a:tc>
              </a:tr>
              <a:tr h="508000">
                <a:tc>
                  <a:txBody>
                    <a:bodyPr/>
                    <a:lstStyle/>
                    <a:p>
                      <a:pPr algn="l" defTabSz="914400"/>
                      <a:r>
                        <a:rPr b="0" i="0" strike="noStrike" dirty="0"/>
                        <a:t>ShapeElbowConnectorArrow</a:t>
                      </a:r>
                    </a:p>
                  </a:txBody>
                  <a:tcPr horzOverflow="overflow"/>
                </a:tc>
              </a:tr>
              <a:tr h="508000">
                <a:tc>
                  <a:txBody>
                    <a:bodyPr/>
                    <a:lstStyle/>
                    <a:p>
                      <a:pPr algn="l" defTabSz="914400"/>
                      <a:r>
                        <a:rPr b="0" i="0" strike="noStrike" dirty="0"/>
                        <a:t>SourceControlAddObjects</a:t>
                      </a:r>
                    </a:p>
                  </a:txBody>
                  <a:tcPr horzOverflow="overflow"/>
                </a:tc>
              </a:tr>
              <a:tr h="508000">
                <a:tc>
                  <a:txBody>
                    <a:bodyPr/>
                    <a:lstStyle/>
                    <a:p>
                      <a:pPr algn="l" defTabSz="914400"/>
                      <a:r>
                        <a:rPr b="0" i="0" strike="noStrike" dirty="0"/>
                        <a:t>SourceControlGetLatestVersion</a:t>
                      </a:r>
                    </a:p>
                  </a:txBody>
                  <a:tcPr horzOverflow="overflow"/>
                </a:tc>
              </a:tr>
              <a:tr h="508000">
                <a:tc>
                  <a:txBody>
                    <a:bodyPr/>
                    <a:lstStyle/>
                    <a:p>
                      <a:pPr algn="l" defTabSz="914400"/>
                      <a:r>
                        <a:rPr b="0" i="0" strike="noStrike" dirty="0"/>
                        <a:t>SourceControlCheckOut</a:t>
                      </a:r>
                    </a:p>
                  </a:txBody>
                  <a:tcPr horzOverflow="overflow"/>
                </a:tc>
              </a:tr>
              <a:tr h="508000">
                <a:tc>
                  <a:txBody>
                    <a:bodyPr/>
                    <a:lstStyle/>
                    <a:p>
                      <a:pPr algn="l" defTabSz="914400"/>
                      <a:r>
                        <a:rPr b="0" i="0" strike="noStrike" dirty="0"/>
                        <a:t>SourceControlCheckIn</a:t>
                      </a:r>
                    </a:p>
                  </a:txBody>
                  <a:tcPr horzOverflow="overflow"/>
                </a:tc>
              </a:tr>
              <a:tr h="508000">
                <a:tc>
                  <a:txBody>
                    <a:bodyPr/>
                    <a:lstStyle/>
                    <a:p>
                      <a:pPr algn="l" defTabSz="914400"/>
                      <a:r>
                        <a:rPr b="0" i="0" strike="noStrike" dirty="0"/>
                        <a:t>SourceControlUndoCheckOut</a:t>
                      </a:r>
                    </a:p>
                  </a:txBody>
                  <a:tcPr horzOverflow="overflow"/>
                </a:tc>
              </a:tr>
              <a:tr h="508000">
                <a:tc>
                  <a:txBody>
                    <a:bodyPr/>
                    <a:lstStyle/>
                    <a:p>
                      <a:pPr algn="l" defTabSz="914400"/>
                      <a:r>
                        <a:rPr b="0" i="0" strike="noStrike" dirty="0"/>
                        <a:t>SourceControlShareObjects</a:t>
                      </a:r>
                    </a:p>
                  </a:txBody>
                  <a:tcPr horzOverflow="overflow"/>
                </a:tc>
              </a:tr>
            </a:tbl>
          </a:graphicData>
        </a:graphic>
      </p:graphicFrame>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SourceControlShowDifferences</a:t>
                      </a:r>
                    </a:p>
                  </a:txBody>
                  <a:tcPr horzOverflow="overflow"/>
                </a:tc>
              </a:tr>
              <a:tr h="508000">
                <a:tc>
                  <a:txBody>
                    <a:bodyPr/>
                    <a:lstStyle/>
                    <a:p>
                      <a:pPr algn="l" defTabSz="914400"/>
                      <a:r>
                        <a:rPr b="0" i="0" strike="noStrike" dirty="0"/>
                        <a:t>SourceControlShowHistory</a:t>
                      </a:r>
                    </a:p>
                  </a:txBody>
                  <a:tcPr horzOverflow="overflow"/>
                </a:tc>
              </a:tr>
              <a:tr h="508000">
                <a:tc>
                  <a:txBody>
                    <a:bodyPr/>
                    <a:lstStyle/>
                    <a:p>
                      <a:pPr algn="l" defTabSz="914400"/>
                      <a:r>
                        <a:rPr b="0" i="0" strike="noStrike" dirty="0"/>
                        <a:t>SourceControlRun</a:t>
                      </a:r>
                    </a:p>
                  </a:txBody>
                  <a:tcPr horzOverflow="overflow"/>
                </a:tc>
              </a:tr>
              <a:tr h="508000">
                <a:tc>
                  <a:txBody>
                    <a:bodyPr/>
                    <a:lstStyle/>
                    <a:p>
                      <a:pPr algn="l" defTabSz="914400"/>
                      <a:r>
                        <a:rPr b="0" i="0" strike="noStrike" dirty="0"/>
                        <a:t>SourceControlProperties</a:t>
                      </a:r>
                    </a:p>
                  </a:txBody>
                  <a:tcPr horzOverflow="overflow"/>
                </a:tc>
              </a:tr>
              <a:tr h="508000">
                <a:tc>
                  <a:txBody>
                    <a:bodyPr/>
                    <a:lstStyle/>
                    <a:p>
                      <a:pPr algn="l" defTabSz="914400"/>
                      <a:r>
                        <a:rPr b="0" i="0" strike="noStrike" dirty="0"/>
                        <a:t>SourceControlCreateDatabaseFromProject</a:t>
                      </a:r>
                    </a:p>
                  </a:txBody>
                  <a:tcPr horzOverflow="overflow"/>
                </a:tc>
              </a:tr>
              <a:tr h="508000">
                <a:tc>
                  <a:txBody>
                    <a:bodyPr/>
                    <a:lstStyle/>
                    <a:p>
                      <a:pPr algn="l" defTabSz="914400"/>
                      <a:r>
                        <a:rPr b="0" i="0" strike="noStrike" dirty="0"/>
                        <a:t>SourceControlAddDatabase</a:t>
                      </a:r>
                    </a:p>
                  </a:txBody>
                  <a:tcPr horzOverflow="overflow"/>
                </a:tc>
              </a:tr>
              <a:tr h="508000">
                <a:tc>
                  <a:txBody>
                    <a:bodyPr/>
                    <a:lstStyle/>
                    <a:p>
                      <a:pPr algn="l" defTabSz="914400"/>
                      <a:r>
                        <a:rPr b="0" i="0" strike="noStrike" dirty="0"/>
                        <a:t>SourceControlOptions</a:t>
                      </a:r>
                    </a:p>
                  </a:txBody>
                  <a:tcPr horzOverflow="overflow"/>
                </a:tc>
              </a:tr>
              <a:tr h="508000">
                <a:tc>
                  <a:txBody>
                    <a:bodyPr/>
                    <a:lstStyle/>
                    <a:p>
                      <a:pPr algn="l" defTabSz="914400"/>
                      <a:r>
                        <a:rPr b="0" i="0" strike="noStrike" dirty="0"/>
                        <a:t>SourceControlRefreshStatus</a:t>
                      </a:r>
                    </a:p>
                  </a:txBody>
                  <a:tcPr horzOverflow="overflow"/>
                </a:tc>
              </a:tr>
              <a:tr h="508000">
                <a:tc>
                  <a:txBody>
                    <a:bodyPr/>
                    <a:lstStyle/>
                    <a:p>
                      <a:pPr algn="l" defTabSz="914400"/>
                      <a:r>
                        <a:rPr b="0" i="0" strike="noStrike" dirty="0"/>
                        <a:t>DatabaseMoveToSharePoint</a:t>
                      </a:r>
                    </a:p>
                  </a:txBody>
                  <a:tcPr horzOverflow="overflow"/>
                </a:tc>
              </a:tr>
              <a:tr h="508000">
                <a:tc>
                  <a:txBody>
                    <a:bodyPr/>
                    <a:lstStyle/>
                    <a:p>
                      <a:pPr algn="l" defTabSz="914400"/>
                      <a:r>
                        <a:rPr b="0" i="0" strike="noStrike" dirty="0"/>
                        <a:t>NewPostInThisFolder3</a:t>
                      </a:r>
                    </a:p>
                  </a:txBody>
                  <a:tcPr horzOverflow="overflow"/>
                </a:tc>
              </a:tr>
            </a:tbl>
          </a:graphicData>
        </a:graphic>
      </p:graphicFrame>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SlideDelete</a:t>
                      </a:r>
                    </a:p>
                  </a:txBody>
                  <a:tcPr horzOverflow="overflow"/>
                </a:tc>
              </a:tr>
              <a:tr h="508000">
                <a:tc>
                  <a:txBody>
                    <a:bodyPr/>
                    <a:lstStyle/>
                    <a:p>
                      <a:pPr algn="l" defTabSz="914400"/>
                      <a:r>
                        <a:rPr b="0" i="0" strike="noStrike" dirty="0"/>
                        <a:t>ViewHandoutMasterView</a:t>
                      </a:r>
                    </a:p>
                  </a:txBody>
                  <a:tcPr horzOverflow="overflow"/>
                </a:tc>
              </a:tr>
              <a:tr h="508000">
                <a:tc>
                  <a:txBody>
                    <a:bodyPr/>
                    <a:lstStyle/>
                    <a:p>
                      <a:pPr algn="l" defTabSz="914400"/>
                      <a:r>
                        <a:rPr b="0" i="0" strike="noStrike" dirty="0"/>
                        <a:t>ViewNotesMasterView</a:t>
                      </a:r>
                    </a:p>
                  </a:txBody>
                  <a:tcPr horzOverflow="overflow"/>
                </a:tc>
              </a:tr>
              <a:tr h="508000">
                <a:tc>
                  <a:txBody>
                    <a:bodyPr/>
                    <a:lstStyle/>
                    <a:p>
                      <a:pPr algn="l" defTabSz="914400"/>
                      <a:r>
                        <a:rPr b="0" i="0" strike="noStrike" dirty="0"/>
                        <a:t>SlidesReuseSlides</a:t>
                      </a:r>
                    </a:p>
                  </a:txBody>
                  <a:tcPr horzOverflow="overflow"/>
                </a:tc>
              </a:tr>
              <a:tr h="508000">
                <a:tc>
                  <a:txBody>
                    <a:bodyPr/>
                    <a:lstStyle/>
                    <a:p>
                      <a:pPr algn="l" defTabSz="914400"/>
                      <a:r>
                        <a:rPr b="0" i="0" strike="noStrike" dirty="0"/>
                        <a:t>SlidesFromOutline</a:t>
                      </a:r>
                    </a:p>
                  </a:txBody>
                  <a:tcPr horzOverflow="overflow"/>
                </a:tc>
              </a:tr>
              <a:tr h="508000">
                <a:tc>
                  <a:txBody>
                    <a:bodyPr/>
                    <a:lstStyle/>
                    <a:p>
                      <a:pPr algn="l" defTabSz="914400"/>
                      <a:r>
                        <a:rPr b="0" i="0" strike="noStrike" dirty="0"/>
                        <a:t>MovieFromFileInsert</a:t>
                      </a:r>
                    </a:p>
                  </a:txBody>
                  <a:tcPr horzOverflow="overflow"/>
                </a:tc>
              </a:tr>
              <a:tr h="508000">
                <a:tc>
                  <a:txBody>
                    <a:bodyPr/>
                    <a:lstStyle/>
                    <a:p>
                      <a:pPr algn="l" defTabSz="914400"/>
                      <a:r>
                        <a:rPr b="0" i="0" strike="noStrike" dirty="0"/>
                        <a:t>SoundInsertFromFile</a:t>
                      </a:r>
                    </a:p>
                  </a:txBody>
                  <a:tcPr horzOverflow="overflow"/>
                </a:tc>
              </a:tr>
              <a:tr h="508000">
                <a:tc>
                  <a:txBody>
                    <a:bodyPr/>
                    <a:lstStyle/>
                    <a:p>
                      <a:pPr algn="l" defTabSz="914400"/>
                      <a:r>
                        <a:rPr b="0" i="0" strike="noStrike" dirty="0"/>
                        <a:t>FontsReplaceFonts</a:t>
                      </a:r>
                    </a:p>
                  </a:txBody>
                  <a:tcPr horzOverflow="overflow"/>
                </a:tc>
              </a:tr>
              <a:tr h="508000">
                <a:tc>
                  <a:txBody>
                    <a:bodyPr/>
                    <a:lstStyle/>
                    <a:p>
                      <a:pPr algn="l" defTabSz="914400"/>
                      <a:r>
                        <a:rPr b="0" i="0" strike="noStrike" dirty="0"/>
                        <a:t>SpeakerNotes</a:t>
                      </a:r>
                    </a:p>
                  </a:txBody>
                  <a:tcPr horzOverflow="overflow"/>
                </a:tc>
              </a:tr>
              <a:tr h="508000">
                <a:tc>
                  <a:txBody>
                    <a:bodyPr/>
                    <a:lstStyle/>
                    <a:p>
                      <a:pPr algn="l" defTabSz="914400"/>
                      <a:r>
                        <a:rPr b="0" i="0" strike="noStrike" dirty="0"/>
                        <a:t>BlackAndWhiteAutomatic</a:t>
                      </a:r>
                    </a:p>
                  </a:txBody>
                  <a:tcPr horzOverflow="overflow"/>
                </a:tc>
              </a:tr>
            </a:tbl>
          </a:graphicData>
        </a:graphic>
      </p:graphicFrame>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BlackAndWhiteBlack</a:t>
                      </a:r>
                    </a:p>
                  </a:txBody>
                  <a:tcPr horzOverflow="overflow"/>
                </a:tc>
              </a:tr>
              <a:tr h="508000">
                <a:tc>
                  <a:txBody>
                    <a:bodyPr/>
                    <a:lstStyle/>
                    <a:p>
                      <a:pPr algn="l" defTabSz="914400"/>
                      <a:r>
                        <a:rPr b="0" i="0" strike="noStrike" dirty="0"/>
                        <a:t>BlackAndWhiteBlackWithGrayscaleFill</a:t>
                      </a:r>
                    </a:p>
                  </a:txBody>
                  <a:tcPr horzOverflow="overflow"/>
                </a:tc>
              </a:tr>
              <a:tr h="508000">
                <a:tc>
                  <a:txBody>
                    <a:bodyPr/>
                    <a:lstStyle/>
                    <a:p>
                      <a:pPr algn="l" defTabSz="914400"/>
                      <a:r>
                        <a:rPr b="0" i="0" strike="noStrike" dirty="0"/>
                        <a:t>BlackAndWhiteBlackWithWhiteFill</a:t>
                      </a:r>
                    </a:p>
                  </a:txBody>
                  <a:tcPr horzOverflow="overflow"/>
                </a:tc>
              </a:tr>
              <a:tr h="508000">
                <a:tc>
                  <a:txBody>
                    <a:bodyPr/>
                    <a:lstStyle/>
                    <a:p>
                      <a:pPr algn="l" defTabSz="914400"/>
                      <a:r>
                        <a:rPr b="0" i="0" strike="noStrike" dirty="0"/>
                        <a:t>BlackAndWhiteDontShow</a:t>
                      </a:r>
                    </a:p>
                  </a:txBody>
                  <a:tcPr horzOverflow="overflow"/>
                </a:tc>
              </a:tr>
              <a:tr h="508000">
                <a:tc>
                  <a:txBody>
                    <a:bodyPr/>
                    <a:lstStyle/>
                    <a:p>
                      <a:pPr algn="l" defTabSz="914400"/>
                      <a:r>
                        <a:rPr b="0" i="0" strike="noStrike" dirty="0"/>
                        <a:t>BlackAndWhiteGrayWithWhiteFill</a:t>
                      </a:r>
                    </a:p>
                  </a:txBody>
                  <a:tcPr horzOverflow="overflow"/>
                </a:tc>
              </a:tr>
              <a:tr h="508000">
                <a:tc>
                  <a:txBody>
                    <a:bodyPr/>
                    <a:lstStyle/>
                    <a:p>
                      <a:pPr algn="l" defTabSz="914400"/>
                      <a:r>
                        <a:rPr b="0" i="0" strike="noStrike" dirty="0"/>
                        <a:t>BlackAndWhiteGrayscale</a:t>
                      </a:r>
                    </a:p>
                  </a:txBody>
                  <a:tcPr horzOverflow="overflow"/>
                </a:tc>
              </a:tr>
              <a:tr h="508000">
                <a:tc>
                  <a:txBody>
                    <a:bodyPr/>
                    <a:lstStyle/>
                    <a:p>
                      <a:pPr algn="l" defTabSz="914400"/>
                      <a:r>
                        <a:rPr b="0" i="0" strike="noStrike" dirty="0"/>
                        <a:t>BlackAndWhiteInverseGrayscale</a:t>
                      </a:r>
                    </a:p>
                  </a:txBody>
                  <a:tcPr horzOverflow="overflow"/>
                </a:tc>
              </a:tr>
              <a:tr h="508000">
                <a:tc>
                  <a:txBody>
                    <a:bodyPr/>
                    <a:lstStyle/>
                    <a:p>
                      <a:pPr algn="l" defTabSz="914400"/>
                      <a:r>
                        <a:rPr b="0" i="0" strike="noStrike" dirty="0"/>
                        <a:t>BlackAndWhiteWhite</a:t>
                      </a:r>
                    </a:p>
                  </a:txBody>
                  <a:tcPr horzOverflow="overflow"/>
                </a:tc>
              </a:tr>
              <a:tr h="508000">
                <a:tc>
                  <a:txBody>
                    <a:bodyPr/>
                    <a:lstStyle/>
                    <a:p>
                      <a:pPr algn="l" defTabSz="914400"/>
                      <a:r>
                        <a:rPr b="0" i="0" strike="noStrike" dirty="0"/>
                        <a:t>BlackAndWhiteLightGrayscale</a:t>
                      </a:r>
                    </a:p>
                  </a:txBody>
                  <a:tcPr horzOverflow="overflow"/>
                </a:tc>
              </a:tr>
              <a:tr h="508000">
                <a:tc>
                  <a:txBody>
                    <a:bodyPr/>
                    <a:lstStyle/>
                    <a:p>
                      <a:pPr algn="l" defTabSz="914400"/>
                      <a:r>
                        <a:rPr b="0" i="0" strike="noStrike" dirty="0"/>
                        <a:t>RecordNarration</a:t>
                      </a:r>
                    </a:p>
                  </a:txBody>
                  <a:tcPr horzOverflow="overflow"/>
                </a:tc>
              </a:tr>
            </a:tbl>
          </a:graphicData>
        </a:graphic>
      </p:graphicFrame>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SlideShowSetUpDialog</a:t>
                      </a:r>
                    </a:p>
                  </a:txBody>
                  <a:tcPr horzOverflow="overflow"/>
                </a:tc>
              </a:tr>
              <a:tr h="508000">
                <a:tc>
                  <a:txBody>
                    <a:bodyPr/>
                    <a:lstStyle/>
                    <a:p>
                      <a:pPr algn="l" defTabSz="914400"/>
                      <a:r>
                        <a:rPr b="0" i="0" strike="noStrike" dirty="0"/>
                        <a:t>SummarizeSlide</a:t>
                      </a:r>
                    </a:p>
                  </a:txBody>
                  <a:tcPr horzOverflow="overflow"/>
                </a:tc>
              </a:tr>
              <a:tr h="508000">
                <a:tc>
                  <a:txBody>
                    <a:bodyPr/>
                    <a:lstStyle/>
                    <a:p>
                      <a:pPr algn="l" defTabSz="914400"/>
                      <a:r>
                        <a:rPr b="0" i="0" strike="noStrike" dirty="0"/>
                        <a:t>TextWrappingTopAndBottom</a:t>
                      </a:r>
                    </a:p>
                  </a:txBody>
                  <a:tcPr horzOverflow="overflow"/>
                </a:tc>
              </a:tr>
              <a:tr h="508000">
                <a:tc>
                  <a:txBody>
                    <a:bodyPr/>
                    <a:lstStyle/>
                    <a:p>
                      <a:pPr algn="l" defTabSz="914400"/>
                      <a:r>
                        <a:rPr b="0" i="0" strike="noStrike" dirty="0"/>
                        <a:t>TextWrappingThrough</a:t>
                      </a:r>
                    </a:p>
                  </a:txBody>
                  <a:tcPr horzOverflow="overflow"/>
                </a:tc>
              </a:tr>
              <a:tr h="508000">
                <a:tc>
                  <a:txBody>
                    <a:bodyPr/>
                    <a:lstStyle/>
                    <a:p>
                      <a:pPr algn="l" defTabSz="914400"/>
                      <a:r>
                        <a:rPr b="0" i="0" strike="noStrike" dirty="0"/>
                        <a:t>MoveToFolderMenu</a:t>
                      </a:r>
                    </a:p>
                  </a:txBody>
                  <a:tcPr horzOverflow="overflow"/>
                </a:tc>
              </a:tr>
              <a:tr h="508000">
                <a:tc>
                  <a:txBody>
                    <a:bodyPr/>
                    <a:lstStyle/>
                    <a:p>
                      <a:pPr algn="l" defTabSz="914400"/>
                      <a:r>
                        <a:rPr b="0" i="0" strike="noStrike" dirty="0"/>
                        <a:t>MacroRecordOrStop</a:t>
                      </a:r>
                    </a:p>
                  </a:txBody>
                  <a:tcPr horzOverflow="overflow"/>
                </a:tc>
              </a:tr>
              <a:tr h="508000">
                <a:tc>
                  <a:txBody>
                    <a:bodyPr/>
                    <a:lstStyle/>
                    <a:p>
                      <a:pPr algn="l" defTabSz="914400"/>
                      <a:r>
                        <a:rPr b="0" i="0" strike="noStrike" dirty="0"/>
                        <a:t>PasteAsHyperlink</a:t>
                      </a:r>
                    </a:p>
                  </a:txBody>
                  <a:tcPr horzOverflow="overflow"/>
                </a:tc>
              </a:tr>
              <a:tr h="508000">
                <a:tc>
                  <a:txBody>
                    <a:bodyPr/>
                    <a:lstStyle/>
                    <a:p>
                      <a:pPr algn="l" defTabSz="914400"/>
                      <a:r>
                        <a:rPr b="0" i="0" strike="noStrike" dirty="0"/>
                        <a:t>ParagraphDistributed</a:t>
                      </a:r>
                    </a:p>
                  </a:txBody>
                  <a:tcPr horzOverflow="overflow"/>
                </a:tc>
              </a:tr>
              <a:tr h="508000">
                <a:tc>
                  <a:txBody>
                    <a:bodyPr/>
                    <a:lstStyle/>
                    <a:p>
                      <a:pPr algn="l" defTabSz="914400"/>
                      <a:r>
                        <a:rPr b="0" i="0" strike="noStrike" dirty="0"/>
                        <a:t>HyphenationOptions</a:t>
                      </a:r>
                    </a:p>
                  </a:txBody>
                  <a:tcPr horzOverflow="overflow"/>
                </a:tc>
              </a:tr>
              <a:tr h="508000">
                <a:tc>
                  <a:txBody>
                    <a:bodyPr/>
                    <a:lstStyle/>
                    <a:p>
                      <a:pPr algn="l" defTabSz="914400"/>
                      <a:r>
                        <a:rPr b="0" i="0" strike="noStrike" dirty="0"/>
                        <a:t>TableRowsOrColumnsDistribute</a:t>
                      </a:r>
                    </a:p>
                  </a:txBody>
                  <a:tcPr horzOverflow="overflow"/>
                </a:tc>
              </a:tr>
            </a:tbl>
          </a:graphicData>
        </a:graphic>
      </p:graphicFrame>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1280160"/>
          </a:xfrm>
          <a:prstGeom prst="rect">
            <a:avLst/>
          </a:prstGeom>
          <a:ln>
            <a:headEnd type="none"/>
            <a:tailEnd type="none"/>
          </a:ln>
        </p:spPr>
        <p:txBody>
          <a:bodyPr wrap="square">
            <a:spAutoFit/>
          </a:bodyPr>
          <a:lstStyle/>
          <a:p>
            <a:pPr algn="l" defTabSz="914400">
              <a:defRPr sz="3600" b="1" dirty="0"/>
            </a:pPr>
            <a:r>
              <a:rPr b="1" i="0" strike="noStrike" dirty="0"/>
              <a:t>Change </a:t>
            </a:r>
            <a:r>
              <a:rPr b="1" i="0" strike="noStrike" dirty="0"/>
              <a:t>Tracking </a:t>
            </a:r>
            <a:r>
              <a:rPr b="1" i="0" strike="noStrike" dirty="0"/>
              <a:t>XE </a:t>
            </a:r>
            <a:r>
              <a:rPr b="1" i="0" strike="noStrike" dirty="0"/>
              <a:t>"Change </a:t>
            </a:r>
            <a:r>
              <a:rPr b="1" i="0" strike="noStrike" dirty="0"/>
              <a:t>tracking" </a:t>
            </a:r>
            <a:r>
              <a:rPr b="1" i="0" strike="noStrike" dirty="0"/>
              <a:t> </a:t>
            </a:r>
            <a:r>
              <a:rPr b="1" i="0" strike="noStrike" dirty="0"/>
              <a:t>XE </a:t>
            </a:r>
            <a:r>
              <a:rPr b="1" i="0" strike="noStrike" dirty="0"/>
              <a:t>"Tracking </a:t>
            </a:r>
            <a:r>
              <a:rPr b="1" i="0" strike="noStrike" dirty="0"/>
              <a:t>changes"</a:t>
            </a:r>
          </a:p>
        </p:txBody>
      </p:sp>
      <p:sp>
        <p:nvSpPr>
          <p:cNvPr id="3" name="TextBox3"/>
          <p:cNvSpPr txBox="1">
            <a:spLocks noChangeArrowheads="1"/>
          </p:cNvSpPr>
          <p:nvPr/>
        </p:nvSpPr>
        <p:spPr>
          <a:xfrm rot="0">
            <a:off x="508000" y="181356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section </a:t>
            </a:r>
            <a:r>
              <a:rPr b="0" i="0" strike="noStrike" dirty="0"/>
              <a:t>identifies </a:t>
            </a:r>
            <a:r>
              <a:rPr b="0" i="0" strike="noStrike" dirty="0"/>
              <a:t>changes </a:t>
            </a:r>
            <a:r>
              <a:rPr b="0" i="0" strike="noStrike" dirty="0"/>
              <a:t>that </a:t>
            </a:r>
            <a:r>
              <a:rPr b="0" i="0" strike="noStrike" dirty="0"/>
              <a:t>were </a:t>
            </a:r>
            <a:r>
              <a:rPr b="0" i="0" strike="noStrike" dirty="0"/>
              <a:t>made </a:t>
            </a:r>
            <a:r>
              <a:rPr b="0" i="0" strike="noStrike" dirty="0"/>
              <a:t>to </a:t>
            </a:r>
            <a:r>
              <a:rPr b="0" i="0" strike="noStrike" dirty="0"/>
              <a:t>this </a:t>
            </a:r>
            <a:r>
              <a:rPr b="0" i="0" strike="noStrike" dirty="0"/>
              <a:t>document </a:t>
            </a:r>
            <a:r>
              <a:rPr b="0" i="0" strike="noStrike" dirty="0"/>
              <a:t>since </a:t>
            </a:r>
            <a:r>
              <a:rPr b="0" i="0" strike="noStrike" dirty="0"/>
              <a:t>the </a:t>
            </a:r>
            <a:r>
              <a:rPr b="0" i="0" strike="noStrike" dirty="0"/>
              <a:t>last </a:t>
            </a:r>
            <a:r>
              <a:rPr b="0" i="0" strike="noStrike" dirty="0"/>
              <a:t>release. </a:t>
            </a:r>
            <a:r>
              <a:rPr b="0" i="0" strike="noStrike" dirty="0"/>
              <a:t>Changes </a:t>
            </a:r>
            <a:r>
              <a:rPr b="0" i="0" strike="noStrike" dirty="0"/>
              <a:t>are </a:t>
            </a:r>
            <a:r>
              <a:rPr b="0" i="0" strike="noStrike" dirty="0"/>
              <a:t>classified </a:t>
            </a:r>
            <a:r>
              <a:rPr b="0" i="0" strike="noStrike" dirty="0"/>
              <a:t>as </a:t>
            </a:r>
            <a:r>
              <a:rPr b="0" i="0" strike="noStrike" dirty="0"/>
              <a:t>Major, </a:t>
            </a:r>
            <a:r>
              <a:rPr b="0" i="0" strike="noStrike" dirty="0"/>
              <a:t>Minor, </a:t>
            </a:r>
            <a:r>
              <a:rPr b="0" i="0" strike="noStrike" dirty="0"/>
              <a:t>or </a:t>
            </a:r>
            <a:r>
              <a:rPr b="0" i="0" strike="noStrike" dirty="0"/>
              <a:t>None. </a:t>
            </a:r>
          </a:p>
        </p:txBody>
      </p:sp>
      <p:sp>
        <p:nvSpPr>
          <p:cNvPr id="4" name="TextBox4"/>
          <p:cNvSpPr txBox="1">
            <a:spLocks noChangeArrowheads="1"/>
          </p:cNvSpPr>
          <p:nvPr/>
        </p:nvSpPr>
        <p:spPr>
          <a:xfrm rot="0">
            <a:off x="508000" y="2479040"/>
            <a:ext cx="11176000" cy="960120"/>
          </a:xfrm>
          <a:prstGeom prst="rect">
            <a:avLst/>
          </a:prstGeom>
          <a:ln>
            <a:headEnd type="none"/>
            <a:tailEnd type="none"/>
          </a:ln>
        </p:spPr>
        <p:txBody>
          <a:bodyPr wrap="square">
            <a:spAutoFit/>
          </a:bodyPr>
          <a:lstStyle/>
          <a:p>
            <a:pPr algn="l" defTabSz="914400"/>
            <a:r>
              <a:rPr b="0" i="0" strike="noStrike" dirty="0"/>
              <a:t>The </a:t>
            </a:r>
            <a:r>
              <a:rPr b="0" i="0" strike="noStrike" dirty="0"/>
              <a:t>revision </a:t>
            </a:r>
            <a:r>
              <a:rPr b="0" i="0" strike="noStrike" dirty="0"/>
              <a:t>class </a:t>
            </a:r>
            <a:r>
              <a:rPr b="1" i="0" strike="noStrike" dirty="0"/>
              <a:t>Major</a:t>
            </a:r>
            <a:r>
              <a:rPr b="0" i="0" strike="noStrike" dirty="0"/>
              <a:t> </a:t>
            </a:r>
            <a:r>
              <a:rPr b="0" i="0" strike="noStrike" dirty="0"/>
              <a:t>means </a:t>
            </a:r>
            <a:r>
              <a:rPr b="0" i="0" strike="noStrike" dirty="0"/>
              <a:t>that </a:t>
            </a:r>
            <a:r>
              <a:rPr b="0" i="0" strike="noStrike" dirty="0"/>
              <a:t>the </a:t>
            </a:r>
            <a:r>
              <a:rPr b="0" i="0" strike="noStrike" dirty="0"/>
              <a:t>technical </a:t>
            </a:r>
            <a:r>
              <a:rPr b="0" i="0" strike="noStrike" dirty="0"/>
              <a:t>content </a:t>
            </a:r>
            <a:r>
              <a:rPr b="0" i="0" strike="noStrike" dirty="0"/>
              <a:t>in </a:t>
            </a:r>
            <a:r>
              <a:rPr b="0" i="0" strike="noStrike" dirty="0"/>
              <a:t>the </a:t>
            </a:r>
            <a:r>
              <a:rPr b="0" i="0" strike="noStrike" dirty="0"/>
              <a:t>document </a:t>
            </a:r>
            <a:r>
              <a:rPr b="0" i="0" strike="noStrike" dirty="0"/>
              <a:t>was </a:t>
            </a:r>
            <a:r>
              <a:rPr b="0" i="0" strike="noStrike" dirty="0"/>
              <a:t>significantly </a:t>
            </a:r>
            <a:r>
              <a:rPr b="0" i="0" strike="noStrike" dirty="0"/>
              <a:t>revised. </a:t>
            </a:r>
            <a:r>
              <a:rPr b="0" i="0" strike="noStrike" dirty="0"/>
              <a:t>Major </a:t>
            </a:r>
            <a:r>
              <a:rPr b="0" i="0" strike="noStrike" dirty="0"/>
              <a:t>changes </a:t>
            </a:r>
            <a:r>
              <a:rPr b="0" i="0" strike="noStrike" dirty="0"/>
              <a:t>affect </a:t>
            </a:r>
            <a:r>
              <a:rPr b="0" i="0" strike="noStrike" dirty="0"/>
              <a:t>protocol </a:t>
            </a:r>
            <a:r>
              <a:rPr b="0" i="0" strike="noStrike" dirty="0"/>
              <a:t>interoperability </a:t>
            </a:r>
            <a:r>
              <a:rPr b="0" i="0" strike="noStrike" dirty="0"/>
              <a:t>or </a:t>
            </a:r>
            <a:r>
              <a:rPr b="0" i="0" strike="noStrike" dirty="0"/>
              <a:t>implementation. </a:t>
            </a:r>
            <a:r>
              <a:rPr b="0" i="0" strike="noStrike" dirty="0"/>
              <a:t>Examples </a:t>
            </a:r>
            <a:r>
              <a:rPr b="0" i="0" strike="noStrike" dirty="0"/>
              <a:t>of </a:t>
            </a:r>
            <a:r>
              <a:rPr b="0" i="0" strike="noStrike" dirty="0"/>
              <a:t>major </a:t>
            </a:r>
            <a:r>
              <a:rPr b="0" i="0" strike="noStrike" dirty="0"/>
              <a:t>changes </a:t>
            </a:r>
            <a:r>
              <a:rPr b="0" i="0" strike="noStrike" dirty="0"/>
              <a:t>are:</a:t>
            </a:r>
          </a:p>
        </p:txBody>
      </p:sp>
      <p:sp>
        <p:nvSpPr>
          <p:cNvPr id="5" name="TextBox5"/>
          <p:cNvSpPr txBox="1">
            <a:spLocks noChangeArrowheads="1"/>
          </p:cNvSpPr>
          <p:nvPr/>
        </p:nvSpPr>
        <p:spPr>
          <a:xfrm rot="0">
            <a:off x="508000" y="3464560"/>
            <a:ext cx="11176000" cy="320040"/>
          </a:xfrm>
          <a:prstGeom prst="rect">
            <a:avLst/>
          </a:prstGeom>
          <a:ln>
            <a:headEnd type="none"/>
            <a:tailEnd type="none"/>
          </a:ln>
        </p:spPr>
        <p:txBody>
          <a:bodyPr wrap="square">
            <a:spAutoFit/>
          </a:bodyPr>
          <a:lstStyle/>
          <a:p>
            <a:pPr lvl="1" indent="283464" algn="l" defTabSz="914400">
              <a:buChar char="•"/>
            </a:pPr>
            <a:r>
              <a:rPr b="0" i="0" strike="noStrike" dirty="0"/>
              <a:t>A </a:t>
            </a:r>
            <a:r>
              <a:rPr b="0" i="0" strike="noStrike" dirty="0"/>
              <a:t>document </a:t>
            </a:r>
            <a:r>
              <a:rPr b="0" i="0" strike="noStrike" dirty="0"/>
              <a:t>revision </a:t>
            </a:r>
            <a:r>
              <a:rPr b="0" i="0" strike="noStrike" dirty="0"/>
              <a:t>that </a:t>
            </a:r>
            <a:r>
              <a:rPr b="0" i="0" strike="noStrike" dirty="0"/>
              <a:t>incorporates </a:t>
            </a:r>
            <a:r>
              <a:rPr b="0" i="0" strike="noStrike" dirty="0"/>
              <a:t>changes </a:t>
            </a:r>
            <a:r>
              <a:rPr b="0" i="0" strike="noStrike" dirty="0"/>
              <a:t>to </a:t>
            </a:r>
            <a:r>
              <a:rPr b="0" i="0" strike="noStrike" dirty="0"/>
              <a:t>interoperability </a:t>
            </a:r>
            <a:r>
              <a:rPr b="0" i="0" strike="noStrike" dirty="0"/>
              <a:t>requirements.</a:t>
            </a:r>
          </a:p>
        </p:txBody>
      </p:sp>
      <p:sp>
        <p:nvSpPr>
          <p:cNvPr id="6" name="TextBox6"/>
          <p:cNvSpPr txBox="1">
            <a:spLocks noChangeArrowheads="1"/>
          </p:cNvSpPr>
          <p:nvPr/>
        </p:nvSpPr>
        <p:spPr>
          <a:xfrm rot="0">
            <a:off x="508000" y="3810000"/>
            <a:ext cx="11176000" cy="320040"/>
          </a:xfrm>
          <a:prstGeom prst="rect">
            <a:avLst/>
          </a:prstGeom>
          <a:ln>
            <a:headEnd type="none"/>
            <a:tailEnd type="none"/>
          </a:ln>
        </p:spPr>
        <p:txBody>
          <a:bodyPr wrap="square">
            <a:spAutoFit/>
          </a:bodyPr>
          <a:lstStyle/>
          <a:p>
            <a:pPr lvl="1" indent="283464" algn="l" defTabSz="914400">
              <a:buChar char="•"/>
            </a:pPr>
            <a:r>
              <a:rPr b="0" i="0" strike="noStrike" dirty="0"/>
              <a:t>A </a:t>
            </a:r>
            <a:r>
              <a:rPr b="0" i="0" strike="noStrike" dirty="0"/>
              <a:t>document </a:t>
            </a:r>
            <a:r>
              <a:rPr b="0" i="0" strike="noStrike" dirty="0"/>
              <a:t>revision </a:t>
            </a:r>
            <a:r>
              <a:rPr b="0" i="0" strike="noStrike" dirty="0"/>
              <a:t>that </a:t>
            </a:r>
            <a:r>
              <a:rPr b="0" i="0" strike="noStrike" dirty="0"/>
              <a:t>captures </a:t>
            </a:r>
            <a:r>
              <a:rPr b="0" i="0" strike="noStrike" dirty="0"/>
              <a:t>changes </a:t>
            </a:r>
            <a:r>
              <a:rPr b="0" i="0" strike="noStrike" dirty="0"/>
              <a:t>to </a:t>
            </a:r>
            <a:r>
              <a:rPr b="0" i="0" strike="noStrike" dirty="0"/>
              <a:t>protocol </a:t>
            </a:r>
            <a:r>
              <a:rPr b="0" i="0" strike="noStrike" dirty="0"/>
              <a:t>functionality.</a:t>
            </a:r>
          </a:p>
        </p:txBody>
      </p:sp>
      <p:sp>
        <p:nvSpPr>
          <p:cNvPr id="7" name="TextBox7"/>
          <p:cNvSpPr txBox="1">
            <a:spLocks noChangeArrowheads="1"/>
          </p:cNvSpPr>
          <p:nvPr/>
        </p:nvSpPr>
        <p:spPr>
          <a:xfrm rot="0">
            <a:off x="508000" y="4155440"/>
            <a:ext cx="11176000" cy="960120"/>
          </a:xfrm>
          <a:prstGeom prst="rect">
            <a:avLst/>
          </a:prstGeom>
          <a:ln>
            <a:headEnd type="none"/>
            <a:tailEnd type="none"/>
          </a:ln>
        </p:spPr>
        <p:txBody>
          <a:bodyPr wrap="square">
            <a:spAutoFit/>
          </a:bodyPr>
          <a:lstStyle/>
          <a:p>
            <a:pPr algn="l" defTabSz="914400"/>
            <a:r>
              <a:rPr b="0" i="0" strike="noStrike" dirty="0"/>
              <a:t>The </a:t>
            </a:r>
            <a:r>
              <a:rPr b="0" i="0" strike="noStrike" dirty="0"/>
              <a:t>revision </a:t>
            </a:r>
            <a:r>
              <a:rPr b="0" i="0" strike="noStrike" dirty="0"/>
              <a:t>class </a:t>
            </a:r>
            <a:r>
              <a:rPr b="1" i="0" strike="noStrike" dirty="0"/>
              <a:t>Minor</a:t>
            </a:r>
            <a:r>
              <a:rPr b="0" i="0" strike="noStrike" dirty="0"/>
              <a:t> </a:t>
            </a:r>
            <a:r>
              <a:rPr b="0" i="0" strike="noStrike" dirty="0"/>
              <a:t>means </a:t>
            </a:r>
            <a:r>
              <a:rPr b="0" i="0" strike="noStrike" dirty="0"/>
              <a:t>that </a:t>
            </a:r>
            <a:r>
              <a:rPr b="0" i="0" strike="noStrike" dirty="0"/>
              <a:t>the </a:t>
            </a:r>
            <a:r>
              <a:rPr b="0" i="0" strike="noStrike" dirty="0"/>
              <a:t>meaning </a:t>
            </a:r>
            <a:r>
              <a:rPr b="0" i="0" strike="noStrike" dirty="0"/>
              <a:t>of </a:t>
            </a:r>
            <a:r>
              <a:rPr b="0" i="0" strike="noStrike" dirty="0"/>
              <a:t>the </a:t>
            </a:r>
            <a:r>
              <a:rPr b="0" i="0" strike="noStrike" dirty="0"/>
              <a:t>technical </a:t>
            </a:r>
            <a:r>
              <a:rPr b="0" i="0" strike="noStrike" dirty="0"/>
              <a:t>content </a:t>
            </a:r>
            <a:r>
              <a:rPr b="0" i="0" strike="noStrike" dirty="0"/>
              <a:t>was </a:t>
            </a:r>
            <a:r>
              <a:rPr b="0" i="0" strike="noStrike" dirty="0"/>
              <a:t>clarified. </a:t>
            </a:r>
            <a:r>
              <a:rPr b="0" i="0" strike="noStrike" dirty="0"/>
              <a:t>Minor </a:t>
            </a:r>
            <a:r>
              <a:rPr b="0" i="0" strike="noStrike" dirty="0"/>
              <a:t>changes </a:t>
            </a:r>
            <a:r>
              <a:rPr b="0" i="0" strike="noStrike" dirty="0"/>
              <a:t>do </a:t>
            </a:r>
            <a:r>
              <a:rPr b="0" i="0" strike="noStrike" dirty="0"/>
              <a:t>not </a:t>
            </a:r>
            <a:r>
              <a:rPr b="0" i="0" strike="noStrike" dirty="0"/>
              <a:t>affect </a:t>
            </a:r>
            <a:r>
              <a:rPr b="0" i="0" strike="noStrike" dirty="0"/>
              <a:t>protocol </a:t>
            </a:r>
            <a:r>
              <a:rPr b="0" i="0" strike="noStrike" dirty="0"/>
              <a:t>interoperability </a:t>
            </a:r>
            <a:r>
              <a:rPr b="0" i="0" strike="noStrike" dirty="0"/>
              <a:t>or </a:t>
            </a:r>
            <a:r>
              <a:rPr b="0" i="0" strike="noStrike" dirty="0"/>
              <a:t>implementation. </a:t>
            </a:r>
            <a:r>
              <a:rPr b="0" i="0" strike="noStrike" dirty="0"/>
              <a:t>Examples </a:t>
            </a:r>
            <a:r>
              <a:rPr b="0" i="0" strike="noStrike" dirty="0"/>
              <a:t>of </a:t>
            </a:r>
            <a:r>
              <a:rPr b="0" i="0" strike="noStrike" dirty="0"/>
              <a:t>minor </a:t>
            </a:r>
            <a:r>
              <a:rPr b="0" i="0" strike="noStrike" dirty="0"/>
              <a:t>changes </a:t>
            </a:r>
            <a:r>
              <a:rPr b="0" i="0" strike="noStrike" dirty="0"/>
              <a:t>are </a:t>
            </a:r>
            <a:r>
              <a:rPr b="0" i="0" strike="noStrike" dirty="0"/>
              <a:t>updates </a:t>
            </a:r>
            <a:r>
              <a:rPr b="0" i="0" strike="noStrike" dirty="0"/>
              <a:t>to </a:t>
            </a:r>
            <a:r>
              <a:rPr b="0" i="0" strike="noStrike" dirty="0"/>
              <a:t>clarify </a:t>
            </a:r>
            <a:r>
              <a:rPr b="0" i="0" strike="noStrike" dirty="0"/>
              <a:t>ambiguity </a:t>
            </a:r>
            <a:r>
              <a:rPr b="0" i="0" strike="noStrike" dirty="0"/>
              <a:t>at </a:t>
            </a:r>
            <a:r>
              <a:rPr b="0" i="0" strike="noStrike" dirty="0"/>
              <a:t>the </a:t>
            </a:r>
            <a:r>
              <a:rPr b="0" i="0" strike="noStrike" dirty="0"/>
              <a:t>sentence, </a:t>
            </a:r>
            <a:r>
              <a:rPr b="0" i="0" strike="noStrike" dirty="0"/>
              <a:t>paragraph, </a:t>
            </a:r>
            <a:r>
              <a:rPr b="0" i="0" strike="noStrike" dirty="0"/>
              <a:t>or </a:t>
            </a:r>
            <a:r>
              <a:rPr b="0" i="0" strike="noStrike" dirty="0"/>
              <a:t>table </a:t>
            </a:r>
            <a:r>
              <a:rPr b="0" i="0" strike="noStrike" dirty="0"/>
              <a:t>level.</a:t>
            </a:r>
          </a:p>
        </p:txBody>
      </p:sp>
      <p:sp>
        <p:nvSpPr>
          <p:cNvPr id="8" name="TextBox8"/>
          <p:cNvSpPr txBox="1">
            <a:spLocks noChangeArrowheads="1"/>
          </p:cNvSpPr>
          <p:nvPr/>
        </p:nvSpPr>
        <p:spPr>
          <a:xfrm rot="0">
            <a:off x="508000" y="5140960"/>
            <a:ext cx="11176000" cy="960120"/>
          </a:xfrm>
          <a:prstGeom prst="rect">
            <a:avLst/>
          </a:prstGeom>
          <a:ln>
            <a:headEnd type="none"/>
            <a:tailEnd type="none"/>
          </a:ln>
        </p:spPr>
        <p:txBody>
          <a:bodyPr wrap="square">
            <a:spAutoFit/>
          </a:bodyPr>
          <a:lstStyle/>
          <a:p>
            <a:pPr algn="l" defTabSz="914400"/>
            <a:r>
              <a:rPr b="0" i="0" strike="noStrike" dirty="0"/>
              <a:t>The </a:t>
            </a:r>
            <a:r>
              <a:rPr b="0" i="0" strike="noStrike" dirty="0"/>
              <a:t>revision </a:t>
            </a:r>
            <a:r>
              <a:rPr b="0" i="0" strike="noStrike" dirty="0"/>
              <a:t>class </a:t>
            </a:r>
            <a:r>
              <a:rPr b="1" i="0" strike="noStrike" dirty="0"/>
              <a:t>None</a:t>
            </a:r>
            <a:r>
              <a:rPr b="0" i="0" strike="noStrike" dirty="0"/>
              <a:t> </a:t>
            </a:r>
            <a:r>
              <a:rPr b="0" i="0" strike="noStrike" dirty="0"/>
              <a:t>means </a:t>
            </a:r>
            <a:r>
              <a:rPr b="0" i="0" strike="noStrike" dirty="0"/>
              <a:t>that </a:t>
            </a:r>
            <a:r>
              <a:rPr b="0" i="0" strike="noStrike" dirty="0"/>
              <a:t>no </a:t>
            </a:r>
            <a:r>
              <a:rPr b="0" i="0" strike="noStrike" dirty="0"/>
              <a:t>new </a:t>
            </a:r>
            <a:r>
              <a:rPr b="0" i="0" strike="noStrike" dirty="0"/>
              <a:t>technical </a:t>
            </a:r>
            <a:r>
              <a:rPr b="0" i="0" strike="noStrike" dirty="0"/>
              <a:t>changes </a:t>
            </a:r>
            <a:r>
              <a:rPr b="0" i="0" strike="noStrike" dirty="0"/>
              <a:t>were </a:t>
            </a:r>
            <a:r>
              <a:rPr b="0" i="0" strike="noStrike" dirty="0"/>
              <a:t>introduced. </a:t>
            </a:r>
            <a:r>
              <a:rPr b="0" i="0" strike="noStrike" dirty="0"/>
              <a:t>Minor </a:t>
            </a:r>
            <a:r>
              <a:rPr b="0" i="0" strike="noStrike" dirty="0"/>
              <a:t>editorial </a:t>
            </a:r>
            <a:r>
              <a:rPr b="0" i="0" strike="noStrike" dirty="0"/>
              <a:t>and </a:t>
            </a:r>
            <a:r>
              <a:rPr b="0" i="0" strike="noStrike" dirty="0"/>
              <a:t>formatting </a:t>
            </a:r>
            <a:r>
              <a:rPr b="0" i="0" strike="noStrike" dirty="0"/>
              <a:t>changes </a:t>
            </a:r>
            <a:r>
              <a:rPr b="0" i="0" strike="noStrike" dirty="0"/>
              <a:t>may </a:t>
            </a:r>
            <a:r>
              <a:rPr b="0" i="0" strike="noStrike" dirty="0"/>
              <a:t>have </a:t>
            </a:r>
            <a:r>
              <a:rPr b="0" i="0" strike="noStrike" dirty="0"/>
              <a:t>been </a:t>
            </a:r>
            <a:r>
              <a:rPr b="0" i="0" strike="noStrike" dirty="0"/>
              <a:t>made, </a:t>
            </a:r>
            <a:r>
              <a:rPr b="0" i="0" strike="noStrike" dirty="0"/>
              <a:t>but </a:t>
            </a:r>
            <a:r>
              <a:rPr b="0" i="0" strike="noStrike" dirty="0"/>
              <a:t>the </a:t>
            </a:r>
            <a:r>
              <a:rPr b="0" i="0" strike="noStrike" dirty="0"/>
              <a:t>relevant </a:t>
            </a:r>
            <a:r>
              <a:rPr b="0" i="0" strike="noStrike" dirty="0"/>
              <a:t>technical </a:t>
            </a:r>
            <a:r>
              <a:rPr b="0" i="0" strike="noStrike" dirty="0"/>
              <a:t>content </a:t>
            </a:r>
            <a:r>
              <a:rPr b="0" i="0" strike="noStrike" dirty="0"/>
              <a:t>is </a:t>
            </a:r>
            <a:r>
              <a:rPr b="0" i="0" strike="noStrike" dirty="0"/>
              <a:t>identical </a:t>
            </a:r>
            <a:r>
              <a:rPr b="0" i="0" strike="noStrike" dirty="0"/>
              <a:t>to </a:t>
            </a:r>
            <a:r>
              <a:rPr b="0" i="0" strike="noStrike" dirty="0"/>
              <a:t>the </a:t>
            </a:r>
            <a:r>
              <a:rPr b="0" i="0" strike="noStrike" dirty="0"/>
              <a:t>last </a:t>
            </a:r>
            <a:r>
              <a:rPr b="0" i="0" strike="noStrike" dirty="0"/>
              <a:t>released </a:t>
            </a:r>
            <a:r>
              <a:rPr b="0" i="0" strike="noStrike" dirty="0"/>
              <a:t>version.</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b="0" i="0" strike="noStrike" dirty="0"/>
              <a:t>The </a:t>
            </a:r>
            <a:r>
              <a:rPr b="0" i="0" strike="noStrike" dirty="0"/>
              <a:t>changes </a:t>
            </a:r>
            <a:r>
              <a:rPr b="0" i="0" strike="noStrike" dirty="0"/>
              <a:t>made </a:t>
            </a:r>
            <a:r>
              <a:rPr b="0" i="0" strike="noStrike" dirty="0"/>
              <a:t>to </a:t>
            </a:r>
            <a:r>
              <a:rPr b="0" i="0" strike="noStrike" dirty="0"/>
              <a:t>this </a:t>
            </a:r>
            <a:r>
              <a:rPr b="0" i="0" strike="noStrike" dirty="0"/>
              <a:t>document </a:t>
            </a:r>
            <a:r>
              <a:rPr b="0" i="0" strike="noStrike" dirty="0"/>
              <a:t>are </a:t>
            </a:r>
            <a:r>
              <a:rPr b="0" i="0" strike="noStrike" dirty="0"/>
              <a:t>listed </a:t>
            </a:r>
            <a:r>
              <a:rPr b="0" i="0" strike="noStrike" dirty="0"/>
              <a:t>in </a:t>
            </a:r>
            <a:r>
              <a:rPr b="0" i="0" strike="noStrike" dirty="0"/>
              <a:t>the </a:t>
            </a:r>
            <a:r>
              <a:rPr b="0" i="0" strike="noStrike" dirty="0"/>
              <a:t>following </a:t>
            </a:r>
            <a:r>
              <a:rPr b="0" i="0" strike="noStrike" dirty="0"/>
              <a:t>table. </a:t>
            </a:r>
            <a:r>
              <a:rPr b="0" i="0" strike="noStrike" dirty="0"/>
              <a:t>For </a:t>
            </a:r>
            <a:r>
              <a:rPr b="0" i="0" strike="noStrike" dirty="0"/>
              <a:t>more </a:t>
            </a:r>
            <a:r>
              <a:rPr b="0" i="0" strike="noStrike" dirty="0"/>
              <a:t>information, </a:t>
            </a:r>
            <a:r>
              <a:rPr b="0" i="0" strike="noStrike" dirty="0"/>
              <a:t>please </a:t>
            </a:r>
            <a:r>
              <a:rPr b="0" i="0" strike="noStrike" dirty="0"/>
              <a:t>contact </a:t>
            </a:r>
            <a:r>
              <a:rPr>
                <a:hlinkClick r:id="rId2" action="ppaction://hlinkfile"/>
              </a:rPr>
              <a:t>dochelp@microsoft.com</a:t>
            </a:r>
            <a:r>
              <a:rPr b="0" i="0" strike="noStrike" dirty="0"/>
              <a:t>.</a:t>
            </a:r>
          </a:p>
        </p:txBody>
      </p:sp>
      <p:graphicFrame>
        <p:nvGraphicFramePr>
          <p:cNvPr id="3" name="Table 3"/>
          <p:cNvGraphicFramePr/>
          <p:nvPr/>
        </p:nvGraphicFramePr>
        <p:xfrm rot="0">
          <a:off x="508000" y="1173480"/>
          <a:ext cx="11176000" cy="1016000"/>
        </p:xfrm>
        <a:graphic>
          <a:graphicData uri="http://schemas.openxmlformats.org/drawingml/2006/table">
            <a:tbl>
              <a:tblPr firstRow="1" bandRow="1">
                <a:tableStyleId>{5C22544A-7EE6-4342-B048-85BDC9FD1C3A}</a:tableStyleId>
              </a:tblPr>
              <a:tblGrid>
                <a:gridCol w="3721100"/>
                <a:gridCol w="3721100"/>
                <a:gridCol w="3721100"/>
              </a:tblGrid>
              <a:tr h="508000">
                <a:tc>
                  <a:txBody>
                    <a:bodyPr/>
                    <a:lstStyle/>
                    <a:p>
                      <a:pPr algn="l" defTabSz="914400"/>
                      <a:r>
                        <a:rPr b="1" i="0" strike="noStrike" dirty="0"/>
                        <a:t>Section</a:t>
                      </a:r>
                    </a:p>
                  </a:txBody>
                  <a:tcPr horzOverflow="overflow"/>
                </a:tc>
                <a:tc>
                  <a:txBody>
                    <a:bodyPr/>
                    <a:lstStyle/>
                    <a:p>
                      <a:pPr algn="l" defTabSz="914400"/>
                      <a:r>
                        <a:rPr b="1" i="0" strike="noStrike" dirty="0"/>
                        <a:t>Description</a:t>
                      </a:r>
                    </a:p>
                  </a:txBody>
                  <a:tcPr horzOverflow="overflow"/>
                </a:tc>
                <a:tc>
                  <a:txBody>
                    <a:bodyPr/>
                    <a:lstStyle/>
                    <a:p>
                      <a:pPr algn="l" defTabSz="914400"/>
                      <a:r>
                        <a:rPr b="1" i="0" strike="noStrike" dirty="0"/>
                        <a:t>Revision class</a:t>
                      </a:r>
                    </a:p>
                  </a:txBody>
                  <a:tcPr horzOverflow="overflow"/>
                </a:tc>
              </a:tr>
              <a:tr h="508000">
                <a:tc>
                  <a:txBody>
                    <a:bodyPr/>
                    <a:lstStyle/>
                    <a:p>
                      <a:pPr algn="l" defTabSz="914400"/>
                      <a:r>
                        <a:rPr dirty="0"/>
                        <a:t>4</a:t>
                      </a:r>
                    </a:p>
                    <a:p>
                      <a:pPr defTabSz="914400"/>
                      <a:r>
                        <a:rPr b="0" i="0" strike="noStrike" dirty="0"/>
                        <a:t> Appendix B: Product Behavior</a:t>
                      </a:r>
                      <a:endParaRPr dirty="0"/>
                    </a:p>
                  </a:txBody>
                  <a:tcPr horzOverflow="overflow"/>
                </a:tc>
                <a:tc>
                  <a:txBody>
                    <a:bodyPr/>
                    <a:lstStyle/>
                    <a:p>
                      <a:pPr algn="l" defTabSz="914400"/>
                      <a:r>
                        <a:rPr b="0" i="0" strike="noStrike" dirty="0"/>
                        <a:t>Updated list of supported products.</a:t>
                      </a:r>
                    </a:p>
                  </a:txBody>
                  <a:tcPr horzOverflow="overflow"/>
                </a:tc>
                <a:tc>
                  <a:txBody>
                    <a:bodyPr/>
                    <a:lstStyle/>
                    <a:p>
                      <a:pPr algn="l" defTabSz="914400"/>
                      <a:r>
                        <a:rPr b="0" i="0" strike="noStrike" dirty="0"/>
                        <a:t>major</a:t>
                      </a:r>
                    </a:p>
                  </a:txBody>
                  <a:tcPr horzOverflow="overflow"/>
                </a:tc>
              </a:tr>
            </a:tbl>
          </a:graphicData>
        </a:graphic>
      </p:graphicFrame>
      <p:sp>
        <p:nvSpPr>
          <p:cNvPr id="4" name="TextBox4"/>
          <p:cNvSpPr txBox="1">
            <a:spLocks noChangeArrowheads="1"/>
          </p:cNvSpPr>
          <p:nvPr/>
        </p:nvSpPr>
        <p:spPr>
          <a:xfrm rot="0">
            <a:off x="508000" y="2240280"/>
            <a:ext cx="11176000" cy="640080"/>
          </a:xfrm>
          <a:prstGeom prst="rect">
            <a:avLst/>
          </a:prstGeom>
          <a:ln>
            <a:headEnd type="none"/>
            <a:tailEnd type="none"/>
          </a:ln>
        </p:spPr>
        <p:txBody>
          <a:bodyPr wrap="square">
            <a:spAutoFit/>
          </a:bodyPr>
          <a:lstStyle/>
          <a:p>
            <a:pPr algn="l" defTabSz="914400">
              <a:defRPr sz="3600" b="1" dirty="0"/>
            </a:pPr>
            <a:r>
              <a:rPr b="1" i="0" strike="noStrike" dirty="0"/>
              <a:t>Index</a:t>
            </a:r>
          </a:p>
        </p:txBody>
      </p:sp>
      <p:sp>
        <p:nvSpPr>
          <p:cNvPr id="5" name="TextBox5"/>
          <p:cNvSpPr txBox="1">
            <a:spLocks noChangeArrowheads="1"/>
          </p:cNvSpPr>
          <p:nvPr/>
        </p:nvSpPr>
        <p:spPr>
          <a:xfrm rot="0">
            <a:off x="508000" y="2905760"/>
            <a:ext cx="11176000" cy="320040"/>
          </a:xfrm>
          <a:prstGeom prst="rect">
            <a:avLst/>
          </a:prstGeom>
          <a:ln>
            <a:headEnd type="none"/>
            <a:tailEnd type="none"/>
          </a:ln>
        </p:spPr>
        <p:txBody>
          <a:bodyPr wrap="square">
            <a:spAutoFit/>
          </a:bodyPr>
          <a:lstStyle/>
          <a:p>
            <a:pPr algn="l" defTabSz="914400"/>
            <a:r>
              <a:rPr b="1" i="1" strike="noStrike" dirty="0"/>
              <a:t>C</a:t>
            </a:r>
          </a:p>
        </p:txBody>
      </p:sp>
      <p:sp>
        <p:nvSpPr>
          <p:cNvPr id="6" name="TextBox6"/>
          <p:cNvSpPr txBox="1">
            <a:spLocks noChangeArrowheads="1"/>
          </p:cNvSpPr>
          <p:nvPr/>
        </p:nvSpPr>
        <p:spPr>
          <a:xfrm rot="0">
            <a:off x="508000" y="3251200"/>
            <a:ext cx="11176000" cy="320040"/>
          </a:xfrm>
          <a:prstGeom prst="rect">
            <a:avLst/>
          </a:prstGeom>
          <a:ln>
            <a:headEnd type="none"/>
            <a:tailEnd type="none"/>
          </a:ln>
        </p:spPr>
        <p:txBody>
          <a:bodyPr wrap="square">
            <a:spAutoFit/>
          </a:bodyPr>
          <a:lstStyle/>
          <a:p>
            <a:pPr algn="l" defTabSz="914400"/>
            <a:r>
              <a:rPr/>
              <a:t>Change </a:t>
            </a:r>
            <a:r>
              <a:rPr/>
              <a:t>tracking</a:t>
            </a:r>
            <a:r>
              <a:rPr b="0" i="0" strike="noStrike" dirty="0"/>
              <a:t> </a:t>
            </a:r>
            <a:r>
              <a:rPr b="0" i="0" strike="noStrike" dirty="0"/>
              <a:t>PAGEREF </a:t>
            </a:r>
            <a:r>
              <a:rPr b="0" i="0" strike="noStrike" dirty="0"/>
              <a:t>section_7e45371b0f1d4ff6b01f2fcbef31233f523</a:t>
            </a:r>
          </a:p>
        </p:txBody>
      </p:sp>
      <p:sp>
        <p:nvSpPr>
          <p:cNvPr id="7" name="TextBox7"/>
          <p:cNvSpPr txBox="1">
            <a:spLocks noChangeArrowheads="1"/>
          </p:cNvSpPr>
          <p:nvPr/>
        </p:nvSpPr>
        <p:spPr>
          <a:xfrm rot="0">
            <a:off x="508000" y="3596640"/>
            <a:ext cx="11176000" cy="320040"/>
          </a:xfrm>
          <a:prstGeom prst="rect">
            <a:avLst/>
          </a:prstGeom>
          <a:ln>
            <a:headEnd type="none"/>
            <a:tailEnd type="none"/>
          </a:ln>
        </p:spPr>
        <p:txBody>
          <a:bodyPr wrap="square">
            <a:spAutoFit/>
          </a:bodyPr>
          <a:lstStyle/>
          <a:p>
            <a:pPr algn="l" defTabSz="914400"/>
            <a:r>
              <a:rPr b="0" i="0" strike="noStrike" dirty="0"/>
              <a:t>Custom </a:t>
            </a:r>
            <a:r>
              <a:rPr b="0" i="0" strike="noStrike" dirty="0"/>
              <a:t>UI</a:t>
            </a:r>
          </a:p>
        </p:txBody>
      </p:sp>
      <p:sp>
        <p:nvSpPr>
          <p:cNvPr id="8" name="TextBox8"/>
          <p:cNvSpPr txBox="1">
            <a:spLocks noChangeArrowheads="1"/>
          </p:cNvSpPr>
          <p:nvPr/>
        </p:nvSpPr>
        <p:spPr>
          <a:xfrm rot="0">
            <a:off x="508000" y="3942080"/>
            <a:ext cx="11176000" cy="320040"/>
          </a:xfrm>
          <a:prstGeom prst="rect">
            <a:avLst/>
          </a:prstGeom>
          <a:ln>
            <a:headEnd type="none"/>
            <a:tailEnd type="none"/>
          </a:ln>
        </p:spPr>
        <p:txBody>
          <a:bodyPr wrap="square">
            <a:spAutoFit/>
          </a:bodyPr>
          <a:lstStyle/>
          <a:p>
            <a:pPr algn="l" defTabSz="914400"/>
            <a:r>
              <a:rPr/>
              <a:t>parts</a:t>
            </a:r>
            <a:r>
              <a:rPr b="0" i="0" strike="noStrike" dirty="0"/>
              <a:t> </a:t>
            </a:r>
            <a:r>
              <a:rPr b="0" i="0" strike="noStrike" dirty="0"/>
              <a:t>PAGEREF </a:t>
            </a:r>
            <a:r>
              <a:rPr b="0" i="0" strike="noStrike" dirty="0"/>
              <a:t>section_edc80b0591694ff795ee03af067f35b19</a:t>
            </a:r>
          </a:p>
        </p:txBody>
      </p:sp>
      <p:sp>
        <p:nvSpPr>
          <p:cNvPr id="9" name="TextBox9"/>
          <p:cNvSpPr txBox="1">
            <a:spLocks noChangeArrowheads="1"/>
          </p:cNvSpPr>
          <p:nvPr/>
        </p:nvSpPr>
        <p:spPr>
          <a:xfrm rot="0">
            <a:off x="508000" y="4287520"/>
            <a:ext cx="11176000" cy="320040"/>
          </a:xfrm>
          <a:prstGeom prst="rect">
            <a:avLst/>
          </a:prstGeom>
          <a:ln>
            <a:headEnd type="none"/>
            <a:tailEnd type="none"/>
          </a:ln>
        </p:spPr>
        <p:txBody>
          <a:bodyPr wrap="square">
            <a:spAutoFit/>
          </a:bodyPr>
          <a:lstStyle/>
          <a:p>
            <a:pPr algn="l" defTabSz="914400"/>
            <a:r>
              <a:rPr b="0" i="0" strike="noStrike" dirty="0"/>
              <a:t>Custom </a:t>
            </a:r>
            <a:r>
              <a:rPr b="0" i="0" strike="noStrike" dirty="0"/>
              <a:t>UI </a:t>
            </a:r>
            <a:r>
              <a:rPr b="0" i="0" strike="noStrike" dirty="0"/>
              <a:t>control </a:t>
            </a:r>
            <a:r>
              <a:rPr b="0" i="0" strike="noStrike" dirty="0"/>
              <a:t>id </a:t>
            </a:r>
            <a:r>
              <a:rPr b="0" i="0" strike="noStrike" dirty="0"/>
              <a:t>table</a:t>
            </a:r>
          </a:p>
        </p:txBody>
      </p:sp>
      <p:sp>
        <p:nvSpPr>
          <p:cNvPr id="10" name="TextBox10"/>
          <p:cNvSpPr txBox="1">
            <a:spLocks noChangeArrowheads="1"/>
          </p:cNvSpPr>
          <p:nvPr/>
        </p:nvSpPr>
        <p:spPr>
          <a:xfrm rot="0">
            <a:off x="508000" y="4632960"/>
            <a:ext cx="11176000" cy="320040"/>
          </a:xfrm>
          <a:prstGeom prst="rect">
            <a:avLst/>
          </a:prstGeom>
          <a:ln>
            <a:headEnd type="none"/>
            <a:tailEnd type="none"/>
          </a:ln>
        </p:spPr>
        <p:txBody>
          <a:bodyPr wrap="square">
            <a:spAutoFit/>
          </a:bodyPr>
          <a:lstStyle/>
          <a:p>
            <a:pPr algn="l" defTabSz="914400"/>
            <a:r>
              <a:rPr/>
              <a:t>imageMso </a:t>
            </a:r>
            <a:r>
              <a:rPr/>
              <a:t>table</a:t>
            </a:r>
            <a:r>
              <a:rPr b="0" i="0" strike="noStrike" dirty="0"/>
              <a:t> </a:t>
            </a:r>
            <a:r>
              <a:rPr b="0" i="0" strike="noStrike" dirty="0"/>
              <a:t>PAGEREF </a:t>
            </a:r>
            <a:r>
              <a:rPr b="0" i="0" strike="noStrike" dirty="0"/>
              <a:t>section_fe2124a15aaa4adfb2855d58da9d5e2a419</a:t>
            </a:r>
          </a:p>
        </p:txBody>
      </p:sp>
      <p:sp>
        <p:nvSpPr>
          <p:cNvPr id="11" name="TextBox11"/>
          <p:cNvSpPr txBox="1">
            <a:spLocks noChangeArrowheads="1"/>
          </p:cNvSpPr>
          <p:nvPr/>
        </p:nvSpPr>
        <p:spPr>
          <a:xfrm rot="0">
            <a:off x="508000" y="4978400"/>
            <a:ext cx="11176000" cy="320040"/>
          </a:xfrm>
          <a:prstGeom prst="rect">
            <a:avLst/>
          </a:prstGeom>
          <a:ln>
            <a:headEnd type="none"/>
            <a:tailEnd type="none"/>
          </a:ln>
        </p:spPr>
        <p:txBody>
          <a:bodyPr wrap="square">
            <a:spAutoFit/>
          </a:bodyPr>
          <a:lstStyle/>
          <a:p>
            <a:pPr algn="l" defTabSz="914400"/>
            <a:r>
              <a:rPr b="1" i="1" strike="noStrike" dirty="0"/>
              <a:t>E</a:t>
            </a:r>
          </a:p>
        </p:txBody>
      </p:sp>
      <p:sp>
        <p:nvSpPr>
          <p:cNvPr id="12" name="TextBox12"/>
          <p:cNvSpPr txBox="1">
            <a:spLocks noChangeArrowheads="1"/>
          </p:cNvSpPr>
          <p:nvPr/>
        </p:nvSpPr>
        <p:spPr>
          <a:xfrm rot="0">
            <a:off x="508000" y="5323840"/>
            <a:ext cx="11176000" cy="320040"/>
          </a:xfrm>
          <a:prstGeom prst="rect">
            <a:avLst/>
          </a:prstGeom>
          <a:ln>
            <a:headEnd type="none"/>
            <a:tailEnd type="none"/>
          </a:ln>
        </p:spPr>
        <p:txBody>
          <a:bodyPr wrap="square">
            <a:spAutoFit/>
          </a:bodyPr>
          <a:lstStyle/>
          <a:p>
            <a:pPr algn="l" defTabSz="914400"/>
            <a:r>
              <a:rPr/>
              <a:t>Elements</a:t>
            </a:r>
            <a:r>
              <a:rPr b="0" i="0" strike="noStrike" dirty="0"/>
              <a:t> </a:t>
            </a:r>
            <a:r>
              <a:rPr b="0" i="0" strike="noStrike" dirty="0"/>
              <a:t>PAGEREF </a:t>
            </a:r>
            <a:r>
              <a:rPr b="0" i="0" strike="noStrike" dirty="0"/>
              <a:t>section_d842006e31874f66a17d0819a3cc94b511</a:t>
            </a:r>
          </a:p>
        </p:txBody>
      </p:sp>
      <p:sp>
        <p:nvSpPr>
          <p:cNvPr id="13" name="TextBox13"/>
          <p:cNvSpPr txBox="1">
            <a:spLocks noChangeArrowheads="1"/>
          </p:cNvSpPr>
          <p:nvPr/>
        </p:nvSpPr>
        <p:spPr>
          <a:xfrm rot="0">
            <a:off x="508000" y="5669280"/>
            <a:ext cx="11176000" cy="320040"/>
          </a:xfrm>
          <a:prstGeom prst="rect">
            <a:avLst/>
          </a:prstGeom>
          <a:ln>
            <a:headEnd type="none"/>
            <a:tailEnd type="none"/>
          </a:ln>
        </p:spPr>
        <p:txBody>
          <a:bodyPr wrap="square">
            <a:spAutoFit/>
          </a:bodyPr>
          <a:lstStyle/>
          <a:p>
            <a:pPr algn="l" defTabSz="914400"/>
            <a:r>
              <a:rPr/>
              <a:t>box </a:t>
            </a:r>
            <a:r>
              <a:rPr/>
              <a:t>(box </a:t>
            </a:r>
            <a:r>
              <a:rPr/>
              <a:t>grouping </a:t>
            </a:r>
            <a:r>
              <a:rPr/>
              <a:t>container)</a:t>
            </a:r>
            <a:r>
              <a:rPr b="0" i="0" strike="noStrike" dirty="0"/>
              <a:t> </a:t>
            </a:r>
            <a:r>
              <a:rPr b="0" i="0" strike="noStrike" dirty="0"/>
              <a:t>PAGEREF </a:t>
            </a:r>
            <a:r>
              <a:rPr b="0" i="0" strike="noStrike" dirty="0"/>
              <a:t>section_fb660d68051e4a86ab97e0d93b32817e11</a:t>
            </a:r>
          </a:p>
        </p:txBody>
      </p:sp>
      <p:sp>
        <p:nvSpPr>
          <p:cNvPr id="14" name="TextBox14"/>
          <p:cNvSpPr txBox="1">
            <a:spLocks noChangeArrowheads="1"/>
          </p:cNvSpPr>
          <p:nvPr/>
        </p:nvSpPr>
        <p:spPr>
          <a:xfrm rot="0">
            <a:off x="508000" y="6014720"/>
            <a:ext cx="11176000" cy="320040"/>
          </a:xfrm>
          <a:prstGeom prst="rect">
            <a:avLst/>
          </a:prstGeom>
          <a:ln>
            <a:headEnd type="none"/>
            <a:tailEnd type="none"/>
          </a:ln>
        </p:spPr>
        <p:txBody>
          <a:bodyPr wrap="square">
            <a:spAutoFit/>
          </a:bodyPr>
          <a:lstStyle/>
          <a:p>
            <a:pPr algn="l" defTabSz="914400"/>
            <a:r>
              <a:rPr/>
              <a:t>button </a:t>
            </a:r>
            <a:r>
              <a:rPr/>
              <a:t>(button </a:t>
            </a:r>
            <a:r>
              <a:rPr/>
              <a:t>inside </a:t>
            </a:r>
            <a:r>
              <a:rPr/>
              <a:t>of </a:t>
            </a:r>
            <a:r>
              <a:rPr/>
              <a:t>a </a:t>
            </a:r>
            <a:r>
              <a:rPr/>
              <a:t>split </a:t>
            </a:r>
            <a:r>
              <a:rPr/>
              <a:t>button)</a:t>
            </a:r>
            <a:r>
              <a:rPr b="0" i="0" strike="noStrike" dirty="0"/>
              <a:t> </a:t>
            </a:r>
            <a:r>
              <a:rPr b="0" i="0" strike="noStrike" dirty="0"/>
              <a:t>PAGEREF </a:t>
            </a:r>
            <a:r>
              <a:rPr b="0" i="0" strike="noStrike" dirty="0"/>
              <a:t>section_2257e779b94944cb8ec0719a46421f3e34</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a:t>button </a:t>
            </a:r>
            <a:r>
              <a:rPr/>
              <a:t>(button)</a:t>
            </a:r>
            <a:r>
              <a:rPr b="0" i="0" strike="noStrike" dirty="0"/>
              <a:t> </a:t>
            </a:r>
            <a:r>
              <a:rPr b="0" i="0" strike="noStrike" dirty="0"/>
              <a:t>PAGEREF </a:t>
            </a:r>
            <a:r>
              <a:rPr b="0" i="0" strike="noStrike" dirty="0"/>
              <a:t>section_846e8fb607d3460b816bbcfae841c95b15</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a:t>button </a:t>
            </a:r>
            <a:r>
              <a:rPr/>
              <a:t>(unsized </a:t>
            </a:r>
            <a:r>
              <a:rPr/>
              <a:t>button)</a:t>
            </a:r>
            <a:r>
              <a:rPr b="0" i="0" strike="noStrike" dirty="0"/>
              <a:t> </a:t>
            </a:r>
            <a:r>
              <a:rPr b="0" i="0" strike="noStrike" dirty="0"/>
              <a:t>PAGEREF </a:t>
            </a:r>
            <a:r>
              <a:rPr b="0" i="0" strike="noStrike" dirty="0"/>
              <a:t>section_2e7b9955ff774a2f9d93401f0541e8fd25</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a:t>buttonGroup </a:t>
            </a:r>
            <a:r>
              <a:rPr/>
              <a:t>(button </a:t>
            </a:r>
            <a:r>
              <a:rPr/>
              <a:t>grouping </a:t>
            </a:r>
            <a:r>
              <a:rPr/>
              <a:t>container)</a:t>
            </a:r>
            <a:r>
              <a:rPr b="0" i="0" strike="noStrike" dirty="0"/>
              <a:t> </a:t>
            </a:r>
            <a:r>
              <a:rPr b="0" i="0" strike="noStrike" dirty="0"/>
              <a:t>PAGEREF </a:t>
            </a:r>
            <a:r>
              <a:rPr b="0" i="0" strike="noStrike" dirty="0"/>
              <a:t>section_d9f6097943e740e6bd211f9693600c2143</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a:t>checkBox </a:t>
            </a:r>
            <a:r>
              <a:rPr/>
              <a:t>(check </a:t>
            </a:r>
            <a:r>
              <a:rPr/>
              <a:t>box)</a:t>
            </a:r>
            <a:r>
              <a:rPr b="0" i="0" strike="noStrike" dirty="0"/>
              <a:t> </a:t>
            </a:r>
            <a:r>
              <a:rPr b="0" i="0" strike="noStrike" dirty="0"/>
              <a:t>PAGEREF </a:t>
            </a:r>
            <a:r>
              <a:rPr b="0" i="0" strike="noStrike" dirty="0"/>
              <a:t>section_d189aedcd7634295bc2b07746447dfde46</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a:t>comboBox </a:t>
            </a:r>
            <a:r>
              <a:rPr/>
              <a:t>(combo </a:t>
            </a:r>
            <a:r>
              <a:rPr/>
              <a:t>box)</a:t>
            </a:r>
            <a:r>
              <a:rPr b="0" i="0" strike="noStrike" dirty="0"/>
              <a:t> </a:t>
            </a:r>
            <a:r>
              <a:rPr b="0" i="0" strike="noStrike" dirty="0"/>
              <a:t>PAGEREF </a:t>
            </a:r>
            <a:r>
              <a:rPr b="0" i="0" strike="noStrike" dirty="0"/>
              <a:t>section_3caf6b1834cb4352bd3177a26980c00e56</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a:t>command </a:t>
            </a:r>
            <a:r>
              <a:rPr/>
              <a:t>(repurposed </a:t>
            </a:r>
            <a:r>
              <a:rPr/>
              <a:t>command)</a:t>
            </a:r>
            <a:r>
              <a:rPr b="0" i="0" strike="noStrike" dirty="0"/>
              <a:t> </a:t>
            </a:r>
            <a:r>
              <a:rPr b="0" i="0" strike="noStrike" dirty="0"/>
              <a:t>PAGEREF </a:t>
            </a:r>
            <a:r>
              <a:rPr b="0" i="0" strike="noStrike" dirty="0"/>
              <a:t>section_21316865fbce4a3fa9ffa8277cce5f2d67</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a:t>commands </a:t>
            </a:r>
            <a:r>
              <a:rPr/>
              <a:t>(list </a:t>
            </a:r>
            <a:r>
              <a:rPr/>
              <a:t>of </a:t>
            </a:r>
            <a:r>
              <a:rPr/>
              <a:t>repurposed </a:t>
            </a:r>
            <a:r>
              <a:rPr/>
              <a:t>commands)</a:t>
            </a:r>
            <a:r>
              <a:rPr b="0" i="0" strike="noStrike" dirty="0"/>
              <a:t> </a:t>
            </a:r>
            <a:r>
              <a:rPr b="0" i="0" strike="noStrike" dirty="0"/>
              <a:t>PAGEREF </a:t>
            </a:r>
            <a:r>
              <a:rPr b="0" i="0" strike="noStrike" dirty="0"/>
              <a:t>section_f914543a2b8e48d4bf5e98b1326e7fc269</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a:t>contextualTabs </a:t>
            </a:r>
            <a:r>
              <a:rPr/>
              <a:t>(list </a:t>
            </a:r>
            <a:r>
              <a:rPr/>
              <a:t>of </a:t>
            </a:r>
            <a:r>
              <a:rPr/>
              <a:t>contextual </a:t>
            </a:r>
            <a:r>
              <a:rPr/>
              <a:t>tab </a:t>
            </a:r>
            <a:r>
              <a:rPr/>
              <a:t>sets)</a:t>
            </a:r>
            <a:r>
              <a:rPr b="0" i="0" strike="noStrike" dirty="0"/>
              <a:t> </a:t>
            </a:r>
            <a:r>
              <a:rPr b="0" i="0" strike="noStrike" dirty="0"/>
              <a:t>PAGEREF </a:t>
            </a:r>
            <a:r>
              <a:rPr b="0" i="0" strike="noStrike" dirty="0"/>
              <a:t>section_75ae6d6f6a8549a2a5fb84b970d54ffb69</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a:t>control </a:t>
            </a:r>
            <a:r>
              <a:rPr/>
              <a:t>(control </a:t>
            </a:r>
            <a:r>
              <a:rPr/>
              <a:t>clone)</a:t>
            </a:r>
            <a:r>
              <a:rPr b="0" i="0" strike="noStrike" dirty="0"/>
              <a:t> </a:t>
            </a:r>
            <a:r>
              <a:rPr b="0" i="0" strike="noStrike" dirty="0"/>
              <a:t>PAGEREF </a:t>
            </a:r>
            <a:r>
              <a:rPr b="0" i="0" strike="noStrike" dirty="0"/>
              <a:t>section_f2bf1b5d049246a488f7dc1a9528f75578</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a:t>control </a:t>
            </a:r>
            <a:r>
              <a:rPr/>
              <a:t>(Quick </a:t>
            </a:r>
            <a:r>
              <a:rPr/>
              <a:t>Access </a:t>
            </a:r>
            <a:r>
              <a:rPr/>
              <a:t>Toolbar </a:t>
            </a:r>
            <a:r>
              <a:rPr/>
              <a:t>control </a:t>
            </a:r>
            <a:r>
              <a:rPr/>
              <a:t>clone)</a:t>
            </a:r>
            <a:r>
              <a:rPr b="0" i="0" strike="noStrike" dirty="0"/>
              <a:t> </a:t>
            </a:r>
            <a:r>
              <a:rPr b="0" i="0" strike="noStrike" dirty="0"/>
              <a:t>PAGEREF </a:t>
            </a:r>
            <a:r>
              <a:rPr b="0" i="0" strike="noStrike" dirty="0"/>
              <a:t>section_14909d674b9f4796badae79edaedcdf287</a:t>
            </a:r>
          </a:p>
        </p:txBody>
      </p:sp>
      <p:sp>
        <p:nvSpPr>
          <p:cNvPr id="12" name="TextBox12"/>
          <p:cNvSpPr txBox="1">
            <a:spLocks noChangeArrowheads="1"/>
          </p:cNvSpPr>
          <p:nvPr/>
        </p:nvSpPr>
        <p:spPr>
          <a:xfrm rot="0">
            <a:off x="508000" y="3962400"/>
            <a:ext cx="11176000" cy="320040"/>
          </a:xfrm>
          <a:prstGeom prst="rect">
            <a:avLst/>
          </a:prstGeom>
          <a:ln>
            <a:headEnd type="none"/>
            <a:tailEnd type="none"/>
          </a:ln>
        </p:spPr>
        <p:txBody>
          <a:bodyPr wrap="square">
            <a:spAutoFit/>
          </a:bodyPr>
          <a:lstStyle/>
          <a:p>
            <a:pPr algn="l" defTabSz="914400"/>
            <a:r>
              <a:rPr/>
              <a:t>control </a:t>
            </a:r>
            <a:r>
              <a:rPr/>
              <a:t>(unsized </a:t>
            </a:r>
            <a:r>
              <a:rPr/>
              <a:t>control </a:t>
            </a:r>
            <a:r>
              <a:rPr/>
              <a:t>clone)</a:t>
            </a:r>
            <a:r>
              <a:rPr b="0" i="0" strike="noStrike" dirty="0"/>
              <a:t> </a:t>
            </a:r>
            <a:r>
              <a:rPr b="0" i="0" strike="noStrike" dirty="0"/>
              <a:t>PAGEREF </a:t>
            </a:r>
            <a:r>
              <a:rPr b="0" i="0" strike="noStrike" dirty="0"/>
              <a:t>section_ada8edc4b469410e8bd05d667ffe7dbf70</a:t>
            </a:r>
          </a:p>
        </p:txBody>
      </p:sp>
      <p:sp>
        <p:nvSpPr>
          <p:cNvPr id="13" name="TextBox13"/>
          <p:cNvSpPr txBox="1">
            <a:spLocks noChangeArrowheads="1"/>
          </p:cNvSpPr>
          <p:nvPr/>
        </p:nvSpPr>
        <p:spPr>
          <a:xfrm rot="0">
            <a:off x="508000" y="4307840"/>
            <a:ext cx="11176000" cy="320040"/>
          </a:xfrm>
          <a:prstGeom prst="rect">
            <a:avLst/>
          </a:prstGeom>
          <a:ln>
            <a:headEnd type="none"/>
            <a:tailEnd type="none"/>
          </a:ln>
        </p:spPr>
        <p:txBody>
          <a:bodyPr wrap="square">
            <a:spAutoFit/>
          </a:bodyPr>
          <a:lstStyle/>
          <a:p>
            <a:pPr algn="l" defTabSz="914400"/>
            <a:r>
              <a:rPr/>
              <a:t>customUI </a:t>
            </a:r>
            <a:r>
              <a:rPr/>
              <a:t>(custom </a:t>
            </a:r>
            <a:r>
              <a:rPr/>
              <a:t>UI </a:t>
            </a:r>
            <a:r>
              <a:rPr/>
              <a:t>document </a:t>
            </a:r>
            <a:r>
              <a:rPr/>
              <a:t>root)</a:t>
            </a:r>
            <a:r>
              <a:rPr b="0" i="0" strike="noStrike" dirty="0"/>
              <a:t> </a:t>
            </a:r>
            <a:r>
              <a:rPr b="0" i="0" strike="noStrike" dirty="0"/>
              <a:t>PAGEREF </a:t>
            </a:r>
            <a:r>
              <a:rPr b="0" i="0" strike="noStrike" dirty="0"/>
              <a:t>section_8a27e8523f8b424aac6732c58181e9d396</a:t>
            </a:r>
          </a:p>
        </p:txBody>
      </p:sp>
      <p:sp>
        <p:nvSpPr>
          <p:cNvPr id="14" name="TextBox14"/>
          <p:cNvSpPr txBox="1">
            <a:spLocks noChangeArrowheads="1"/>
          </p:cNvSpPr>
          <p:nvPr/>
        </p:nvSpPr>
        <p:spPr>
          <a:xfrm rot="0">
            <a:off x="508000" y="4653280"/>
            <a:ext cx="11176000" cy="320040"/>
          </a:xfrm>
          <a:prstGeom prst="rect">
            <a:avLst/>
          </a:prstGeom>
          <a:ln>
            <a:headEnd type="none"/>
            <a:tailEnd type="none"/>
          </a:ln>
        </p:spPr>
        <p:txBody>
          <a:bodyPr wrap="square">
            <a:spAutoFit/>
          </a:bodyPr>
          <a:lstStyle/>
          <a:p>
            <a:pPr algn="l" defTabSz="914400"/>
            <a:r>
              <a:rPr/>
              <a:t>dialogBoxLauncher </a:t>
            </a:r>
            <a:r>
              <a:rPr/>
              <a:t>(dialog </a:t>
            </a:r>
            <a:r>
              <a:rPr/>
              <a:t>box </a:t>
            </a:r>
            <a:r>
              <a:rPr/>
              <a:t>launcher)</a:t>
            </a:r>
            <a:r>
              <a:rPr b="0" i="0" strike="noStrike" dirty="0"/>
              <a:t> </a:t>
            </a:r>
            <a:r>
              <a:rPr b="0" i="0" strike="noStrike" dirty="0"/>
              <a:t>PAGEREF </a:t>
            </a:r>
            <a:r>
              <a:rPr b="0" i="0" strike="noStrike" dirty="0"/>
              <a:t>section_76d9f8786b2749ff8c4cee008f345cac97</a:t>
            </a:r>
          </a:p>
        </p:txBody>
      </p:sp>
      <p:sp>
        <p:nvSpPr>
          <p:cNvPr id="15" name="TextBox15"/>
          <p:cNvSpPr txBox="1">
            <a:spLocks noChangeArrowheads="1"/>
          </p:cNvSpPr>
          <p:nvPr/>
        </p:nvSpPr>
        <p:spPr>
          <a:xfrm rot="0">
            <a:off x="508000" y="4998720"/>
            <a:ext cx="11176000" cy="640080"/>
          </a:xfrm>
          <a:prstGeom prst="rect">
            <a:avLst/>
          </a:prstGeom>
          <a:ln>
            <a:headEnd type="none"/>
            <a:tailEnd type="none"/>
          </a:ln>
        </p:spPr>
        <p:txBody>
          <a:bodyPr wrap="square">
            <a:spAutoFit/>
          </a:bodyPr>
          <a:lstStyle/>
          <a:p>
            <a:pPr algn="l" defTabSz="914400"/>
            <a:r>
              <a:rPr/>
              <a:t>documentControls </a:t>
            </a:r>
            <a:r>
              <a:rPr/>
              <a:t>(list </a:t>
            </a:r>
            <a:r>
              <a:rPr/>
              <a:t>of </a:t>
            </a:r>
            <a:r>
              <a:rPr/>
              <a:t>document-specific </a:t>
            </a:r>
            <a:r>
              <a:rPr/>
              <a:t>Quick </a:t>
            </a:r>
            <a:r>
              <a:rPr/>
              <a:t>Access </a:t>
            </a:r>
            <a:r>
              <a:rPr/>
              <a:t>Toolbar </a:t>
            </a:r>
            <a:r>
              <a:rPr/>
              <a:t>controls)</a:t>
            </a:r>
            <a:r>
              <a:rPr b="0" i="0" strike="noStrike" dirty="0"/>
              <a:t> </a:t>
            </a:r>
            <a:r>
              <a:rPr b="0" i="0" strike="noStrike" dirty="0"/>
              <a:t>PAGEREF </a:t>
            </a:r>
            <a:r>
              <a:rPr b="0" i="0" strike="noStrike" dirty="0"/>
              <a:t>section_de33fcbe3b5b4d30b875d2ec922cf32f98</a:t>
            </a:r>
          </a:p>
        </p:txBody>
      </p:sp>
      <p:sp>
        <p:nvSpPr>
          <p:cNvPr id="16" name="TextBox16"/>
          <p:cNvSpPr txBox="1">
            <a:spLocks noChangeArrowheads="1"/>
          </p:cNvSpPr>
          <p:nvPr/>
        </p:nvSpPr>
        <p:spPr>
          <a:xfrm rot="0">
            <a:off x="508000" y="5664200"/>
            <a:ext cx="11176000" cy="320040"/>
          </a:xfrm>
          <a:prstGeom prst="rect">
            <a:avLst/>
          </a:prstGeom>
          <a:ln>
            <a:headEnd type="none"/>
            <a:tailEnd type="none"/>
          </a:ln>
        </p:spPr>
        <p:txBody>
          <a:bodyPr wrap="square">
            <a:spAutoFit/>
          </a:bodyPr>
          <a:lstStyle/>
          <a:p>
            <a:pPr algn="l" defTabSz="914400"/>
            <a:r>
              <a:rPr/>
              <a:t>dropDown </a:t>
            </a:r>
            <a:r>
              <a:rPr/>
              <a:t>(drop-down </a:t>
            </a:r>
            <a:r>
              <a:rPr/>
              <a:t>control)</a:t>
            </a:r>
            <a:r>
              <a:rPr b="0" i="0" strike="noStrike" dirty="0"/>
              <a:t> </a:t>
            </a:r>
            <a:r>
              <a:rPr b="0" i="0" strike="noStrike" dirty="0"/>
              <a:t>PAGEREF </a:t>
            </a:r>
            <a:r>
              <a:rPr b="0" i="0" strike="noStrike" dirty="0"/>
              <a:t>section_700e4451870640c58d7b896e4ae21b6999</a:t>
            </a:r>
          </a:p>
        </p:txBody>
      </p:sp>
      <p:sp>
        <p:nvSpPr>
          <p:cNvPr id="17" name="TextBox17"/>
          <p:cNvSpPr txBox="1">
            <a:spLocks noChangeArrowheads="1"/>
          </p:cNvSpPr>
          <p:nvPr/>
        </p:nvSpPr>
        <p:spPr>
          <a:xfrm rot="0">
            <a:off x="508000" y="6009640"/>
            <a:ext cx="11176000" cy="320040"/>
          </a:xfrm>
          <a:prstGeom prst="rect">
            <a:avLst/>
          </a:prstGeom>
          <a:ln>
            <a:headEnd type="none"/>
            <a:tailEnd type="none"/>
          </a:ln>
        </p:spPr>
        <p:txBody>
          <a:bodyPr wrap="square">
            <a:spAutoFit/>
          </a:bodyPr>
          <a:lstStyle/>
          <a:p>
            <a:pPr algn="l" defTabSz="914400"/>
            <a:r>
              <a:rPr/>
              <a:t>dynamicMenu </a:t>
            </a:r>
            <a:r>
              <a:rPr/>
              <a:t>(dynamic </a:t>
            </a:r>
            <a:r>
              <a:rPr/>
              <a:t>menu)</a:t>
            </a:r>
            <a:r>
              <a:rPr b="0" i="0" strike="noStrike" dirty="0"/>
              <a:t> </a:t>
            </a:r>
            <a:r>
              <a:rPr b="0" i="0" strike="noStrike" dirty="0"/>
              <a:t>PAGEREF </a:t>
            </a:r>
            <a:r>
              <a:rPr b="0" i="0" strike="noStrike" dirty="0"/>
              <a:t>section_26d7db807ea442d09a063f63365043c7120</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a:t>dynamicMenu </a:t>
            </a:r>
            <a:r>
              <a:rPr/>
              <a:t>(unsized </a:t>
            </a:r>
            <a:r>
              <a:rPr/>
              <a:t>dynamic </a:t>
            </a:r>
            <a:r>
              <a:rPr/>
              <a:t>menu)</a:t>
            </a:r>
            <a:r>
              <a:rPr b="0" i="0" strike="noStrike" dirty="0"/>
              <a:t> </a:t>
            </a:r>
            <a:r>
              <a:rPr b="0" i="0" strike="noStrike" dirty="0"/>
              <a:t>PAGEREF </a:t>
            </a:r>
            <a:r>
              <a:rPr b="0" i="0" strike="noStrike" dirty="0"/>
              <a:t>section_fd0825c70f294038861754af0dec8c7d111</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a:t>editBox </a:t>
            </a:r>
            <a:r>
              <a:rPr/>
              <a:t>(edit </a:t>
            </a:r>
            <a:r>
              <a:rPr/>
              <a:t>box)</a:t>
            </a:r>
            <a:r>
              <a:rPr b="0" i="0" strike="noStrike" dirty="0"/>
              <a:t> </a:t>
            </a:r>
            <a:r>
              <a:rPr b="0" i="0" strike="noStrike" dirty="0"/>
              <a:t>PAGEREF </a:t>
            </a:r>
            <a:r>
              <a:rPr b="0" i="0" strike="noStrike" dirty="0"/>
              <a:t>section_7b552756a970466db7c2ee5bbe171e34131</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a:t>gallery </a:t>
            </a:r>
            <a:r>
              <a:rPr/>
              <a:t>(gallery)</a:t>
            </a:r>
            <a:r>
              <a:rPr b="0" i="0" strike="noStrike" dirty="0"/>
              <a:t> </a:t>
            </a:r>
            <a:r>
              <a:rPr b="0" i="0" strike="noStrike" dirty="0"/>
              <a:t>PAGEREF </a:t>
            </a:r>
            <a:r>
              <a:rPr b="0" i="0" strike="noStrike" dirty="0"/>
              <a:t>section_017f9f94700f4846ba19c695ad32929f140</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a:t>gallery </a:t>
            </a:r>
            <a:r>
              <a:rPr/>
              <a:t>(unsized </a:t>
            </a:r>
            <a:r>
              <a:rPr/>
              <a:t>gallery)</a:t>
            </a:r>
            <a:r>
              <a:rPr b="0" i="0" strike="noStrike" dirty="0"/>
              <a:t> </a:t>
            </a:r>
            <a:r>
              <a:rPr b="0" i="0" strike="noStrike" dirty="0"/>
              <a:t>PAGEREF </a:t>
            </a:r>
            <a:r>
              <a:rPr b="0" i="0" strike="noStrike" dirty="0"/>
              <a:t>section_7bfba338481f453e97670e0855c8f029156</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a:t>group </a:t>
            </a:r>
            <a:r>
              <a:rPr/>
              <a:t>(group)</a:t>
            </a:r>
            <a:r>
              <a:rPr b="0" i="0" strike="noStrike" dirty="0"/>
              <a:t> </a:t>
            </a:r>
            <a:r>
              <a:rPr b="0" i="0" strike="noStrike" dirty="0"/>
              <a:t>PAGEREF </a:t>
            </a:r>
            <a:r>
              <a:rPr b="0" i="0" strike="noStrike" dirty="0"/>
              <a:t>section_190f51e63a3c4cf8affbcec9b906aae4170</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a:t>item </a:t>
            </a:r>
            <a:r>
              <a:rPr/>
              <a:t>(selection </a:t>
            </a:r>
            <a:r>
              <a:rPr/>
              <a:t>item)</a:t>
            </a:r>
            <a:r>
              <a:rPr b="0" i="0" strike="noStrike" dirty="0"/>
              <a:t> </a:t>
            </a:r>
            <a:r>
              <a:rPr b="0" i="0" strike="noStrike" dirty="0"/>
              <a:t>PAGEREF </a:t>
            </a:r>
            <a:r>
              <a:rPr b="0" i="0" strike="noStrike" dirty="0"/>
              <a:t>section_6417edcc85b847f781fd56918e8df537178</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a:t>labelControl </a:t>
            </a:r>
            <a:r>
              <a:rPr/>
              <a:t>(text </a:t>
            </a:r>
            <a:r>
              <a:rPr/>
              <a:t>label)</a:t>
            </a:r>
            <a:r>
              <a:rPr b="0" i="0" strike="noStrike" dirty="0"/>
              <a:t> </a:t>
            </a:r>
            <a:r>
              <a:rPr b="0" i="0" strike="noStrike" dirty="0"/>
              <a:t>PAGEREF </a:t>
            </a:r>
            <a:r>
              <a:rPr b="0" i="0" strike="noStrike" dirty="0"/>
              <a:t>section_965555a293db48a6a6bf5dd08a13f6bb181</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a:t>menu </a:t>
            </a:r>
            <a:r>
              <a:rPr/>
              <a:t>(dynamic </a:t>
            </a:r>
            <a:r>
              <a:rPr/>
              <a:t>menu </a:t>
            </a:r>
            <a:r>
              <a:rPr/>
              <a:t>root </a:t>
            </a:r>
            <a:r>
              <a:rPr/>
              <a:t>XML </a:t>
            </a:r>
            <a:r>
              <a:rPr/>
              <a:t>element)</a:t>
            </a:r>
            <a:r>
              <a:rPr b="0" i="0" strike="noStrike" dirty="0"/>
              <a:t> </a:t>
            </a:r>
            <a:r>
              <a:rPr b="0" i="0" strike="noStrike" dirty="0"/>
              <a:t>PAGEREF </a:t>
            </a:r>
            <a:r>
              <a:rPr b="0" i="0" strike="noStrike" dirty="0"/>
              <a:t>section_e662c00135584511a56507a3e32021e3219</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a:t>menu </a:t>
            </a:r>
            <a:r>
              <a:rPr/>
              <a:t>(menu </a:t>
            </a:r>
            <a:r>
              <a:rPr/>
              <a:t>with </a:t>
            </a:r>
            <a:r>
              <a:rPr/>
              <a:t>title)</a:t>
            </a:r>
            <a:r>
              <a:rPr b="0" i="0" strike="noStrike" dirty="0"/>
              <a:t> </a:t>
            </a:r>
            <a:r>
              <a:rPr b="0" i="0" strike="noStrike" dirty="0"/>
              <a:t>PAGEREF </a:t>
            </a:r>
            <a:r>
              <a:rPr b="0" i="0" strike="noStrike" dirty="0"/>
              <a:t>section_f785dc2b045b4b86b5424a10d264dace198</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a:t>menu </a:t>
            </a:r>
            <a:r>
              <a:rPr/>
              <a:t>(menu)</a:t>
            </a:r>
            <a:r>
              <a:rPr b="0" i="0" strike="noStrike" dirty="0"/>
              <a:t> </a:t>
            </a:r>
            <a:r>
              <a:rPr b="0" i="0" strike="noStrike" dirty="0"/>
              <a:t>PAGEREF </a:t>
            </a:r>
            <a:r>
              <a:rPr b="0" i="0" strike="noStrike" dirty="0"/>
              <a:t>section_0243b261903e43d98e8b43f66ea0bcaf208</a:t>
            </a:r>
          </a:p>
        </p:txBody>
      </p:sp>
      <p:sp>
        <p:nvSpPr>
          <p:cNvPr id="12" name="TextBox12"/>
          <p:cNvSpPr txBox="1">
            <a:spLocks noChangeArrowheads="1"/>
          </p:cNvSpPr>
          <p:nvPr/>
        </p:nvSpPr>
        <p:spPr>
          <a:xfrm rot="0">
            <a:off x="508000" y="3962400"/>
            <a:ext cx="11176000" cy="320040"/>
          </a:xfrm>
          <a:prstGeom prst="rect">
            <a:avLst/>
          </a:prstGeom>
          <a:ln>
            <a:headEnd type="none"/>
            <a:tailEnd type="none"/>
          </a:ln>
        </p:spPr>
        <p:txBody>
          <a:bodyPr wrap="square">
            <a:spAutoFit/>
          </a:bodyPr>
          <a:lstStyle/>
          <a:p>
            <a:pPr algn="l" defTabSz="914400"/>
            <a:r>
              <a:rPr/>
              <a:t>menu </a:t>
            </a:r>
            <a:r>
              <a:rPr/>
              <a:t>(unsized </a:t>
            </a:r>
            <a:r>
              <a:rPr/>
              <a:t>menu)</a:t>
            </a:r>
            <a:r>
              <a:rPr b="0" i="0" strike="noStrike" dirty="0"/>
              <a:t> </a:t>
            </a:r>
            <a:r>
              <a:rPr b="0" i="0" strike="noStrike" dirty="0"/>
              <a:t>PAGEREF </a:t>
            </a:r>
            <a:r>
              <a:rPr b="0" i="0" strike="noStrike" dirty="0"/>
              <a:t>section_1590adf87f2a4ec8944f9c4329e7ff98189</a:t>
            </a:r>
          </a:p>
        </p:txBody>
      </p:sp>
      <p:sp>
        <p:nvSpPr>
          <p:cNvPr id="13" name="TextBox13"/>
          <p:cNvSpPr txBox="1">
            <a:spLocks noChangeArrowheads="1"/>
          </p:cNvSpPr>
          <p:nvPr/>
        </p:nvSpPr>
        <p:spPr>
          <a:xfrm rot="0">
            <a:off x="508000" y="4307840"/>
            <a:ext cx="11176000" cy="320040"/>
          </a:xfrm>
          <a:prstGeom prst="rect">
            <a:avLst/>
          </a:prstGeom>
          <a:ln>
            <a:headEnd type="none"/>
            <a:tailEnd type="none"/>
          </a:ln>
        </p:spPr>
        <p:txBody>
          <a:bodyPr wrap="square">
            <a:spAutoFit/>
          </a:bodyPr>
          <a:lstStyle/>
          <a:p>
            <a:pPr algn="l" defTabSz="914400"/>
            <a:r>
              <a:rPr/>
              <a:t>menuSeparator </a:t>
            </a:r>
            <a:r>
              <a:rPr/>
              <a:t>(menu </a:t>
            </a:r>
            <a:r>
              <a:rPr/>
              <a:t>separator)</a:t>
            </a:r>
            <a:r>
              <a:rPr b="0" i="0" strike="noStrike" dirty="0"/>
              <a:t> </a:t>
            </a:r>
            <a:r>
              <a:rPr b="0" i="0" strike="noStrike" dirty="0"/>
              <a:t>PAGEREF </a:t>
            </a:r>
            <a:r>
              <a:rPr b="0" i="0" strike="noStrike" dirty="0"/>
              <a:t>section_00c26e34b4a84c97a4f6d547a555a686221</a:t>
            </a:r>
          </a:p>
        </p:txBody>
      </p:sp>
      <p:sp>
        <p:nvSpPr>
          <p:cNvPr id="14" name="TextBox14"/>
          <p:cNvSpPr txBox="1">
            <a:spLocks noChangeArrowheads="1"/>
          </p:cNvSpPr>
          <p:nvPr/>
        </p:nvSpPr>
        <p:spPr>
          <a:xfrm rot="0">
            <a:off x="508000" y="4653280"/>
            <a:ext cx="11176000" cy="320040"/>
          </a:xfrm>
          <a:prstGeom prst="rect">
            <a:avLst/>
          </a:prstGeom>
          <a:ln>
            <a:headEnd type="none"/>
            <a:tailEnd type="none"/>
          </a:ln>
        </p:spPr>
        <p:txBody>
          <a:bodyPr wrap="square">
            <a:spAutoFit/>
          </a:bodyPr>
          <a:lstStyle/>
          <a:p>
            <a:pPr algn="l" defTabSz="914400"/>
            <a:r>
              <a:rPr/>
              <a:t>officeMenu </a:t>
            </a:r>
            <a:r>
              <a:rPr/>
              <a:t>(Office </a:t>
            </a:r>
            <a:r>
              <a:rPr/>
              <a:t>menu)</a:t>
            </a:r>
            <a:r>
              <a:rPr b="0" i="0" strike="noStrike" dirty="0"/>
              <a:t> </a:t>
            </a:r>
            <a:r>
              <a:rPr b="0" i="0" strike="noStrike" dirty="0"/>
              <a:t>PAGEREF </a:t>
            </a:r>
            <a:r>
              <a:rPr b="0" i="0" strike="noStrike" dirty="0"/>
              <a:t>section_d9422554dbaf42e09e4b6416a80b0844224</a:t>
            </a:r>
          </a:p>
        </p:txBody>
      </p:sp>
      <p:sp>
        <p:nvSpPr>
          <p:cNvPr id="15" name="TextBox15"/>
          <p:cNvSpPr txBox="1">
            <a:spLocks noChangeArrowheads="1"/>
          </p:cNvSpPr>
          <p:nvPr/>
        </p:nvSpPr>
        <p:spPr>
          <a:xfrm rot="0">
            <a:off x="508000" y="4998720"/>
            <a:ext cx="11176000" cy="320040"/>
          </a:xfrm>
          <a:prstGeom prst="rect">
            <a:avLst/>
          </a:prstGeom>
          <a:ln>
            <a:headEnd type="none"/>
            <a:tailEnd type="none"/>
          </a:ln>
        </p:spPr>
        <p:txBody>
          <a:bodyPr wrap="square">
            <a:spAutoFit/>
          </a:bodyPr>
          <a:lstStyle/>
          <a:p>
            <a:pPr algn="l" defTabSz="914400"/>
            <a:r>
              <a:rPr/>
              <a:t>qat </a:t>
            </a:r>
            <a:r>
              <a:rPr/>
              <a:t>(Quick </a:t>
            </a:r>
            <a:r>
              <a:rPr/>
              <a:t>Access </a:t>
            </a:r>
            <a:r>
              <a:rPr/>
              <a:t>Toolbar)</a:t>
            </a:r>
            <a:r>
              <a:rPr b="0" i="0" strike="noStrike" dirty="0"/>
              <a:t> </a:t>
            </a:r>
            <a:r>
              <a:rPr b="0" i="0" strike="noStrike" dirty="0"/>
              <a:t>PAGEREF </a:t>
            </a:r>
            <a:r>
              <a:rPr b="0" i="0" strike="noStrike" dirty="0"/>
              <a:t>section_93e2f741a06c40968dbf5a97fefca545225</a:t>
            </a:r>
          </a:p>
        </p:txBody>
      </p:sp>
      <p:sp>
        <p:nvSpPr>
          <p:cNvPr id="16" name="TextBox16"/>
          <p:cNvSpPr txBox="1">
            <a:spLocks noChangeArrowheads="1"/>
          </p:cNvSpPr>
          <p:nvPr/>
        </p:nvSpPr>
        <p:spPr>
          <a:xfrm rot="0">
            <a:off x="508000" y="5344160"/>
            <a:ext cx="11176000" cy="320040"/>
          </a:xfrm>
          <a:prstGeom prst="rect">
            <a:avLst/>
          </a:prstGeom>
          <a:ln>
            <a:headEnd type="none"/>
            <a:tailEnd type="none"/>
          </a:ln>
        </p:spPr>
        <p:txBody>
          <a:bodyPr wrap="square">
            <a:spAutoFit/>
          </a:bodyPr>
          <a:lstStyle/>
          <a:p>
            <a:pPr algn="l" defTabSz="914400"/>
            <a:r>
              <a:rPr/>
              <a:t>ribbon </a:t>
            </a:r>
            <a:r>
              <a:rPr/>
              <a:t>(ribbon)</a:t>
            </a:r>
            <a:r>
              <a:rPr b="0" i="0" strike="noStrike" dirty="0"/>
              <a:t> </a:t>
            </a:r>
            <a:r>
              <a:rPr b="0" i="0" strike="noStrike" dirty="0"/>
              <a:t>PAGEREF </a:t>
            </a:r>
            <a:r>
              <a:rPr b="0" i="0" strike="noStrike" dirty="0"/>
              <a:t>section_574eeee87a03406ab95ff9e51e53dd9d226</a:t>
            </a:r>
          </a:p>
        </p:txBody>
      </p:sp>
      <p:sp>
        <p:nvSpPr>
          <p:cNvPr id="17" name="TextBox17"/>
          <p:cNvSpPr txBox="1">
            <a:spLocks noChangeArrowheads="1"/>
          </p:cNvSpPr>
          <p:nvPr/>
        </p:nvSpPr>
        <p:spPr>
          <a:xfrm rot="0">
            <a:off x="508000" y="5689600"/>
            <a:ext cx="11176000" cy="320040"/>
          </a:xfrm>
          <a:prstGeom prst="rect">
            <a:avLst/>
          </a:prstGeom>
          <a:ln>
            <a:headEnd type="none"/>
            <a:tailEnd type="none"/>
          </a:ln>
        </p:spPr>
        <p:txBody>
          <a:bodyPr wrap="square">
            <a:spAutoFit/>
          </a:bodyPr>
          <a:lstStyle/>
          <a:p>
            <a:pPr algn="l" defTabSz="914400"/>
            <a:r>
              <a:rPr/>
              <a:t>separator </a:t>
            </a:r>
            <a:r>
              <a:rPr/>
              <a:t>(separator)</a:t>
            </a:r>
            <a:r>
              <a:rPr b="0" i="0" strike="noStrike" dirty="0"/>
              <a:t> </a:t>
            </a:r>
            <a:r>
              <a:rPr b="0" i="0" strike="noStrike" dirty="0"/>
              <a:t>PAGEREF </a:t>
            </a:r>
            <a:r>
              <a:rPr b="0" i="0" strike="noStrike" dirty="0"/>
              <a:t>section_21312cb8be0f412c8184acd533a1410b227</a:t>
            </a: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a:t>sharedControls </a:t>
            </a:r>
            <a:r>
              <a:rPr/>
              <a:t>(list </a:t>
            </a:r>
            <a:r>
              <a:rPr/>
              <a:t>of </a:t>
            </a:r>
            <a:r>
              <a:rPr/>
              <a:t>shared </a:t>
            </a:r>
            <a:r>
              <a:rPr/>
              <a:t>Quick </a:t>
            </a:r>
            <a:r>
              <a:rPr/>
              <a:t>Access </a:t>
            </a:r>
            <a:r>
              <a:rPr/>
              <a:t>Toolbar </a:t>
            </a:r>
            <a:r>
              <a:rPr/>
              <a:t>controls)</a:t>
            </a:r>
            <a:r>
              <a:rPr b="0" i="0" strike="noStrike" dirty="0"/>
              <a:t> </a:t>
            </a:r>
            <a:r>
              <a:rPr b="0" i="0" strike="noStrike" dirty="0"/>
              <a:t>PAGEREF </a:t>
            </a:r>
            <a:r>
              <a:rPr b="0" i="0" strike="noStrike" dirty="0"/>
              <a:t>section_0ca32ee5aae74ff18baa8a8c9be2ebb3230</a:t>
            </a:r>
          </a:p>
        </p:txBody>
      </p:sp>
      <p:sp>
        <p:nvSpPr>
          <p:cNvPr id="3" name="TextBox3"/>
          <p:cNvSpPr txBox="1">
            <a:spLocks noChangeArrowheads="1"/>
          </p:cNvSpPr>
          <p:nvPr/>
        </p:nvSpPr>
        <p:spPr>
          <a:xfrm rot="0">
            <a:off x="508000" y="1173480"/>
            <a:ext cx="11176000" cy="320040"/>
          </a:xfrm>
          <a:prstGeom prst="rect">
            <a:avLst/>
          </a:prstGeom>
          <a:ln>
            <a:headEnd type="none"/>
            <a:tailEnd type="none"/>
          </a:ln>
        </p:spPr>
        <p:txBody>
          <a:bodyPr wrap="square">
            <a:spAutoFit/>
          </a:bodyPr>
          <a:lstStyle/>
          <a:p>
            <a:pPr algn="l" defTabSz="914400"/>
            <a:r>
              <a:rPr/>
              <a:t>splitButton </a:t>
            </a:r>
            <a:r>
              <a:rPr/>
              <a:t>(split </a:t>
            </a:r>
            <a:r>
              <a:rPr/>
              <a:t>button </a:t>
            </a:r>
            <a:r>
              <a:rPr/>
              <a:t>with </a:t>
            </a:r>
            <a:r>
              <a:rPr/>
              <a:t>title)</a:t>
            </a:r>
            <a:r>
              <a:rPr b="0" i="0" strike="noStrike" dirty="0"/>
              <a:t> </a:t>
            </a:r>
            <a:r>
              <a:rPr b="0" i="0" strike="noStrike" dirty="0"/>
              <a:t>PAGEREF </a:t>
            </a:r>
            <a:r>
              <a:rPr b="0" i="0" strike="noStrike" dirty="0"/>
              <a:t>section_1c6721206402408b96dde98650c12da5239</a:t>
            </a:r>
          </a:p>
        </p:txBody>
      </p:sp>
      <p:sp>
        <p:nvSpPr>
          <p:cNvPr id="4" name="TextBox4"/>
          <p:cNvSpPr txBox="1">
            <a:spLocks noChangeArrowheads="1"/>
          </p:cNvSpPr>
          <p:nvPr/>
        </p:nvSpPr>
        <p:spPr>
          <a:xfrm rot="0">
            <a:off x="508000" y="1518920"/>
            <a:ext cx="11176000" cy="320040"/>
          </a:xfrm>
          <a:prstGeom prst="rect">
            <a:avLst/>
          </a:prstGeom>
          <a:ln>
            <a:headEnd type="none"/>
            <a:tailEnd type="none"/>
          </a:ln>
        </p:spPr>
        <p:txBody>
          <a:bodyPr wrap="square">
            <a:spAutoFit/>
          </a:bodyPr>
          <a:lstStyle/>
          <a:p>
            <a:pPr algn="l" defTabSz="914400"/>
            <a:r>
              <a:rPr/>
              <a:t>splitButton </a:t>
            </a:r>
            <a:r>
              <a:rPr/>
              <a:t>(split </a:t>
            </a:r>
            <a:r>
              <a:rPr/>
              <a:t>button)</a:t>
            </a:r>
            <a:r>
              <a:rPr b="0" i="0" strike="noStrike" dirty="0"/>
              <a:t> </a:t>
            </a:r>
            <a:r>
              <a:rPr b="0" i="0" strike="noStrike" dirty="0"/>
              <a:t>PAGEREF </a:t>
            </a:r>
            <a:r>
              <a:rPr b="0" i="0" strike="noStrike" dirty="0"/>
              <a:t>section_aa41c698c7e84486b15fb73bedbf2be8248</a:t>
            </a:r>
          </a:p>
        </p:txBody>
      </p:sp>
      <p:sp>
        <p:nvSpPr>
          <p:cNvPr id="5" name="TextBox5"/>
          <p:cNvSpPr txBox="1">
            <a:spLocks noChangeArrowheads="1"/>
          </p:cNvSpPr>
          <p:nvPr/>
        </p:nvSpPr>
        <p:spPr>
          <a:xfrm rot="0">
            <a:off x="508000" y="1864360"/>
            <a:ext cx="11176000" cy="320040"/>
          </a:xfrm>
          <a:prstGeom prst="rect">
            <a:avLst/>
          </a:prstGeom>
          <a:ln>
            <a:headEnd type="none"/>
            <a:tailEnd type="none"/>
          </a:ln>
        </p:spPr>
        <p:txBody>
          <a:bodyPr wrap="square">
            <a:spAutoFit/>
          </a:bodyPr>
          <a:lstStyle/>
          <a:p>
            <a:pPr algn="l" defTabSz="914400"/>
            <a:r>
              <a:rPr/>
              <a:t>splitButton </a:t>
            </a:r>
            <a:r>
              <a:rPr/>
              <a:t>(unsized </a:t>
            </a:r>
            <a:r>
              <a:rPr/>
              <a:t>split </a:t>
            </a:r>
            <a:r>
              <a:rPr/>
              <a:t>button)</a:t>
            </a:r>
            <a:r>
              <a:rPr b="0" i="0" strike="noStrike" dirty="0"/>
              <a:t> </a:t>
            </a:r>
            <a:r>
              <a:rPr b="0" i="0" strike="noStrike" dirty="0"/>
              <a:t>PAGEREF </a:t>
            </a:r>
            <a:r>
              <a:rPr b="0" i="0" strike="noStrike" dirty="0"/>
              <a:t>section_6477dffcc8f24fc9815b637dabf3911d231</a:t>
            </a:r>
          </a:p>
        </p:txBody>
      </p:sp>
      <p:sp>
        <p:nvSpPr>
          <p:cNvPr id="6" name="TextBox6"/>
          <p:cNvSpPr txBox="1">
            <a:spLocks noChangeArrowheads="1"/>
          </p:cNvSpPr>
          <p:nvPr/>
        </p:nvSpPr>
        <p:spPr>
          <a:xfrm rot="0">
            <a:off x="508000" y="2209800"/>
            <a:ext cx="11176000" cy="320040"/>
          </a:xfrm>
          <a:prstGeom prst="rect">
            <a:avLst/>
          </a:prstGeom>
          <a:ln>
            <a:headEnd type="none"/>
            <a:tailEnd type="none"/>
          </a:ln>
        </p:spPr>
        <p:txBody>
          <a:bodyPr wrap="square">
            <a:spAutoFit/>
          </a:bodyPr>
          <a:lstStyle/>
          <a:p>
            <a:pPr algn="l" defTabSz="914400"/>
            <a:r>
              <a:rPr/>
              <a:t>tab </a:t>
            </a:r>
            <a:r>
              <a:rPr/>
              <a:t>(tab)</a:t>
            </a:r>
            <a:r>
              <a:rPr b="0" i="0" strike="noStrike" dirty="0"/>
              <a:t> </a:t>
            </a:r>
            <a:r>
              <a:rPr b="0" i="0" strike="noStrike" dirty="0"/>
              <a:t>PAGEREF </a:t>
            </a:r>
            <a:r>
              <a:rPr b="0" i="0" strike="noStrike" dirty="0"/>
              <a:t>section_141f881ca5a4473f944955d3d36579ed257</a:t>
            </a:r>
          </a:p>
        </p:txBody>
      </p:sp>
      <p:sp>
        <p:nvSpPr>
          <p:cNvPr id="7" name="TextBox7"/>
          <p:cNvSpPr txBox="1">
            <a:spLocks noChangeArrowheads="1"/>
          </p:cNvSpPr>
          <p:nvPr/>
        </p:nvSpPr>
        <p:spPr>
          <a:xfrm rot="0">
            <a:off x="508000" y="2555240"/>
            <a:ext cx="11176000" cy="320040"/>
          </a:xfrm>
          <a:prstGeom prst="rect">
            <a:avLst/>
          </a:prstGeom>
          <a:ln>
            <a:headEnd type="none"/>
            <a:tailEnd type="none"/>
          </a:ln>
        </p:spPr>
        <p:txBody>
          <a:bodyPr wrap="square">
            <a:spAutoFit/>
          </a:bodyPr>
          <a:lstStyle/>
          <a:p>
            <a:pPr algn="l" defTabSz="914400"/>
            <a:r>
              <a:rPr/>
              <a:t>tabs </a:t>
            </a:r>
            <a:r>
              <a:rPr/>
              <a:t>(list </a:t>
            </a:r>
            <a:r>
              <a:rPr/>
              <a:t>of </a:t>
            </a:r>
            <a:r>
              <a:rPr/>
              <a:t>tabs)</a:t>
            </a:r>
            <a:r>
              <a:rPr b="0" i="0" strike="noStrike" dirty="0"/>
              <a:t> </a:t>
            </a:r>
            <a:r>
              <a:rPr b="0" i="0" strike="noStrike" dirty="0"/>
              <a:t>PAGEREF </a:t>
            </a:r>
            <a:r>
              <a:rPr b="0" i="0" strike="noStrike" dirty="0"/>
              <a:t>section_6cbd1ae9780f421886aec536f6c0e97a261</a:t>
            </a:r>
          </a:p>
        </p:txBody>
      </p:sp>
      <p:sp>
        <p:nvSpPr>
          <p:cNvPr id="8" name="TextBox8"/>
          <p:cNvSpPr txBox="1">
            <a:spLocks noChangeArrowheads="1"/>
          </p:cNvSpPr>
          <p:nvPr/>
        </p:nvSpPr>
        <p:spPr>
          <a:xfrm rot="0">
            <a:off x="508000" y="2900680"/>
            <a:ext cx="11176000" cy="320040"/>
          </a:xfrm>
          <a:prstGeom prst="rect">
            <a:avLst/>
          </a:prstGeom>
          <a:ln>
            <a:headEnd type="none"/>
            <a:tailEnd type="none"/>
          </a:ln>
        </p:spPr>
        <p:txBody>
          <a:bodyPr wrap="square">
            <a:spAutoFit/>
          </a:bodyPr>
          <a:lstStyle/>
          <a:p>
            <a:pPr algn="l" defTabSz="914400"/>
            <a:r>
              <a:rPr/>
              <a:t>tabSet </a:t>
            </a:r>
            <a:r>
              <a:rPr/>
              <a:t>(contextual </a:t>
            </a:r>
            <a:r>
              <a:rPr/>
              <a:t>tab </a:t>
            </a:r>
            <a:r>
              <a:rPr/>
              <a:t>set)</a:t>
            </a:r>
            <a:r>
              <a:rPr b="0" i="0" strike="noStrike" dirty="0"/>
              <a:t> </a:t>
            </a:r>
            <a:r>
              <a:rPr b="0" i="0" strike="noStrike" dirty="0"/>
              <a:t>PAGEREF </a:t>
            </a:r>
            <a:r>
              <a:rPr b="0" i="0" strike="noStrike" dirty="0"/>
              <a:t>section_90a00968474745128601b61440747033262</a:t>
            </a:r>
          </a:p>
        </p:txBody>
      </p:sp>
      <p:sp>
        <p:nvSpPr>
          <p:cNvPr id="9" name="TextBox9"/>
          <p:cNvSpPr txBox="1">
            <a:spLocks noChangeArrowheads="1"/>
          </p:cNvSpPr>
          <p:nvPr/>
        </p:nvSpPr>
        <p:spPr>
          <a:xfrm rot="0">
            <a:off x="508000" y="3246120"/>
            <a:ext cx="11176000" cy="640080"/>
          </a:xfrm>
          <a:prstGeom prst="rect">
            <a:avLst/>
          </a:prstGeom>
          <a:ln>
            <a:headEnd type="none"/>
            <a:tailEnd type="none"/>
          </a:ln>
        </p:spPr>
        <p:txBody>
          <a:bodyPr wrap="square">
            <a:spAutoFit/>
          </a:bodyPr>
          <a:lstStyle/>
          <a:p>
            <a:pPr algn="l" defTabSz="914400"/>
            <a:r>
              <a:rPr/>
              <a:t>toggleButton </a:t>
            </a:r>
            <a:r>
              <a:rPr/>
              <a:t>(toggle </a:t>
            </a:r>
            <a:r>
              <a:rPr/>
              <a:t>button </a:t>
            </a:r>
            <a:r>
              <a:rPr/>
              <a:t>inside </a:t>
            </a:r>
            <a:r>
              <a:rPr/>
              <a:t>of </a:t>
            </a:r>
            <a:r>
              <a:rPr/>
              <a:t>a </a:t>
            </a:r>
            <a:r>
              <a:rPr/>
              <a:t>split </a:t>
            </a:r>
            <a:r>
              <a:rPr/>
              <a:t>button)</a:t>
            </a:r>
            <a:r>
              <a:rPr b="0" i="0" strike="noStrike" dirty="0"/>
              <a:t> </a:t>
            </a:r>
            <a:r>
              <a:rPr b="0" i="0" strike="noStrike" dirty="0"/>
              <a:t>PAGEREF </a:t>
            </a:r>
            <a:r>
              <a:rPr b="0" i="0" strike="noStrike" dirty="0"/>
              <a:t>section_539b9c44822d45cb8abe66b65a8bc14c283</a:t>
            </a:r>
          </a:p>
        </p:txBody>
      </p:sp>
      <p:sp>
        <p:nvSpPr>
          <p:cNvPr id="10" name="TextBox10"/>
          <p:cNvSpPr txBox="1">
            <a:spLocks noChangeArrowheads="1"/>
          </p:cNvSpPr>
          <p:nvPr/>
        </p:nvSpPr>
        <p:spPr>
          <a:xfrm rot="0">
            <a:off x="508000" y="3911600"/>
            <a:ext cx="11176000" cy="320040"/>
          </a:xfrm>
          <a:prstGeom prst="rect">
            <a:avLst/>
          </a:prstGeom>
          <a:ln>
            <a:headEnd type="none"/>
            <a:tailEnd type="none"/>
          </a:ln>
        </p:spPr>
        <p:txBody>
          <a:bodyPr wrap="square">
            <a:spAutoFit/>
          </a:bodyPr>
          <a:lstStyle/>
          <a:p>
            <a:pPr algn="l" defTabSz="914400"/>
            <a:r>
              <a:rPr/>
              <a:t>toggleButton </a:t>
            </a:r>
            <a:r>
              <a:rPr/>
              <a:t>(toggle </a:t>
            </a:r>
            <a:r>
              <a:rPr/>
              <a:t>button)</a:t>
            </a:r>
            <a:r>
              <a:rPr b="0" i="0" strike="noStrike" dirty="0"/>
              <a:t> </a:t>
            </a:r>
            <a:r>
              <a:rPr b="0" i="0" strike="noStrike" dirty="0"/>
              <a:t>PAGEREF </a:t>
            </a:r>
            <a:r>
              <a:rPr b="0" i="0" strike="noStrike" dirty="0"/>
              <a:t>section_ec42bfd0149c495b895c3bc708b8a149273</a:t>
            </a:r>
          </a:p>
        </p:txBody>
      </p:sp>
      <p:sp>
        <p:nvSpPr>
          <p:cNvPr id="11" name="TextBox11"/>
          <p:cNvSpPr txBox="1">
            <a:spLocks noChangeArrowheads="1"/>
          </p:cNvSpPr>
          <p:nvPr/>
        </p:nvSpPr>
        <p:spPr>
          <a:xfrm rot="0">
            <a:off x="508000" y="4257040"/>
            <a:ext cx="11176000" cy="320040"/>
          </a:xfrm>
          <a:prstGeom prst="rect">
            <a:avLst/>
          </a:prstGeom>
          <a:ln>
            <a:headEnd type="none"/>
            <a:tailEnd type="none"/>
          </a:ln>
        </p:spPr>
        <p:txBody>
          <a:bodyPr wrap="square">
            <a:spAutoFit/>
          </a:bodyPr>
          <a:lstStyle/>
          <a:p>
            <a:pPr algn="l" defTabSz="914400"/>
            <a:r>
              <a:rPr/>
              <a:t>toggleButton </a:t>
            </a:r>
            <a:r>
              <a:rPr/>
              <a:t>(unsized </a:t>
            </a:r>
            <a:r>
              <a:rPr/>
              <a:t>toggle </a:t>
            </a:r>
            <a:r>
              <a:rPr/>
              <a:t>button)</a:t>
            </a:r>
            <a:r>
              <a:rPr b="0" i="0" strike="noStrike" dirty="0"/>
              <a:t> </a:t>
            </a:r>
            <a:r>
              <a:rPr b="0" i="0" strike="noStrike" dirty="0"/>
              <a:t>PAGEREF </a:t>
            </a:r>
            <a:r>
              <a:rPr b="0" i="0" strike="noStrike" dirty="0"/>
              <a:t>section_69b127857fce431591c145aa114726ea263</a:t>
            </a:r>
          </a:p>
        </p:txBody>
      </p:sp>
      <p:sp>
        <p:nvSpPr>
          <p:cNvPr id="12" name="TextBox12"/>
          <p:cNvSpPr txBox="1">
            <a:spLocks noChangeArrowheads="1"/>
          </p:cNvSpPr>
          <p:nvPr/>
        </p:nvSpPr>
        <p:spPr>
          <a:xfrm rot="0">
            <a:off x="508000" y="4602480"/>
            <a:ext cx="11176000" cy="320040"/>
          </a:xfrm>
          <a:prstGeom prst="rect">
            <a:avLst/>
          </a:prstGeom>
          <a:ln>
            <a:headEnd type="none"/>
            <a:tailEnd type="none"/>
          </a:ln>
        </p:spPr>
        <p:txBody>
          <a:bodyPr wrap="square">
            <a:spAutoFit/>
          </a:bodyPr>
          <a:lstStyle/>
          <a:p>
            <a:pPr algn="l" defTabSz="914400"/>
            <a:r>
              <a:rPr b="1" i="1" strike="noStrike" dirty="0"/>
              <a:t>G</a:t>
            </a:r>
          </a:p>
        </p:txBody>
      </p:sp>
      <p:sp>
        <p:nvSpPr>
          <p:cNvPr id="13" name="TextBox13"/>
          <p:cNvSpPr txBox="1">
            <a:spLocks noChangeArrowheads="1"/>
          </p:cNvSpPr>
          <p:nvPr/>
        </p:nvSpPr>
        <p:spPr>
          <a:xfrm rot="0">
            <a:off x="508000" y="4947920"/>
            <a:ext cx="11176000" cy="320040"/>
          </a:xfrm>
          <a:prstGeom prst="rect">
            <a:avLst/>
          </a:prstGeom>
          <a:ln>
            <a:headEnd type="none"/>
            <a:tailEnd type="none"/>
          </a:ln>
        </p:spPr>
        <p:txBody>
          <a:bodyPr wrap="square">
            <a:spAutoFit/>
          </a:bodyPr>
          <a:lstStyle/>
          <a:p>
            <a:pPr algn="l" defTabSz="914400"/>
            <a:r>
              <a:rPr/>
              <a:t>Glossary</a:t>
            </a:r>
            <a:r>
              <a:rPr b="0" i="0" strike="noStrike" dirty="0"/>
              <a:t> </a:t>
            </a:r>
            <a:r>
              <a:rPr b="0" i="0" strike="noStrike" dirty="0"/>
              <a:t>PAGEREF </a:t>
            </a:r>
            <a:r>
              <a:rPr b="0" i="0" strike="noStrike" dirty="0"/>
              <a:t>section_315de154485a48fca96e8c1a2b3209647</a:t>
            </a:r>
          </a:p>
        </p:txBody>
      </p:sp>
      <p:sp>
        <p:nvSpPr>
          <p:cNvPr id="14" name="TextBox14"/>
          <p:cNvSpPr txBox="1">
            <a:spLocks noChangeArrowheads="1"/>
          </p:cNvSpPr>
          <p:nvPr/>
        </p:nvSpPr>
        <p:spPr>
          <a:xfrm rot="0">
            <a:off x="508000" y="5293360"/>
            <a:ext cx="11176000" cy="320040"/>
          </a:xfrm>
          <a:prstGeom prst="rect">
            <a:avLst/>
          </a:prstGeom>
          <a:ln>
            <a:headEnd type="none"/>
            <a:tailEnd type="none"/>
          </a:ln>
        </p:spPr>
        <p:txBody>
          <a:bodyPr wrap="square">
            <a:spAutoFit/>
          </a:bodyPr>
          <a:lstStyle/>
          <a:p>
            <a:pPr algn="l" defTabSz="914400"/>
            <a:r>
              <a:rPr b="1" i="1" strike="noStrike" dirty="0"/>
              <a:t>I</a:t>
            </a:r>
          </a:p>
        </p:txBody>
      </p:sp>
      <p:sp>
        <p:nvSpPr>
          <p:cNvPr id="15" name="TextBox15"/>
          <p:cNvSpPr txBox="1">
            <a:spLocks noChangeArrowheads="1"/>
          </p:cNvSpPr>
          <p:nvPr/>
        </p:nvSpPr>
        <p:spPr>
          <a:xfrm rot="0">
            <a:off x="508000" y="5638800"/>
            <a:ext cx="11176000" cy="320040"/>
          </a:xfrm>
          <a:prstGeom prst="rect">
            <a:avLst/>
          </a:prstGeom>
          <a:ln>
            <a:headEnd type="none"/>
            <a:tailEnd type="none"/>
          </a:ln>
        </p:spPr>
        <p:txBody>
          <a:bodyPr wrap="square">
            <a:spAutoFit/>
          </a:bodyPr>
          <a:lstStyle/>
          <a:p>
            <a:pPr algn="l" defTabSz="914400"/>
            <a:r>
              <a:rPr b="0" i="0" strike="noStrike" dirty="0"/>
              <a:t>idMso </a:t>
            </a:r>
            <a:r>
              <a:rPr b="0" i="0" strike="noStrike" dirty="0"/>
              <a:t>tables</a:t>
            </a:r>
          </a:p>
        </p:txBody>
      </p:sp>
      <p:sp>
        <p:nvSpPr>
          <p:cNvPr id="16" name="TextBox16"/>
          <p:cNvSpPr txBox="1">
            <a:spLocks noChangeArrowheads="1"/>
          </p:cNvSpPr>
          <p:nvPr/>
        </p:nvSpPr>
        <p:spPr>
          <a:xfrm rot="0">
            <a:off x="508000" y="5984240"/>
            <a:ext cx="11176000" cy="320040"/>
          </a:xfrm>
          <a:prstGeom prst="rect">
            <a:avLst/>
          </a:prstGeom>
          <a:ln>
            <a:headEnd type="none"/>
            <a:tailEnd type="none"/>
          </a:ln>
        </p:spPr>
        <p:txBody>
          <a:bodyPr wrap="square">
            <a:spAutoFit/>
          </a:bodyPr>
          <a:lstStyle/>
          <a:p>
            <a:pPr algn="l" defTabSz="914400"/>
            <a:r>
              <a:rPr/>
              <a:t>Excel </a:t>
            </a:r>
            <a:r>
              <a:rPr/>
              <a:t>2007</a:t>
            </a:r>
            <a:r>
              <a:rPr b="0" i="0" strike="noStrike" dirty="0"/>
              <a:t> </a:t>
            </a:r>
            <a:r>
              <a:rPr b="0" i="0" strike="noStrike" dirty="0"/>
              <a:t>PAGEREF </a:t>
            </a:r>
            <a:r>
              <a:rPr b="0" i="0" strike="noStrike" dirty="0"/>
              <a:t>section_bb5bb594ec8c45f68424f98e8308b25a358</a:t>
            </a: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a:t>PowerPoint </a:t>
            </a:r>
            <a:r>
              <a:rPr/>
              <a:t>2007</a:t>
            </a:r>
            <a:r>
              <a:rPr b="0" i="0" strike="noStrike" dirty="0"/>
              <a:t> </a:t>
            </a:r>
            <a:r>
              <a:rPr b="0" i="0" strike="noStrike" dirty="0"/>
              <a:t>PAGEREF </a:t>
            </a:r>
            <a:r>
              <a:rPr b="0" i="0" strike="noStrike" dirty="0"/>
              <a:t>section_f2a8e3c014cb4ad388cda8b5b1b9a8a0393</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a:t>Word </a:t>
            </a:r>
            <a:r>
              <a:rPr/>
              <a:t>2007</a:t>
            </a:r>
            <a:r>
              <a:rPr b="0" i="0" strike="noStrike" dirty="0"/>
              <a:t> </a:t>
            </a:r>
            <a:r>
              <a:rPr b="0" i="0" strike="noStrike" dirty="0"/>
              <a:t>PAGEREF </a:t>
            </a:r>
            <a:r>
              <a:rPr b="0" i="0" strike="noStrike" dirty="0"/>
              <a:t>section_a9f90d736e694bb78e384f268cd42038304</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a:t>Informative </a:t>
            </a:r>
            <a:r>
              <a:rPr/>
              <a:t>references</a:t>
            </a:r>
            <a:r>
              <a:rPr b="0" i="0" strike="noStrike" dirty="0"/>
              <a:t> </a:t>
            </a:r>
            <a:r>
              <a:rPr b="0" i="0" strike="noStrike" dirty="0"/>
              <a:t>PAGEREF </a:t>
            </a:r>
            <a:r>
              <a:rPr b="0" i="0" strike="noStrike" dirty="0"/>
              <a:t>section_dbe3a851c6b94ae0ba7984f1e88432d18</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a:t>Introduction</a:t>
            </a:r>
            <a:r>
              <a:rPr b="0" i="0" strike="noStrike" dirty="0"/>
              <a:t> </a:t>
            </a:r>
            <a:r>
              <a:rPr b="0" i="0" strike="noStrike" dirty="0"/>
              <a:t>PAGEREF </a:t>
            </a:r>
            <a:r>
              <a:rPr b="0" i="0" strike="noStrike" dirty="0"/>
              <a:t>section_5b5f9bab46874f838f2cb743c813e4c37</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1" i="1" strike="noStrike" dirty="0"/>
              <a:t>N</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a:t>Normative </a:t>
            </a:r>
            <a:r>
              <a:rPr/>
              <a:t>references</a:t>
            </a:r>
            <a:r>
              <a:rPr b="0" i="0" strike="noStrike" dirty="0"/>
              <a:t> </a:t>
            </a:r>
            <a:r>
              <a:rPr b="0" i="0" strike="noStrike" dirty="0"/>
              <a:t>PAGEREF </a:t>
            </a:r>
            <a:r>
              <a:rPr b="0" i="0" strike="noStrike" dirty="0"/>
              <a:t>section_ea98067859b3466892052fedb66150138</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1" i="1" strike="noStrike" dirty="0"/>
              <a:t>P</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b="0" i="0" strike="noStrike" dirty="0"/>
              <a:t>Parts</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a:t>additional </a:t>
            </a:r>
            <a:r>
              <a:rPr/>
              <a:t>part </a:t>
            </a:r>
            <a:r>
              <a:rPr/>
              <a:t>types</a:t>
            </a:r>
            <a:r>
              <a:rPr b="0" i="0" strike="noStrike" dirty="0"/>
              <a:t> </a:t>
            </a:r>
            <a:r>
              <a:rPr b="0" i="0" strike="noStrike" dirty="0"/>
              <a:t>PAGEREF </a:t>
            </a:r>
            <a:r>
              <a:rPr b="0" i="0" strike="noStrike" dirty="0"/>
              <a:t>section_728fd283b4524a14ba8c33100cf6f0889</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a:t>quick </a:t>
            </a:r>
            <a:r>
              <a:rPr/>
              <a:t>access </a:t>
            </a:r>
            <a:r>
              <a:rPr/>
              <a:t>toolbar </a:t>
            </a:r>
            <a:r>
              <a:rPr/>
              <a:t>customizations </a:t>
            </a:r>
            <a:r>
              <a:rPr/>
              <a:t>part</a:t>
            </a:r>
            <a:r>
              <a:rPr b="0" i="0" strike="noStrike" dirty="0"/>
              <a:t> </a:t>
            </a:r>
            <a:r>
              <a:rPr b="0" i="0" strike="noStrike" dirty="0"/>
              <a:t>PAGEREF </a:t>
            </a:r>
            <a:r>
              <a:rPr b="0" i="0" strike="noStrike" dirty="0"/>
              <a:t>section_087c607c5565418c8d31772b91d93ff39</a:t>
            </a:r>
          </a:p>
        </p:txBody>
      </p:sp>
      <p:sp>
        <p:nvSpPr>
          <p:cNvPr id="12" name="TextBox12"/>
          <p:cNvSpPr txBox="1">
            <a:spLocks noChangeArrowheads="1"/>
          </p:cNvSpPr>
          <p:nvPr/>
        </p:nvSpPr>
        <p:spPr>
          <a:xfrm rot="0">
            <a:off x="508000" y="3962400"/>
            <a:ext cx="11176000" cy="320040"/>
          </a:xfrm>
          <a:prstGeom prst="rect">
            <a:avLst/>
          </a:prstGeom>
          <a:ln>
            <a:headEnd type="none"/>
            <a:tailEnd type="none"/>
          </a:ln>
        </p:spPr>
        <p:txBody>
          <a:bodyPr wrap="square">
            <a:spAutoFit/>
          </a:bodyPr>
          <a:lstStyle/>
          <a:p>
            <a:pPr algn="l" defTabSz="914400"/>
            <a:r>
              <a:rPr/>
              <a:t>ribbon </a:t>
            </a:r>
            <a:r>
              <a:rPr/>
              <a:t>extensibility </a:t>
            </a:r>
            <a:r>
              <a:rPr/>
              <a:t>part</a:t>
            </a:r>
            <a:r>
              <a:rPr b="0" i="0" strike="noStrike" dirty="0"/>
              <a:t> </a:t>
            </a:r>
            <a:r>
              <a:rPr b="0" i="0" strike="noStrike" dirty="0"/>
              <a:t>PAGEREF </a:t>
            </a:r>
            <a:r>
              <a:rPr b="0" i="0" strike="noStrike" dirty="0"/>
              <a:t>section_52faf7b6fecc48d996dbee80a631a5ac10</a:t>
            </a:r>
          </a:p>
        </p:txBody>
      </p:sp>
      <p:sp>
        <p:nvSpPr>
          <p:cNvPr id="13" name="TextBox13"/>
          <p:cNvSpPr txBox="1">
            <a:spLocks noChangeArrowheads="1"/>
          </p:cNvSpPr>
          <p:nvPr/>
        </p:nvSpPr>
        <p:spPr>
          <a:xfrm rot="0">
            <a:off x="508000" y="4307840"/>
            <a:ext cx="11176000" cy="320040"/>
          </a:xfrm>
          <a:prstGeom prst="rect">
            <a:avLst/>
          </a:prstGeom>
          <a:ln>
            <a:headEnd type="none"/>
            <a:tailEnd type="none"/>
          </a:ln>
        </p:spPr>
        <p:txBody>
          <a:bodyPr wrap="square">
            <a:spAutoFit/>
          </a:bodyPr>
          <a:lstStyle/>
          <a:p>
            <a:pPr algn="l" defTabSz="914400"/>
            <a:r>
              <a:rPr/>
              <a:t>Product </a:t>
            </a:r>
            <a:r>
              <a:rPr/>
              <a:t>behavior</a:t>
            </a:r>
            <a:r>
              <a:rPr b="0" i="0" strike="noStrike" dirty="0"/>
              <a:t> </a:t>
            </a:r>
            <a:r>
              <a:rPr b="0" i="0" strike="noStrike" dirty="0"/>
              <a:t>PAGEREF </a:t>
            </a:r>
            <a:r>
              <a:rPr b="0" i="0" strike="noStrike" dirty="0"/>
              <a:t>section_30685057c9f24d9c82acf3274539540f522</a:t>
            </a:r>
          </a:p>
        </p:txBody>
      </p:sp>
      <p:sp>
        <p:nvSpPr>
          <p:cNvPr id="14" name="TextBox14"/>
          <p:cNvSpPr txBox="1">
            <a:spLocks noChangeArrowheads="1"/>
          </p:cNvSpPr>
          <p:nvPr/>
        </p:nvSpPr>
        <p:spPr>
          <a:xfrm rot="0">
            <a:off x="508000" y="4653280"/>
            <a:ext cx="11176000" cy="320040"/>
          </a:xfrm>
          <a:prstGeom prst="rect">
            <a:avLst/>
          </a:prstGeom>
          <a:ln>
            <a:headEnd type="none"/>
            <a:tailEnd type="none"/>
          </a:ln>
        </p:spPr>
        <p:txBody>
          <a:bodyPr wrap="square">
            <a:spAutoFit/>
          </a:bodyPr>
          <a:lstStyle/>
          <a:p>
            <a:pPr algn="l" defTabSz="914400"/>
            <a:r>
              <a:rPr b="1" i="1" strike="noStrike" dirty="0"/>
              <a:t>R</a:t>
            </a:r>
          </a:p>
        </p:txBody>
      </p:sp>
      <p:sp>
        <p:nvSpPr>
          <p:cNvPr id="15" name="TextBox15"/>
          <p:cNvSpPr txBox="1">
            <a:spLocks noChangeArrowheads="1"/>
          </p:cNvSpPr>
          <p:nvPr/>
        </p:nvSpPr>
        <p:spPr>
          <a:xfrm rot="0">
            <a:off x="508000" y="4998720"/>
            <a:ext cx="11176000" cy="320040"/>
          </a:xfrm>
          <a:prstGeom prst="rect">
            <a:avLst/>
          </a:prstGeom>
          <a:ln>
            <a:headEnd type="none"/>
            <a:tailEnd type="none"/>
          </a:ln>
        </p:spPr>
        <p:txBody>
          <a:bodyPr wrap="square">
            <a:spAutoFit/>
          </a:bodyPr>
          <a:lstStyle/>
          <a:p>
            <a:pPr algn="l" defTabSz="914400"/>
            <a:r>
              <a:rPr b="0" i="0" strike="noStrike" dirty="0"/>
              <a:t>References</a:t>
            </a:r>
          </a:p>
        </p:txBody>
      </p:sp>
      <p:sp>
        <p:nvSpPr>
          <p:cNvPr id="16" name="TextBox16"/>
          <p:cNvSpPr txBox="1">
            <a:spLocks noChangeArrowheads="1"/>
          </p:cNvSpPr>
          <p:nvPr/>
        </p:nvSpPr>
        <p:spPr>
          <a:xfrm rot="0">
            <a:off x="508000" y="5344160"/>
            <a:ext cx="11176000" cy="320040"/>
          </a:xfrm>
          <a:prstGeom prst="rect">
            <a:avLst/>
          </a:prstGeom>
          <a:ln>
            <a:headEnd type="none"/>
            <a:tailEnd type="none"/>
          </a:ln>
        </p:spPr>
        <p:txBody>
          <a:bodyPr wrap="square">
            <a:spAutoFit/>
          </a:bodyPr>
          <a:lstStyle/>
          <a:p>
            <a:pPr algn="l" defTabSz="914400"/>
            <a:r>
              <a:rPr/>
              <a:t>informative</a:t>
            </a:r>
            <a:r>
              <a:rPr b="0" i="0" strike="noStrike" dirty="0"/>
              <a:t> </a:t>
            </a:r>
            <a:r>
              <a:rPr b="0" i="0" strike="noStrike" dirty="0"/>
              <a:t>PAGEREF </a:t>
            </a:r>
            <a:r>
              <a:rPr b="0" i="0" strike="noStrike" dirty="0"/>
              <a:t>section_dbe3a851c6b94ae0ba7984f1e88432d18</a:t>
            </a:r>
          </a:p>
        </p:txBody>
      </p:sp>
      <p:sp>
        <p:nvSpPr>
          <p:cNvPr id="17" name="TextBox17"/>
          <p:cNvSpPr txBox="1">
            <a:spLocks noChangeArrowheads="1"/>
          </p:cNvSpPr>
          <p:nvPr/>
        </p:nvSpPr>
        <p:spPr>
          <a:xfrm rot="0">
            <a:off x="508000" y="5689600"/>
            <a:ext cx="11176000" cy="320040"/>
          </a:xfrm>
          <a:prstGeom prst="rect">
            <a:avLst/>
          </a:prstGeom>
          <a:ln>
            <a:headEnd type="none"/>
            <a:tailEnd type="none"/>
          </a:ln>
        </p:spPr>
        <p:txBody>
          <a:bodyPr wrap="square">
            <a:spAutoFit/>
          </a:bodyPr>
          <a:lstStyle/>
          <a:p>
            <a:pPr algn="l" defTabSz="914400"/>
            <a:r>
              <a:rPr/>
              <a:t>normative</a:t>
            </a:r>
            <a:r>
              <a:rPr b="0" i="0" strike="noStrike" dirty="0"/>
              <a:t> </a:t>
            </a:r>
            <a:r>
              <a:rPr b="0" i="0" strike="noStrike" dirty="0"/>
              <a:t>PAGEREF </a:t>
            </a:r>
            <a:r>
              <a:rPr b="0" i="0" strike="noStrike" dirty="0"/>
              <a:t>section_ea98067859b3466892052fedb66150138</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1" i="1" strike="noStrike" dirty="0"/>
              <a:t>S</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a:t>Simple </a:t>
            </a:r>
            <a:r>
              <a:rPr/>
              <a:t>types</a:t>
            </a:r>
            <a:r>
              <a:rPr b="0" i="0" strike="noStrike" dirty="0"/>
              <a:t> </a:t>
            </a:r>
            <a:r>
              <a:rPr b="0" i="0" strike="noStrike" dirty="0"/>
              <a:t>PAGEREF </a:t>
            </a:r>
            <a:r>
              <a:rPr b="0" i="0" strike="noStrike" dirty="0"/>
              <a:t>section_869c8c9a45f84119b068f61e76d04322292</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a:t>ST_BoxStyle </a:t>
            </a:r>
            <a:r>
              <a:rPr/>
              <a:t>(box </a:t>
            </a:r>
            <a:r>
              <a:rPr/>
              <a:t>style)</a:t>
            </a:r>
            <a:r>
              <a:rPr b="0" i="0" strike="noStrike" dirty="0"/>
              <a:t> </a:t>
            </a:r>
            <a:r>
              <a:rPr b="0" i="0" strike="noStrike" dirty="0"/>
              <a:t>PAGEREF </a:t>
            </a:r>
            <a:r>
              <a:rPr b="0" i="0" strike="noStrike" dirty="0"/>
              <a:t>section_3a299df5af064f4f813db0043d772546292</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a:t>ST_Delegate </a:t>
            </a:r>
            <a:r>
              <a:rPr/>
              <a:t>(callback </a:t>
            </a:r>
            <a:r>
              <a:rPr/>
              <a:t>function </a:t>
            </a:r>
            <a:r>
              <a:rPr/>
              <a:t>name)</a:t>
            </a:r>
            <a:r>
              <a:rPr b="0" i="0" strike="noStrike" dirty="0"/>
              <a:t> </a:t>
            </a:r>
            <a:r>
              <a:rPr b="0" i="0" strike="noStrike" dirty="0"/>
              <a:t>PAGEREF </a:t>
            </a:r>
            <a:r>
              <a:rPr b="0" i="0" strike="noStrike" dirty="0"/>
              <a:t>section_188cc098eef7453e895cd96e8e99576c292</a:t>
            </a:r>
          </a:p>
        </p:txBody>
      </p:sp>
      <p:sp>
        <p:nvSpPr>
          <p:cNvPr id="6" name="TextBox6"/>
          <p:cNvSpPr txBox="1">
            <a:spLocks noChangeArrowheads="1"/>
          </p:cNvSpPr>
          <p:nvPr/>
        </p:nvSpPr>
        <p:spPr>
          <a:xfrm rot="0">
            <a:off x="508000" y="1889760"/>
            <a:ext cx="11176000" cy="640080"/>
          </a:xfrm>
          <a:prstGeom prst="rect">
            <a:avLst/>
          </a:prstGeom>
          <a:ln>
            <a:headEnd type="none"/>
            <a:tailEnd type="none"/>
          </a:ln>
        </p:spPr>
        <p:txBody>
          <a:bodyPr wrap="square">
            <a:spAutoFit/>
          </a:bodyPr>
          <a:lstStyle/>
          <a:p>
            <a:pPr algn="l" defTabSz="914400"/>
            <a:r>
              <a:rPr/>
              <a:t>ST_GalleryItemWidthHeight </a:t>
            </a:r>
            <a:r>
              <a:rPr/>
              <a:t>(gallery </a:t>
            </a:r>
            <a:r>
              <a:rPr/>
              <a:t>item </a:t>
            </a:r>
            <a:r>
              <a:rPr/>
              <a:t>width </a:t>
            </a:r>
            <a:r>
              <a:rPr/>
              <a:t>or </a:t>
            </a:r>
            <a:r>
              <a:rPr/>
              <a:t>height)</a:t>
            </a:r>
            <a:r>
              <a:rPr b="0" i="0" strike="noStrike" dirty="0"/>
              <a:t> </a:t>
            </a:r>
            <a:r>
              <a:rPr b="0" i="0" strike="noStrike" dirty="0"/>
              <a:t>PAGEREF </a:t>
            </a:r>
            <a:r>
              <a:rPr b="0" i="0" strike="noStrike" dirty="0"/>
              <a:t>section_76f0a96c409d49a5927028e9b6b7f0a4295</a:t>
            </a:r>
          </a:p>
        </p:txBody>
      </p:sp>
      <p:sp>
        <p:nvSpPr>
          <p:cNvPr id="7" name="TextBox7"/>
          <p:cNvSpPr txBox="1">
            <a:spLocks noChangeArrowheads="1"/>
          </p:cNvSpPr>
          <p:nvPr/>
        </p:nvSpPr>
        <p:spPr>
          <a:xfrm rot="0">
            <a:off x="508000" y="2555240"/>
            <a:ext cx="11176000" cy="640080"/>
          </a:xfrm>
          <a:prstGeom prst="rect">
            <a:avLst/>
          </a:prstGeom>
          <a:ln>
            <a:headEnd type="none"/>
            <a:tailEnd type="none"/>
          </a:ln>
        </p:spPr>
        <p:txBody>
          <a:bodyPr wrap="square">
            <a:spAutoFit/>
          </a:bodyPr>
          <a:lstStyle/>
          <a:p>
            <a:pPr algn="l" defTabSz="914400"/>
            <a:r>
              <a:rPr/>
              <a:t>ST_GalleryRowColumnCount </a:t>
            </a:r>
            <a:r>
              <a:rPr/>
              <a:t>(gallery </a:t>
            </a:r>
            <a:r>
              <a:rPr/>
              <a:t>row </a:t>
            </a:r>
            <a:r>
              <a:rPr/>
              <a:t>or </a:t>
            </a:r>
            <a:r>
              <a:rPr/>
              <a:t>column </a:t>
            </a:r>
            <a:r>
              <a:rPr/>
              <a:t>count)</a:t>
            </a:r>
            <a:r>
              <a:rPr b="0" i="0" strike="noStrike" dirty="0"/>
              <a:t> </a:t>
            </a:r>
            <a:r>
              <a:rPr b="0" i="0" strike="noStrike" dirty="0"/>
              <a:t>PAGEREF </a:t>
            </a:r>
            <a:r>
              <a:rPr b="0" i="0" strike="noStrike" dirty="0"/>
              <a:t>section_b09148682e5949dd96cfdf995849a1bf295</a:t>
            </a:r>
          </a:p>
        </p:txBody>
      </p:sp>
      <p:sp>
        <p:nvSpPr>
          <p:cNvPr id="8" name="TextBox8"/>
          <p:cNvSpPr txBox="1">
            <a:spLocks noChangeArrowheads="1"/>
          </p:cNvSpPr>
          <p:nvPr/>
        </p:nvSpPr>
        <p:spPr>
          <a:xfrm rot="0">
            <a:off x="508000" y="3220720"/>
            <a:ext cx="11176000" cy="320040"/>
          </a:xfrm>
          <a:prstGeom prst="rect">
            <a:avLst/>
          </a:prstGeom>
          <a:ln>
            <a:headEnd type="none"/>
            <a:tailEnd type="none"/>
          </a:ln>
        </p:spPr>
        <p:txBody>
          <a:bodyPr wrap="square">
            <a:spAutoFit/>
          </a:bodyPr>
          <a:lstStyle/>
          <a:p>
            <a:pPr algn="l" defTabSz="914400"/>
            <a:r>
              <a:rPr/>
              <a:t>ST_ID </a:t>
            </a:r>
            <a:r>
              <a:rPr/>
              <a:t>(control </a:t>
            </a:r>
            <a:r>
              <a:rPr/>
              <a:t>identifier)</a:t>
            </a:r>
            <a:r>
              <a:rPr b="0" i="0" strike="noStrike" dirty="0"/>
              <a:t> </a:t>
            </a:r>
            <a:r>
              <a:rPr b="0" i="0" strike="noStrike" dirty="0"/>
              <a:t>PAGEREF </a:t>
            </a:r>
            <a:r>
              <a:rPr b="0" i="0" strike="noStrike" dirty="0"/>
              <a:t>section_18fbbd72e04f48148f9a45b2c4cc8393296</a:t>
            </a:r>
          </a:p>
        </p:txBody>
      </p:sp>
      <p:sp>
        <p:nvSpPr>
          <p:cNvPr id="9" name="TextBox9"/>
          <p:cNvSpPr txBox="1">
            <a:spLocks noChangeArrowheads="1"/>
          </p:cNvSpPr>
          <p:nvPr/>
        </p:nvSpPr>
        <p:spPr>
          <a:xfrm rot="0">
            <a:off x="508000" y="3566160"/>
            <a:ext cx="11176000" cy="320040"/>
          </a:xfrm>
          <a:prstGeom prst="rect">
            <a:avLst/>
          </a:prstGeom>
          <a:ln>
            <a:headEnd type="none"/>
            <a:tailEnd type="none"/>
          </a:ln>
        </p:spPr>
        <p:txBody>
          <a:bodyPr wrap="square">
            <a:spAutoFit/>
          </a:bodyPr>
          <a:lstStyle/>
          <a:p>
            <a:pPr algn="l" defTabSz="914400"/>
            <a:r>
              <a:rPr/>
              <a:t>ST_ItemSize </a:t>
            </a:r>
            <a:r>
              <a:rPr/>
              <a:t>(menu </a:t>
            </a:r>
            <a:r>
              <a:rPr/>
              <a:t>item </a:t>
            </a:r>
            <a:r>
              <a:rPr/>
              <a:t>size)</a:t>
            </a:r>
            <a:r>
              <a:rPr b="0" i="0" strike="noStrike" dirty="0"/>
              <a:t> </a:t>
            </a:r>
            <a:r>
              <a:rPr b="0" i="0" strike="noStrike" dirty="0"/>
              <a:t>PAGEREF </a:t>
            </a:r>
            <a:r>
              <a:rPr b="0" i="0" strike="noStrike" dirty="0"/>
              <a:t>section_c65c8b6052e5404dad5a8c09627c60eb297</a:t>
            </a:r>
          </a:p>
        </p:txBody>
      </p:sp>
      <p:sp>
        <p:nvSpPr>
          <p:cNvPr id="10" name="TextBox10"/>
          <p:cNvSpPr txBox="1">
            <a:spLocks noChangeArrowheads="1"/>
          </p:cNvSpPr>
          <p:nvPr/>
        </p:nvSpPr>
        <p:spPr>
          <a:xfrm rot="0">
            <a:off x="508000" y="3911600"/>
            <a:ext cx="11176000" cy="320040"/>
          </a:xfrm>
          <a:prstGeom prst="rect">
            <a:avLst/>
          </a:prstGeom>
          <a:ln>
            <a:headEnd type="none"/>
            <a:tailEnd type="none"/>
          </a:ln>
        </p:spPr>
        <p:txBody>
          <a:bodyPr wrap="square">
            <a:spAutoFit/>
          </a:bodyPr>
          <a:lstStyle/>
          <a:p>
            <a:pPr algn="l" defTabSz="914400"/>
            <a:r>
              <a:rPr/>
              <a:t>ST_Keytip </a:t>
            </a:r>
            <a:r>
              <a:rPr/>
              <a:t>(key </a:t>
            </a:r>
            <a:r>
              <a:rPr/>
              <a:t>tip)</a:t>
            </a:r>
            <a:r>
              <a:rPr b="0" i="0" strike="noStrike" dirty="0"/>
              <a:t> </a:t>
            </a:r>
            <a:r>
              <a:rPr b="0" i="0" strike="noStrike" dirty="0"/>
              <a:t>PAGEREF </a:t>
            </a:r>
            <a:r>
              <a:rPr b="0" i="0" strike="noStrike" dirty="0"/>
              <a:t>section_78170415e2fa4fc0899a76096fdc6aa6297</a:t>
            </a:r>
          </a:p>
        </p:txBody>
      </p:sp>
      <p:sp>
        <p:nvSpPr>
          <p:cNvPr id="11" name="TextBox11"/>
          <p:cNvSpPr txBox="1">
            <a:spLocks noChangeArrowheads="1"/>
          </p:cNvSpPr>
          <p:nvPr/>
        </p:nvSpPr>
        <p:spPr>
          <a:xfrm rot="0">
            <a:off x="508000" y="4257040"/>
            <a:ext cx="11176000" cy="320040"/>
          </a:xfrm>
          <a:prstGeom prst="rect">
            <a:avLst/>
          </a:prstGeom>
          <a:ln>
            <a:headEnd type="none"/>
            <a:tailEnd type="none"/>
          </a:ln>
        </p:spPr>
        <p:txBody>
          <a:bodyPr wrap="square">
            <a:spAutoFit/>
          </a:bodyPr>
          <a:lstStyle/>
          <a:p>
            <a:pPr algn="l" defTabSz="914400"/>
            <a:r>
              <a:rPr/>
              <a:t>ST_LongString </a:t>
            </a:r>
            <a:r>
              <a:rPr/>
              <a:t>(long </a:t>
            </a:r>
            <a:r>
              <a:rPr/>
              <a:t>string)</a:t>
            </a:r>
            <a:r>
              <a:rPr b="0" i="0" strike="noStrike" dirty="0"/>
              <a:t> </a:t>
            </a:r>
            <a:r>
              <a:rPr b="0" i="0" strike="noStrike" dirty="0"/>
              <a:t>PAGEREF </a:t>
            </a:r>
            <a:r>
              <a:rPr b="0" i="0" strike="noStrike" dirty="0"/>
              <a:t>section_94ee0d879533413ebf87bbee57270f7e298</a:t>
            </a:r>
          </a:p>
        </p:txBody>
      </p:sp>
      <p:sp>
        <p:nvSpPr>
          <p:cNvPr id="12" name="TextBox12"/>
          <p:cNvSpPr txBox="1">
            <a:spLocks noChangeArrowheads="1"/>
          </p:cNvSpPr>
          <p:nvPr/>
        </p:nvSpPr>
        <p:spPr>
          <a:xfrm rot="0">
            <a:off x="508000" y="4602480"/>
            <a:ext cx="11176000" cy="320040"/>
          </a:xfrm>
          <a:prstGeom prst="rect">
            <a:avLst/>
          </a:prstGeom>
          <a:ln>
            <a:headEnd type="none"/>
            <a:tailEnd type="none"/>
          </a:ln>
        </p:spPr>
        <p:txBody>
          <a:bodyPr wrap="square">
            <a:spAutoFit/>
          </a:bodyPr>
          <a:lstStyle/>
          <a:p>
            <a:pPr algn="l" defTabSz="914400"/>
            <a:r>
              <a:rPr/>
              <a:t>ST_QID </a:t>
            </a:r>
            <a:r>
              <a:rPr/>
              <a:t>(qualified </a:t>
            </a:r>
            <a:r>
              <a:rPr/>
              <a:t>control </a:t>
            </a:r>
            <a:r>
              <a:rPr/>
              <a:t>identifier)</a:t>
            </a:r>
            <a:r>
              <a:rPr b="0" i="0" strike="noStrike" dirty="0"/>
              <a:t> </a:t>
            </a:r>
            <a:r>
              <a:rPr b="0" i="0" strike="noStrike" dirty="0"/>
              <a:t>PAGEREF </a:t>
            </a:r>
            <a:r>
              <a:rPr b="0" i="0" strike="noStrike" dirty="0"/>
              <a:t>section_7c80b304b2f8432a83ee7f8ec792af0c298</a:t>
            </a:r>
          </a:p>
        </p:txBody>
      </p:sp>
      <p:sp>
        <p:nvSpPr>
          <p:cNvPr id="13" name="TextBox13"/>
          <p:cNvSpPr txBox="1">
            <a:spLocks noChangeArrowheads="1"/>
          </p:cNvSpPr>
          <p:nvPr/>
        </p:nvSpPr>
        <p:spPr>
          <a:xfrm rot="0">
            <a:off x="508000" y="4947920"/>
            <a:ext cx="11176000" cy="320040"/>
          </a:xfrm>
          <a:prstGeom prst="rect">
            <a:avLst/>
          </a:prstGeom>
          <a:ln>
            <a:headEnd type="none"/>
            <a:tailEnd type="none"/>
          </a:ln>
        </p:spPr>
        <p:txBody>
          <a:bodyPr wrap="square">
            <a:spAutoFit/>
          </a:bodyPr>
          <a:lstStyle/>
          <a:p>
            <a:pPr algn="l" defTabSz="914400"/>
            <a:r>
              <a:rPr/>
              <a:t>ST_Size </a:t>
            </a:r>
            <a:r>
              <a:rPr/>
              <a:t>(control </a:t>
            </a:r>
            <a:r>
              <a:rPr/>
              <a:t>size)</a:t>
            </a:r>
            <a:r>
              <a:rPr b="0" i="0" strike="noStrike" dirty="0"/>
              <a:t> </a:t>
            </a:r>
            <a:r>
              <a:rPr b="0" i="0" strike="noStrike" dirty="0"/>
              <a:t>PAGEREF </a:t>
            </a:r>
            <a:r>
              <a:rPr b="0" i="0" strike="noStrike" dirty="0"/>
              <a:t>section_acf53d2ea68046de946752a2f4a51631300</a:t>
            </a:r>
          </a:p>
        </p:txBody>
      </p:sp>
      <p:sp>
        <p:nvSpPr>
          <p:cNvPr id="14" name="TextBox14"/>
          <p:cNvSpPr txBox="1">
            <a:spLocks noChangeArrowheads="1"/>
          </p:cNvSpPr>
          <p:nvPr/>
        </p:nvSpPr>
        <p:spPr>
          <a:xfrm rot="0">
            <a:off x="508000" y="5293360"/>
            <a:ext cx="11176000" cy="320040"/>
          </a:xfrm>
          <a:prstGeom prst="rect">
            <a:avLst/>
          </a:prstGeom>
          <a:ln>
            <a:headEnd type="none"/>
            <a:tailEnd type="none"/>
          </a:ln>
        </p:spPr>
        <p:txBody>
          <a:bodyPr wrap="square">
            <a:spAutoFit/>
          </a:bodyPr>
          <a:lstStyle/>
          <a:p>
            <a:pPr algn="l" defTabSz="914400"/>
            <a:r>
              <a:rPr/>
              <a:t>ST_String </a:t>
            </a:r>
            <a:r>
              <a:rPr/>
              <a:t>(short </a:t>
            </a:r>
            <a:r>
              <a:rPr/>
              <a:t>string)</a:t>
            </a:r>
            <a:r>
              <a:rPr b="0" i="0" strike="noStrike" dirty="0"/>
              <a:t> </a:t>
            </a:r>
            <a:r>
              <a:rPr b="0" i="0" strike="noStrike" dirty="0"/>
              <a:t>PAGEREF </a:t>
            </a:r>
            <a:r>
              <a:rPr b="0" i="0" strike="noStrike" dirty="0"/>
              <a:t>section_d104fcb261774eb9a4000a5f8ddcd539301</a:t>
            </a:r>
          </a:p>
        </p:txBody>
      </p:sp>
      <p:sp>
        <p:nvSpPr>
          <p:cNvPr id="15" name="TextBox15"/>
          <p:cNvSpPr txBox="1">
            <a:spLocks noChangeArrowheads="1"/>
          </p:cNvSpPr>
          <p:nvPr/>
        </p:nvSpPr>
        <p:spPr>
          <a:xfrm rot="0">
            <a:off x="508000" y="5638800"/>
            <a:ext cx="11176000" cy="320040"/>
          </a:xfrm>
          <a:prstGeom prst="rect">
            <a:avLst/>
          </a:prstGeom>
          <a:ln>
            <a:headEnd type="none"/>
            <a:tailEnd type="none"/>
          </a:ln>
        </p:spPr>
        <p:txBody>
          <a:bodyPr wrap="square">
            <a:spAutoFit/>
          </a:bodyPr>
          <a:lstStyle/>
          <a:p>
            <a:pPr algn="l" defTabSz="914400"/>
            <a:r>
              <a:rPr/>
              <a:t>ST_StringLength </a:t>
            </a:r>
            <a:r>
              <a:rPr/>
              <a:t>(string </a:t>
            </a:r>
            <a:r>
              <a:rPr/>
              <a:t>length)</a:t>
            </a:r>
            <a:r>
              <a:rPr b="0" i="0" strike="noStrike" dirty="0"/>
              <a:t> </a:t>
            </a:r>
            <a:r>
              <a:rPr b="0" i="0" strike="noStrike" dirty="0"/>
              <a:t>PAGEREF </a:t>
            </a:r>
            <a:r>
              <a:rPr b="0" i="0" strike="noStrike" dirty="0"/>
              <a:t>section_4a327c6229ec496e935fa1aa77d26d5e302</a:t>
            </a:r>
          </a:p>
        </p:txBody>
      </p:sp>
      <p:sp>
        <p:nvSpPr>
          <p:cNvPr id="16" name="TextBox16"/>
          <p:cNvSpPr txBox="1">
            <a:spLocks noChangeArrowheads="1"/>
          </p:cNvSpPr>
          <p:nvPr/>
        </p:nvSpPr>
        <p:spPr>
          <a:xfrm rot="0">
            <a:off x="508000" y="5984240"/>
            <a:ext cx="11176000" cy="320040"/>
          </a:xfrm>
          <a:prstGeom prst="rect">
            <a:avLst/>
          </a:prstGeom>
          <a:ln>
            <a:headEnd type="none"/>
            <a:tailEnd type="none"/>
          </a:ln>
        </p:spPr>
        <p:txBody>
          <a:bodyPr wrap="square">
            <a:spAutoFit/>
          </a:bodyPr>
          <a:lstStyle/>
          <a:p>
            <a:pPr algn="l" defTabSz="914400"/>
            <a:r>
              <a:rPr b="1" i="0" strike="noStrike" dirty="0"/>
              <a:t>[MS-CUSTOMUI]:</a:t>
            </a:r>
            <a:r>
              <a:rPr b="0" i="0" strike="noStrike" dirty="0"/>
              <a:t> </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1" i="0" strike="noStrike" dirty="0"/>
              <a:t>Custom </a:t>
            </a:r>
            <a:r>
              <a:rPr b="1" i="0" strike="noStrike" dirty="0"/>
              <a:t>UI </a:t>
            </a:r>
            <a:r>
              <a:rPr b="1" i="0" strike="noStrike" dirty="0"/>
              <a:t>XML </a:t>
            </a:r>
            <a:r>
              <a:rPr b="1" i="0" strike="noStrike" dirty="0"/>
              <a:t>Markup </a:t>
            </a:r>
            <a:r>
              <a:rPr b="1" i="0" strike="noStrike" dirty="0"/>
              <a:t>Specification</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Intellectual </a:t>
            </a:r>
            <a:r>
              <a:rPr b="0" i="0" strike="noStrike" dirty="0"/>
              <a:t>Property </a:t>
            </a:r>
            <a:r>
              <a:rPr b="0" i="0" strike="noStrike" dirty="0"/>
              <a:t>Rights </a:t>
            </a:r>
            <a:r>
              <a:rPr b="0" i="0" strike="noStrike" dirty="0"/>
              <a:t>Notice </a:t>
            </a:r>
            <a:r>
              <a:rPr b="0" i="0" strike="noStrike" dirty="0"/>
              <a:t>for </a:t>
            </a:r>
            <a:r>
              <a:rPr b="0" i="0" strike="noStrike" dirty="0"/>
              <a:t>Open </a:t>
            </a:r>
            <a:r>
              <a:rPr b="0" i="0" strike="noStrike" dirty="0"/>
              <a:t>Specifications </a:t>
            </a:r>
            <a:r>
              <a:rPr b="0" i="0" strike="noStrike" dirty="0"/>
              <a:t>Documentation</a:t>
            </a:r>
          </a:p>
        </p:txBody>
      </p:sp>
      <p:sp>
        <p:nvSpPr>
          <p:cNvPr id="4" name="TextBox4"/>
          <p:cNvSpPr txBox="1">
            <a:spLocks noChangeArrowheads="1"/>
          </p:cNvSpPr>
          <p:nvPr/>
        </p:nvSpPr>
        <p:spPr>
          <a:xfrm rot="0">
            <a:off x="508000" y="1198880"/>
            <a:ext cx="11176000" cy="960120"/>
          </a:xfrm>
          <a:prstGeom prst="rect">
            <a:avLst/>
          </a:prstGeom>
          <a:ln>
            <a:headEnd type="none"/>
            <a:tailEnd type="none"/>
          </a:ln>
        </p:spPr>
        <p:txBody>
          <a:bodyPr wrap="square">
            <a:spAutoFit/>
          </a:bodyPr>
          <a:lstStyle/>
          <a:p>
            <a:pPr lvl="1" indent="283464" algn="l" defTabSz="914400">
              <a:buChar char="•"/>
            </a:pPr>
            <a:r>
              <a:rPr b="1" i="0" strike="noStrike" dirty="0"/>
              <a:t>Technical </a:t>
            </a:r>
            <a:r>
              <a:rPr b="1" i="0" strike="noStrike" dirty="0"/>
              <a:t>Documentation.</a:t>
            </a:r>
            <a:r>
              <a:rPr b="0" i="0" strike="noStrike" dirty="0"/>
              <a:t> </a:t>
            </a:r>
            <a:r>
              <a:rPr b="0" i="0" strike="noStrike" dirty="0"/>
              <a:t>Microsoft </a:t>
            </a:r>
            <a:r>
              <a:rPr b="0" i="0" strike="noStrike" dirty="0"/>
              <a:t>publishes </a:t>
            </a:r>
            <a:r>
              <a:rPr b="0" i="0" strike="noStrike" dirty="0"/>
              <a:t>Open </a:t>
            </a:r>
            <a:r>
              <a:rPr b="0" i="0" strike="noStrike" dirty="0"/>
              <a:t>Specifications </a:t>
            </a:r>
            <a:r>
              <a:rPr b="0" i="0" strike="noStrike" dirty="0"/>
              <a:t>documentation </a:t>
            </a:r>
            <a:r>
              <a:rPr b="0" i="0" strike="noStrike" dirty="0"/>
              <a:t>(“this </a:t>
            </a:r>
            <a:r>
              <a:rPr b="0" i="0" strike="noStrike" dirty="0"/>
              <a:t>documentation”) </a:t>
            </a:r>
            <a:r>
              <a:rPr b="0" i="0" strike="noStrike" dirty="0"/>
              <a:t>for </a:t>
            </a:r>
            <a:r>
              <a:rPr b="0" i="0" strike="noStrike" dirty="0"/>
              <a:t>protocols, </a:t>
            </a:r>
            <a:r>
              <a:rPr b="0" i="0" strike="noStrike" dirty="0"/>
              <a:t>file </a:t>
            </a:r>
            <a:r>
              <a:rPr b="0" i="0" strike="noStrike" dirty="0"/>
              <a:t>formats, </a:t>
            </a:r>
            <a:r>
              <a:rPr b="0" i="0" strike="noStrike" dirty="0"/>
              <a:t>data </a:t>
            </a:r>
            <a:r>
              <a:rPr b="0" i="0" strike="noStrike" dirty="0"/>
              <a:t>portability, </a:t>
            </a:r>
            <a:r>
              <a:rPr b="0" i="0" strike="noStrike" dirty="0"/>
              <a:t>computer </a:t>
            </a:r>
            <a:r>
              <a:rPr b="0" i="0" strike="noStrike" dirty="0"/>
              <a:t>languages, </a:t>
            </a:r>
            <a:r>
              <a:rPr b="0" i="0" strike="noStrike" dirty="0"/>
              <a:t>and </a:t>
            </a:r>
            <a:r>
              <a:rPr b="0" i="0" strike="noStrike" dirty="0"/>
              <a:t>standards </a:t>
            </a:r>
            <a:r>
              <a:rPr b="0" i="0" strike="noStrike" dirty="0"/>
              <a:t>support. </a:t>
            </a:r>
            <a:r>
              <a:rPr b="0" i="0" strike="noStrike" dirty="0"/>
              <a:t>Additionally, </a:t>
            </a:r>
            <a:r>
              <a:rPr b="0" i="0" strike="noStrike" dirty="0"/>
              <a:t>overview </a:t>
            </a:r>
            <a:r>
              <a:rPr b="0" i="0" strike="noStrike" dirty="0"/>
              <a:t>documents </a:t>
            </a:r>
            <a:r>
              <a:rPr b="0" i="0" strike="noStrike" dirty="0"/>
              <a:t>cover </a:t>
            </a:r>
            <a:r>
              <a:rPr b="0" i="0" strike="noStrike" dirty="0"/>
              <a:t>inter-protocol </a:t>
            </a:r>
            <a:r>
              <a:rPr b="0" i="0" strike="noStrike" dirty="0"/>
              <a:t>relationships </a:t>
            </a:r>
            <a:r>
              <a:rPr b="0" i="0" strike="noStrike" dirty="0"/>
              <a:t>and </a:t>
            </a:r>
            <a:r>
              <a:rPr b="0" i="0" strike="noStrike" dirty="0"/>
              <a:t>interactions. </a:t>
            </a:r>
          </a:p>
        </p:txBody>
      </p:sp>
      <p:sp>
        <p:nvSpPr>
          <p:cNvPr id="5" name="TextBox5"/>
          <p:cNvSpPr txBox="1">
            <a:spLocks noChangeArrowheads="1"/>
          </p:cNvSpPr>
          <p:nvPr/>
        </p:nvSpPr>
        <p:spPr>
          <a:xfrm rot="0">
            <a:off x="508000" y="2184400"/>
            <a:ext cx="11176000" cy="2560320"/>
          </a:xfrm>
          <a:prstGeom prst="rect">
            <a:avLst/>
          </a:prstGeom>
          <a:ln>
            <a:headEnd type="none"/>
            <a:tailEnd type="none"/>
          </a:ln>
        </p:spPr>
        <p:txBody>
          <a:bodyPr wrap="square">
            <a:spAutoFit/>
          </a:bodyPr>
          <a:lstStyle/>
          <a:p>
            <a:pPr lvl="1" indent="283464" algn="l" defTabSz="914400">
              <a:buChar char="•"/>
            </a:pPr>
            <a:r>
              <a:rPr b="1" i="0" strike="noStrike" dirty="0"/>
              <a:t>Copyrights</a:t>
            </a:r>
            <a:r>
              <a:rPr b="0" i="0" strike="noStrike" dirty="0"/>
              <a:t>. </a:t>
            </a:r>
            <a:r>
              <a:rPr b="0" i="0" strike="noStrike" dirty="0"/>
              <a:t>This </a:t>
            </a:r>
            <a:r>
              <a:rPr b="0" i="0" strike="noStrike" dirty="0"/>
              <a:t>documentation </a:t>
            </a:r>
            <a:r>
              <a:rPr b="0" i="0" strike="noStrike" dirty="0"/>
              <a:t>is </a:t>
            </a:r>
            <a:r>
              <a:rPr b="0" i="0" strike="noStrike" dirty="0"/>
              <a:t>covered </a:t>
            </a:r>
            <a:r>
              <a:rPr b="0" i="0" strike="noStrike" dirty="0"/>
              <a:t>by </a:t>
            </a:r>
            <a:r>
              <a:rPr b="0" i="0" strike="noStrike" dirty="0"/>
              <a:t>Microsoft </a:t>
            </a:r>
            <a:r>
              <a:rPr b="0" i="0" strike="noStrike" dirty="0"/>
              <a:t>copyrights. </a:t>
            </a:r>
            <a:r>
              <a:rPr b="0" i="0" strike="noStrike" dirty="0"/>
              <a:t>Regardless </a:t>
            </a:r>
            <a:r>
              <a:rPr b="0" i="0" strike="noStrike" dirty="0"/>
              <a:t>of </a:t>
            </a:r>
            <a:r>
              <a:rPr b="0" i="0" strike="noStrike" dirty="0"/>
              <a:t>any </a:t>
            </a:r>
            <a:r>
              <a:rPr b="0" i="0" strike="noStrike" dirty="0"/>
              <a:t>other </a:t>
            </a:r>
            <a:r>
              <a:rPr b="0" i="0" strike="noStrike" dirty="0"/>
              <a:t>terms </a:t>
            </a:r>
            <a:r>
              <a:rPr b="0" i="0" strike="noStrike" dirty="0"/>
              <a:t>that </a:t>
            </a:r>
            <a:r>
              <a:rPr b="0" i="0" strike="noStrike" dirty="0"/>
              <a:t>are </a:t>
            </a:r>
            <a:r>
              <a:rPr b="0" i="0" strike="noStrike" dirty="0"/>
              <a:t>contained </a:t>
            </a:r>
            <a:r>
              <a:rPr b="0" i="0" strike="noStrike" dirty="0"/>
              <a:t>in </a:t>
            </a:r>
            <a:r>
              <a:rPr b="0" i="0" strike="noStrike" dirty="0"/>
              <a:t>the </a:t>
            </a:r>
            <a:r>
              <a:rPr b="0" i="0" strike="noStrike" dirty="0"/>
              <a:t>terms </a:t>
            </a:r>
            <a:r>
              <a:rPr b="0" i="0" strike="noStrike" dirty="0"/>
              <a:t>of </a:t>
            </a:r>
            <a:r>
              <a:rPr b="0" i="0" strike="noStrike" dirty="0"/>
              <a:t>use </a:t>
            </a:r>
            <a:r>
              <a:rPr b="0" i="0" strike="noStrike" dirty="0"/>
              <a:t>for </a:t>
            </a:r>
            <a:r>
              <a:rPr b="0" i="0" strike="noStrike" dirty="0"/>
              <a:t>the </a:t>
            </a:r>
            <a:r>
              <a:rPr b="0" i="0" strike="noStrike" dirty="0"/>
              <a:t>Microsoft </a:t>
            </a:r>
            <a:r>
              <a:rPr b="0" i="0" strike="noStrike" dirty="0"/>
              <a:t>website </a:t>
            </a:r>
            <a:r>
              <a:rPr b="0" i="0" strike="noStrike" dirty="0"/>
              <a:t>that </a:t>
            </a:r>
            <a:r>
              <a:rPr b="0" i="0" strike="noStrike" dirty="0"/>
              <a:t>hosts </a:t>
            </a:r>
            <a:r>
              <a:rPr b="0" i="0" strike="noStrike" dirty="0"/>
              <a:t>this </a:t>
            </a:r>
            <a:r>
              <a:rPr b="0" i="0" strike="noStrike" dirty="0"/>
              <a:t>documentation, </a:t>
            </a:r>
            <a:r>
              <a:rPr b="0" i="0" strike="noStrike" dirty="0"/>
              <a:t>you </a:t>
            </a:r>
            <a:r>
              <a:rPr b="0" i="0" strike="noStrike" dirty="0"/>
              <a:t>can </a:t>
            </a:r>
            <a:r>
              <a:rPr b="0" i="0" strike="noStrike" dirty="0"/>
              <a:t>make </a:t>
            </a:r>
            <a:r>
              <a:rPr b="0" i="0" strike="noStrike" dirty="0"/>
              <a:t>copies </a:t>
            </a:r>
            <a:r>
              <a:rPr b="0" i="0" strike="noStrike" dirty="0"/>
              <a:t>of </a:t>
            </a:r>
            <a:r>
              <a:rPr b="0" i="0" strike="noStrike" dirty="0"/>
              <a:t>it </a:t>
            </a:r>
            <a:r>
              <a:rPr b="0" i="0" strike="noStrike" dirty="0"/>
              <a:t>in </a:t>
            </a:r>
            <a:r>
              <a:rPr b="0" i="0" strike="noStrike" dirty="0"/>
              <a:t>order </a:t>
            </a:r>
            <a:r>
              <a:rPr b="0" i="0" strike="noStrike" dirty="0"/>
              <a:t>to </a:t>
            </a:r>
            <a:r>
              <a:rPr b="0" i="0" strike="noStrike" dirty="0"/>
              <a:t>develop </a:t>
            </a:r>
            <a:r>
              <a:rPr b="0" i="0" strike="noStrike" dirty="0"/>
              <a:t>implementations </a:t>
            </a:r>
            <a:r>
              <a:rPr b="0" i="0" strike="noStrike" dirty="0"/>
              <a:t>of </a:t>
            </a:r>
            <a:r>
              <a:rPr b="0" i="0" strike="noStrike" dirty="0"/>
              <a:t>the </a:t>
            </a:r>
            <a:r>
              <a:rPr b="0" i="0" strike="noStrike" dirty="0"/>
              <a:t>technologies </a:t>
            </a:r>
            <a:r>
              <a:rPr b="0" i="0" strike="noStrike" dirty="0"/>
              <a:t>that </a:t>
            </a:r>
            <a:r>
              <a:rPr b="0" i="0" strike="noStrike" dirty="0"/>
              <a:t>are </a:t>
            </a:r>
            <a:r>
              <a:rPr b="0" i="0" strike="noStrike" dirty="0"/>
              <a:t>described </a:t>
            </a:r>
            <a:r>
              <a:rPr b="0" i="0" strike="noStrike" dirty="0"/>
              <a:t>in </a:t>
            </a:r>
            <a:r>
              <a:rPr b="0" i="0" strike="noStrike" dirty="0"/>
              <a:t>this </a:t>
            </a:r>
            <a:r>
              <a:rPr b="0" i="0" strike="noStrike" dirty="0"/>
              <a:t>documentation </a:t>
            </a:r>
            <a:r>
              <a:rPr b="0" i="0" strike="noStrike" dirty="0"/>
              <a:t>and </a:t>
            </a:r>
            <a:r>
              <a:rPr b="0" i="0" strike="noStrike" dirty="0"/>
              <a:t>can </a:t>
            </a:r>
            <a:r>
              <a:rPr b="0" i="0" strike="noStrike" dirty="0"/>
              <a:t>distribute </a:t>
            </a:r>
            <a:r>
              <a:rPr b="0" i="0" strike="noStrike" dirty="0"/>
              <a:t>portions </a:t>
            </a:r>
            <a:r>
              <a:rPr b="0" i="0" strike="noStrike" dirty="0"/>
              <a:t>of </a:t>
            </a:r>
            <a:r>
              <a:rPr b="0" i="0" strike="noStrike" dirty="0"/>
              <a:t>it </a:t>
            </a:r>
            <a:r>
              <a:rPr b="0" i="0" strike="noStrike" dirty="0"/>
              <a:t>in </a:t>
            </a:r>
            <a:r>
              <a:rPr b="0" i="0" strike="noStrike" dirty="0"/>
              <a:t>your </a:t>
            </a:r>
            <a:r>
              <a:rPr b="0" i="0" strike="noStrike" dirty="0"/>
              <a:t>implementations </a:t>
            </a:r>
            <a:r>
              <a:rPr b="0" i="0" strike="noStrike" dirty="0"/>
              <a:t>that </a:t>
            </a:r>
            <a:r>
              <a:rPr b="0" i="0" strike="noStrike" dirty="0"/>
              <a:t>use </a:t>
            </a:r>
            <a:r>
              <a:rPr b="0" i="0" strike="noStrike" dirty="0"/>
              <a:t>these </a:t>
            </a:r>
            <a:r>
              <a:rPr b="0" i="0" strike="noStrike" dirty="0"/>
              <a:t>technologies </a:t>
            </a:r>
            <a:r>
              <a:rPr b="0" i="0" strike="noStrike" dirty="0"/>
              <a:t>or </a:t>
            </a:r>
            <a:r>
              <a:rPr b="0" i="0" strike="noStrike" dirty="0"/>
              <a:t>in </a:t>
            </a:r>
            <a:r>
              <a:rPr b="0" i="0" strike="noStrike" dirty="0"/>
              <a:t>your </a:t>
            </a:r>
            <a:r>
              <a:rPr b="0" i="0" strike="noStrike" dirty="0"/>
              <a:t>documentation </a:t>
            </a:r>
            <a:r>
              <a:rPr b="0" i="0" strike="noStrike" dirty="0"/>
              <a:t>as </a:t>
            </a:r>
            <a:r>
              <a:rPr b="0" i="0" strike="noStrike" dirty="0"/>
              <a:t>necessary </a:t>
            </a:r>
            <a:r>
              <a:rPr b="0" i="0" strike="noStrike" dirty="0"/>
              <a:t>to </a:t>
            </a:r>
            <a:r>
              <a:rPr b="0" i="0" strike="noStrike" dirty="0"/>
              <a:t>properly </a:t>
            </a:r>
            <a:r>
              <a:rPr b="0" i="0" strike="noStrike" dirty="0"/>
              <a:t>document </a:t>
            </a:r>
            <a:r>
              <a:rPr b="0" i="0" strike="noStrike" dirty="0"/>
              <a:t>the </a:t>
            </a:r>
            <a:r>
              <a:rPr b="0" i="0" strike="noStrike" dirty="0"/>
              <a:t>implementation. </a:t>
            </a:r>
            <a:r>
              <a:rPr b="0" i="0" strike="noStrike" dirty="0"/>
              <a:t>You </a:t>
            </a:r>
            <a:r>
              <a:rPr b="0" i="0" strike="noStrike" dirty="0"/>
              <a:t>can </a:t>
            </a:r>
            <a:r>
              <a:rPr b="0" i="0" strike="noStrike" dirty="0"/>
              <a:t>also </a:t>
            </a:r>
            <a:r>
              <a:rPr b="0" i="0" strike="noStrike" dirty="0"/>
              <a:t>distribute </a:t>
            </a:r>
            <a:r>
              <a:rPr b="0" i="0" strike="noStrike" dirty="0"/>
              <a:t>in </a:t>
            </a:r>
            <a:r>
              <a:rPr b="0" i="0" strike="noStrike" dirty="0"/>
              <a:t>your </a:t>
            </a:r>
            <a:r>
              <a:rPr b="0" i="0" strike="noStrike" dirty="0"/>
              <a:t>implementation, </a:t>
            </a:r>
            <a:r>
              <a:rPr b="0" i="0" strike="noStrike" dirty="0"/>
              <a:t>with </a:t>
            </a:r>
            <a:r>
              <a:rPr b="0" i="0" strike="noStrike" dirty="0"/>
              <a:t>or </a:t>
            </a:r>
            <a:r>
              <a:rPr b="0" i="0" strike="noStrike" dirty="0"/>
              <a:t>without </a:t>
            </a:r>
            <a:r>
              <a:rPr b="0" i="0" strike="noStrike" dirty="0"/>
              <a:t>modification, </a:t>
            </a:r>
            <a:r>
              <a:rPr b="0" i="0" strike="noStrike" dirty="0"/>
              <a:t>any </a:t>
            </a:r>
            <a:r>
              <a:rPr b="0" i="0" strike="noStrike" dirty="0"/>
              <a:t>schemas, </a:t>
            </a:r>
            <a:r>
              <a:rPr b="0" i="0" strike="noStrike" dirty="0"/>
              <a:t>IDLs, </a:t>
            </a:r>
            <a:r>
              <a:rPr b="0" i="0" strike="noStrike" dirty="0"/>
              <a:t>or </a:t>
            </a:r>
            <a:r>
              <a:rPr b="0" i="0" strike="noStrike" dirty="0"/>
              <a:t>code </a:t>
            </a:r>
            <a:r>
              <a:rPr b="0" i="0" strike="noStrike" dirty="0"/>
              <a:t>samples </a:t>
            </a:r>
            <a:r>
              <a:rPr b="0" i="0" strike="noStrike" dirty="0"/>
              <a:t>that </a:t>
            </a:r>
            <a:r>
              <a:rPr b="0" i="0" strike="noStrike" dirty="0"/>
              <a:t>are </a:t>
            </a:r>
            <a:r>
              <a:rPr b="0" i="0" strike="noStrike" dirty="0"/>
              <a:t>included </a:t>
            </a:r>
            <a:r>
              <a:rPr b="0" i="0" strike="noStrike" dirty="0"/>
              <a:t>in </a:t>
            </a:r>
            <a:r>
              <a:rPr b="0" i="0" strike="noStrike" dirty="0"/>
              <a:t>the </a:t>
            </a:r>
            <a:r>
              <a:rPr b="0" i="0" strike="noStrike" dirty="0"/>
              <a:t>documentation. </a:t>
            </a:r>
            <a:r>
              <a:rPr b="0" i="0" strike="noStrike" dirty="0"/>
              <a:t>This </a:t>
            </a:r>
            <a:r>
              <a:rPr b="0" i="0" strike="noStrike" dirty="0"/>
              <a:t>permission </a:t>
            </a:r>
            <a:r>
              <a:rPr b="0" i="0" strike="noStrike" dirty="0"/>
              <a:t>also </a:t>
            </a:r>
            <a:r>
              <a:rPr b="0" i="0" strike="noStrike" dirty="0"/>
              <a:t>applies </a:t>
            </a:r>
            <a:r>
              <a:rPr b="0" i="0" strike="noStrike" dirty="0"/>
              <a:t>to </a:t>
            </a:r>
            <a:r>
              <a:rPr b="0" i="0" strike="noStrike" dirty="0"/>
              <a:t>any </a:t>
            </a:r>
            <a:r>
              <a:rPr b="0" i="0" strike="noStrike" dirty="0"/>
              <a:t>documents </a:t>
            </a:r>
            <a:r>
              <a:rPr b="0" i="0" strike="noStrike" dirty="0"/>
              <a:t>that </a:t>
            </a:r>
            <a:r>
              <a:rPr b="0" i="0" strike="noStrike" dirty="0"/>
              <a:t>are </a:t>
            </a:r>
            <a:r>
              <a:rPr b="0" i="0" strike="noStrike" dirty="0"/>
              <a:t>referenced </a:t>
            </a:r>
            <a:r>
              <a:rPr b="0" i="0" strike="noStrike" dirty="0"/>
              <a:t>in </a:t>
            </a:r>
            <a:r>
              <a:rPr b="0" i="0" strike="noStrike" dirty="0"/>
              <a:t>the </a:t>
            </a:r>
            <a:r>
              <a:rPr b="0" i="0" strike="noStrike" dirty="0"/>
              <a:t>Open </a:t>
            </a:r>
            <a:r>
              <a:rPr b="0" i="0" strike="noStrike" dirty="0"/>
              <a:t>Specifications </a:t>
            </a:r>
            <a:r>
              <a:rPr b="0" i="0" strike="noStrike" dirty="0"/>
              <a:t>documentation. </a:t>
            </a:r>
          </a:p>
        </p:txBody>
      </p:sp>
      <p:sp>
        <p:nvSpPr>
          <p:cNvPr id="6" name="TextBox6"/>
          <p:cNvSpPr txBox="1">
            <a:spLocks noChangeArrowheads="1"/>
          </p:cNvSpPr>
          <p:nvPr/>
        </p:nvSpPr>
        <p:spPr>
          <a:xfrm rot="0">
            <a:off x="508000" y="4770120"/>
            <a:ext cx="11176000" cy="320040"/>
          </a:xfrm>
          <a:prstGeom prst="rect">
            <a:avLst/>
          </a:prstGeom>
          <a:ln>
            <a:headEnd type="none"/>
            <a:tailEnd type="none"/>
          </a:ln>
        </p:spPr>
        <p:txBody>
          <a:bodyPr wrap="square">
            <a:spAutoFit/>
          </a:bodyPr>
          <a:lstStyle/>
          <a:p>
            <a:pPr lvl="1" indent="283464" algn="l" defTabSz="914400">
              <a:buChar char="•"/>
            </a:pPr>
            <a:r>
              <a:rPr b="1" i="0" strike="noStrike" dirty="0"/>
              <a:t>No </a:t>
            </a:r>
            <a:r>
              <a:rPr b="1" i="0" strike="noStrike" dirty="0"/>
              <a:t>Trade </a:t>
            </a:r>
            <a:r>
              <a:rPr b="1" i="0" strike="noStrike" dirty="0"/>
              <a:t>Secrets</a:t>
            </a:r>
            <a:r>
              <a:rPr b="0" i="0" strike="noStrike" dirty="0"/>
              <a:t>. </a:t>
            </a:r>
            <a:r>
              <a:rPr b="0" i="0" strike="noStrike" dirty="0"/>
              <a:t>Microsoft </a:t>
            </a:r>
            <a:r>
              <a:rPr b="0" i="0" strike="noStrike" dirty="0"/>
              <a:t>does </a:t>
            </a:r>
            <a:r>
              <a:rPr b="0" i="0" strike="noStrike" dirty="0"/>
              <a:t>not </a:t>
            </a:r>
            <a:r>
              <a:rPr b="0" i="0" strike="noStrike" dirty="0"/>
              <a:t>claim </a:t>
            </a:r>
            <a:r>
              <a:rPr b="0" i="0" strike="noStrike" dirty="0"/>
              <a:t>any </a:t>
            </a:r>
            <a:r>
              <a:rPr b="0" i="0" strike="noStrike" dirty="0"/>
              <a:t>trade </a:t>
            </a:r>
            <a:r>
              <a:rPr b="0" i="0" strike="noStrike" dirty="0"/>
              <a:t>secret </a:t>
            </a:r>
            <a:r>
              <a:rPr b="0" i="0" strike="noStrike" dirty="0"/>
              <a:t>rights </a:t>
            </a:r>
            <a:r>
              <a:rPr b="0" i="0" strike="noStrike" dirty="0"/>
              <a:t>in </a:t>
            </a:r>
            <a:r>
              <a:rPr b="0" i="0" strike="noStrike" dirty="0"/>
              <a:t>this </a:t>
            </a:r>
            <a:r>
              <a:rPr b="0" i="0" strike="noStrike" dirty="0"/>
              <a:t>documentation. </a:t>
            </a:r>
          </a:p>
        </p:txBody>
      </p:sp>
      <p:sp>
        <p:nvSpPr>
          <p:cNvPr id="7" name="TextBox7"/>
          <p:cNvSpPr txBox="1">
            <a:spLocks noChangeArrowheads="1"/>
          </p:cNvSpPr>
          <p:nvPr/>
        </p:nvSpPr>
        <p:spPr>
          <a:xfrm rot="0">
            <a:off x="508000" y="5115560"/>
            <a:ext cx="11176000" cy="960120"/>
          </a:xfrm>
          <a:prstGeom prst="rect">
            <a:avLst/>
          </a:prstGeom>
          <a:ln>
            <a:headEnd type="none"/>
            <a:tailEnd type="none"/>
          </a:ln>
        </p:spPr>
        <p:txBody>
          <a:bodyPr wrap="square">
            <a:spAutoFit/>
          </a:bodyPr>
          <a:lstStyle/>
          <a:p>
            <a:pPr lvl="1" indent="283464" algn="l" defTabSz="914400">
              <a:buChar char="•"/>
            </a:pPr>
            <a:r>
              <a:rPr b="1" i="0" strike="noStrike" dirty="0"/>
              <a:t>Patents</a:t>
            </a:r>
            <a:r>
              <a:rPr b="0" i="0" strike="noStrike" dirty="0"/>
              <a:t>. </a:t>
            </a:r>
            <a:r>
              <a:rPr b="0" i="0" strike="noStrike" dirty="0"/>
              <a:t>Microsoft </a:t>
            </a:r>
            <a:r>
              <a:rPr b="0" i="0" strike="noStrike" dirty="0"/>
              <a:t>has </a:t>
            </a:r>
            <a:r>
              <a:rPr b="0" i="0" strike="noStrike" dirty="0"/>
              <a:t>patents </a:t>
            </a:r>
            <a:r>
              <a:rPr b="0" i="0" strike="noStrike" dirty="0"/>
              <a:t>that </a:t>
            </a:r>
            <a:r>
              <a:rPr b="0" i="0" strike="noStrike" dirty="0"/>
              <a:t>might </a:t>
            </a:r>
            <a:r>
              <a:rPr b="0" i="0" strike="noStrike" dirty="0"/>
              <a:t>cover </a:t>
            </a:r>
            <a:r>
              <a:rPr b="0" i="0" strike="noStrike" dirty="0"/>
              <a:t>your </a:t>
            </a:r>
            <a:r>
              <a:rPr b="0" i="0" strike="noStrike" dirty="0"/>
              <a:t>implementations </a:t>
            </a:r>
            <a:r>
              <a:rPr b="0" i="0" strike="noStrike" dirty="0"/>
              <a:t>of </a:t>
            </a:r>
            <a:r>
              <a:rPr b="0" i="0" strike="noStrike" dirty="0"/>
              <a:t>the </a:t>
            </a:r>
            <a:r>
              <a:rPr b="0" i="0" strike="noStrike" dirty="0"/>
              <a:t>technologies </a:t>
            </a:r>
            <a:r>
              <a:rPr b="0" i="0" strike="noStrike" dirty="0"/>
              <a:t>described </a:t>
            </a:r>
            <a:r>
              <a:rPr b="0" i="0" strike="noStrike" dirty="0"/>
              <a:t>in </a:t>
            </a:r>
            <a:r>
              <a:rPr b="0" i="0" strike="noStrike" dirty="0"/>
              <a:t>the </a:t>
            </a:r>
            <a:r>
              <a:rPr b="0" i="0" strike="noStrike" dirty="0"/>
              <a:t>Open </a:t>
            </a:r>
            <a:r>
              <a:rPr b="0" i="0" strike="noStrike" dirty="0"/>
              <a:t>Specifications </a:t>
            </a:r>
            <a:r>
              <a:rPr b="0" i="0" strike="noStrike" dirty="0"/>
              <a:t>documentation. </a:t>
            </a:r>
            <a:r>
              <a:rPr b="0" i="0" strike="noStrike" dirty="0"/>
              <a:t>Neither </a:t>
            </a:r>
            <a:r>
              <a:rPr b="0" i="0" strike="noStrike" dirty="0"/>
              <a:t>this </a:t>
            </a:r>
            <a:r>
              <a:rPr b="0" i="0" strike="noStrike" dirty="0"/>
              <a:t>notice </a:t>
            </a:r>
            <a:r>
              <a:rPr b="0" i="0" strike="noStrike" dirty="0"/>
              <a:t>nor </a:t>
            </a:r>
            <a:r>
              <a:rPr b="0" i="0" strike="noStrike" dirty="0"/>
              <a:t>Microsoft's </a:t>
            </a:r>
            <a:r>
              <a:rPr b="0" i="0" strike="noStrike" dirty="0"/>
              <a:t>delivery </a:t>
            </a:r>
            <a:r>
              <a:rPr b="0" i="0" strike="noStrike" dirty="0"/>
              <a:t>of </a:t>
            </a:r>
            <a:r>
              <a:rPr b="0" i="0" strike="noStrike" dirty="0"/>
              <a:t>this </a:t>
            </a:r>
            <a:r>
              <a:rPr b="0" i="0" strike="noStrike" dirty="0"/>
              <a:t>documentation </a:t>
            </a:r>
            <a:r>
              <a:rPr b="0" i="0" strike="noStrike" dirty="0"/>
              <a:t>grants </a:t>
            </a:r>
            <a:r>
              <a:rPr b="0" i="0" strike="noStrike" dirty="0"/>
              <a:t>any </a:t>
            </a:r>
            <a:r>
              <a:rPr b="0" i="0" strike="noStrike" dirty="0"/>
              <a:t>licenses </a:t>
            </a:r>
            <a:r>
              <a:rPr b="0" i="0" strike="noStrike" dirty="0"/>
              <a:t>under </a:t>
            </a:r>
            <a:r>
              <a:rPr b="0" i="0" strike="noStrike" dirty="0"/>
              <a:t>those </a:t>
            </a:r>
            <a:r>
              <a:rPr b="0" i="0" strike="noStrike" dirty="0"/>
              <a:t>patents </a:t>
            </a:r>
            <a:r>
              <a:rPr b="0" i="0" strike="noStrike" dirty="0"/>
              <a:t>or </a:t>
            </a:r>
            <a:r>
              <a:rPr b="0" i="0" strike="noStrike" dirty="0"/>
              <a:t>any </a:t>
            </a:r>
            <a:r>
              <a:rPr b="0" i="0" strike="noStrike" dirty="0"/>
              <a:t>other </a:t>
            </a:r>
            <a:r>
              <a:rPr b="0" i="0" strike="noStrike" dirty="0"/>
              <a:t>Microsoft </a:t>
            </a:r>
            <a:r>
              <a:rPr b="0" i="0" strike="noStrike" dirty="0"/>
              <a:t>patents. </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1600200"/>
          </a:xfrm>
          <a:prstGeom prst="rect">
            <a:avLst/>
          </a:prstGeom>
          <a:ln>
            <a:headEnd type="none"/>
            <a:tailEnd type="none"/>
          </a:ln>
        </p:spPr>
        <p:txBody>
          <a:bodyPr wrap="square">
            <a:spAutoFit/>
          </a:bodyPr>
          <a:lstStyle/>
          <a:p>
            <a:pPr lvl="1" indent="283464" algn="l" defTabSz="914400">
              <a:buChar char="•"/>
            </a:pPr>
            <a:r>
              <a:rPr b="0" i="0" strike="noStrike" dirty="0"/>
              <a:t>However, </a:t>
            </a:r>
            <a:r>
              <a:rPr b="0" i="0" strike="noStrike" dirty="0"/>
              <a:t>a </a:t>
            </a:r>
            <a:r>
              <a:rPr b="0" i="0" strike="noStrike" dirty="0"/>
              <a:t>given </a:t>
            </a:r>
            <a:r>
              <a:rPr b="0" i="0" strike="noStrike" dirty="0"/>
              <a:t>Open </a:t>
            </a:r>
            <a:r>
              <a:rPr b="0" i="0" strike="noStrike" dirty="0"/>
              <a:t>Specifications </a:t>
            </a:r>
            <a:r>
              <a:rPr b="0" i="0" strike="noStrike" dirty="0"/>
              <a:t>document </a:t>
            </a:r>
            <a:r>
              <a:rPr b="0" i="0" strike="noStrike" dirty="0"/>
              <a:t>might </a:t>
            </a:r>
            <a:r>
              <a:rPr b="0" i="0" strike="noStrike" dirty="0"/>
              <a:t>be </a:t>
            </a:r>
            <a:r>
              <a:rPr b="0" i="0" strike="noStrike" dirty="0"/>
              <a:t>covered </a:t>
            </a:r>
            <a:r>
              <a:rPr b="0" i="0" strike="noStrike" dirty="0"/>
              <a:t>by </a:t>
            </a:r>
            <a:r>
              <a:rPr b="0" i="0" strike="noStrike" dirty="0"/>
              <a:t>the </a:t>
            </a:r>
            <a:r>
              <a:rPr b="0" i="0" strike="noStrike" dirty="0"/>
              <a:t>Microsoft </a:t>
            </a:r>
            <a:r>
              <a:rPr>
                <a:hlinkClick r:id="rId2" action="ppaction://hlinkfile"/>
              </a:rPr>
              <a:t>Open </a:t>
            </a:r>
            <a:r>
              <a:rPr>
                <a:hlinkClick r:id="rId3" action="ppaction://hlinkfile"/>
              </a:rPr>
              <a:t>Specifications </a:t>
            </a:r>
            <a:r>
              <a:rPr>
                <a:hlinkClick r:id="rId4" action="ppaction://hlinkfile"/>
              </a:rPr>
              <a:t>Promise</a:t>
            </a:r>
            <a:r>
              <a:rPr b="0" i="0" strike="noStrike" dirty="0"/>
              <a:t> </a:t>
            </a:r>
            <a:r>
              <a:rPr b="0" i="0" strike="noStrike" dirty="0"/>
              <a:t>or </a:t>
            </a:r>
            <a:r>
              <a:rPr b="0" i="0" strike="noStrike" dirty="0"/>
              <a:t>the </a:t>
            </a:r>
            <a:r>
              <a:rPr>
                <a:hlinkClick r:id="rId5" action="ppaction://hlinkfile"/>
              </a:rPr>
              <a:t>Microsoft </a:t>
            </a:r>
            <a:r>
              <a:rPr>
                <a:hlinkClick r:id="rId6" action="ppaction://hlinkfile"/>
              </a:rPr>
              <a:t>Community </a:t>
            </a:r>
            <a:r>
              <a:rPr>
                <a:hlinkClick r:id="rId7" action="ppaction://hlinkfile"/>
              </a:rPr>
              <a:t>Promise</a:t>
            </a:r>
            <a:r>
              <a:rPr b="0" i="0" strike="noStrike" dirty="0"/>
              <a:t>. </a:t>
            </a:r>
            <a:r>
              <a:rPr b="0" i="0" strike="noStrike" dirty="0"/>
              <a:t>If </a:t>
            </a:r>
            <a:r>
              <a:rPr b="0" i="0" strike="noStrike" dirty="0"/>
              <a:t>you </a:t>
            </a:r>
            <a:r>
              <a:rPr b="0" i="0" strike="noStrike" dirty="0"/>
              <a:t>would </a:t>
            </a:r>
            <a:r>
              <a:rPr b="0" i="0" strike="noStrike" dirty="0"/>
              <a:t>prefer </a:t>
            </a:r>
            <a:r>
              <a:rPr b="0" i="0" strike="noStrike" dirty="0"/>
              <a:t>a </a:t>
            </a:r>
            <a:r>
              <a:rPr b="0" i="0" strike="noStrike" dirty="0"/>
              <a:t>written </a:t>
            </a:r>
            <a:r>
              <a:rPr b="0" i="0" strike="noStrike" dirty="0"/>
              <a:t>license, </a:t>
            </a:r>
            <a:r>
              <a:rPr b="0" i="0" strike="noStrike" dirty="0"/>
              <a:t>or </a:t>
            </a:r>
            <a:r>
              <a:rPr b="0" i="0" strike="noStrike" dirty="0"/>
              <a:t>if </a:t>
            </a:r>
            <a:r>
              <a:rPr b="0" i="0" strike="noStrike" dirty="0"/>
              <a:t>the </a:t>
            </a:r>
            <a:r>
              <a:rPr b="0" i="0" strike="noStrike" dirty="0"/>
              <a:t>technologies </a:t>
            </a:r>
            <a:r>
              <a:rPr b="0" i="0" strike="noStrike" dirty="0"/>
              <a:t>described </a:t>
            </a:r>
            <a:r>
              <a:rPr b="0" i="0" strike="noStrike" dirty="0"/>
              <a:t>in </a:t>
            </a:r>
            <a:r>
              <a:rPr b="0" i="0" strike="noStrike" dirty="0"/>
              <a:t>this </a:t>
            </a:r>
            <a:r>
              <a:rPr b="0" i="0" strike="noStrike" dirty="0"/>
              <a:t>documentation </a:t>
            </a:r>
            <a:r>
              <a:rPr b="0" i="0" strike="noStrike" dirty="0"/>
              <a:t>are </a:t>
            </a:r>
            <a:r>
              <a:rPr b="0" i="0" strike="noStrike" dirty="0"/>
              <a:t>not </a:t>
            </a:r>
            <a:r>
              <a:rPr b="0" i="0" strike="noStrike" dirty="0"/>
              <a:t>covered </a:t>
            </a:r>
            <a:r>
              <a:rPr b="0" i="0" strike="noStrike" dirty="0"/>
              <a:t>by </a:t>
            </a:r>
            <a:r>
              <a:rPr b="0" i="0" strike="noStrike" dirty="0"/>
              <a:t>the </a:t>
            </a:r>
            <a:r>
              <a:rPr b="0" i="0" strike="noStrike" dirty="0"/>
              <a:t>Open </a:t>
            </a:r>
            <a:r>
              <a:rPr b="0" i="0" strike="noStrike" dirty="0"/>
              <a:t>Specifications </a:t>
            </a:r>
            <a:r>
              <a:rPr b="0" i="0" strike="noStrike" dirty="0"/>
              <a:t>Promise </a:t>
            </a:r>
            <a:r>
              <a:rPr b="0" i="0" strike="noStrike" dirty="0"/>
              <a:t>or </a:t>
            </a:r>
            <a:r>
              <a:rPr b="0" i="0" strike="noStrike" dirty="0"/>
              <a:t>Community </a:t>
            </a:r>
            <a:r>
              <a:rPr b="0" i="0" strike="noStrike" dirty="0"/>
              <a:t>Promise, </a:t>
            </a:r>
            <a:r>
              <a:rPr b="0" i="0" strike="noStrike" dirty="0"/>
              <a:t>as </a:t>
            </a:r>
            <a:r>
              <a:rPr b="0" i="0" strike="noStrike" dirty="0"/>
              <a:t>applicable, </a:t>
            </a:r>
            <a:r>
              <a:rPr b="0" i="0" strike="noStrike" dirty="0"/>
              <a:t>patent </a:t>
            </a:r>
            <a:r>
              <a:rPr b="0" i="0" strike="noStrike" dirty="0"/>
              <a:t>licenses </a:t>
            </a:r>
            <a:r>
              <a:rPr b="0" i="0" strike="noStrike" dirty="0"/>
              <a:t>are </a:t>
            </a:r>
            <a:r>
              <a:rPr b="0" i="0" strike="noStrike" dirty="0"/>
              <a:t>available </a:t>
            </a:r>
            <a:r>
              <a:rPr b="0" i="0" strike="noStrike" dirty="0"/>
              <a:t>by </a:t>
            </a:r>
            <a:r>
              <a:rPr b="0" i="0" strike="noStrike" dirty="0"/>
              <a:t>contacting </a:t>
            </a:r>
            <a:r>
              <a:rPr>
                <a:hlinkClick r:id="rId8" action="ppaction://hlinkfile"/>
              </a:rPr>
              <a:t>iplg@microsoft.com</a:t>
            </a:r>
            <a:r>
              <a:rPr b="0" i="0" strike="noStrike" dirty="0"/>
              <a:t>. </a:t>
            </a:r>
          </a:p>
        </p:txBody>
      </p:sp>
      <p:sp>
        <p:nvSpPr>
          <p:cNvPr id="3" name="TextBox3"/>
          <p:cNvSpPr txBox="1">
            <a:spLocks noChangeArrowheads="1"/>
          </p:cNvSpPr>
          <p:nvPr/>
        </p:nvSpPr>
        <p:spPr>
          <a:xfrm rot="0">
            <a:off x="508000" y="2133600"/>
            <a:ext cx="11176000" cy="640080"/>
          </a:xfrm>
          <a:prstGeom prst="rect">
            <a:avLst/>
          </a:prstGeom>
          <a:ln>
            <a:headEnd type="none"/>
            <a:tailEnd type="none"/>
          </a:ln>
        </p:spPr>
        <p:txBody>
          <a:bodyPr wrap="square">
            <a:spAutoFit/>
          </a:bodyPr>
          <a:lstStyle/>
          <a:p>
            <a:pPr lvl="1" indent="283464" algn="l" defTabSz="914400">
              <a:buChar char="•"/>
            </a:pPr>
            <a:r>
              <a:rPr b="1" i="0" strike="noStrike" dirty="0"/>
              <a:t>License </a:t>
            </a:r>
            <a:r>
              <a:rPr b="1" i="0" strike="noStrike" dirty="0"/>
              <a:t>Programs</a:t>
            </a:r>
            <a:r>
              <a:rPr b="0" i="0" strike="noStrike" dirty="0"/>
              <a:t>. </a:t>
            </a:r>
            <a:r>
              <a:rPr b="0" i="0" strike="noStrike" dirty="0"/>
              <a:t>To </a:t>
            </a:r>
            <a:r>
              <a:rPr b="0" i="0" strike="noStrike" dirty="0"/>
              <a:t>see </a:t>
            </a:r>
            <a:r>
              <a:rPr b="0" i="0" strike="noStrike" dirty="0"/>
              <a:t>all </a:t>
            </a:r>
            <a:r>
              <a:rPr b="0" i="0" strike="noStrike" dirty="0"/>
              <a:t>of </a:t>
            </a:r>
            <a:r>
              <a:rPr b="0" i="0" strike="noStrike" dirty="0"/>
              <a:t>the </a:t>
            </a:r>
            <a:r>
              <a:rPr b="0" i="0" strike="noStrike" dirty="0"/>
              <a:t>protocols </a:t>
            </a:r>
            <a:r>
              <a:rPr b="0" i="0" strike="noStrike" dirty="0"/>
              <a:t>in </a:t>
            </a:r>
            <a:r>
              <a:rPr b="0" i="0" strike="noStrike" dirty="0"/>
              <a:t>scope </a:t>
            </a:r>
            <a:r>
              <a:rPr b="0" i="0" strike="noStrike" dirty="0"/>
              <a:t>under </a:t>
            </a:r>
            <a:r>
              <a:rPr b="0" i="0" strike="noStrike" dirty="0"/>
              <a:t>a </a:t>
            </a:r>
            <a:r>
              <a:rPr b="0" i="0" strike="noStrike" dirty="0"/>
              <a:t>specific </a:t>
            </a:r>
            <a:r>
              <a:rPr b="0" i="0" strike="noStrike" dirty="0"/>
              <a:t>license </a:t>
            </a:r>
            <a:r>
              <a:rPr b="0" i="0" strike="noStrike" dirty="0"/>
              <a:t>program </a:t>
            </a:r>
            <a:r>
              <a:rPr b="0" i="0" strike="noStrike" dirty="0"/>
              <a:t>and </a:t>
            </a:r>
            <a:r>
              <a:rPr b="0" i="0" strike="noStrike" dirty="0"/>
              <a:t>the </a:t>
            </a:r>
            <a:r>
              <a:rPr b="0" i="0" strike="noStrike" dirty="0"/>
              <a:t>associated </a:t>
            </a:r>
            <a:r>
              <a:rPr b="0" i="0" strike="noStrike" dirty="0"/>
              <a:t>patents, </a:t>
            </a:r>
            <a:r>
              <a:rPr b="0" i="0" strike="noStrike" dirty="0"/>
              <a:t>visit </a:t>
            </a:r>
            <a:r>
              <a:rPr b="0" i="0" strike="noStrike" dirty="0"/>
              <a:t>the </a:t>
            </a:r>
            <a:r>
              <a:rPr>
                <a:hlinkClick r:id="rId9" action="ppaction://hlinkfile"/>
              </a:rPr>
              <a:t>Patent </a:t>
            </a:r>
            <a:r>
              <a:rPr>
                <a:hlinkClick r:id="rId10" action="ppaction://hlinkfile"/>
              </a:rPr>
              <a:t>Map</a:t>
            </a:r>
            <a:r>
              <a:rPr b="0" i="0" strike="noStrike" dirty="0"/>
              <a:t>. </a:t>
            </a:r>
          </a:p>
        </p:txBody>
      </p:sp>
      <p:sp>
        <p:nvSpPr>
          <p:cNvPr id="4" name="TextBox4"/>
          <p:cNvSpPr txBox="1">
            <a:spLocks noChangeArrowheads="1"/>
          </p:cNvSpPr>
          <p:nvPr/>
        </p:nvSpPr>
        <p:spPr>
          <a:xfrm rot="0">
            <a:off x="508000" y="2799080"/>
            <a:ext cx="11176000" cy="960120"/>
          </a:xfrm>
          <a:prstGeom prst="rect">
            <a:avLst/>
          </a:prstGeom>
          <a:ln>
            <a:headEnd type="none"/>
            <a:tailEnd type="none"/>
          </a:ln>
        </p:spPr>
        <p:txBody>
          <a:bodyPr wrap="square">
            <a:spAutoFit/>
          </a:bodyPr>
          <a:lstStyle/>
          <a:p>
            <a:pPr lvl="1" indent="283464" algn="l" defTabSz="914400">
              <a:buChar char="•"/>
            </a:pPr>
            <a:r>
              <a:rPr b="1" i="0" strike="noStrike" dirty="0"/>
              <a:t>Trademarks</a:t>
            </a:r>
            <a:r>
              <a:rPr b="0" i="0" strike="noStrike" dirty="0"/>
              <a:t>. </a:t>
            </a:r>
            <a:r>
              <a:rPr b="0" i="0" strike="noStrike" dirty="0"/>
              <a:t>The </a:t>
            </a:r>
            <a:r>
              <a:rPr b="0" i="0" strike="noStrike" dirty="0"/>
              <a:t>names </a:t>
            </a:r>
            <a:r>
              <a:rPr b="0" i="0" strike="noStrike" dirty="0"/>
              <a:t>of </a:t>
            </a:r>
            <a:r>
              <a:rPr b="0" i="0" strike="noStrike" dirty="0"/>
              <a:t>companies </a:t>
            </a:r>
            <a:r>
              <a:rPr b="0" i="0" strike="noStrike" dirty="0"/>
              <a:t>and </a:t>
            </a:r>
            <a:r>
              <a:rPr b="0" i="0" strike="noStrike" dirty="0"/>
              <a:t>products </a:t>
            </a:r>
            <a:r>
              <a:rPr b="0" i="0" strike="noStrike" dirty="0"/>
              <a:t>contained </a:t>
            </a:r>
            <a:r>
              <a:rPr b="0" i="0" strike="noStrike" dirty="0"/>
              <a:t>in </a:t>
            </a:r>
            <a:r>
              <a:rPr b="0" i="0" strike="noStrike" dirty="0"/>
              <a:t>this </a:t>
            </a:r>
            <a:r>
              <a:rPr b="0" i="0" strike="noStrike" dirty="0"/>
              <a:t>documentation </a:t>
            </a:r>
            <a:r>
              <a:rPr b="0" i="0" strike="noStrike" dirty="0"/>
              <a:t>might </a:t>
            </a:r>
            <a:r>
              <a:rPr b="0" i="0" strike="noStrike" dirty="0"/>
              <a:t>be </a:t>
            </a:r>
            <a:r>
              <a:rPr b="0" i="0" strike="noStrike" dirty="0"/>
              <a:t>covered </a:t>
            </a:r>
            <a:r>
              <a:rPr b="0" i="0" strike="noStrike" dirty="0"/>
              <a:t>by </a:t>
            </a:r>
            <a:r>
              <a:rPr b="0" i="0" strike="noStrike" dirty="0"/>
              <a:t>trademarks </a:t>
            </a:r>
            <a:r>
              <a:rPr b="0" i="0" strike="noStrike" dirty="0"/>
              <a:t>or </a:t>
            </a:r>
            <a:r>
              <a:rPr b="0" i="0" strike="noStrike" dirty="0"/>
              <a:t>similar </a:t>
            </a:r>
            <a:r>
              <a:rPr b="0" i="0" strike="noStrike" dirty="0"/>
              <a:t>intellectual </a:t>
            </a:r>
            <a:r>
              <a:rPr b="0" i="0" strike="noStrike" dirty="0"/>
              <a:t>property </a:t>
            </a:r>
            <a:r>
              <a:rPr b="0" i="0" strike="noStrike" dirty="0"/>
              <a:t>rights. </a:t>
            </a:r>
            <a:r>
              <a:rPr b="0" i="0" strike="noStrike" dirty="0"/>
              <a:t>This </a:t>
            </a:r>
            <a:r>
              <a:rPr b="0" i="0" strike="noStrike" dirty="0"/>
              <a:t>notice </a:t>
            </a:r>
            <a:r>
              <a:rPr b="0" i="0" strike="noStrike" dirty="0"/>
              <a:t>does </a:t>
            </a:r>
            <a:r>
              <a:rPr b="0" i="0" strike="noStrike" dirty="0"/>
              <a:t>not </a:t>
            </a:r>
            <a:r>
              <a:rPr b="0" i="0" strike="noStrike" dirty="0"/>
              <a:t>grant </a:t>
            </a:r>
            <a:r>
              <a:rPr b="0" i="0" strike="noStrike" dirty="0"/>
              <a:t>any </a:t>
            </a:r>
            <a:r>
              <a:rPr b="0" i="0" strike="noStrike" dirty="0"/>
              <a:t>licenses </a:t>
            </a:r>
            <a:r>
              <a:rPr b="0" i="0" strike="noStrike" dirty="0"/>
              <a:t>under </a:t>
            </a:r>
            <a:r>
              <a:rPr b="0" i="0" strike="noStrike" dirty="0"/>
              <a:t>those </a:t>
            </a:r>
            <a:r>
              <a:rPr b="0" i="0" strike="noStrike" dirty="0"/>
              <a:t>rights. </a:t>
            </a:r>
            <a:r>
              <a:rPr b="0" i="0" strike="noStrike" dirty="0"/>
              <a:t>For </a:t>
            </a:r>
            <a:r>
              <a:rPr b="0" i="0" strike="noStrike" dirty="0"/>
              <a:t>a </a:t>
            </a:r>
            <a:r>
              <a:rPr b="0" i="0" strike="noStrike" dirty="0"/>
              <a:t>list </a:t>
            </a:r>
            <a:r>
              <a:rPr b="0" i="0" strike="noStrike" dirty="0"/>
              <a:t>of </a:t>
            </a:r>
            <a:r>
              <a:rPr b="0" i="0" strike="noStrike" dirty="0"/>
              <a:t>Microsoft </a:t>
            </a:r>
            <a:r>
              <a:rPr b="0" i="0" strike="noStrike" dirty="0"/>
              <a:t>trademarks, </a:t>
            </a:r>
            <a:r>
              <a:rPr b="0" i="0" strike="noStrike" dirty="0"/>
              <a:t>visit </a:t>
            </a:r>
            <a:r>
              <a:rPr>
                <a:hlinkClick r:id="rId11" action="ppaction://hlinkfile"/>
              </a:rPr>
              <a:t>www.microsoft.com/trademarks</a:t>
            </a:r>
            <a:r>
              <a:rPr b="0" i="0" strike="noStrike" dirty="0"/>
              <a:t>. </a:t>
            </a:r>
          </a:p>
        </p:txBody>
      </p:sp>
      <p:sp>
        <p:nvSpPr>
          <p:cNvPr id="5" name="TextBox5"/>
          <p:cNvSpPr txBox="1">
            <a:spLocks noChangeArrowheads="1"/>
          </p:cNvSpPr>
          <p:nvPr/>
        </p:nvSpPr>
        <p:spPr>
          <a:xfrm rot="0">
            <a:off x="508000" y="3784600"/>
            <a:ext cx="11176000" cy="1280160"/>
          </a:xfrm>
          <a:prstGeom prst="rect">
            <a:avLst/>
          </a:prstGeom>
          <a:ln>
            <a:headEnd type="none"/>
            <a:tailEnd type="none"/>
          </a:ln>
        </p:spPr>
        <p:txBody>
          <a:bodyPr wrap="square">
            <a:spAutoFit/>
          </a:bodyPr>
          <a:lstStyle/>
          <a:p>
            <a:pPr lvl="1" indent="283464" algn="l" defTabSz="914400">
              <a:buChar char="•"/>
            </a:pPr>
            <a:r>
              <a:rPr b="1" i="0" strike="noStrike" dirty="0"/>
              <a:t>Fictitious </a:t>
            </a:r>
            <a:r>
              <a:rPr b="1" i="0" strike="noStrike" dirty="0"/>
              <a:t>Names</a:t>
            </a:r>
            <a:r>
              <a:rPr b="0" i="0" strike="noStrike" dirty="0"/>
              <a:t>. </a:t>
            </a:r>
            <a:r>
              <a:rPr b="0" i="0" strike="noStrike" dirty="0"/>
              <a:t>The </a:t>
            </a:r>
            <a:r>
              <a:rPr b="0" i="0" strike="noStrike" dirty="0"/>
              <a:t>example </a:t>
            </a:r>
            <a:r>
              <a:rPr b="0" i="0" strike="noStrike" dirty="0"/>
              <a:t>companies, </a:t>
            </a:r>
            <a:r>
              <a:rPr b="0" i="0" strike="noStrike" dirty="0"/>
              <a:t>organizations, </a:t>
            </a:r>
            <a:r>
              <a:rPr b="0" i="0" strike="noStrike" dirty="0"/>
              <a:t>products, </a:t>
            </a:r>
            <a:r>
              <a:rPr b="0" i="0" strike="noStrike" dirty="0"/>
              <a:t>domain </a:t>
            </a:r>
            <a:r>
              <a:rPr b="0" i="0" strike="noStrike" dirty="0"/>
              <a:t>names, </a:t>
            </a:r>
            <a:r>
              <a:rPr b="0" i="0" strike="noStrike" dirty="0"/>
              <a:t>email </a:t>
            </a:r>
            <a:r>
              <a:rPr b="0" i="0" strike="noStrike" dirty="0"/>
              <a:t>addresses, </a:t>
            </a:r>
            <a:r>
              <a:rPr b="0" i="0" strike="noStrike" dirty="0"/>
              <a:t>logos, </a:t>
            </a:r>
            <a:r>
              <a:rPr b="0" i="0" strike="noStrike" dirty="0"/>
              <a:t>people, </a:t>
            </a:r>
            <a:r>
              <a:rPr b="0" i="0" strike="noStrike" dirty="0"/>
              <a:t>places, </a:t>
            </a:r>
            <a:r>
              <a:rPr b="0" i="0" strike="noStrike" dirty="0"/>
              <a:t>and </a:t>
            </a:r>
            <a:r>
              <a:rPr b="0" i="0" strike="noStrike" dirty="0"/>
              <a:t>events </a:t>
            </a:r>
            <a:r>
              <a:rPr b="0" i="0" strike="noStrike" dirty="0"/>
              <a:t>that </a:t>
            </a:r>
            <a:r>
              <a:rPr b="0" i="0" strike="noStrike" dirty="0"/>
              <a:t>are </a:t>
            </a:r>
            <a:r>
              <a:rPr b="0" i="0" strike="noStrike" dirty="0"/>
              <a:t>depicted </a:t>
            </a:r>
            <a:r>
              <a:rPr b="0" i="0" strike="noStrike" dirty="0"/>
              <a:t>in </a:t>
            </a:r>
            <a:r>
              <a:rPr b="0" i="0" strike="noStrike" dirty="0"/>
              <a:t>this </a:t>
            </a:r>
            <a:r>
              <a:rPr b="0" i="0" strike="noStrike" dirty="0"/>
              <a:t>documentation </a:t>
            </a:r>
            <a:r>
              <a:rPr b="0" i="0" strike="noStrike" dirty="0"/>
              <a:t>are </a:t>
            </a:r>
            <a:r>
              <a:rPr b="0" i="0" strike="noStrike" dirty="0"/>
              <a:t>fictitious. </a:t>
            </a:r>
            <a:r>
              <a:rPr b="0" i="0" strike="noStrike" dirty="0"/>
              <a:t>No </a:t>
            </a:r>
            <a:r>
              <a:rPr b="0" i="0" strike="noStrike" dirty="0"/>
              <a:t>association </a:t>
            </a:r>
            <a:r>
              <a:rPr b="0" i="0" strike="noStrike" dirty="0"/>
              <a:t>with </a:t>
            </a:r>
            <a:r>
              <a:rPr b="0" i="0" strike="noStrike" dirty="0"/>
              <a:t>any </a:t>
            </a:r>
            <a:r>
              <a:rPr b="0" i="0" strike="noStrike" dirty="0"/>
              <a:t>real </a:t>
            </a:r>
            <a:r>
              <a:rPr b="0" i="0" strike="noStrike" dirty="0"/>
              <a:t>company, </a:t>
            </a:r>
            <a:r>
              <a:rPr b="0" i="0" strike="noStrike" dirty="0"/>
              <a:t>organization, </a:t>
            </a:r>
            <a:r>
              <a:rPr b="0" i="0" strike="noStrike" dirty="0"/>
              <a:t>product, </a:t>
            </a:r>
            <a:r>
              <a:rPr b="0" i="0" strike="noStrike" dirty="0"/>
              <a:t>domain </a:t>
            </a:r>
            <a:r>
              <a:rPr b="0" i="0" strike="noStrike" dirty="0"/>
              <a:t>name, </a:t>
            </a:r>
            <a:r>
              <a:rPr b="0" i="0" strike="noStrike" dirty="0"/>
              <a:t>email </a:t>
            </a:r>
            <a:r>
              <a:rPr b="0" i="0" strike="noStrike" dirty="0"/>
              <a:t>address, </a:t>
            </a:r>
            <a:r>
              <a:rPr b="0" i="0" strike="noStrike" dirty="0"/>
              <a:t>logo, </a:t>
            </a:r>
            <a:r>
              <a:rPr b="0" i="0" strike="noStrike" dirty="0"/>
              <a:t>person, </a:t>
            </a:r>
            <a:r>
              <a:rPr b="0" i="0" strike="noStrike" dirty="0"/>
              <a:t>place, </a:t>
            </a:r>
            <a:r>
              <a:rPr b="0" i="0" strike="noStrike" dirty="0"/>
              <a:t>or </a:t>
            </a:r>
            <a:r>
              <a:rPr b="0" i="0" strike="noStrike" dirty="0"/>
              <a:t>event </a:t>
            </a:r>
            <a:r>
              <a:rPr b="0" i="0" strike="noStrike" dirty="0"/>
              <a:t>is </a:t>
            </a:r>
            <a:r>
              <a:rPr b="0" i="0" strike="noStrike" dirty="0"/>
              <a:t>intended </a:t>
            </a:r>
            <a:r>
              <a:rPr b="0" i="0" strike="noStrike" dirty="0"/>
              <a:t>or </a:t>
            </a:r>
            <a:r>
              <a:rPr b="0" i="0" strike="noStrike" dirty="0"/>
              <a:t>should </a:t>
            </a:r>
            <a:r>
              <a:rPr b="0" i="0" strike="noStrike" dirty="0"/>
              <a:t>be </a:t>
            </a:r>
            <a:r>
              <a:rPr b="0" i="0" strike="noStrike" dirty="0"/>
              <a:t>inferred.</a:t>
            </a:r>
          </a:p>
        </p:txBody>
      </p:sp>
      <p:sp>
        <p:nvSpPr>
          <p:cNvPr id="6" name="TextBox6"/>
          <p:cNvSpPr txBox="1">
            <a:spLocks noChangeArrowheads="1"/>
          </p:cNvSpPr>
          <p:nvPr/>
        </p:nvSpPr>
        <p:spPr>
          <a:xfrm rot="0">
            <a:off x="508000" y="5090160"/>
            <a:ext cx="11176000" cy="640080"/>
          </a:xfrm>
          <a:prstGeom prst="rect">
            <a:avLst/>
          </a:prstGeom>
          <a:ln>
            <a:headEnd type="none"/>
            <a:tailEnd type="none"/>
          </a:ln>
        </p:spPr>
        <p:txBody>
          <a:bodyPr wrap="square">
            <a:spAutoFit/>
          </a:bodyPr>
          <a:lstStyle/>
          <a:p>
            <a:pPr algn="l" defTabSz="914400"/>
            <a:r>
              <a:rPr b="1" i="0" strike="noStrike" dirty="0"/>
              <a:t>Reservation </a:t>
            </a:r>
            <a:r>
              <a:rPr b="1" i="0" strike="noStrike" dirty="0"/>
              <a:t>of </a:t>
            </a:r>
            <a:r>
              <a:rPr b="1" i="0" strike="noStrike" dirty="0"/>
              <a:t>Rights</a:t>
            </a:r>
            <a:r>
              <a:rPr b="0" i="0" strike="noStrike" dirty="0"/>
              <a:t>. </a:t>
            </a:r>
            <a:r>
              <a:rPr b="0" i="0" strike="noStrike" dirty="0"/>
              <a:t>All </a:t>
            </a:r>
            <a:r>
              <a:rPr b="0" i="0" strike="noStrike" dirty="0"/>
              <a:t>other </a:t>
            </a:r>
            <a:r>
              <a:rPr b="0" i="0" strike="noStrike" dirty="0"/>
              <a:t>rights </a:t>
            </a:r>
            <a:r>
              <a:rPr b="0" i="0" strike="noStrike" dirty="0"/>
              <a:t>are </a:t>
            </a:r>
            <a:r>
              <a:rPr b="0" i="0" strike="noStrike" dirty="0"/>
              <a:t>reserved, </a:t>
            </a:r>
            <a:r>
              <a:rPr b="0" i="0" strike="noStrike" dirty="0"/>
              <a:t>and </a:t>
            </a:r>
            <a:r>
              <a:rPr b="0" i="0" strike="noStrike" dirty="0"/>
              <a:t>this </a:t>
            </a:r>
            <a:r>
              <a:rPr b="0" i="0" strike="noStrike" dirty="0"/>
              <a:t>notice </a:t>
            </a:r>
            <a:r>
              <a:rPr b="0" i="0" strike="noStrike" dirty="0"/>
              <a:t>does </a:t>
            </a:r>
            <a:r>
              <a:rPr b="0" i="0" strike="noStrike" dirty="0"/>
              <a:t>not </a:t>
            </a:r>
            <a:r>
              <a:rPr b="0" i="0" strike="noStrike" dirty="0"/>
              <a:t>grant </a:t>
            </a:r>
            <a:r>
              <a:rPr b="0" i="0" strike="noStrike" dirty="0"/>
              <a:t>any </a:t>
            </a:r>
            <a:r>
              <a:rPr b="0" i="0" strike="noStrike" dirty="0"/>
              <a:t>rights </a:t>
            </a:r>
            <a:r>
              <a:rPr b="0" i="0" strike="noStrike" dirty="0"/>
              <a:t>other </a:t>
            </a:r>
            <a:r>
              <a:rPr b="0" i="0" strike="noStrike" dirty="0"/>
              <a:t>than </a:t>
            </a:r>
            <a:r>
              <a:rPr b="0" i="0" strike="noStrike" dirty="0"/>
              <a:t>as </a:t>
            </a:r>
            <a:r>
              <a:rPr b="0" i="0" strike="noStrike" dirty="0"/>
              <a:t>specifically </a:t>
            </a:r>
            <a:r>
              <a:rPr b="0" i="0" strike="noStrike" dirty="0"/>
              <a:t>described </a:t>
            </a:r>
            <a:r>
              <a:rPr b="0" i="0" strike="noStrike" dirty="0"/>
              <a:t>above, </a:t>
            </a:r>
            <a:r>
              <a:rPr b="0" i="0" strike="noStrike" dirty="0"/>
              <a:t>whether </a:t>
            </a:r>
            <a:r>
              <a:rPr b="0" i="0" strike="noStrike" dirty="0"/>
              <a:t>by </a:t>
            </a:r>
            <a:r>
              <a:rPr b="0" i="0" strike="noStrike" dirty="0"/>
              <a:t>implication, </a:t>
            </a:r>
            <a:r>
              <a:rPr b="0" i="0" strike="noStrike" dirty="0"/>
              <a:t>estoppel, </a:t>
            </a:r>
            <a:r>
              <a:rPr b="0" i="0" strike="noStrike" dirty="0"/>
              <a:t>or </a:t>
            </a:r>
            <a:r>
              <a:rPr b="0" i="0" strike="noStrike" dirty="0"/>
              <a:t>otherwise. </a:t>
            </a:r>
          </a:p>
        </p:txBody>
      </p:sp>
      <p:sp>
        <p:nvSpPr>
          <p:cNvPr id="7" name="TextBox7"/>
          <p:cNvSpPr txBox="1">
            <a:spLocks noChangeArrowheads="1"/>
          </p:cNvSpPr>
          <p:nvPr/>
        </p:nvSpPr>
        <p:spPr>
          <a:xfrm rot="0">
            <a:off x="508000" y="5755640"/>
            <a:ext cx="11176000" cy="320040"/>
          </a:xfrm>
          <a:prstGeom prst="rect">
            <a:avLst/>
          </a:prstGeom>
          <a:ln>
            <a:headEnd type="none"/>
            <a:tailEnd type="none"/>
          </a:ln>
        </p:spPr>
        <p:txBody>
          <a:bodyPr wrap="square">
            <a:spAutoFit/>
          </a:bodyPr>
          <a:lstStyle/>
          <a:p>
            <a:pPr algn="l" defTabSz="914400"/>
            <a:r>
              <a:rPr b="1" i="0" strike="noStrike" dirty="0"/>
              <a:t>Tools</a:t>
            </a:r>
            <a:r>
              <a:rPr b="0" i="0" strike="noStrike" dirty="0"/>
              <a:t>. </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1920240"/>
          </a:xfrm>
          <a:prstGeom prst="rect">
            <a:avLst/>
          </a:prstGeom>
          <a:ln>
            <a:headEnd type="none"/>
            <a:tailEnd type="none"/>
          </a:ln>
        </p:spPr>
        <p:txBody>
          <a:bodyPr wrap="square">
            <a:spAutoFit/>
          </a:bodyPr>
          <a:lstStyle/>
          <a:p>
            <a:pPr algn="l" defTabSz="914400"/>
            <a:r>
              <a:rPr b="0" i="0" strike="noStrike" dirty="0"/>
              <a:t>The </a:t>
            </a:r>
            <a:r>
              <a:rPr b="0" i="0" strike="noStrike" dirty="0"/>
              <a:t>Open </a:t>
            </a:r>
            <a:r>
              <a:rPr b="0" i="0" strike="noStrike" dirty="0"/>
              <a:t>Specifications </a:t>
            </a:r>
            <a:r>
              <a:rPr b="0" i="0" strike="noStrike" dirty="0"/>
              <a:t>documentation </a:t>
            </a:r>
            <a:r>
              <a:rPr b="0" i="0" strike="noStrike" dirty="0"/>
              <a:t>does </a:t>
            </a:r>
            <a:r>
              <a:rPr b="0" i="0" strike="noStrike" dirty="0"/>
              <a:t>not </a:t>
            </a:r>
            <a:r>
              <a:rPr b="0" i="0" strike="noStrike" dirty="0"/>
              <a:t>require </a:t>
            </a:r>
            <a:r>
              <a:rPr b="0" i="0" strike="noStrike" dirty="0"/>
              <a:t>the </a:t>
            </a:r>
            <a:r>
              <a:rPr b="0" i="0" strike="noStrike" dirty="0"/>
              <a:t>use </a:t>
            </a:r>
            <a:r>
              <a:rPr b="0" i="0" strike="noStrike" dirty="0"/>
              <a:t>of </a:t>
            </a:r>
            <a:r>
              <a:rPr b="0" i="0" strike="noStrike" dirty="0"/>
              <a:t>Microsoft </a:t>
            </a:r>
            <a:r>
              <a:rPr b="0" i="0" strike="noStrike" dirty="0"/>
              <a:t>programming </a:t>
            </a:r>
            <a:r>
              <a:rPr b="0" i="0" strike="noStrike" dirty="0"/>
              <a:t>tools </a:t>
            </a:r>
            <a:r>
              <a:rPr b="0" i="0" strike="noStrike" dirty="0"/>
              <a:t>or </a:t>
            </a:r>
            <a:r>
              <a:rPr b="0" i="0" strike="noStrike" dirty="0"/>
              <a:t>programming </a:t>
            </a:r>
            <a:r>
              <a:rPr b="0" i="0" strike="noStrike" dirty="0"/>
              <a:t>environments </a:t>
            </a:r>
            <a:r>
              <a:rPr b="0" i="0" strike="noStrike" dirty="0"/>
              <a:t>in </a:t>
            </a:r>
            <a:r>
              <a:rPr b="0" i="0" strike="noStrike" dirty="0"/>
              <a:t>order </a:t>
            </a:r>
            <a:r>
              <a:rPr b="0" i="0" strike="noStrike" dirty="0"/>
              <a:t>for </a:t>
            </a:r>
            <a:r>
              <a:rPr b="0" i="0" strike="noStrike" dirty="0"/>
              <a:t>you </a:t>
            </a:r>
            <a:r>
              <a:rPr b="0" i="0" strike="noStrike" dirty="0"/>
              <a:t>to </a:t>
            </a:r>
            <a:r>
              <a:rPr b="0" i="0" strike="noStrike" dirty="0"/>
              <a:t>develop </a:t>
            </a:r>
            <a:r>
              <a:rPr b="0" i="0" strike="noStrike" dirty="0"/>
              <a:t>an </a:t>
            </a:r>
            <a:r>
              <a:rPr b="0" i="0" strike="noStrike" dirty="0"/>
              <a:t>implementation. </a:t>
            </a:r>
            <a:r>
              <a:rPr b="0" i="0" strike="noStrike" dirty="0"/>
              <a:t>If </a:t>
            </a:r>
            <a:r>
              <a:rPr b="0" i="0" strike="noStrike" dirty="0"/>
              <a:t>you </a:t>
            </a:r>
            <a:r>
              <a:rPr b="0" i="0" strike="noStrike" dirty="0"/>
              <a:t>have </a:t>
            </a:r>
            <a:r>
              <a:rPr b="0" i="0" strike="noStrike" dirty="0"/>
              <a:t>access </a:t>
            </a:r>
            <a:r>
              <a:rPr b="0" i="0" strike="noStrike" dirty="0"/>
              <a:t>to </a:t>
            </a:r>
            <a:r>
              <a:rPr b="0" i="0" strike="noStrike" dirty="0"/>
              <a:t>Microsoft </a:t>
            </a:r>
            <a:r>
              <a:rPr b="0" i="0" strike="noStrike" dirty="0"/>
              <a:t>programming </a:t>
            </a:r>
            <a:r>
              <a:rPr b="0" i="0" strike="noStrike" dirty="0"/>
              <a:t>tools </a:t>
            </a:r>
            <a:r>
              <a:rPr b="0" i="0" strike="noStrike" dirty="0"/>
              <a:t>and </a:t>
            </a:r>
            <a:r>
              <a:rPr b="0" i="0" strike="noStrike" dirty="0"/>
              <a:t>environments, </a:t>
            </a:r>
            <a:r>
              <a:rPr b="0" i="0" strike="noStrike" dirty="0"/>
              <a:t>you </a:t>
            </a:r>
            <a:r>
              <a:rPr b="0" i="0" strike="noStrike" dirty="0"/>
              <a:t>are </a:t>
            </a:r>
            <a:r>
              <a:rPr b="0" i="0" strike="noStrike" dirty="0"/>
              <a:t>free </a:t>
            </a:r>
            <a:r>
              <a:rPr b="0" i="0" strike="noStrike" dirty="0"/>
              <a:t>to </a:t>
            </a:r>
            <a:r>
              <a:rPr b="0" i="0" strike="noStrike" dirty="0"/>
              <a:t>take </a:t>
            </a:r>
            <a:r>
              <a:rPr b="0" i="0" strike="noStrike" dirty="0"/>
              <a:t>advantage </a:t>
            </a:r>
            <a:r>
              <a:rPr b="0" i="0" strike="noStrike" dirty="0"/>
              <a:t>of </a:t>
            </a:r>
            <a:r>
              <a:rPr b="0" i="0" strike="noStrike" dirty="0"/>
              <a:t>them. </a:t>
            </a:r>
            <a:r>
              <a:rPr b="0" i="0" strike="noStrike" dirty="0"/>
              <a:t>Certain </a:t>
            </a:r>
            <a:r>
              <a:rPr b="0" i="0" strike="noStrike" dirty="0"/>
              <a:t>Open </a:t>
            </a:r>
            <a:r>
              <a:rPr b="0" i="0" strike="noStrike" dirty="0"/>
              <a:t>Specifications </a:t>
            </a:r>
            <a:r>
              <a:rPr b="0" i="0" strike="noStrike" dirty="0"/>
              <a:t>documents </a:t>
            </a:r>
            <a:r>
              <a:rPr b="0" i="0" strike="noStrike" dirty="0"/>
              <a:t>are </a:t>
            </a:r>
            <a:r>
              <a:rPr b="0" i="0" strike="noStrike" dirty="0"/>
              <a:t>intended </a:t>
            </a:r>
            <a:r>
              <a:rPr b="0" i="0" strike="noStrike" dirty="0"/>
              <a:t>for </a:t>
            </a:r>
            <a:r>
              <a:rPr b="0" i="0" strike="noStrike" dirty="0"/>
              <a:t>use </a:t>
            </a:r>
            <a:r>
              <a:rPr b="0" i="0" strike="noStrike" dirty="0"/>
              <a:t>in </a:t>
            </a:r>
            <a:r>
              <a:rPr b="0" i="0" strike="noStrike" dirty="0"/>
              <a:t>conjunction </a:t>
            </a:r>
            <a:r>
              <a:rPr b="0" i="0" strike="noStrike" dirty="0"/>
              <a:t>with </a:t>
            </a:r>
            <a:r>
              <a:rPr b="0" i="0" strike="noStrike" dirty="0"/>
              <a:t>publicly </a:t>
            </a:r>
            <a:r>
              <a:rPr b="0" i="0" strike="noStrike" dirty="0"/>
              <a:t>available </a:t>
            </a:r>
            <a:r>
              <a:rPr b="0" i="0" strike="noStrike" dirty="0"/>
              <a:t>standards </a:t>
            </a:r>
            <a:r>
              <a:rPr b="0" i="0" strike="noStrike" dirty="0"/>
              <a:t>specifications </a:t>
            </a:r>
            <a:r>
              <a:rPr b="0" i="0" strike="noStrike" dirty="0"/>
              <a:t>and </a:t>
            </a:r>
            <a:r>
              <a:rPr b="0" i="0" strike="noStrike" dirty="0"/>
              <a:t>network </a:t>
            </a:r>
            <a:r>
              <a:rPr b="0" i="0" strike="noStrike" dirty="0"/>
              <a:t>programming </a:t>
            </a:r>
            <a:r>
              <a:rPr b="0" i="0" strike="noStrike" dirty="0"/>
              <a:t>art </a:t>
            </a:r>
            <a:r>
              <a:rPr b="0" i="0" strike="noStrike" dirty="0"/>
              <a:t>and, </a:t>
            </a:r>
            <a:r>
              <a:rPr b="0" i="0" strike="noStrike" dirty="0"/>
              <a:t>as </a:t>
            </a:r>
            <a:r>
              <a:rPr b="0" i="0" strike="noStrike" dirty="0"/>
              <a:t>such, </a:t>
            </a:r>
            <a:r>
              <a:rPr b="0" i="0" strike="noStrike" dirty="0"/>
              <a:t>assume </a:t>
            </a:r>
            <a:r>
              <a:rPr b="0" i="0" strike="noStrike" dirty="0"/>
              <a:t>that </a:t>
            </a:r>
            <a:r>
              <a:rPr b="0" i="0" strike="noStrike" dirty="0"/>
              <a:t>the </a:t>
            </a:r>
            <a:r>
              <a:rPr b="0" i="0" strike="noStrike" dirty="0"/>
              <a:t>reader </a:t>
            </a:r>
            <a:r>
              <a:rPr b="0" i="0" strike="noStrike" dirty="0"/>
              <a:t>either </a:t>
            </a:r>
            <a:r>
              <a:rPr b="0" i="0" strike="noStrike" dirty="0"/>
              <a:t>is </a:t>
            </a:r>
            <a:r>
              <a:rPr b="0" i="0" strike="noStrike" dirty="0"/>
              <a:t>familiar </a:t>
            </a:r>
            <a:r>
              <a:rPr b="0" i="0" strike="noStrike" dirty="0"/>
              <a:t>with </a:t>
            </a:r>
            <a:r>
              <a:rPr b="0" i="0" strike="noStrike" dirty="0"/>
              <a:t>the </a:t>
            </a:r>
            <a:r>
              <a:rPr b="0" i="0" strike="noStrike" dirty="0"/>
              <a:t>aforementioned </a:t>
            </a:r>
            <a:r>
              <a:rPr b="0" i="0" strike="noStrike" dirty="0"/>
              <a:t>material </a:t>
            </a:r>
            <a:r>
              <a:rPr b="0" i="0" strike="noStrike" dirty="0"/>
              <a:t>or </a:t>
            </a:r>
            <a:r>
              <a:rPr b="0" i="0" strike="noStrike" dirty="0"/>
              <a:t>has </a:t>
            </a:r>
            <a:r>
              <a:rPr b="0" i="0" strike="noStrike" dirty="0"/>
              <a:t>immediate </a:t>
            </a:r>
            <a:r>
              <a:rPr b="0" i="0" strike="noStrike" dirty="0"/>
              <a:t>access </a:t>
            </a:r>
            <a:r>
              <a:rPr b="0" i="0" strike="noStrike" dirty="0"/>
              <a:t>to </a:t>
            </a:r>
            <a:r>
              <a:rPr b="0" i="0" strike="noStrike" dirty="0"/>
              <a:t>it.</a:t>
            </a:r>
          </a:p>
        </p:txBody>
      </p:sp>
      <p:sp>
        <p:nvSpPr>
          <p:cNvPr id="3" name="TextBox3"/>
          <p:cNvSpPr txBox="1">
            <a:spLocks noChangeArrowheads="1"/>
          </p:cNvSpPr>
          <p:nvPr/>
        </p:nvSpPr>
        <p:spPr>
          <a:xfrm rot="0">
            <a:off x="508000" y="2453640"/>
            <a:ext cx="11176000" cy="320040"/>
          </a:xfrm>
          <a:prstGeom prst="rect">
            <a:avLst/>
          </a:prstGeom>
          <a:ln>
            <a:headEnd type="none"/>
            <a:tailEnd type="none"/>
          </a:ln>
        </p:spPr>
        <p:txBody>
          <a:bodyPr wrap="square">
            <a:spAutoFit/>
          </a:bodyPr>
          <a:lstStyle/>
          <a:p>
            <a:pPr algn="l" defTabSz="914400"/>
            <a:r>
              <a:rPr b="1" i="0" strike="noStrike" dirty="0"/>
              <a:t>Support.</a:t>
            </a:r>
            <a:r>
              <a:rPr b="0" i="0" strike="noStrike" dirty="0"/>
              <a:t> </a:t>
            </a:r>
            <a:r>
              <a:rPr b="0" i="0" strike="noStrike" dirty="0"/>
              <a:t>For </a:t>
            </a:r>
            <a:r>
              <a:rPr b="0" i="0" strike="noStrike" dirty="0"/>
              <a:t>questions </a:t>
            </a:r>
            <a:r>
              <a:rPr b="0" i="0" strike="noStrike" dirty="0"/>
              <a:t>and </a:t>
            </a:r>
            <a:r>
              <a:rPr b="0" i="0" strike="noStrike" dirty="0"/>
              <a:t>support, </a:t>
            </a:r>
            <a:r>
              <a:rPr b="0" i="0" strike="noStrike" dirty="0"/>
              <a:t>please </a:t>
            </a:r>
            <a:r>
              <a:rPr b="0" i="0" strike="noStrike" dirty="0"/>
              <a:t>contact </a:t>
            </a:r>
            <a:r>
              <a:rPr>
                <a:hlinkClick r:id="rId2" action="ppaction://hlinkfile"/>
              </a:rPr>
              <a:t>dochelp@microsoft.com</a:t>
            </a:r>
            <a:r>
              <a:rPr b="0" i="0" strike="noStrike" dirty="0"/>
              <a:t>. </a:t>
            </a:r>
          </a:p>
        </p:txBody>
      </p:sp>
      <p:sp>
        <p:nvSpPr>
          <p:cNvPr id="4" name="TextBox4"/>
          <p:cNvSpPr txBox="1">
            <a:spLocks noChangeArrowheads="1"/>
          </p:cNvSpPr>
          <p:nvPr/>
        </p:nvSpPr>
        <p:spPr>
          <a:xfrm rot="0">
            <a:off x="508000" y="2799080"/>
            <a:ext cx="11176000" cy="2880360"/>
          </a:xfrm>
          <a:prstGeom prst="rect">
            <a:avLst/>
          </a:prstGeom>
          <a:ln>
            <a:headEnd type="none"/>
            <a:tailEnd type="none"/>
          </a:ln>
        </p:spPr>
        <p:txBody>
          <a:bodyPr wrap="square">
            <a:spAutoFit/>
          </a:bodyPr>
          <a:lstStyle/>
          <a:p>
            <a:pPr algn="l" defTabSz="914400"/>
            <a:r>
              <a:rPr b="1" i="0" strike="noStrike" dirty="0"/>
              <a:t>Preliminary </a:t>
            </a:r>
            <a:r>
              <a:rPr b="1" i="0" strike="noStrike" dirty="0"/>
              <a:t>Documentation.</a:t>
            </a:r>
            <a:r>
              <a:rPr b="0" i="0" strike="noStrike" dirty="0"/>
              <a:t> </a:t>
            </a:r>
            <a:r>
              <a:rPr b="0" i="0" strike="noStrike" dirty="0"/>
              <a:t>This </a:t>
            </a:r>
            <a:r>
              <a:rPr b="0" i="0" strike="noStrike" dirty="0"/>
              <a:t>particular </a:t>
            </a:r>
            <a:r>
              <a:rPr b="0" i="0" strike="noStrike" dirty="0"/>
              <a:t>Open </a:t>
            </a:r>
            <a:r>
              <a:rPr b="0" i="0" strike="noStrike" dirty="0"/>
              <a:t>Specifications </a:t>
            </a:r>
            <a:r>
              <a:rPr b="0" i="0" strike="noStrike" dirty="0"/>
              <a:t>document </a:t>
            </a:r>
            <a:r>
              <a:rPr b="0" i="0" strike="noStrike" dirty="0"/>
              <a:t>provides </a:t>
            </a:r>
            <a:r>
              <a:rPr b="0" i="0" strike="noStrike" dirty="0"/>
              <a:t>documentation </a:t>
            </a:r>
            <a:r>
              <a:rPr b="0" i="0" strike="noStrike" dirty="0"/>
              <a:t>for </a:t>
            </a:r>
            <a:r>
              <a:rPr b="0" i="0" strike="noStrike" dirty="0"/>
              <a:t>past </a:t>
            </a:r>
            <a:r>
              <a:rPr b="0" i="0" strike="noStrike" dirty="0"/>
              <a:t>and </a:t>
            </a:r>
            <a:r>
              <a:rPr b="0" i="0" strike="noStrike" dirty="0"/>
              <a:t>current </a:t>
            </a:r>
            <a:r>
              <a:rPr b="0" i="0" strike="noStrike" dirty="0"/>
              <a:t>releases </a:t>
            </a:r>
            <a:r>
              <a:rPr b="0" i="0" strike="noStrike" dirty="0"/>
              <a:t>and/or </a:t>
            </a:r>
            <a:r>
              <a:rPr b="0" i="0" strike="noStrike" dirty="0"/>
              <a:t>for </a:t>
            </a:r>
            <a:r>
              <a:rPr b="0" i="0" strike="noStrike" dirty="0"/>
              <a:t>the </a:t>
            </a:r>
            <a:r>
              <a:rPr b="0" i="0" strike="noStrike" dirty="0"/>
              <a:t>pre-release </a:t>
            </a:r>
            <a:r>
              <a:rPr b="0" i="0" strike="noStrike" dirty="0"/>
              <a:t>version </a:t>
            </a:r>
            <a:r>
              <a:rPr b="0" i="0" strike="noStrike" dirty="0"/>
              <a:t>of </a:t>
            </a:r>
            <a:r>
              <a:rPr b="0" i="0" strike="noStrike" dirty="0"/>
              <a:t>this </a:t>
            </a:r>
            <a:r>
              <a:rPr b="0" i="0" strike="noStrike" dirty="0"/>
              <a:t>technology. </a:t>
            </a:r>
            <a:r>
              <a:rPr b="0" i="0" strike="noStrike" dirty="0"/>
              <a:t>This </a:t>
            </a:r>
            <a:r>
              <a:rPr b="0" i="0" strike="noStrike" dirty="0"/>
              <a:t>document </a:t>
            </a:r>
            <a:r>
              <a:rPr b="0" i="0" strike="noStrike" dirty="0"/>
              <a:t>provides </a:t>
            </a:r>
            <a:r>
              <a:rPr b="0" i="0" strike="noStrike" dirty="0"/>
              <a:t>final </a:t>
            </a:r>
            <a:r>
              <a:rPr b="0" i="0" strike="noStrike" dirty="0"/>
              <a:t>documentation </a:t>
            </a:r>
            <a:r>
              <a:rPr b="0" i="0" strike="noStrike" dirty="0"/>
              <a:t>for </a:t>
            </a:r>
            <a:r>
              <a:rPr b="0" i="0" strike="noStrike" dirty="0"/>
              <a:t>past </a:t>
            </a:r>
            <a:r>
              <a:rPr b="0" i="0" strike="noStrike" dirty="0"/>
              <a:t>and </a:t>
            </a:r>
            <a:r>
              <a:rPr b="0" i="0" strike="noStrike" dirty="0"/>
              <a:t>current </a:t>
            </a:r>
            <a:r>
              <a:rPr b="0" i="0" strike="noStrike" dirty="0"/>
              <a:t>releases </a:t>
            </a:r>
            <a:r>
              <a:rPr b="0" i="0" strike="noStrike" dirty="0"/>
              <a:t>and </a:t>
            </a:r>
            <a:r>
              <a:rPr b="0" i="0" strike="noStrike" dirty="0"/>
              <a:t>preliminary </a:t>
            </a:r>
            <a:r>
              <a:rPr b="0" i="0" strike="noStrike" dirty="0"/>
              <a:t>documentation, </a:t>
            </a:r>
            <a:r>
              <a:rPr b="0" i="0" strike="noStrike" dirty="0"/>
              <a:t>as </a:t>
            </a:r>
            <a:r>
              <a:rPr b="0" i="0" strike="noStrike" dirty="0"/>
              <a:t>applicable </a:t>
            </a:r>
            <a:r>
              <a:rPr b="0" i="0" strike="noStrike" dirty="0"/>
              <a:t>and </a:t>
            </a:r>
            <a:r>
              <a:rPr b="0" i="0" strike="noStrike" dirty="0"/>
              <a:t>specifically </a:t>
            </a:r>
            <a:r>
              <a:rPr b="0" i="0" strike="noStrike" dirty="0"/>
              <a:t>noted </a:t>
            </a:r>
            <a:r>
              <a:rPr b="0" i="0" strike="noStrike" dirty="0"/>
              <a:t>in </a:t>
            </a:r>
            <a:r>
              <a:rPr b="0" i="0" strike="noStrike" dirty="0"/>
              <a:t>this </a:t>
            </a:r>
            <a:r>
              <a:rPr b="0" i="0" strike="noStrike" dirty="0"/>
              <a:t>document, </a:t>
            </a:r>
            <a:r>
              <a:rPr b="0" i="0" strike="noStrike" dirty="0"/>
              <a:t>for </a:t>
            </a:r>
            <a:r>
              <a:rPr b="0" i="0" strike="noStrike" dirty="0"/>
              <a:t>the </a:t>
            </a:r>
            <a:r>
              <a:rPr b="0" i="0" strike="noStrike" dirty="0"/>
              <a:t>pre-release </a:t>
            </a:r>
            <a:r>
              <a:rPr b="0" i="0" strike="noStrike" dirty="0"/>
              <a:t>version. </a:t>
            </a:r>
            <a:r>
              <a:rPr b="0" i="0" strike="noStrike" dirty="0"/>
              <a:t>Microsoft </a:t>
            </a:r>
            <a:r>
              <a:rPr b="0" i="0" strike="noStrike" dirty="0"/>
              <a:t>will </a:t>
            </a:r>
            <a:r>
              <a:rPr b="0" i="0" strike="noStrike" dirty="0"/>
              <a:t>release </a:t>
            </a:r>
            <a:r>
              <a:rPr b="0" i="0" strike="noStrike" dirty="0"/>
              <a:t>final </a:t>
            </a:r>
            <a:r>
              <a:rPr b="0" i="0" strike="noStrike" dirty="0"/>
              <a:t>documentation </a:t>
            </a:r>
            <a:r>
              <a:rPr b="0" i="0" strike="noStrike" dirty="0"/>
              <a:t>in </a:t>
            </a:r>
            <a:r>
              <a:rPr b="0" i="0" strike="noStrike" dirty="0"/>
              <a:t>connection </a:t>
            </a:r>
            <a:r>
              <a:rPr b="0" i="0" strike="noStrike" dirty="0"/>
              <a:t>with </a:t>
            </a:r>
            <a:r>
              <a:rPr b="0" i="0" strike="noStrike" dirty="0"/>
              <a:t>the </a:t>
            </a:r>
            <a:r>
              <a:rPr b="0" i="0" strike="noStrike" dirty="0"/>
              <a:t>commercial </a:t>
            </a:r>
            <a:r>
              <a:rPr b="0" i="0" strike="noStrike" dirty="0"/>
              <a:t>release </a:t>
            </a:r>
            <a:r>
              <a:rPr b="0" i="0" strike="noStrike" dirty="0"/>
              <a:t>of </a:t>
            </a:r>
            <a:r>
              <a:rPr b="0" i="0" strike="noStrike" dirty="0"/>
              <a:t>the </a:t>
            </a:r>
            <a:r>
              <a:rPr b="0" i="0" strike="noStrike" dirty="0"/>
              <a:t>updated </a:t>
            </a:r>
            <a:r>
              <a:rPr b="0" i="0" strike="noStrike" dirty="0"/>
              <a:t>or </a:t>
            </a:r>
            <a:r>
              <a:rPr b="0" i="0" strike="noStrike" dirty="0"/>
              <a:t>new </a:t>
            </a:r>
            <a:r>
              <a:rPr b="0" i="0" strike="noStrike" dirty="0"/>
              <a:t>version </a:t>
            </a:r>
            <a:r>
              <a:rPr b="0" i="0" strike="noStrike" dirty="0"/>
              <a:t>of </a:t>
            </a:r>
            <a:r>
              <a:rPr b="0" i="0" strike="noStrike" dirty="0"/>
              <a:t>this </a:t>
            </a:r>
            <a:r>
              <a:rPr b="0" i="0" strike="noStrike" dirty="0"/>
              <a:t>technology. </a:t>
            </a:r>
            <a:r>
              <a:rPr b="0" i="0" strike="noStrike" dirty="0"/>
              <a:t>Because </a:t>
            </a:r>
            <a:r>
              <a:rPr b="0" i="0" strike="noStrike" dirty="0"/>
              <a:t>this </a:t>
            </a:r>
            <a:r>
              <a:rPr b="0" i="0" strike="noStrike" dirty="0"/>
              <a:t>documentation </a:t>
            </a:r>
            <a:r>
              <a:rPr b="0" i="0" strike="noStrike" dirty="0"/>
              <a:t>might </a:t>
            </a:r>
            <a:r>
              <a:rPr b="0" i="0" strike="noStrike" dirty="0"/>
              <a:t>change </a:t>
            </a:r>
            <a:r>
              <a:rPr b="0" i="0" strike="noStrike" dirty="0"/>
              <a:t>between </a:t>
            </a:r>
            <a:r>
              <a:rPr b="0" i="0" strike="noStrike" dirty="0"/>
              <a:t>the </a:t>
            </a:r>
            <a:r>
              <a:rPr b="0" i="0" strike="noStrike" dirty="0"/>
              <a:t>pre-release </a:t>
            </a:r>
            <a:r>
              <a:rPr b="0" i="0" strike="noStrike" dirty="0"/>
              <a:t>version </a:t>
            </a:r>
            <a:r>
              <a:rPr b="0" i="0" strike="noStrike" dirty="0"/>
              <a:t>and </a:t>
            </a:r>
            <a:r>
              <a:rPr b="0" i="0" strike="noStrike" dirty="0"/>
              <a:t>the </a:t>
            </a:r>
            <a:r>
              <a:rPr b="0" i="0" strike="noStrike" dirty="0"/>
              <a:t>final </a:t>
            </a:r>
            <a:r>
              <a:rPr b="0" i="0" strike="noStrike" dirty="0"/>
              <a:t>version </a:t>
            </a:r>
            <a:r>
              <a:rPr b="0" i="0" strike="noStrike" dirty="0"/>
              <a:t>of </a:t>
            </a:r>
            <a:r>
              <a:rPr b="0" i="0" strike="noStrike" dirty="0"/>
              <a:t>this </a:t>
            </a:r>
            <a:r>
              <a:rPr b="0" i="0" strike="noStrike" dirty="0"/>
              <a:t>technology, </a:t>
            </a:r>
            <a:r>
              <a:rPr b="0" i="0" strike="noStrike" dirty="0"/>
              <a:t>there </a:t>
            </a:r>
            <a:r>
              <a:rPr b="0" i="0" strike="noStrike" dirty="0"/>
              <a:t>are </a:t>
            </a:r>
            <a:r>
              <a:rPr b="0" i="0" strike="noStrike" dirty="0"/>
              <a:t>risks </a:t>
            </a:r>
            <a:r>
              <a:rPr b="0" i="0" strike="noStrike" dirty="0"/>
              <a:t>in </a:t>
            </a:r>
            <a:r>
              <a:rPr b="0" i="0" strike="noStrike" dirty="0"/>
              <a:t>relying </a:t>
            </a:r>
            <a:r>
              <a:rPr b="0" i="0" strike="noStrike" dirty="0"/>
              <a:t>on </a:t>
            </a:r>
            <a:r>
              <a:rPr b="0" i="0" strike="noStrike" dirty="0"/>
              <a:t>this </a:t>
            </a:r>
            <a:r>
              <a:rPr b="0" i="0" strike="noStrike" dirty="0"/>
              <a:t>preliminary </a:t>
            </a:r>
            <a:r>
              <a:rPr b="0" i="0" strike="noStrike" dirty="0"/>
              <a:t>documentation. </a:t>
            </a:r>
            <a:r>
              <a:rPr b="0" i="0" strike="noStrike" dirty="0"/>
              <a:t>To </a:t>
            </a:r>
            <a:r>
              <a:rPr b="0" i="0" strike="noStrike" dirty="0"/>
              <a:t>the </a:t>
            </a:r>
            <a:r>
              <a:rPr b="0" i="0" strike="noStrike" dirty="0"/>
              <a:t>extent </a:t>
            </a:r>
            <a:r>
              <a:rPr b="0" i="0" strike="noStrike" dirty="0"/>
              <a:t>that </a:t>
            </a:r>
            <a:r>
              <a:rPr b="0" i="0" strike="noStrike" dirty="0"/>
              <a:t>you </a:t>
            </a:r>
            <a:r>
              <a:rPr b="0" i="0" strike="noStrike" dirty="0"/>
              <a:t>incur </a:t>
            </a:r>
            <a:r>
              <a:rPr b="0" i="0" strike="noStrike" dirty="0"/>
              <a:t>additional </a:t>
            </a:r>
            <a:r>
              <a:rPr b="0" i="0" strike="noStrike" dirty="0"/>
              <a:t>development </a:t>
            </a:r>
            <a:r>
              <a:rPr b="0" i="0" strike="noStrike" dirty="0"/>
              <a:t>obligations </a:t>
            </a:r>
            <a:r>
              <a:rPr b="0" i="0" strike="noStrike" dirty="0"/>
              <a:t>or </a:t>
            </a:r>
            <a:r>
              <a:rPr b="0" i="0" strike="noStrike" dirty="0"/>
              <a:t>any </a:t>
            </a:r>
            <a:r>
              <a:rPr b="0" i="0" strike="noStrike" dirty="0"/>
              <a:t>other </a:t>
            </a:r>
            <a:r>
              <a:rPr b="0" i="0" strike="noStrike" dirty="0"/>
              <a:t>costs </a:t>
            </a:r>
            <a:r>
              <a:rPr b="0" i="0" strike="noStrike" dirty="0"/>
              <a:t>as </a:t>
            </a:r>
            <a:r>
              <a:rPr b="0" i="0" strike="noStrike" dirty="0"/>
              <a:t>a </a:t>
            </a:r>
            <a:r>
              <a:rPr b="0" i="0" strike="noStrike" dirty="0"/>
              <a:t>result </a:t>
            </a:r>
            <a:r>
              <a:rPr b="0" i="0" strike="noStrike" dirty="0"/>
              <a:t>of </a:t>
            </a:r>
            <a:r>
              <a:rPr b="0" i="0" strike="noStrike" dirty="0"/>
              <a:t>relying </a:t>
            </a:r>
            <a:r>
              <a:rPr b="0" i="0" strike="noStrike" dirty="0"/>
              <a:t>on </a:t>
            </a:r>
            <a:r>
              <a:rPr b="0" i="0" strike="noStrike" dirty="0"/>
              <a:t>this </a:t>
            </a:r>
            <a:r>
              <a:rPr b="0" i="0" strike="noStrike" dirty="0"/>
              <a:t>preliminary </a:t>
            </a:r>
            <a:r>
              <a:rPr b="0" i="0" strike="noStrike" dirty="0"/>
              <a:t>documentation, </a:t>
            </a:r>
            <a:r>
              <a:rPr b="0" i="0" strike="noStrike" dirty="0"/>
              <a:t>you </a:t>
            </a:r>
            <a:r>
              <a:rPr b="0" i="0" strike="noStrike" dirty="0"/>
              <a:t>do </a:t>
            </a:r>
            <a:r>
              <a:rPr b="0" i="0" strike="noStrike" dirty="0"/>
              <a:t>so </a:t>
            </a:r>
            <a:r>
              <a:rPr b="0" i="0" strike="noStrike" dirty="0"/>
              <a:t>at </a:t>
            </a:r>
            <a:r>
              <a:rPr b="0" i="0" strike="noStrike" dirty="0"/>
              <a:t>your </a:t>
            </a:r>
            <a:r>
              <a:rPr b="0" i="0" strike="noStrike" dirty="0"/>
              <a:t>own </a:t>
            </a:r>
            <a:r>
              <a:rPr b="0" i="0" strike="noStrike" dirty="0"/>
              <a:t>risk.</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group of clovers  Description automatically generated"/>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pic>
        <p:nvPicPr>
          <p:cNvPr id="3" name="Picture 3" descr="A blue text on a white background  Description automatically generated"/>
          <p:cNvPicPr>
            <a:picLocks noChangeAspect="1"/>
          </p:cNvPicPr>
          <p:nvPr/>
        </p:nvPicPr>
        <p:blipFill>
          <a:blip r:embed="rId3">
            <a:lum/>
          </a:blip>
          <a:srcRect/>
          <a:stretch>
            <a:fillRect/>
          </a:stretch>
        </p:blipFill>
        <p:spPr>
          <a:xfrm rot="0">
            <a:off x="508000" y="3073400"/>
            <a:ext cx="3810000" cy="2540000"/>
          </a:xfrm>
          <a:prstGeom prst="rect">
            <a:avLst/>
          </a:prstGeom>
          <a:ln>
            <a:headEnd type="none"/>
            <a:tailEnd type="none"/>
          </a:ln>
        </p:spPr>
      </p:pic>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person in a red jacket  Description automatically generated"/>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pic>
        <p:nvPicPr>
          <p:cNvPr id="3" name="Picture 3" descr="A camera on a table  Description automatically generated"/>
          <p:cNvPicPr>
            <a:picLocks noChangeAspect="1"/>
          </p:cNvPicPr>
          <p:nvPr/>
        </p:nvPicPr>
        <p:blipFill>
          <a:blip r:embed="rId3">
            <a:lum/>
          </a:blip>
          <a:srcRect/>
          <a:stretch>
            <a:fillRect/>
          </a:stretch>
        </p:blipFill>
        <p:spPr>
          <a:xfrm rot="0">
            <a:off x="508000" y="3073400"/>
            <a:ext cx="3810000" cy="2540000"/>
          </a:xfrm>
          <a:prstGeom prst="rect">
            <a:avLst/>
          </a:prstGeom>
          <a:ln>
            <a:headEnd type="none"/>
            <a:tailEnd type="none"/>
          </a:ln>
        </p:spPr>
      </p:pic>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grey and white background  Description automatically generated"/>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sp>
        <p:nvSpPr>
          <p:cNvPr id="3" name="TextBox3"/>
          <p:cNvSpPr txBox="1">
            <a:spLocks noChangeArrowheads="1"/>
          </p:cNvSpPr>
          <p:nvPr/>
        </p:nvSpPr>
        <p:spPr>
          <a:xfrm rot="0">
            <a:off x="508000" y="3073400"/>
            <a:ext cx="11176000" cy="320040"/>
          </a:xfrm>
          <a:prstGeom prst="rect">
            <a:avLst/>
          </a:prstGeom>
          <a:ln>
            <a:headEnd type="none"/>
            <a:tailEnd type="none"/>
          </a:ln>
        </p:spPr>
        <p:txBody>
          <a:bodyPr wrap="square">
            <a:spAutoFit/>
          </a:bodyPr>
          <a:lstStyle/>
          <a:p>
            <a:pPr algn="l" defTabSz="914400"/>
            <a:r>
              <a:rPr b="1" i="0" strike="noStrike" dirty="0"/>
              <a:t>Revision </a:t>
            </a:r>
            <a:r>
              <a:rPr b="1" i="0" strike="noStrike" dirty="0"/>
              <a:t>Summary</a:t>
            </a:r>
          </a:p>
        </p:txBody>
      </p:sp>
      <p:graphicFrame>
        <p:nvGraphicFramePr>
          <p:cNvPr id="4" name="Table 4"/>
          <p:cNvGraphicFramePr/>
          <p:nvPr/>
        </p:nvGraphicFramePr>
        <p:xfrm rot="0">
          <a:off x="508000" y="3418840"/>
          <a:ext cx="11176000" cy="2540000"/>
        </p:xfrm>
        <a:graphic>
          <a:graphicData uri="http://schemas.openxmlformats.org/drawingml/2006/table">
            <a:tbl>
              <a:tblPr firstRow="1" bandRow="1">
                <a:tableStyleId>{5C22544A-7EE6-4342-B048-85BDC9FD1C3A}</a:tableStyleId>
              </a:tblPr>
              <a:tblGrid>
                <a:gridCol w="2794000"/>
                <a:gridCol w="2794000"/>
                <a:gridCol w="2794000"/>
                <a:gridCol w="2794000"/>
              </a:tblGrid>
              <a:tr h="508000">
                <a:tc>
                  <a:txBody>
                    <a:bodyPr/>
                    <a:lstStyle/>
                    <a:p>
                      <a:pPr algn="l" defTabSz="914400"/>
                      <a:r>
                        <a:rPr b="1" i="0" strike="noStrike" dirty="0"/>
                        <a:t>Date</a:t>
                      </a:r>
                    </a:p>
                  </a:txBody>
                  <a:tcPr horzOverflow="overflow"/>
                </a:tc>
                <a:tc>
                  <a:txBody>
                    <a:bodyPr/>
                    <a:lstStyle/>
                    <a:p>
                      <a:pPr algn="l" defTabSz="914400"/>
                      <a:r>
                        <a:rPr b="1" i="0" strike="noStrike" dirty="0"/>
                        <a:t>Revision History</a:t>
                      </a:r>
                    </a:p>
                  </a:txBody>
                  <a:tcPr horzOverflow="overflow"/>
                </a:tc>
                <a:tc>
                  <a:txBody>
                    <a:bodyPr/>
                    <a:lstStyle/>
                    <a:p>
                      <a:pPr algn="l" defTabSz="914400"/>
                      <a:r>
                        <a:rPr b="1" i="0" strike="noStrike" dirty="0"/>
                        <a:t>Revision Class</a:t>
                      </a:r>
                    </a:p>
                  </a:txBody>
                  <a:tcPr horzOverflow="overflow"/>
                </a:tc>
                <a:tc>
                  <a:txBody>
                    <a:bodyPr/>
                    <a:lstStyle/>
                    <a:p>
                      <a:pPr algn="l" defTabSz="914400"/>
                      <a:r>
                        <a:rPr b="1" i="0" strike="noStrike" dirty="0"/>
                        <a:t>Comments</a:t>
                      </a:r>
                    </a:p>
                  </a:txBody>
                  <a:tcPr horzOverflow="overflow"/>
                </a:tc>
              </a:tr>
              <a:tr h="508000">
                <a:tc>
                  <a:txBody>
                    <a:bodyPr/>
                    <a:lstStyle/>
                    <a:p>
                      <a:pPr algn="l" defTabSz="914400"/>
                      <a:r>
                        <a:rPr b="0" i="0" strike="noStrike" dirty="0"/>
                        <a:t>1/15/2009</a:t>
                      </a:r>
                    </a:p>
                  </a:txBody>
                  <a:tcPr horzOverflow="overflow"/>
                </a:tc>
                <a:tc>
                  <a:txBody>
                    <a:bodyPr/>
                    <a:lstStyle/>
                    <a:p>
                      <a:pPr algn="l" defTabSz="914400"/>
                      <a:r>
                        <a:rPr b="0" i="0" strike="noStrike" dirty="0"/>
                        <a:t>1.0</a:t>
                      </a:r>
                    </a:p>
                  </a:txBody>
                  <a:tcPr horzOverflow="overflow"/>
                </a:tc>
                <a:tc>
                  <a:txBody>
                    <a:bodyPr/>
                    <a:lstStyle/>
                    <a:p>
                      <a:pPr algn="l" defTabSz="914400"/>
                      <a:r>
                        <a:rPr b="0" i="0" strike="noStrike" dirty="0"/>
                        <a:t>Major</a:t>
                      </a:r>
                    </a:p>
                  </a:txBody>
                  <a:tcPr horzOverflow="overflow"/>
                </a:tc>
                <a:tc>
                  <a:txBody>
                    <a:bodyPr/>
                    <a:lstStyle/>
                    <a:p>
                      <a:pPr algn="l" defTabSz="914400"/>
                      <a:r>
                        <a:rPr b="0" i="0" strike="noStrike" dirty="0"/>
                        <a:t>Initial Availability</a:t>
                      </a:r>
                    </a:p>
                  </a:txBody>
                  <a:tcPr horzOverflow="overflow"/>
                </a:tc>
              </a:tr>
              <a:tr h="762000">
                <a:tc>
                  <a:txBody>
                    <a:bodyPr/>
                    <a:lstStyle/>
                    <a:p>
                      <a:pPr algn="l" defTabSz="914400"/>
                      <a:r>
                        <a:rPr b="0" i="0" strike="noStrike" dirty="0"/>
                        <a:t>7/13/2009</a:t>
                      </a:r>
                    </a:p>
                  </a:txBody>
                  <a:tcPr horzOverflow="overflow"/>
                </a:tc>
                <a:tc>
                  <a:txBody>
                    <a:bodyPr/>
                    <a:lstStyle/>
                    <a:p>
                      <a:pPr algn="l" defTabSz="914400"/>
                      <a:r>
                        <a:rPr b="0" i="0" strike="noStrike" dirty="0"/>
                        <a:t>1.01</a:t>
                      </a:r>
                    </a:p>
                  </a:txBody>
                  <a:tcPr horzOverflow="overflow"/>
                </a:tc>
                <a:tc>
                  <a:txBody>
                    <a:bodyPr/>
                    <a:lstStyle/>
                    <a:p>
                      <a:pPr algn="l" defTabSz="914400"/>
                      <a:r>
                        <a:rPr b="0" i="0" strike="noStrike" dirty="0"/>
                        <a:t>Major</a:t>
                      </a:r>
                    </a:p>
                  </a:txBody>
                  <a:tcPr horzOverflow="overflow"/>
                </a:tc>
                <a:tc>
                  <a:txBody>
                    <a:bodyPr/>
                    <a:lstStyle/>
                    <a:p>
                      <a:pPr algn="l" defTabSz="914400"/>
                      <a:r>
                        <a:rPr b="0" i="0" strike="noStrike" dirty="0"/>
                        <a:t>Revised and edited the technical content</a:t>
                      </a:r>
                    </a:p>
                  </a:txBody>
                  <a:tcPr horzOverflow="overflow"/>
                </a:tc>
              </a:tr>
              <a:tr h="762000">
                <a:tc>
                  <a:txBody>
                    <a:bodyPr/>
                    <a:lstStyle/>
                    <a:p>
                      <a:pPr algn="l" defTabSz="914400"/>
                      <a:r>
                        <a:rPr b="0" i="0" strike="noStrike" dirty="0"/>
                        <a:t>8/28/2009</a:t>
                      </a:r>
                    </a:p>
                  </a:txBody>
                  <a:tcPr horzOverflow="overflow"/>
                </a:tc>
                <a:tc>
                  <a:txBody>
                    <a:bodyPr/>
                    <a:lstStyle/>
                    <a:p>
                      <a:pPr algn="l" defTabSz="914400"/>
                      <a:r>
                        <a:rPr b="0" i="0" strike="noStrike" dirty="0"/>
                        <a:t>1.02</a:t>
                      </a:r>
                    </a:p>
                  </a:txBody>
                  <a:tcPr horzOverflow="overflow"/>
                </a:tc>
                <a:tc>
                  <a:txBody>
                    <a:bodyPr/>
                    <a:lstStyle/>
                    <a:p>
                      <a:pPr algn="l" defTabSz="914400"/>
                      <a:r>
                        <a:rPr b="0" i="0" strike="noStrike" dirty="0"/>
                        <a:t>Editorial</a:t>
                      </a:r>
                    </a:p>
                  </a:txBody>
                  <a:tcPr horzOverflow="overflow"/>
                </a:tc>
                <a:tc>
                  <a:txBody>
                    <a:bodyPr/>
                    <a:lstStyle/>
                    <a:p>
                      <a:pPr algn="l" defTabSz="914400"/>
                      <a:r>
                        <a:rPr b="0" i="0" strike="noStrike" dirty="0"/>
                        <a:t>Revised and edited the technical content</a:t>
                      </a:r>
                    </a:p>
                  </a:txBody>
                  <a:tcPr horzOverflow="overflow"/>
                </a:tc>
              </a:tr>
            </a:tbl>
          </a:graphicData>
        </a:graphic>
      </p:graphicFrame>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334000"/>
        </p:xfrm>
        <a:graphic>
          <a:graphicData uri="http://schemas.openxmlformats.org/drawingml/2006/table">
            <a:tbl>
              <a:tblPr firstRow="1" bandRow="1">
                <a:tableStyleId>{5C22544A-7EE6-4342-B048-85BDC9FD1C3A}</a:tableStyleId>
              </a:tblPr>
              <a:tblGrid>
                <a:gridCol w="2794000"/>
                <a:gridCol w="2794000"/>
                <a:gridCol w="2794000"/>
                <a:gridCol w="2794000"/>
              </a:tblGrid>
              <a:tr h="508000">
                <a:tc>
                  <a:txBody>
                    <a:bodyPr/>
                    <a:lstStyle/>
                    <a:p>
                      <a:pPr algn="l" defTabSz="914400"/>
                      <a:r>
                        <a:rPr b="1" i="0" strike="noStrike" dirty="0"/>
                        <a:t>Date</a:t>
                      </a:r>
                    </a:p>
                  </a:txBody>
                  <a:tcPr horzOverflow="overflow"/>
                </a:tc>
                <a:tc>
                  <a:txBody>
                    <a:bodyPr/>
                    <a:lstStyle/>
                    <a:p>
                      <a:pPr algn="l" defTabSz="914400"/>
                      <a:r>
                        <a:rPr b="1" i="0" strike="noStrike" dirty="0"/>
                        <a:t>Revision History</a:t>
                      </a:r>
                    </a:p>
                  </a:txBody>
                  <a:tcPr horzOverflow="overflow"/>
                </a:tc>
                <a:tc>
                  <a:txBody>
                    <a:bodyPr/>
                    <a:lstStyle/>
                    <a:p>
                      <a:pPr algn="l" defTabSz="914400"/>
                      <a:r>
                        <a:rPr b="1" i="0" strike="noStrike" dirty="0"/>
                        <a:t>Revision Class</a:t>
                      </a:r>
                    </a:p>
                  </a:txBody>
                  <a:tcPr horzOverflow="overflow"/>
                </a:tc>
                <a:tc>
                  <a:txBody>
                    <a:bodyPr/>
                    <a:lstStyle/>
                    <a:p>
                      <a:pPr algn="l" defTabSz="914400"/>
                      <a:r>
                        <a:rPr b="1" i="0" strike="noStrike" dirty="0"/>
                        <a:t>Comments</a:t>
                      </a:r>
                    </a:p>
                  </a:txBody>
                  <a:tcPr horzOverflow="overflow"/>
                </a:tc>
              </a:tr>
              <a:tr h="762000">
                <a:tc>
                  <a:txBody>
                    <a:bodyPr/>
                    <a:lstStyle/>
                    <a:p>
                      <a:pPr algn="l" defTabSz="914400"/>
                      <a:r>
                        <a:rPr b="0" i="0" strike="noStrike" dirty="0"/>
                        <a:t>11/6/2009</a:t>
                      </a:r>
                    </a:p>
                  </a:txBody>
                  <a:tcPr horzOverflow="overflow"/>
                </a:tc>
                <a:tc>
                  <a:txBody>
                    <a:bodyPr/>
                    <a:lstStyle/>
                    <a:p>
                      <a:pPr algn="l" defTabSz="914400"/>
                      <a:r>
                        <a:rPr b="0" i="0" strike="noStrike" dirty="0"/>
                        <a:t>1.03</a:t>
                      </a:r>
                    </a:p>
                  </a:txBody>
                  <a:tcPr horzOverflow="overflow"/>
                </a:tc>
                <a:tc>
                  <a:txBody>
                    <a:bodyPr/>
                    <a:lstStyle/>
                    <a:p>
                      <a:pPr algn="l" defTabSz="914400"/>
                      <a:r>
                        <a:rPr b="0" i="0" strike="noStrike" dirty="0"/>
                        <a:t>Editorial</a:t>
                      </a:r>
                    </a:p>
                  </a:txBody>
                  <a:tcPr horzOverflow="overflow"/>
                </a:tc>
                <a:tc>
                  <a:txBody>
                    <a:bodyPr/>
                    <a:lstStyle/>
                    <a:p>
                      <a:pPr algn="l" defTabSz="914400"/>
                      <a:r>
                        <a:rPr b="0" i="0" strike="noStrike" dirty="0"/>
                        <a:t>Revised and edited the technical content</a:t>
                      </a:r>
                    </a:p>
                  </a:txBody>
                  <a:tcPr horzOverflow="overflow"/>
                </a:tc>
              </a:tr>
              <a:tr h="762000">
                <a:tc>
                  <a:txBody>
                    <a:bodyPr/>
                    <a:lstStyle/>
                    <a:p>
                      <a:pPr algn="l" defTabSz="914400"/>
                      <a:r>
                        <a:rPr b="0" i="0" strike="noStrike" dirty="0"/>
                        <a:t>2/19/2010</a:t>
                      </a:r>
                    </a:p>
                  </a:txBody>
                  <a:tcPr horzOverflow="overflow"/>
                </a:tc>
                <a:tc>
                  <a:txBody>
                    <a:bodyPr/>
                    <a:lstStyle/>
                    <a:p>
                      <a:pPr algn="l" defTabSz="914400"/>
                      <a:r>
                        <a:rPr b="0" i="0" strike="noStrike" dirty="0"/>
                        <a:t>2.0</a:t>
                      </a:r>
                    </a:p>
                  </a:txBody>
                  <a:tcPr horzOverflow="overflow"/>
                </a:tc>
                <a:tc>
                  <a:txBody>
                    <a:bodyPr/>
                    <a:lstStyle/>
                    <a:p>
                      <a:pPr algn="l" defTabSz="914400"/>
                      <a:r>
                        <a:rPr b="0" i="0" strike="noStrike" dirty="0"/>
                        <a:t>Editorial</a:t>
                      </a:r>
                    </a:p>
                  </a:txBody>
                  <a:tcPr horzOverflow="overflow"/>
                </a:tc>
                <a:tc>
                  <a:txBody>
                    <a:bodyPr/>
                    <a:lstStyle/>
                    <a:p>
                      <a:pPr algn="l" defTabSz="914400"/>
                      <a:r>
                        <a:rPr b="0" i="0" strike="noStrike" dirty="0"/>
                        <a:t>Revised and edited the technical content</a:t>
                      </a:r>
                    </a:p>
                  </a:txBody>
                  <a:tcPr horzOverflow="overflow"/>
                </a:tc>
              </a:tr>
              <a:tr h="762000">
                <a:tc>
                  <a:txBody>
                    <a:bodyPr/>
                    <a:lstStyle/>
                    <a:p>
                      <a:pPr algn="l" defTabSz="914400"/>
                      <a:r>
                        <a:rPr b="0" i="0" strike="noStrike" dirty="0"/>
                        <a:t>3/31/2010</a:t>
                      </a:r>
                    </a:p>
                  </a:txBody>
                  <a:tcPr horzOverflow="overflow"/>
                </a:tc>
                <a:tc>
                  <a:txBody>
                    <a:bodyPr/>
                    <a:lstStyle/>
                    <a:p>
                      <a:pPr algn="l" defTabSz="914400"/>
                      <a:r>
                        <a:rPr b="0" i="0" strike="noStrike" dirty="0"/>
                        <a:t>2.01</a:t>
                      </a:r>
                    </a:p>
                  </a:txBody>
                  <a:tcPr horzOverflow="overflow"/>
                </a:tc>
                <a:tc>
                  <a:txBody>
                    <a:bodyPr/>
                    <a:lstStyle/>
                    <a:p>
                      <a:pPr algn="l" defTabSz="914400"/>
                      <a:r>
                        <a:rPr b="0" i="0" strike="noStrike" dirty="0"/>
                        <a:t>Editorial</a:t>
                      </a:r>
                    </a:p>
                  </a:txBody>
                  <a:tcPr horzOverflow="overflow"/>
                </a:tc>
                <a:tc>
                  <a:txBody>
                    <a:bodyPr/>
                    <a:lstStyle/>
                    <a:p>
                      <a:pPr algn="l" defTabSz="914400"/>
                      <a:r>
                        <a:rPr b="0" i="0" strike="noStrike" dirty="0"/>
                        <a:t>Revised and edited the technical content</a:t>
                      </a:r>
                    </a:p>
                  </a:txBody>
                  <a:tcPr horzOverflow="overflow"/>
                </a:tc>
              </a:tr>
              <a:tr h="762000">
                <a:tc>
                  <a:txBody>
                    <a:bodyPr/>
                    <a:lstStyle/>
                    <a:p>
                      <a:pPr algn="l" defTabSz="914400"/>
                      <a:r>
                        <a:rPr b="0" i="0" strike="noStrike" dirty="0"/>
                        <a:t>4/30/2010</a:t>
                      </a:r>
                    </a:p>
                  </a:txBody>
                  <a:tcPr horzOverflow="overflow"/>
                </a:tc>
                <a:tc>
                  <a:txBody>
                    <a:bodyPr/>
                    <a:lstStyle/>
                    <a:p>
                      <a:pPr algn="l" defTabSz="914400"/>
                      <a:r>
                        <a:rPr b="0" i="0" strike="noStrike" dirty="0"/>
                        <a:t>2.02</a:t>
                      </a:r>
                    </a:p>
                  </a:txBody>
                  <a:tcPr horzOverflow="overflow"/>
                </a:tc>
                <a:tc>
                  <a:txBody>
                    <a:bodyPr/>
                    <a:lstStyle/>
                    <a:p>
                      <a:pPr algn="l" defTabSz="914400"/>
                      <a:r>
                        <a:rPr b="0" i="0" strike="noStrike" dirty="0"/>
                        <a:t>Editorial</a:t>
                      </a:r>
                    </a:p>
                  </a:txBody>
                  <a:tcPr horzOverflow="overflow"/>
                </a:tc>
                <a:tc>
                  <a:txBody>
                    <a:bodyPr/>
                    <a:lstStyle/>
                    <a:p>
                      <a:pPr algn="l" defTabSz="914400"/>
                      <a:r>
                        <a:rPr b="0" i="0" strike="noStrike" dirty="0"/>
                        <a:t>Revised and edited the technical content</a:t>
                      </a:r>
                    </a:p>
                  </a:txBody>
                  <a:tcPr horzOverflow="overflow"/>
                </a:tc>
              </a:tr>
              <a:tr h="762000">
                <a:tc>
                  <a:txBody>
                    <a:bodyPr/>
                    <a:lstStyle/>
                    <a:p>
                      <a:pPr algn="l" defTabSz="914400"/>
                      <a:r>
                        <a:rPr b="0" i="0" strike="noStrike" dirty="0"/>
                        <a:t>6/7/2010</a:t>
                      </a:r>
                    </a:p>
                  </a:txBody>
                  <a:tcPr horzOverflow="overflow"/>
                </a:tc>
                <a:tc>
                  <a:txBody>
                    <a:bodyPr/>
                    <a:lstStyle/>
                    <a:p>
                      <a:pPr algn="l" defTabSz="914400"/>
                      <a:r>
                        <a:rPr b="0" i="0" strike="noStrike" dirty="0"/>
                        <a:t>2.03</a:t>
                      </a:r>
                    </a:p>
                  </a:txBody>
                  <a:tcPr horzOverflow="overflow"/>
                </a:tc>
                <a:tc>
                  <a:txBody>
                    <a:bodyPr/>
                    <a:lstStyle/>
                    <a:p>
                      <a:pPr algn="l" defTabSz="914400"/>
                      <a:r>
                        <a:rPr b="0" i="0" strike="noStrike" dirty="0"/>
                        <a:t>Editorial</a:t>
                      </a:r>
                    </a:p>
                  </a:txBody>
                  <a:tcPr horzOverflow="overflow"/>
                </a:tc>
                <a:tc>
                  <a:txBody>
                    <a:bodyPr/>
                    <a:lstStyle/>
                    <a:p>
                      <a:pPr algn="l" defTabSz="914400"/>
                      <a:r>
                        <a:rPr b="0" i="0" strike="noStrike" dirty="0"/>
                        <a:t>Revised and edited the technical content</a:t>
                      </a:r>
                    </a:p>
                  </a:txBody>
                  <a:tcPr horzOverflow="overflow"/>
                </a:tc>
              </a:tr>
              <a:tr h="1016000">
                <a:tc>
                  <a:txBody>
                    <a:bodyPr/>
                    <a:lstStyle/>
                    <a:p>
                      <a:pPr algn="l" defTabSz="914400"/>
                      <a:r>
                        <a:rPr b="0" i="0" strike="noStrike" dirty="0"/>
                        <a:t>6/29/2010</a:t>
                      </a:r>
                    </a:p>
                  </a:txBody>
                  <a:tcPr horzOverflow="overflow"/>
                </a:tc>
                <a:tc>
                  <a:txBody>
                    <a:bodyPr/>
                    <a:lstStyle/>
                    <a:p>
                      <a:pPr algn="l" defTabSz="914400"/>
                      <a:r>
                        <a:rPr b="0" i="0" strike="noStrike" dirty="0"/>
                        <a:t>2.04</a:t>
                      </a:r>
                    </a:p>
                  </a:txBody>
                  <a:tcPr horzOverflow="overflow"/>
                </a:tc>
                <a:tc>
                  <a:txBody>
                    <a:bodyPr/>
                    <a:lstStyle/>
                    <a:p>
                      <a:pPr algn="l" defTabSz="914400"/>
                      <a:r>
                        <a:rPr b="0" i="0" strike="noStrike" dirty="0"/>
                        <a:t>Editorial</a:t>
                      </a:r>
                    </a:p>
                  </a:txBody>
                  <a:tcPr horzOverflow="overflow"/>
                </a:tc>
                <a:tc>
                  <a:txBody>
                    <a:bodyPr/>
                    <a:lstStyle/>
                    <a:p>
                      <a:pPr algn="l" defTabSz="914400"/>
                      <a:r>
                        <a:rPr b="0" i="0" strike="noStrike" dirty="0"/>
                        <a:t>Changed language and formatting in the technical content.</a:t>
                      </a:r>
                    </a:p>
                  </a:txBody>
                  <a:tcPr horzOverflow="overflow"/>
                </a:tc>
              </a:tr>
            </a:tbl>
          </a:graphicData>
        </a:graphic>
      </p:graphicFrame>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2794000"/>
                <a:gridCol w="2794000"/>
                <a:gridCol w="2794000"/>
                <a:gridCol w="2794000"/>
              </a:tblGrid>
              <a:tr h="508000">
                <a:tc>
                  <a:txBody>
                    <a:bodyPr/>
                    <a:lstStyle/>
                    <a:p>
                      <a:pPr algn="l" defTabSz="914400"/>
                      <a:r>
                        <a:rPr b="1" i="0" strike="noStrike" dirty="0"/>
                        <a:t>Date</a:t>
                      </a:r>
                    </a:p>
                  </a:txBody>
                  <a:tcPr horzOverflow="overflow"/>
                </a:tc>
                <a:tc>
                  <a:txBody>
                    <a:bodyPr/>
                    <a:lstStyle/>
                    <a:p>
                      <a:pPr algn="l" defTabSz="914400"/>
                      <a:r>
                        <a:rPr b="1" i="0" strike="noStrike" dirty="0"/>
                        <a:t>Revision History</a:t>
                      </a:r>
                    </a:p>
                  </a:txBody>
                  <a:tcPr horzOverflow="overflow"/>
                </a:tc>
                <a:tc>
                  <a:txBody>
                    <a:bodyPr/>
                    <a:lstStyle/>
                    <a:p>
                      <a:pPr algn="l" defTabSz="914400"/>
                      <a:r>
                        <a:rPr b="1" i="0" strike="noStrike" dirty="0"/>
                        <a:t>Revision Class</a:t>
                      </a:r>
                    </a:p>
                  </a:txBody>
                  <a:tcPr horzOverflow="overflow"/>
                </a:tc>
                <a:tc>
                  <a:txBody>
                    <a:bodyPr/>
                    <a:lstStyle/>
                    <a:p>
                      <a:pPr algn="l" defTabSz="914400"/>
                      <a:r>
                        <a:rPr b="1" i="0" strike="noStrike" dirty="0"/>
                        <a:t>Comments</a:t>
                      </a:r>
                    </a:p>
                  </a:txBody>
                  <a:tcPr horzOverflow="overflow"/>
                </a:tc>
              </a:tr>
              <a:tr h="1270000">
                <a:tc>
                  <a:txBody>
                    <a:bodyPr/>
                    <a:lstStyle/>
                    <a:p>
                      <a:pPr algn="l" defTabSz="914400"/>
                      <a:r>
                        <a:rPr b="0" i="0" strike="noStrike" dirty="0"/>
                        <a:t>7/23/2010</a:t>
                      </a:r>
                    </a:p>
                  </a:txBody>
                  <a:tcPr horzOverflow="overflow"/>
                </a:tc>
                <a:tc>
                  <a:txBody>
                    <a:bodyPr/>
                    <a:lstStyle/>
                    <a:p>
                      <a:pPr algn="l" defTabSz="914400"/>
                      <a:r>
                        <a:rPr b="0" i="0" strike="noStrike" dirty="0"/>
                        <a:t>2.04</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9/27/2010</a:t>
                      </a:r>
                    </a:p>
                  </a:txBody>
                  <a:tcPr horzOverflow="overflow"/>
                </a:tc>
                <a:tc>
                  <a:txBody>
                    <a:bodyPr/>
                    <a:lstStyle/>
                    <a:p>
                      <a:pPr algn="l" defTabSz="914400"/>
                      <a:r>
                        <a:rPr b="0" i="0" strike="noStrike" dirty="0"/>
                        <a:t>2.04</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11/15/2010</a:t>
                      </a:r>
                    </a:p>
                  </a:txBody>
                  <a:tcPr horzOverflow="overflow"/>
                </a:tc>
                <a:tc>
                  <a:txBody>
                    <a:bodyPr/>
                    <a:lstStyle/>
                    <a:p>
                      <a:pPr algn="l" defTabSz="914400"/>
                      <a:r>
                        <a:rPr b="0" i="0" strike="noStrike" dirty="0"/>
                        <a:t>2.04</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12/17/2010</a:t>
                      </a:r>
                    </a:p>
                  </a:txBody>
                  <a:tcPr horzOverflow="overflow"/>
                </a:tc>
                <a:tc>
                  <a:txBody>
                    <a:bodyPr/>
                    <a:lstStyle/>
                    <a:p>
                      <a:pPr algn="l" defTabSz="914400"/>
                      <a:r>
                        <a:rPr b="0" i="0" strike="noStrike" dirty="0"/>
                        <a:t>2.04</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bl>
          </a:graphicData>
        </a:graphic>
      </p:graphicFrame>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080000"/>
        </p:xfrm>
        <a:graphic>
          <a:graphicData uri="http://schemas.openxmlformats.org/drawingml/2006/table">
            <a:tbl>
              <a:tblPr firstRow="1" bandRow="1">
                <a:tableStyleId>{5C22544A-7EE6-4342-B048-85BDC9FD1C3A}</a:tableStyleId>
              </a:tblPr>
              <a:tblGrid>
                <a:gridCol w="2794000"/>
                <a:gridCol w="2794000"/>
                <a:gridCol w="2794000"/>
                <a:gridCol w="2794000"/>
              </a:tblGrid>
              <a:tr h="508000">
                <a:tc>
                  <a:txBody>
                    <a:bodyPr/>
                    <a:lstStyle/>
                    <a:p>
                      <a:pPr algn="l" defTabSz="914400"/>
                      <a:r>
                        <a:rPr b="1" i="0" strike="noStrike" dirty="0"/>
                        <a:t>Date</a:t>
                      </a:r>
                    </a:p>
                  </a:txBody>
                  <a:tcPr horzOverflow="overflow"/>
                </a:tc>
                <a:tc>
                  <a:txBody>
                    <a:bodyPr/>
                    <a:lstStyle/>
                    <a:p>
                      <a:pPr algn="l" defTabSz="914400"/>
                      <a:r>
                        <a:rPr b="1" i="0" strike="noStrike" dirty="0"/>
                        <a:t>Revision History</a:t>
                      </a:r>
                    </a:p>
                  </a:txBody>
                  <a:tcPr horzOverflow="overflow"/>
                </a:tc>
                <a:tc>
                  <a:txBody>
                    <a:bodyPr/>
                    <a:lstStyle/>
                    <a:p>
                      <a:pPr algn="l" defTabSz="914400"/>
                      <a:r>
                        <a:rPr b="1" i="0" strike="noStrike" dirty="0"/>
                        <a:t>Revision Class</a:t>
                      </a:r>
                    </a:p>
                  </a:txBody>
                  <a:tcPr horzOverflow="overflow"/>
                </a:tc>
                <a:tc>
                  <a:txBody>
                    <a:bodyPr/>
                    <a:lstStyle/>
                    <a:p>
                      <a:pPr algn="l" defTabSz="914400"/>
                      <a:r>
                        <a:rPr b="1" i="0" strike="noStrike" dirty="0"/>
                        <a:t>Comments</a:t>
                      </a:r>
                    </a:p>
                  </a:txBody>
                  <a:tcPr horzOverflow="overflow"/>
                </a:tc>
              </a:tr>
              <a:tr h="1270000">
                <a:tc>
                  <a:txBody>
                    <a:bodyPr/>
                    <a:lstStyle/>
                    <a:p>
                      <a:pPr algn="l" defTabSz="914400"/>
                      <a:r>
                        <a:rPr b="0" i="0" strike="noStrike" dirty="0"/>
                        <a:t>3/18/2011</a:t>
                      </a:r>
                    </a:p>
                  </a:txBody>
                  <a:tcPr horzOverflow="overflow"/>
                </a:tc>
                <a:tc>
                  <a:txBody>
                    <a:bodyPr/>
                    <a:lstStyle/>
                    <a:p>
                      <a:pPr algn="l" defTabSz="914400"/>
                      <a:r>
                        <a:rPr b="0" i="0" strike="noStrike" dirty="0"/>
                        <a:t>2.04</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6/10/2011</a:t>
                      </a:r>
                    </a:p>
                  </a:txBody>
                  <a:tcPr horzOverflow="overflow"/>
                </a:tc>
                <a:tc>
                  <a:txBody>
                    <a:bodyPr/>
                    <a:lstStyle/>
                    <a:p>
                      <a:pPr algn="l" defTabSz="914400"/>
                      <a:r>
                        <a:rPr b="0" i="0" strike="noStrike" dirty="0"/>
                        <a:t>2.04</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762000">
                <a:tc>
                  <a:txBody>
                    <a:bodyPr/>
                    <a:lstStyle/>
                    <a:p>
                      <a:pPr algn="l" defTabSz="914400"/>
                      <a:r>
                        <a:rPr b="0" i="0" strike="noStrike" dirty="0"/>
                        <a:t>1/20/2012</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Minor</a:t>
                      </a:r>
                    </a:p>
                  </a:txBody>
                  <a:tcPr horzOverflow="overflow"/>
                </a:tc>
                <a:tc>
                  <a:txBody>
                    <a:bodyPr/>
                    <a:lstStyle/>
                    <a:p>
                      <a:pPr algn="l" defTabSz="914400"/>
                      <a:r>
                        <a:rPr b="0" i="0" strike="noStrike" dirty="0"/>
                        <a:t>Clarified the meaning of the technical content.</a:t>
                      </a:r>
                    </a:p>
                  </a:txBody>
                  <a:tcPr horzOverflow="overflow"/>
                </a:tc>
              </a:tr>
              <a:tr h="1270000">
                <a:tc>
                  <a:txBody>
                    <a:bodyPr/>
                    <a:lstStyle/>
                    <a:p>
                      <a:pPr algn="l" defTabSz="914400"/>
                      <a:r>
                        <a:rPr b="0" i="0" strike="noStrike" dirty="0"/>
                        <a:t>4/11/2012</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bl>
          </a:graphicData>
        </a:graphic>
      </p:graphicFrame>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2794000"/>
                <a:gridCol w="2794000"/>
                <a:gridCol w="2794000"/>
                <a:gridCol w="2794000"/>
              </a:tblGrid>
              <a:tr h="508000">
                <a:tc>
                  <a:txBody>
                    <a:bodyPr/>
                    <a:lstStyle/>
                    <a:p>
                      <a:pPr algn="l" defTabSz="914400"/>
                      <a:r>
                        <a:rPr b="1" i="0" strike="noStrike" dirty="0"/>
                        <a:t>Date</a:t>
                      </a:r>
                    </a:p>
                  </a:txBody>
                  <a:tcPr horzOverflow="overflow"/>
                </a:tc>
                <a:tc>
                  <a:txBody>
                    <a:bodyPr/>
                    <a:lstStyle/>
                    <a:p>
                      <a:pPr algn="l" defTabSz="914400"/>
                      <a:r>
                        <a:rPr b="1" i="0" strike="noStrike" dirty="0"/>
                        <a:t>Revision History</a:t>
                      </a:r>
                    </a:p>
                  </a:txBody>
                  <a:tcPr horzOverflow="overflow"/>
                </a:tc>
                <a:tc>
                  <a:txBody>
                    <a:bodyPr/>
                    <a:lstStyle/>
                    <a:p>
                      <a:pPr algn="l" defTabSz="914400"/>
                      <a:r>
                        <a:rPr b="1" i="0" strike="noStrike" dirty="0"/>
                        <a:t>Revision Class</a:t>
                      </a:r>
                    </a:p>
                  </a:txBody>
                  <a:tcPr horzOverflow="overflow"/>
                </a:tc>
                <a:tc>
                  <a:txBody>
                    <a:bodyPr/>
                    <a:lstStyle/>
                    <a:p>
                      <a:pPr algn="l" defTabSz="914400"/>
                      <a:r>
                        <a:rPr b="1" i="0" strike="noStrike" dirty="0"/>
                        <a:t>Comments</a:t>
                      </a:r>
                    </a:p>
                  </a:txBody>
                  <a:tcPr horzOverflow="overflow"/>
                </a:tc>
              </a:tr>
              <a:tr h="1270000">
                <a:tc>
                  <a:txBody>
                    <a:bodyPr/>
                    <a:lstStyle/>
                    <a:p>
                      <a:pPr algn="l" defTabSz="914400"/>
                      <a:r>
                        <a:rPr b="0" i="0" strike="noStrike" dirty="0"/>
                        <a:t>7/16/2012</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10/8/2012</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2/11/2013</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7/30/2013</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bl>
          </a:graphicData>
        </a:graphic>
      </p:graphicFrame>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842000"/>
        </p:xfrm>
        <a:graphic>
          <a:graphicData uri="http://schemas.openxmlformats.org/drawingml/2006/table">
            <a:tbl>
              <a:tblPr firstRow="1" bandRow="1">
                <a:tableStyleId>{5C22544A-7EE6-4342-B048-85BDC9FD1C3A}</a:tableStyleId>
              </a:tblPr>
              <a:tblGrid>
                <a:gridCol w="2794000"/>
                <a:gridCol w="2794000"/>
                <a:gridCol w="2794000"/>
                <a:gridCol w="2794000"/>
              </a:tblGrid>
              <a:tr h="508000">
                <a:tc>
                  <a:txBody>
                    <a:bodyPr/>
                    <a:lstStyle/>
                    <a:p>
                      <a:pPr algn="l" defTabSz="914400"/>
                      <a:r>
                        <a:rPr b="1" i="0" strike="noStrike" dirty="0"/>
                        <a:t>Date</a:t>
                      </a:r>
                    </a:p>
                  </a:txBody>
                  <a:tcPr horzOverflow="overflow"/>
                </a:tc>
                <a:tc>
                  <a:txBody>
                    <a:bodyPr/>
                    <a:lstStyle/>
                    <a:p>
                      <a:pPr algn="l" defTabSz="914400"/>
                      <a:r>
                        <a:rPr b="1" i="0" strike="noStrike" dirty="0"/>
                        <a:t>Revision History</a:t>
                      </a:r>
                    </a:p>
                  </a:txBody>
                  <a:tcPr horzOverflow="overflow"/>
                </a:tc>
                <a:tc>
                  <a:txBody>
                    <a:bodyPr/>
                    <a:lstStyle/>
                    <a:p>
                      <a:pPr algn="l" defTabSz="914400"/>
                      <a:r>
                        <a:rPr b="1" i="0" strike="noStrike" dirty="0"/>
                        <a:t>Revision Class</a:t>
                      </a:r>
                    </a:p>
                  </a:txBody>
                  <a:tcPr horzOverflow="overflow"/>
                </a:tc>
                <a:tc>
                  <a:txBody>
                    <a:bodyPr/>
                    <a:lstStyle/>
                    <a:p>
                      <a:pPr algn="l" defTabSz="914400"/>
                      <a:r>
                        <a:rPr b="1" i="0" strike="noStrike" dirty="0"/>
                        <a:t>Comments</a:t>
                      </a:r>
                    </a:p>
                  </a:txBody>
                  <a:tcPr horzOverflow="overflow"/>
                </a:tc>
              </a:tr>
              <a:tr h="1270000">
                <a:tc>
                  <a:txBody>
                    <a:bodyPr/>
                    <a:lstStyle/>
                    <a:p>
                      <a:pPr algn="l" defTabSz="914400"/>
                      <a:r>
                        <a:rPr b="0" i="0" strike="noStrike" dirty="0"/>
                        <a:t>11/18/2013</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2/10/2014</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4/30/2014</a:t>
                      </a:r>
                    </a:p>
                  </a:txBody>
                  <a:tcPr horzOverflow="overflow"/>
                </a:tc>
                <a:tc>
                  <a:txBody>
                    <a:bodyPr/>
                    <a:lstStyle/>
                    <a:p>
                      <a:pPr algn="l" defTabSz="914400"/>
                      <a:r>
                        <a:rPr b="0" i="0" strike="noStrike" dirty="0"/>
                        <a:t>2.5</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762000">
                <a:tc>
                  <a:txBody>
                    <a:bodyPr/>
                    <a:lstStyle/>
                    <a:p>
                      <a:pPr algn="l" defTabSz="914400"/>
                      <a:r>
                        <a:rPr b="0" i="0" strike="noStrike" dirty="0"/>
                        <a:t>7/31/2014</a:t>
                      </a:r>
                    </a:p>
                  </a:txBody>
                  <a:tcPr horzOverflow="overflow"/>
                </a:tc>
                <a:tc>
                  <a:txBody>
                    <a:bodyPr/>
                    <a:lstStyle/>
                    <a:p>
                      <a:pPr algn="l" defTabSz="914400"/>
                      <a:r>
                        <a:rPr b="0" i="0" strike="noStrike" dirty="0"/>
                        <a:t>2.6</a:t>
                      </a:r>
                    </a:p>
                  </a:txBody>
                  <a:tcPr horzOverflow="overflow"/>
                </a:tc>
                <a:tc>
                  <a:txBody>
                    <a:bodyPr/>
                    <a:lstStyle/>
                    <a:p>
                      <a:pPr algn="l" defTabSz="914400"/>
                      <a:r>
                        <a:rPr b="0" i="0" strike="noStrike" dirty="0"/>
                        <a:t>Minor</a:t>
                      </a:r>
                    </a:p>
                  </a:txBody>
                  <a:tcPr horzOverflow="overflow"/>
                </a:tc>
                <a:tc>
                  <a:txBody>
                    <a:bodyPr/>
                    <a:lstStyle/>
                    <a:p>
                      <a:pPr algn="l" defTabSz="914400"/>
                      <a:r>
                        <a:rPr b="0" i="0" strike="noStrike" dirty="0"/>
                        <a:t>Clarified the meaning of the technical content.</a:t>
                      </a:r>
                    </a:p>
                  </a:txBody>
                  <a:tcPr horzOverflow="overflow"/>
                </a:tc>
              </a:tr>
              <a:tr h="762000">
                <a:tc>
                  <a:txBody>
                    <a:bodyPr/>
                    <a:lstStyle/>
                    <a:p>
                      <a:pPr algn="l" defTabSz="914400"/>
                      <a:r>
                        <a:rPr b="0" i="0" strike="noStrike" dirty="0"/>
                        <a:t>10/30/2014</a:t>
                      </a:r>
                    </a:p>
                  </a:txBody>
                  <a:tcPr horzOverflow="overflow"/>
                </a:tc>
                <a:tc>
                  <a:txBody>
                    <a:bodyPr/>
                    <a:lstStyle/>
                    <a:p>
                      <a:pPr algn="l" defTabSz="914400"/>
                      <a:r>
                        <a:rPr b="0" i="0" strike="noStrike" dirty="0"/>
                        <a:t>3.0</a:t>
                      </a:r>
                    </a:p>
                  </a:txBody>
                  <a:tcPr horzOverflow="overflow"/>
                </a:tc>
                <a:tc>
                  <a:txBody>
                    <a:bodyPr/>
                    <a:lstStyle/>
                    <a:p>
                      <a:pPr algn="l" defTabSz="914400"/>
                      <a:r>
                        <a:rPr b="0" i="0" strike="noStrike" dirty="0"/>
                        <a:t>Major</a:t>
                      </a:r>
                    </a:p>
                  </a:txBody>
                  <a:tcPr horzOverflow="overflow"/>
                </a:tc>
                <a:tc>
                  <a:txBody>
                    <a:bodyPr/>
                    <a:lstStyle/>
                    <a:p>
                      <a:pPr algn="l" defTabSz="914400"/>
                      <a:r>
                        <a:rPr b="0" i="0" strike="noStrike" dirty="0"/>
                        <a:t>Significantly changed the technical content.</a:t>
                      </a:r>
                    </a:p>
                  </a:txBody>
                  <a:tcPr horzOverflow="overflow"/>
                </a:tc>
              </a:tr>
            </a:tbl>
          </a:graphicData>
        </a:graphic>
      </p:graphicFrame>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080000"/>
        </p:xfrm>
        <a:graphic>
          <a:graphicData uri="http://schemas.openxmlformats.org/drawingml/2006/table">
            <a:tbl>
              <a:tblPr firstRow="1" bandRow="1">
                <a:tableStyleId>{5C22544A-7EE6-4342-B048-85BDC9FD1C3A}</a:tableStyleId>
              </a:tblPr>
              <a:tblGrid>
                <a:gridCol w="2794000"/>
                <a:gridCol w="2794000"/>
                <a:gridCol w="2794000"/>
                <a:gridCol w="2794000"/>
              </a:tblGrid>
              <a:tr h="508000">
                <a:tc>
                  <a:txBody>
                    <a:bodyPr/>
                    <a:lstStyle/>
                    <a:p>
                      <a:pPr algn="l" defTabSz="914400"/>
                      <a:r>
                        <a:rPr b="1" i="0" strike="noStrike" dirty="0"/>
                        <a:t>Date</a:t>
                      </a:r>
                    </a:p>
                  </a:txBody>
                  <a:tcPr horzOverflow="overflow"/>
                </a:tc>
                <a:tc>
                  <a:txBody>
                    <a:bodyPr/>
                    <a:lstStyle/>
                    <a:p>
                      <a:pPr algn="l" defTabSz="914400"/>
                      <a:r>
                        <a:rPr b="1" i="0" strike="noStrike" dirty="0"/>
                        <a:t>Revision History</a:t>
                      </a:r>
                    </a:p>
                  </a:txBody>
                  <a:tcPr horzOverflow="overflow"/>
                </a:tc>
                <a:tc>
                  <a:txBody>
                    <a:bodyPr/>
                    <a:lstStyle/>
                    <a:p>
                      <a:pPr algn="l" defTabSz="914400"/>
                      <a:r>
                        <a:rPr b="1" i="0" strike="noStrike" dirty="0"/>
                        <a:t>Revision Class</a:t>
                      </a:r>
                    </a:p>
                  </a:txBody>
                  <a:tcPr horzOverflow="overflow"/>
                </a:tc>
                <a:tc>
                  <a:txBody>
                    <a:bodyPr/>
                    <a:lstStyle/>
                    <a:p>
                      <a:pPr algn="l" defTabSz="914400"/>
                      <a:r>
                        <a:rPr b="1" i="0" strike="noStrike" dirty="0"/>
                        <a:t>Comments</a:t>
                      </a:r>
                    </a:p>
                  </a:txBody>
                  <a:tcPr horzOverflow="overflow"/>
                </a:tc>
              </a:tr>
              <a:tr h="762000">
                <a:tc>
                  <a:txBody>
                    <a:bodyPr/>
                    <a:lstStyle/>
                    <a:p>
                      <a:pPr algn="l" defTabSz="914400"/>
                      <a:r>
                        <a:rPr b="0" i="0" strike="noStrike" dirty="0"/>
                        <a:t>3/16/2015</a:t>
                      </a:r>
                    </a:p>
                  </a:txBody>
                  <a:tcPr horzOverflow="overflow"/>
                </a:tc>
                <a:tc>
                  <a:txBody>
                    <a:bodyPr/>
                    <a:lstStyle/>
                    <a:p>
                      <a:pPr algn="l" defTabSz="914400"/>
                      <a:r>
                        <a:rPr b="0" i="0" strike="noStrike" dirty="0"/>
                        <a:t>4.0</a:t>
                      </a:r>
                    </a:p>
                  </a:txBody>
                  <a:tcPr horzOverflow="overflow"/>
                </a:tc>
                <a:tc>
                  <a:txBody>
                    <a:bodyPr/>
                    <a:lstStyle/>
                    <a:p>
                      <a:pPr algn="l" defTabSz="914400"/>
                      <a:r>
                        <a:rPr b="0" i="0" strike="noStrike" dirty="0"/>
                        <a:t>Major</a:t>
                      </a:r>
                    </a:p>
                  </a:txBody>
                  <a:tcPr horzOverflow="overflow"/>
                </a:tc>
                <a:tc>
                  <a:txBody>
                    <a:bodyPr/>
                    <a:lstStyle/>
                    <a:p>
                      <a:pPr algn="l" defTabSz="914400"/>
                      <a:r>
                        <a:rPr b="0" i="0" strike="noStrike" dirty="0"/>
                        <a:t>Significantly changed the technical content.</a:t>
                      </a:r>
                    </a:p>
                  </a:txBody>
                  <a:tcPr horzOverflow="overflow"/>
                </a:tc>
              </a:tr>
              <a:tr h="1270000">
                <a:tc>
                  <a:txBody>
                    <a:bodyPr/>
                    <a:lstStyle/>
                    <a:p>
                      <a:pPr algn="l" defTabSz="914400"/>
                      <a:r>
                        <a:rPr b="0" i="0" strike="noStrike" dirty="0"/>
                        <a:t>9/4/2015</a:t>
                      </a:r>
                    </a:p>
                  </a:txBody>
                  <a:tcPr horzOverflow="overflow"/>
                </a:tc>
                <a:tc>
                  <a:txBody>
                    <a:bodyPr/>
                    <a:lstStyle/>
                    <a:p>
                      <a:pPr algn="l" defTabSz="914400"/>
                      <a:r>
                        <a:rPr b="0" i="0" strike="noStrike" dirty="0"/>
                        <a:t>4.0</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7/15/2016</a:t>
                      </a:r>
                    </a:p>
                  </a:txBody>
                  <a:tcPr horzOverflow="overflow"/>
                </a:tc>
                <a:tc>
                  <a:txBody>
                    <a:bodyPr/>
                    <a:lstStyle/>
                    <a:p>
                      <a:pPr algn="l" defTabSz="914400"/>
                      <a:r>
                        <a:rPr b="0" i="0" strike="noStrike" dirty="0"/>
                        <a:t>4.0</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1270000">
                <a:tc>
                  <a:txBody>
                    <a:bodyPr/>
                    <a:lstStyle/>
                    <a:p>
                      <a:pPr algn="l" defTabSz="914400"/>
                      <a:r>
                        <a:rPr b="0" i="0" strike="noStrike" dirty="0"/>
                        <a:t>9/14/2016</a:t>
                      </a:r>
                    </a:p>
                  </a:txBody>
                  <a:tcPr horzOverflow="overflow"/>
                </a:tc>
                <a:tc>
                  <a:txBody>
                    <a:bodyPr/>
                    <a:lstStyle/>
                    <a:p>
                      <a:pPr algn="l" defTabSz="914400"/>
                      <a:r>
                        <a:rPr b="0" i="0" strike="noStrike" dirty="0"/>
                        <a:t>4.0</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bl>
          </a:graphicData>
        </a:graphic>
      </p:graphicFrame>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2794000"/>
                <a:gridCol w="2794000"/>
                <a:gridCol w="2794000"/>
                <a:gridCol w="2794000"/>
              </a:tblGrid>
              <a:tr h="508000">
                <a:tc>
                  <a:txBody>
                    <a:bodyPr/>
                    <a:lstStyle/>
                    <a:p>
                      <a:pPr algn="l" defTabSz="914400"/>
                      <a:r>
                        <a:rPr b="1" i="0" strike="noStrike" dirty="0"/>
                        <a:t>Date</a:t>
                      </a:r>
                    </a:p>
                  </a:txBody>
                  <a:tcPr horzOverflow="overflow"/>
                </a:tc>
                <a:tc>
                  <a:txBody>
                    <a:bodyPr/>
                    <a:lstStyle/>
                    <a:p>
                      <a:pPr algn="l" defTabSz="914400"/>
                      <a:r>
                        <a:rPr b="1" i="0" strike="noStrike" dirty="0"/>
                        <a:t>Revision History</a:t>
                      </a:r>
                    </a:p>
                  </a:txBody>
                  <a:tcPr horzOverflow="overflow"/>
                </a:tc>
                <a:tc>
                  <a:txBody>
                    <a:bodyPr/>
                    <a:lstStyle/>
                    <a:p>
                      <a:pPr algn="l" defTabSz="914400"/>
                      <a:r>
                        <a:rPr b="1" i="0" strike="noStrike" dirty="0"/>
                        <a:t>Revision Class</a:t>
                      </a:r>
                    </a:p>
                  </a:txBody>
                  <a:tcPr horzOverflow="overflow"/>
                </a:tc>
                <a:tc>
                  <a:txBody>
                    <a:bodyPr/>
                    <a:lstStyle/>
                    <a:p>
                      <a:pPr algn="l" defTabSz="914400"/>
                      <a:r>
                        <a:rPr b="1" i="0" strike="noStrike" dirty="0"/>
                        <a:t>Comments</a:t>
                      </a:r>
                    </a:p>
                  </a:txBody>
                  <a:tcPr horzOverflow="overflow"/>
                </a:tc>
              </a:tr>
              <a:tr h="1270000">
                <a:tc>
                  <a:txBody>
                    <a:bodyPr/>
                    <a:lstStyle/>
                    <a:p>
                      <a:pPr algn="l" defTabSz="914400"/>
                      <a:r>
                        <a:rPr b="0" i="0" strike="noStrike" dirty="0"/>
                        <a:t>10/17/2016</a:t>
                      </a:r>
                    </a:p>
                  </a:txBody>
                  <a:tcPr horzOverflow="overflow"/>
                </a:tc>
                <a:tc>
                  <a:txBody>
                    <a:bodyPr/>
                    <a:lstStyle/>
                    <a:p>
                      <a:pPr algn="l" defTabSz="914400"/>
                      <a:r>
                        <a:rPr b="0" i="0" strike="noStrike" dirty="0"/>
                        <a:t>4.0</a:t>
                      </a:r>
                    </a:p>
                  </a:txBody>
                  <a:tcPr horzOverflow="overflow"/>
                </a:tc>
                <a:tc>
                  <a:txBody>
                    <a:bodyPr/>
                    <a:lstStyle/>
                    <a:p>
                      <a:pPr algn="l" defTabSz="914400"/>
                      <a:r>
                        <a:rPr b="0" i="0" strike="noStrike" dirty="0"/>
                        <a:t>None</a:t>
                      </a:r>
                    </a:p>
                  </a:txBody>
                  <a:tcPr horzOverflow="overflow"/>
                </a:tc>
                <a:tc>
                  <a:txBody>
                    <a:bodyPr/>
                    <a:lstStyle/>
                    <a:p>
                      <a:pPr algn="l" defTabSz="914400"/>
                      <a:r>
                        <a:rPr b="0" i="0" strike="noStrike" dirty="0"/>
                        <a:t>No changes to the meaning, language, or formatting of the technical content.</a:t>
                      </a:r>
                    </a:p>
                  </a:txBody>
                  <a:tcPr horzOverflow="overflow"/>
                </a:tc>
              </a:tr>
              <a:tr h="762000">
                <a:tc>
                  <a:txBody>
                    <a:bodyPr/>
                    <a:lstStyle/>
                    <a:p>
                      <a:pPr algn="l" defTabSz="914400"/>
                      <a:r>
                        <a:rPr b="0" i="0" strike="noStrike" dirty="0"/>
                        <a:t>7/10/2017</a:t>
                      </a:r>
                    </a:p>
                  </a:txBody>
                  <a:tcPr horzOverflow="overflow"/>
                </a:tc>
                <a:tc>
                  <a:txBody>
                    <a:bodyPr/>
                    <a:lstStyle/>
                    <a:p>
                      <a:pPr algn="l" defTabSz="914400"/>
                      <a:r>
                        <a:rPr b="0" i="0" strike="noStrike" dirty="0"/>
                        <a:t>5.0</a:t>
                      </a:r>
                    </a:p>
                  </a:txBody>
                  <a:tcPr horzOverflow="overflow"/>
                </a:tc>
                <a:tc>
                  <a:txBody>
                    <a:bodyPr/>
                    <a:lstStyle/>
                    <a:p>
                      <a:pPr algn="l" defTabSz="914400"/>
                      <a:r>
                        <a:rPr b="0" i="0" strike="noStrike" dirty="0"/>
                        <a:t>Major</a:t>
                      </a:r>
                    </a:p>
                  </a:txBody>
                  <a:tcPr horzOverflow="overflow"/>
                </a:tc>
                <a:tc>
                  <a:txBody>
                    <a:bodyPr/>
                    <a:lstStyle/>
                    <a:p>
                      <a:pPr algn="l" defTabSz="914400"/>
                      <a:r>
                        <a:rPr b="0" i="0" strike="noStrike" dirty="0"/>
                        <a:t>Significantly changed the technical content.</a:t>
                      </a:r>
                    </a:p>
                  </a:txBody>
                  <a:tcPr horzOverflow="overflow"/>
                </a:tc>
              </a:tr>
              <a:tr h="762000">
                <a:tc>
                  <a:txBody>
                    <a:bodyPr/>
                    <a:lstStyle/>
                    <a:p>
                      <a:pPr algn="l" defTabSz="914400"/>
                      <a:r>
                        <a:rPr b="0" i="0" strike="noStrike" dirty="0"/>
                        <a:t>9/19/2017</a:t>
                      </a:r>
                    </a:p>
                  </a:txBody>
                  <a:tcPr horzOverflow="overflow"/>
                </a:tc>
                <a:tc>
                  <a:txBody>
                    <a:bodyPr/>
                    <a:lstStyle/>
                    <a:p>
                      <a:pPr algn="l" defTabSz="914400"/>
                      <a:r>
                        <a:rPr b="0" i="0" strike="noStrike" dirty="0"/>
                        <a:t>6.0</a:t>
                      </a:r>
                    </a:p>
                  </a:txBody>
                  <a:tcPr horzOverflow="overflow"/>
                </a:tc>
                <a:tc>
                  <a:txBody>
                    <a:bodyPr/>
                    <a:lstStyle/>
                    <a:p>
                      <a:pPr algn="l" defTabSz="914400"/>
                      <a:r>
                        <a:rPr b="0" i="0" strike="noStrike" dirty="0"/>
                        <a:t>Major</a:t>
                      </a:r>
                    </a:p>
                  </a:txBody>
                  <a:tcPr horzOverflow="overflow"/>
                </a:tc>
                <a:tc>
                  <a:txBody>
                    <a:bodyPr/>
                    <a:lstStyle/>
                    <a:p>
                      <a:pPr algn="l" defTabSz="914400"/>
                      <a:r>
                        <a:rPr b="0" i="0" strike="noStrike" dirty="0"/>
                        <a:t>Significantly changed the technical content.</a:t>
                      </a:r>
                    </a:p>
                  </a:txBody>
                  <a:tcPr horzOverflow="overflow"/>
                </a:tc>
              </a:tr>
              <a:tr h="762000">
                <a:tc>
                  <a:txBody>
                    <a:bodyPr/>
                    <a:lstStyle/>
                    <a:p>
                      <a:pPr algn="l" defTabSz="914400"/>
                      <a:r>
                        <a:rPr b="0" i="0" strike="noStrike" dirty="0"/>
                        <a:t>4/27/2018</a:t>
                      </a:r>
                    </a:p>
                  </a:txBody>
                  <a:tcPr horzOverflow="overflow"/>
                </a:tc>
                <a:tc>
                  <a:txBody>
                    <a:bodyPr/>
                    <a:lstStyle/>
                    <a:p>
                      <a:pPr algn="l" defTabSz="914400"/>
                      <a:r>
                        <a:rPr b="0" i="0" strike="noStrike" dirty="0"/>
                        <a:t>7.0</a:t>
                      </a:r>
                    </a:p>
                  </a:txBody>
                  <a:tcPr horzOverflow="overflow"/>
                </a:tc>
                <a:tc>
                  <a:txBody>
                    <a:bodyPr/>
                    <a:lstStyle/>
                    <a:p>
                      <a:pPr algn="l" defTabSz="914400"/>
                      <a:r>
                        <a:rPr b="0" i="0" strike="noStrike" dirty="0"/>
                        <a:t>Major</a:t>
                      </a:r>
                    </a:p>
                  </a:txBody>
                  <a:tcPr horzOverflow="overflow"/>
                </a:tc>
                <a:tc>
                  <a:txBody>
                    <a:bodyPr/>
                    <a:lstStyle/>
                    <a:p>
                      <a:pPr algn="l" defTabSz="914400"/>
                      <a:r>
                        <a:rPr b="0" i="0" strike="noStrike" dirty="0"/>
                        <a:t>Significantly changed the technical content.</a:t>
                      </a:r>
                    </a:p>
                  </a:txBody>
                  <a:tcPr horzOverflow="overflow"/>
                </a:tc>
              </a:tr>
            </a:tbl>
          </a:graphicData>
        </a:graphic>
      </p:graphicFrame>
      <p:sp>
        <p:nvSpPr>
          <p:cNvPr id="3" name="TextBox3"/>
          <p:cNvSpPr txBox="1">
            <a:spLocks noChangeArrowheads="1"/>
          </p:cNvSpPr>
          <p:nvPr/>
        </p:nvSpPr>
        <p:spPr>
          <a:xfrm rot="0">
            <a:off x="508000" y="4622800"/>
            <a:ext cx="11176000" cy="640080"/>
          </a:xfrm>
          <a:prstGeom prst="rect">
            <a:avLst/>
          </a:prstGeom>
          <a:ln>
            <a:headEnd type="none"/>
            <a:tailEnd type="none"/>
          </a:ln>
        </p:spPr>
        <p:txBody>
          <a:bodyPr wrap="square">
            <a:spAutoFit/>
          </a:bodyPr>
          <a:lstStyle/>
          <a:p>
            <a:pPr algn="l" defTabSz="914400">
              <a:defRPr sz="3600" b="1" dirty="0"/>
            </a:pPr>
            <a:r>
              <a:rPr b="1" i="0" strike="noStrike" dirty="0"/>
              <a:t>Introduction </a:t>
            </a:r>
            <a:r>
              <a:rPr b="1" i="0" strike="noStrike" dirty="0"/>
              <a:t>XE </a:t>
            </a:r>
            <a:r>
              <a:rPr b="1" i="0" strike="noStrike" dirty="0"/>
              <a:t>"Introduction"</a:t>
            </a:r>
          </a:p>
        </p:txBody>
      </p:sp>
      <p:sp>
        <p:nvSpPr>
          <p:cNvPr id="4" name="TextBox4"/>
          <p:cNvSpPr txBox="1">
            <a:spLocks noChangeArrowheads="1"/>
          </p:cNvSpPr>
          <p:nvPr/>
        </p:nvSpPr>
        <p:spPr>
          <a:xfrm rot="0">
            <a:off x="508000" y="5288280"/>
            <a:ext cx="11176000" cy="640080"/>
          </a:xfrm>
          <a:prstGeom prst="rect">
            <a:avLst/>
          </a:prstGeom>
          <a:ln>
            <a:headEnd type="none"/>
            <a:tailEnd type="none"/>
          </a:ln>
        </p:spPr>
        <p:txBody>
          <a:bodyPr wrap="square">
            <a:spAutoFit/>
          </a:bodyPr>
          <a:lstStyle/>
          <a:p>
            <a:pPr algn="l" defTabSz="914400"/>
            <a:r>
              <a:rPr b="0" i="0" strike="noStrike" dirty="0"/>
              <a:t>In </a:t>
            </a:r>
            <a:r>
              <a:rPr b="0" i="0" strike="noStrike" dirty="0"/>
              <a:t>creating </a:t>
            </a:r>
            <a:r>
              <a:rPr b="0" i="0" strike="noStrike" dirty="0"/>
              <a:t>an </a:t>
            </a:r>
            <a:r>
              <a:rPr b="0" i="0" strike="noStrike" dirty="0"/>
              <a:t>interoperable </a:t>
            </a:r>
            <a:r>
              <a:rPr b="0" i="0" strike="noStrike" dirty="0"/>
              <a:t>implementation, </a:t>
            </a:r>
            <a:r>
              <a:rPr b="0" i="0" strike="noStrike" dirty="0"/>
              <a:t>it </a:t>
            </a:r>
            <a:r>
              <a:rPr b="0" i="0" strike="noStrike" dirty="0"/>
              <a:t>is </a:t>
            </a:r>
            <a:r>
              <a:rPr b="0" i="0" strike="noStrike" dirty="0"/>
              <a:t>helpful </a:t>
            </a:r>
            <a:r>
              <a:rPr b="0" i="0" strike="noStrike" dirty="0"/>
              <a:t>to </a:t>
            </a:r>
            <a:r>
              <a:rPr b="0" i="0" strike="noStrike" dirty="0"/>
              <a:t>understand </a:t>
            </a:r>
            <a:r>
              <a:rPr b="0" i="0" strike="noStrike" dirty="0"/>
              <a:t>specific </a:t>
            </a:r>
            <a:r>
              <a:rPr b="0" i="0" strike="noStrike" dirty="0"/>
              <a:t>implementation </a:t>
            </a:r>
            <a:r>
              <a:rPr b="0" i="0" strike="noStrike" dirty="0"/>
              <a:t>choices </a:t>
            </a:r>
            <a:r>
              <a:rPr b="0" i="0" strike="noStrike" dirty="0"/>
              <a:t>made </a:t>
            </a:r>
            <a:r>
              <a:rPr b="0" i="0" strike="noStrike" dirty="0"/>
              <a:t>by </a:t>
            </a:r>
            <a:r>
              <a:rPr b="0" i="0" strike="noStrike" dirty="0"/>
              <a:t>other </a:t>
            </a:r>
            <a:r>
              <a:rPr b="0" i="0" strike="noStrike" dirty="0"/>
              <a:t>products </a:t>
            </a:r>
            <a:r>
              <a:rPr b="0" i="0" strike="noStrike" dirty="0"/>
              <a:t>implementing </a:t>
            </a:r>
            <a:r>
              <a:rPr b="0" i="0" strike="noStrike" dirty="0"/>
              <a:t>the </a:t>
            </a:r>
            <a:r>
              <a:rPr b="0" i="0" strike="noStrike" dirty="0"/>
              <a:t>same </a:t>
            </a:r>
            <a:r>
              <a:rPr b="0" i="0" strike="noStrike" dirty="0"/>
              <a:t>standard. </a:t>
            </a: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96012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portions </a:t>
            </a:r>
            <a:r>
              <a:rPr b="0" i="0" strike="noStrike" dirty="0"/>
              <a:t>of </a:t>
            </a:r>
            <a:r>
              <a:rPr b="0" i="0" strike="noStrike" dirty="0"/>
              <a:t>the </a:t>
            </a:r>
            <a:r>
              <a:rPr b="0" i="0" strike="noStrike" dirty="0"/>
              <a:t>standard </a:t>
            </a:r>
            <a:r>
              <a:rPr b="0" i="0" strike="noStrike" dirty="0"/>
              <a:t>may </a:t>
            </a:r>
            <a:r>
              <a:rPr b="0" i="0" strike="noStrike" dirty="0"/>
              <a:t>provide </a:t>
            </a:r>
            <a:r>
              <a:rPr b="0" i="0" strike="noStrike" dirty="0"/>
              <a:t>only </a:t>
            </a:r>
            <a:r>
              <a:rPr b="0" i="0" strike="noStrike" dirty="0"/>
              <a:t>general </a:t>
            </a:r>
            <a:r>
              <a:rPr b="0" i="0" strike="noStrike" dirty="0"/>
              <a:t>guidance, </a:t>
            </a:r>
            <a:r>
              <a:rPr b="0" i="0" strike="noStrike" dirty="0"/>
              <a:t>leaving </a:t>
            </a:r>
            <a:r>
              <a:rPr b="0" i="0" strike="noStrike" dirty="0"/>
              <a:t>specific </a:t>
            </a:r>
            <a:r>
              <a:rPr b="0" i="0" strike="noStrike" dirty="0"/>
              <a:t>implementation </a:t>
            </a:r>
            <a:r>
              <a:rPr b="0" i="0" strike="noStrike" dirty="0"/>
              <a:t>choices </a:t>
            </a:r>
            <a:r>
              <a:rPr b="0" i="0" strike="noStrike" dirty="0"/>
              <a:t>up </a:t>
            </a:r>
            <a:r>
              <a:rPr b="0" i="0" strike="noStrike" dirty="0"/>
              <a:t>to </a:t>
            </a:r>
            <a:r>
              <a:rPr b="0" i="0" strike="noStrike" dirty="0"/>
              <a:t>the </a:t>
            </a:r>
            <a:r>
              <a:rPr b="0" i="0" strike="noStrike" dirty="0"/>
              <a:t>application </a:t>
            </a:r>
            <a:r>
              <a:rPr b="0" i="0" strike="noStrike" dirty="0"/>
              <a:t>implementer; </a:t>
            </a:r>
            <a:r>
              <a:rPr b="0" i="0" strike="noStrike" dirty="0"/>
              <a:t>in </a:t>
            </a:r>
            <a:r>
              <a:rPr b="0" i="0" strike="noStrike" dirty="0"/>
              <a:t>some </a:t>
            </a:r>
            <a:r>
              <a:rPr b="0" i="0" strike="noStrike" dirty="0"/>
              <a:t>circumstances </a:t>
            </a:r>
            <a:r>
              <a:rPr b="0" i="0" strike="noStrike" dirty="0"/>
              <a:t>it </a:t>
            </a:r>
            <a:r>
              <a:rPr b="0" i="0" strike="noStrike" dirty="0"/>
              <a:t>may </a:t>
            </a:r>
            <a:r>
              <a:rPr b="0" i="0" strike="noStrike" dirty="0"/>
              <a:t>be </a:t>
            </a:r>
            <a:r>
              <a:rPr b="0" i="0" strike="noStrike" dirty="0"/>
              <a:t>helpful </a:t>
            </a:r>
            <a:r>
              <a:rPr b="0" i="0" strike="noStrike" dirty="0"/>
              <a:t>for </a:t>
            </a:r>
            <a:r>
              <a:rPr b="0" i="0" strike="noStrike" dirty="0"/>
              <a:t>other </a:t>
            </a:r>
            <a:r>
              <a:rPr b="0" i="0" strike="noStrike" dirty="0"/>
              <a:t>implementers </a:t>
            </a:r>
            <a:r>
              <a:rPr b="0" i="0" strike="noStrike" dirty="0"/>
              <a:t>to </a:t>
            </a:r>
            <a:r>
              <a:rPr b="0" i="0" strike="noStrike" dirty="0"/>
              <a:t>understand </a:t>
            </a:r>
            <a:r>
              <a:rPr b="0" i="0" strike="noStrike" dirty="0"/>
              <a:t>those </a:t>
            </a:r>
            <a:r>
              <a:rPr b="0" i="0" strike="noStrike" dirty="0"/>
              <a:t>choices. </a:t>
            </a:r>
          </a:p>
        </p:txBody>
      </p:sp>
      <p:sp>
        <p:nvSpPr>
          <p:cNvPr id="3" name="TextBox3"/>
          <p:cNvSpPr txBox="1">
            <a:spLocks noChangeArrowheads="1"/>
          </p:cNvSpPr>
          <p:nvPr/>
        </p:nvSpPr>
        <p:spPr>
          <a:xfrm rot="0">
            <a:off x="508000" y="1493520"/>
            <a:ext cx="11176000" cy="640080"/>
          </a:xfrm>
          <a:prstGeom prst="rect">
            <a:avLst/>
          </a:prstGeom>
          <a:ln>
            <a:headEnd type="none"/>
            <a:tailEnd type="none"/>
          </a:ln>
        </p:spPr>
        <p:txBody>
          <a:bodyPr wrap="square">
            <a:spAutoFit/>
          </a:bodyPr>
          <a:lstStyle/>
          <a:p>
            <a:pPr algn="l" defTabSz="914400"/>
            <a:r>
              <a:rPr b="0" i="0" strike="noStrike" dirty="0"/>
              <a:t>The </a:t>
            </a:r>
            <a:r>
              <a:rPr b="0" i="0" strike="noStrike" dirty="0"/>
              <a:t>information </a:t>
            </a:r>
            <a:r>
              <a:rPr b="0" i="0" strike="noStrike" dirty="0"/>
              <a:t>contained </a:t>
            </a:r>
            <a:r>
              <a:rPr b="0" i="0" strike="noStrike" dirty="0"/>
              <a:t>in </a:t>
            </a:r>
            <a:r>
              <a:rPr b="0" i="0" strike="noStrike" dirty="0"/>
              <a:t>this </a:t>
            </a:r>
            <a:r>
              <a:rPr b="0" i="0" strike="noStrike" dirty="0"/>
              <a:t>document </a:t>
            </a:r>
            <a:r>
              <a:rPr b="0" i="0" strike="noStrike" dirty="0"/>
              <a:t>provides </a:t>
            </a:r>
            <a:r>
              <a:rPr b="0" i="0" strike="noStrike" dirty="0"/>
              <a:t>information </a:t>
            </a:r>
            <a:r>
              <a:rPr b="0" i="0" strike="noStrike" dirty="0"/>
              <a:t>about </a:t>
            </a:r>
            <a:r>
              <a:rPr b="0" i="0" strike="noStrike" dirty="0"/>
              <a:t>how </a:t>
            </a:r>
            <a:r>
              <a:rPr b="0" i="0" strike="noStrike" dirty="0"/>
              <a:t>to </a:t>
            </a:r>
            <a:r>
              <a:rPr b="0" i="0" strike="noStrike" dirty="0"/>
              <a:t>implement </a:t>
            </a:r>
            <a:r>
              <a:rPr b="0" i="0" strike="noStrike" dirty="0"/>
              <a:t>UI </a:t>
            </a:r>
            <a:r>
              <a:rPr b="0" i="0" strike="noStrike" dirty="0"/>
              <a:t>customization </a:t>
            </a:r>
            <a:r>
              <a:rPr b="0" i="0" strike="noStrike" dirty="0"/>
              <a:t>in </a:t>
            </a:r>
            <a:r>
              <a:rPr b="0" i="0" strike="noStrike" dirty="0"/>
              <a:t>the </a:t>
            </a:r>
            <a:r>
              <a:rPr b="0" i="0" strike="noStrike" dirty="0"/>
              <a:t>context </a:t>
            </a:r>
            <a:r>
              <a:rPr b="0" i="0" strike="noStrike" dirty="0"/>
              <a:t>of </a:t>
            </a:r>
            <a:r>
              <a:rPr b="0" i="0" strike="noStrike" dirty="0"/>
              <a:t>ECMA-376 </a:t>
            </a:r>
            <a:r>
              <a:rPr b="0" i="0" strike="noStrike" dirty="0"/>
              <a:t>Office </a:t>
            </a:r>
            <a:r>
              <a:rPr b="0" i="0" strike="noStrike" dirty="0"/>
              <a:t>Open </a:t>
            </a:r>
            <a:r>
              <a:rPr b="0" i="0" strike="noStrike" dirty="0"/>
              <a:t>XML </a:t>
            </a:r>
            <a:r>
              <a:rPr b="0" i="0" strike="noStrike" dirty="0"/>
              <a:t>File </a:t>
            </a:r>
            <a:r>
              <a:rPr b="0" i="0" strike="noStrike" dirty="0"/>
              <a:t>Formats, </a:t>
            </a:r>
            <a:r>
              <a:rPr b="0" i="0" strike="noStrike" dirty="0"/>
              <a:t>as </a:t>
            </a:r>
            <a:r>
              <a:rPr b="0" i="0" strike="noStrike" dirty="0"/>
              <a:t>described </a:t>
            </a:r>
            <a:r>
              <a:rPr b="0" i="0" strike="noStrike" dirty="0"/>
              <a:t>in </a:t>
            </a:r>
            <a:r>
              <a:rPr>
                <a:hlinkClick r:id="rId2" action="ppaction://hlinkfile"/>
              </a:rPr>
              <a:t>[ECMA-376]</a:t>
            </a:r>
            <a:r>
              <a:rPr b="0" i="0" strike="noStrike" dirty="0"/>
              <a:t>.</a:t>
            </a:r>
          </a:p>
        </p:txBody>
      </p:sp>
      <p:sp>
        <p:nvSpPr>
          <p:cNvPr id="4" name="TextBox4"/>
          <p:cNvSpPr txBox="1">
            <a:spLocks noChangeArrowheads="1"/>
          </p:cNvSpPr>
          <p:nvPr/>
        </p:nvSpPr>
        <p:spPr>
          <a:xfrm rot="0">
            <a:off x="508000" y="2159000"/>
            <a:ext cx="11176000" cy="497840"/>
          </a:xfrm>
          <a:prstGeom prst="rect">
            <a:avLst/>
          </a:prstGeom>
          <a:ln>
            <a:headEnd type="none"/>
            <a:tailEnd type="none"/>
          </a:ln>
        </p:spPr>
        <p:txBody>
          <a:bodyPr wrap="square">
            <a:spAutoFit/>
          </a:bodyPr>
          <a:lstStyle/>
          <a:p>
            <a:pPr algn="l" defTabSz="914400">
              <a:defRPr sz="2800" b="1" dirty="0"/>
            </a:pPr>
            <a:r>
              <a:rPr b="1" i="1" strike="noStrike" dirty="0"/>
              <a:t>Glossary </a:t>
            </a:r>
            <a:r>
              <a:rPr b="1" i="1" strike="noStrike" dirty="0"/>
              <a:t>XE </a:t>
            </a:r>
            <a:r>
              <a:rPr b="1" i="1" strike="noStrike" dirty="0"/>
              <a:t>"Glossary"</a:t>
            </a:r>
          </a:p>
        </p:txBody>
      </p:sp>
      <p:sp>
        <p:nvSpPr>
          <p:cNvPr id="5" name="TextBox5"/>
          <p:cNvSpPr txBox="1">
            <a:spLocks noChangeArrowheads="1"/>
          </p:cNvSpPr>
          <p:nvPr/>
        </p:nvSpPr>
        <p:spPr>
          <a:xfrm rot="0">
            <a:off x="508000" y="26822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document </a:t>
            </a:r>
            <a:r>
              <a:rPr b="0" i="0" strike="noStrike" dirty="0"/>
              <a:t>uses </a:t>
            </a:r>
            <a:r>
              <a:rPr b="0" i="0" strike="noStrike" dirty="0"/>
              <a:t>the </a:t>
            </a:r>
            <a:r>
              <a:rPr b="0" i="0" strike="noStrike" dirty="0"/>
              <a:t>following </a:t>
            </a:r>
            <a:r>
              <a:rPr b="0" i="0" strike="noStrike" dirty="0"/>
              <a:t>terms:</a:t>
            </a:r>
          </a:p>
        </p:txBody>
      </p:sp>
      <p:sp>
        <p:nvSpPr>
          <p:cNvPr id="6" name="TextBox6"/>
          <p:cNvSpPr txBox="1">
            <a:spLocks noChangeArrowheads="1"/>
          </p:cNvSpPr>
          <p:nvPr/>
        </p:nvSpPr>
        <p:spPr>
          <a:xfrm rot="0">
            <a:off x="508000" y="3027680"/>
            <a:ext cx="11176000" cy="640080"/>
          </a:xfrm>
          <a:prstGeom prst="rect">
            <a:avLst/>
          </a:prstGeom>
          <a:ln>
            <a:headEnd type="none"/>
            <a:tailEnd type="none"/>
          </a:ln>
        </p:spPr>
        <p:txBody>
          <a:bodyPr wrap="square">
            <a:spAutoFit/>
          </a:bodyPr>
          <a:lstStyle/>
          <a:p>
            <a:pPr algn="l" defTabSz="914400"/>
            <a:r>
              <a:rPr b="1" i="0" strike="noStrike" dirty="0"/>
              <a:t>add-in</a:t>
            </a:r>
            <a:r>
              <a:rPr b="0" i="0" strike="noStrike" dirty="0"/>
              <a:t>: </a:t>
            </a:r>
            <a:r>
              <a:rPr b="0" i="0" strike="noStrike" dirty="0"/>
              <a:t>Supplemental </a:t>
            </a:r>
            <a:r>
              <a:rPr b="0" i="0" strike="noStrike" dirty="0"/>
              <a:t>functionality </a:t>
            </a:r>
            <a:r>
              <a:rPr b="0" i="0" strike="noStrike" dirty="0"/>
              <a:t>that </a:t>
            </a:r>
            <a:r>
              <a:rPr b="0" i="0" strike="noStrike" dirty="0"/>
              <a:t>is </a:t>
            </a:r>
            <a:r>
              <a:rPr b="0" i="0" strike="noStrike" dirty="0"/>
              <a:t>provided </a:t>
            </a:r>
            <a:r>
              <a:rPr b="0" i="0" strike="noStrike" dirty="0"/>
              <a:t>by </a:t>
            </a:r>
            <a:r>
              <a:rPr b="0" i="0" strike="noStrike" dirty="0"/>
              <a:t>an </a:t>
            </a:r>
            <a:r>
              <a:rPr b="0" i="0" strike="noStrike" dirty="0"/>
              <a:t>external </a:t>
            </a:r>
            <a:r>
              <a:rPr b="0" i="0" strike="noStrike" dirty="0"/>
              <a:t>application </a:t>
            </a:r>
            <a:r>
              <a:rPr b="0" i="0" strike="noStrike" dirty="0"/>
              <a:t>or </a:t>
            </a:r>
            <a:r>
              <a:rPr b="0" i="0" strike="noStrike" dirty="0"/>
              <a:t>macro </a:t>
            </a:r>
            <a:r>
              <a:rPr b="0" i="0" strike="noStrike" dirty="0"/>
              <a:t>to </a:t>
            </a:r>
            <a:r>
              <a:rPr b="0" i="0" strike="noStrike" dirty="0"/>
              <a:t>extend </a:t>
            </a:r>
            <a:r>
              <a:rPr b="0" i="0" strike="noStrike" dirty="0"/>
              <a:t>the </a:t>
            </a:r>
            <a:r>
              <a:rPr b="0" i="0" strike="noStrike" dirty="0"/>
              <a:t>capabilities </a:t>
            </a:r>
            <a:r>
              <a:rPr b="0" i="0" strike="noStrike" dirty="0"/>
              <a:t>of </a:t>
            </a:r>
            <a:r>
              <a:rPr b="0" i="0" strike="noStrike" dirty="0"/>
              <a:t>an </a:t>
            </a:r>
            <a:r>
              <a:rPr b="0" i="0" strike="noStrike" dirty="0"/>
              <a:t>application.</a:t>
            </a:r>
          </a:p>
        </p:txBody>
      </p:sp>
      <p:sp>
        <p:nvSpPr>
          <p:cNvPr id="7" name="TextBox7"/>
          <p:cNvSpPr txBox="1">
            <a:spLocks noChangeArrowheads="1"/>
          </p:cNvSpPr>
          <p:nvPr/>
        </p:nvSpPr>
        <p:spPr>
          <a:xfrm rot="0">
            <a:off x="508000" y="3693160"/>
            <a:ext cx="11176000" cy="960120"/>
          </a:xfrm>
          <a:prstGeom prst="rect">
            <a:avLst/>
          </a:prstGeom>
          <a:ln>
            <a:headEnd type="none"/>
            <a:tailEnd type="none"/>
          </a:ln>
        </p:spPr>
        <p:txBody>
          <a:bodyPr wrap="square">
            <a:spAutoFit/>
          </a:bodyPr>
          <a:lstStyle/>
          <a:p>
            <a:pPr algn="l" defTabSz="914400"/>
            <a:r>
              <a:rPr b="1" i="0" strike="noStrike" dirty="0"/>
              <a:t>KeyTip</a:t>
            </a:r>
            <a:r>
              <a:rPr b="0" i="0" strike="noStrike" dirty="0"/>
              <a:t>: </a:t>
            </a:r>
            <a:r>
              <a:rPr b="0" i="0" strike="noStrike" dirty="0"/>
              <a:t>A </a:t>
            </a:r>
            <a:r>
              <a:rPr b="0" i="0" strike="noStrike" dirty="0"/>
              <a:t>small, </a:t>
            </a:r>
            <a:r>
              <a:rPr b="0" i="0" strike="noStrike" dirty="0"/>
              <a:t>pop-up </a:t>
            </a:r>
            <a:r>
              <a:rPr b="0" i="0" strike="noStrike" dirty="0"/>
              <a:t>window </a:t>
            </a:r>
            <a:r>
              <a:rPr b="0" i="0" strike="noStrike" dirty="0"/>
              <a:t>that </a:t>
            </a:r>
            <a:r>
              <a:rPr b="0" i="0" strike="noStrike" dirty="0"/>
              <a:t>appears </a:t>
            </a:r>
            <a:r>
              <a:rPr b="0" i="0" strike="noStrike" dirty="0"/>
              <a:t>over </a:t>
            </a:r>
            <a:r>
              <a:rPr b="0" i="0" strike="noStrike" dirty="0"/>
              <a:t>commands </a:t>
            </a:r>
            <a:r>
              <a:rPr b="0" i="0" strike="noStrike" dirty="0"/>
              <a:t>on </a:t>
            </a:r>
            <a:r>
              <a:rPr b="0" i="0" strike="noStrike" dirty="0"/>
              <a:t>the </a:t>
            </a:r>
            <a:r>
              <a:rPr b="0" i="0" strike="noStrike" dirty="0"/>
              <a:t>ribbon </a:t>
            </a:r>
            <a:r>
              <a:rPr b="0" i="0" strike="noStrike" dirty="0"/>
              <a:t>when </a:t>
            </a:r>
            <a:r>
              <a:rPr b="0" i="0" strike="noStrike" dirty="0"/>
              <a:t>users </a:t>
            </a:r>
            <a:r>
              <a:rPr b="0" i="0" strike="noStrike" dirty="0"/>
              <a:t>press </a:t>
            </a:r>
            <a:r>
              <a:rPr b="0" i="0" strike="noStrike" dirty="0"/>
              <a:t>the </a:t>
            </a:r>
            <a:r>
              <a:rPr b="0" i="0" strike="noStrike" dirty="0"/>
              <a:t>ALT </a:t>
            </a:r>
            <a:r>
              <a:rPr b="0" i="0" strike="noStrike" dirty="0"/>
              <a:t>key. </a:t>
            </a:r>
            <a:r>
              <a:rPr b="0" i="0" strike="noStrike" dirty="0"/>
              <a:t>By </a:t>
            </a:r>
            <a:r>
              <a:rPr b="0" i="0" strike="noStrike" dirty="0"/>
              <a:t>pressing </a:t>
            </a:r>
            <a:r>
              <a:rPr b="0" i="0" strike="noStrike" dirty="0"/>
              <a:t>the </a:t>
            </a:r>
            <a:r>
              <a:rPr b="0" i="0" strike="noStrike" dirty="0"/>
              <a:t>key </a:t>
            </a:r>
            <a:r>
              <a:rPr b="0" i="0" strike="noStrike" dirty="0"/>
              <a:t>that </a:t>
            </a:r>
            <a:r>
              <a:rPr b="0" i="0" strike="noStrike" dirty="0"/>
              <a:t>is </a:t>
            </a:r>
            <a:r>
              <a:rPr b="0" i="0" strike="noStrike" dirty="0"/>
              <a:t>displayed </a:t>
            </a:r>
            <a:r>
              <a:rPr b="0" i="0" strike="noStrike" dirty="0"/>
              <a:t>in </a:t>
            </a:r>
            <a:r>
              <a:rPr b="0" i="0" strike="noStrike" dirty="0"/>
              <a:t>a </a:t>
            </a:r>
            <a:r>
              <a:rPr b="0" i="0" strike="noStrike" dirty="0"/>
              <a:t>KeyTip, </a:t>
            </a:r>
            <a:r>
              <a:rPr b="0" i="0" strike="noStrike" dirty="0"/>
              <a:t>users </a:t>
            </a:r>
            <a:r>
              <a:rPr b="0" i="0" strike="noStrike" dirty="0"/>
              <a:t>can </a:t>
            </a:r>
            <a:r>
              <a:rPr b="0" i="0" strike="noStrike" dirty="0"/>
              <a:t>execute </a:t>
            </a:r>
            <a:r>
              <a:rPr b="0" i="0" strike="noStrike" dirty="0"/>
              <a:t>the </a:t>
            </a:r>
            <a:r>
              <a:rPr b="0" i="0" strike="noStrike" dirty="0"/>
              <a:t>command </a:t>
            </a:r>
            <a:r>
              <a:rPr b="0" i="0" strike="noStrike" dirty="0"/>
              <a:t>that </a:t>
            </a:r>
            <a:r>
              <a:rPr b="0" i="0" strike="noStrike" dirty="0"/>
              <a:t>is </a:t>
            </a:r>
            <a:r>
              <a:rPr b="0" i="0" strike="noStrike" dirty="0"/>
              <a:t>associated </a:t>
            </a:r>
            <a:r>
              <a:rPr b="0" i="0" strike="noStrike" dirty="0"/>
              <a:t>with </a:t>
            </a:r>
            <a:r>
              <a:rPr b="0" i="0" strike="noStrike" dirty="0"/>
              <a:t>the </a:t>
            </a:r>
            <a:r>
              <a:rPr b="0" i="0" strike="noStrike" dirty="0"/>
              <a:t>KeyTip.</a:t>
            </a:r>
          </a:p>
        </p:txBody>
      </p:sp>
      <p:sp>
        <p:nvSpPr>
          <p:cNvPr id="8" name="TextBox8"/>
          <p:cNvSpPr txBox="1">
            <a:spLocks noChangeArrowheads="1"/>
          </p:cNvSpPr>
          <p:nvPr/>
        </p:nvSpPr>
        <p:spPr>
          <a:xfrm rot="0">
            <a:off x="508000" y="4678680"/>
            <a:ext cx="11176000" cy="640080"/>
          </a:xfrm>
          <a:prstGeom prst="rect">
            <a:avLst/>
          </a:prstGeom>
          <a:ln>
            <a:headEnd type="none"/>
            <a:tailEnd type="none"/>
          </a:ln>
        </p:spPr>
        <p:txBody>
          <a:bodyPr wrap="square">
            <a:spAutoFit/>
          </a:bodyPr>
          <a:lstStyle/>
          <a:p>
            <a:pPr algn="l" defTabSz="914400"/>
            <a:r>
              <a:rPr b="1" i="0" strike="noStrike" dirty="0"/>
              <a:t>macro</a:t>
            </a:r>
            <a:r>
              <a:rPr b="0" i="0" strike="noStrike" dirty="0"/>
              <a:t>: </a:t>
            </a:r>
            <a:r>
              <a:rPr b="0" i="0" strike="noStrike" dirty="0"/>
              <a:t>A </a:t>
            </a:r>
            <a:r>
              <a:rPr b="0" i="0" strike="noStrike" dirty="0"/>
              <a:t>set </a:t>
            </a:r>
            <a:r>
              <a:rPr b="0" i="0" strike="noStrike" dirty="0"/>
              <a:t>of </a:t>
            </a:r>
            <a:r>
              <a:rPr b="0" i="0" strike="noStrike" dirty="0"/>
              <a:t>instructions </a:t>
            </a:r>
            <a:r>
              <a:rPr b="0" i="0" strike="noStrike" dirty="0"/>
              <a:t>that </a:t>
            </a:r>
            <a:r>
              <a:rPr b="0" i="0" strike="noStrike" dirty="0"/>
              <a:t>are </a:t>
            </a:r>
            <a:r>
              <a:rPr b="0" i="0" strike="noStrike" dirty="0"/>
              <a:t>recorded </a:t>
            </a:r>
            <a:r>
              <a:rPr b="0" i="0" strike="noStrike" dirty="0"/>
              <a:t>or </a:t>
            </a:r>
            <a:r>
              <a:rPr b="0" i="0" strike="noStrike" dirty="0"/>
              <a:t>written, </a:t>
            </a:r>
            <a:r>
              <a:rPr b="0" i="0" strike="noStrike" dirty="0"/>
              <a:t>and </a:t>
            </a:r>
            <a:r>
              <a:rPr b="0" i="0" strike="noStrike" dirty="0"/>
              <a:t>then </a:t>
            </a:r>
            <a:r>
              <a:rPr b="0" i="0" strike="noStrike" dirty="0"/>
              <a:t>typically </a:t>
            </a:r>
            <a:r>
              <a:rPr b="0" i="0" strike="noStrike" dirty="0"/>
              <a:t>saved </a:t>
            </a:r>
            <a:r>
              <a:rPr b="0" i="0" strike="noStrike" dirty="0"/>
              <a:t>to </a:t>
            </a:r>
            <a:r>
              <a:rPr b="0" i="0" strike="noStrike" dirty="0"/>
              <a:t>a </a:t>
            </a:r>
            <a:r>
              <a:rPr b="0" i="0" strike="noStrike" dirty="0"/>
              <a:t>file. </a:t>
            </a:r>
            <a:r>
              <a:rPr b="0" i="0" strike="noStrike" dirty="0"/>
              <a:t>When </a:t>
            </a:r>
            <a:r>
              <a:rPr b="0" i="0" strike="noStrike" dirty="0"/>
              <a:t>a </a:t>
            </a:r>
            <a:r>
              <a:rPr b="0" i="0" strike="noStrike" dirty="0"/>
              <a:t>macro </a:t>
            </a:r>
            <a:r>
              <a:rPr b="0" i="0" strike="noStrike" dirty="0"/>
              <a:t>is </a:t>
            </a:r>
            <a:r>
              <a:rPr b="0" i="0" strike="noStrike" dirty="0"/>
              <a:t>run, </a:t>
            </a:r>
            <a:r>
              <a:rPr b="0" i="0" strike="noStrike" dirty="0"/>
              <a:t>all </a:t>
            </a:r>
            <a:r>
              <a:rPr b="0" i="0" strike="noStrike" dirty="0"/>
              <a:t>of </a:t>
            </a:r>
            <a:r>
              <a:rPr b="0" i="0" strike="noStrike" dirty="0"/>
              <a:t>the </a:t>
            </a:r>
            <a:r>
              <a:rPr b="0" i="0" strike="noStrike" dirty="0"/>
              <a:t>instructions </a:t>
            </a:r>
            <a:r>
              <a:rPr b="0" i="0" strike="noStrike" dirty="0"/>
              <a:t>are </a:t>
            </a:r>
            <a:r>
              <a:rPr b="0" i="0" strike="noStrike" dirty="0"/>
              <a:t>performed </a:t>
            </a:r>
            <a:r>
              <a:rPr b="0" i="0" strike="noStrike" dirty="0"/>
              <a:t>automatically.</a:t>
            </a:r>
          </a:p>
        </p:txBody>
      </p:sp>
      <p:sp>
        <p:nvSpPr>
          <p:cNvPr id="9" name="TextBox9"/>
          <p:cNvSpPr txBox="1">
            <a:spLocks noChangeArrowheads="1"/>
          </p:cNvSpPr>
          <p:nvPr/>
        </p:nvSpPr>
        <p:spPr>
          <a:xfrm rot="0">
            <a:off x="508000" y="5344160"/>
            <a:ext cx="11176000" cy="960120"/>
          </a:xfrm>
          <a:prstGeom prst="rect">
            <a:avLst/>
          </a:prstGeom>
          <a:ln>
            <a:headEnd type="none"/>
            <a:tailEnd type="none"/>
          </a:ln>
        </p:spPr>
        <p:txBody>
          <a:bodyPr wrap="square">
            <a:spAutoFit/>
          </a:bodyPr>
          <a:lstStyle/>
          <a:p>
            <a:pPr algn="l" defTabSz="914400"/>
            <a:r>
              <a:rPr b="1" i="0" strike="noStrike" dirty="0"/>
              <a:t>XML </a:t>
            </a:r>
            <a:r>
              <a:rPr b="1" i="0" strike="noStrike" dirty="0"/>
              <a:t>fragment</a:t>
            </a:r>
            <a:r>
              <a:rPr b="0" i="0" strike="noStrike" dirty="0"/>
              <a:t>: </a:t>
            </a:r>
            <a:r>
              <a:rPr b="0" i="0" strike="noStrike" dirty="0"/>
              <a:t>Lines </a:t>
            </a:r>
            <a:r>
              <a:rPr b="0" i="0" strike="noStrike" dirty="0"/>
              <a:t>of </a:t>
            </a:r>
            <a:r>
              <a:rPr b="0" i="0" strike="noStrike" dirty="0"/>
              <a:t>text </a:t>
            </a:r>
            <a:r>
              <a:rPr b="0" i="0" strike="noStrike" dirty="0"/>
              <a:t>that </a:t>
            </a:r>
            <a:r>
              <a:rPr b="0" i="0" strike="noStrike" dirty="0"/>
              <a:t>adhere </a:t>
            </a:r>
            <a:r>
              <a:rPr b="0" i="0" strike="noStrike" dirty="0"/>
              <a:t>to </a:t>
            </a:r>
            <a:r>
              <a:rPr b="0" i="0" strike="noStrike" dirty="0"/>
              <a:t>XML </a:t>
            </a:r>
            <a:r>
              <a:rPr b="0" i="0" strike="noStrike" dirty="0"/>
              <a:t>tag </a:t>
            </a:r>
            <a:r>
              <a:rPr b="0" i="0" strike="noStrike" dirty="0"/>
              <a:t>rules, </a:t>
            </a:r>
            <a:r>
              <a:rPr b="0" i="0" strike="noStrike" dirty="0"/>
              <a:t>as </a:t>
            </a:r>
            <a:r>
              <a:rPr b="0" i="0" strike="noStrike" dirty="0"/>
              <a:t>described </a:t>
            </a:r>
            <a:r>
              <a:rPr b="0" i="0" strike="noStrike" dirty="0"/>
              <a:t>in </a:t>
            </a:r>
            <a:r>
              <a:rPr>
                <a:hlinkClick r:id="rId3" action="ppaction://hlinkfile"/>
              </a:rPr>
              <a:t>[XML]</a:t>
            </a:r>
            <a:r>
              <a:rPr b="0" i="0" strike="noStrike" dirty="0"/>
              <a:t>, </a:t>
            </a:r>
            <a:r>
              <a:rPr b="0" i="0" strike="noStrike" dirty="0"/>
              <a:t>but </a:t>
            </a:r>
            <a:r>
              <a:rPr b="0" i="0" strike="noStrike" dirty="0"/>
              <a:t>do </a:t>
            </a:r>
            <a:r>
              <a:rPr b="0" i="0" strike="noStrike" dirty="0"/>
              <a:t>not </a:t>
            </a:r>
            <a:r>
              <a:rPr b="0" i="0" strike="noStrike" dirty="0"/>
              <a:t>have </a:t>
            </a:r>
            <a:r>
              <a:rPr b="0" i="0" strike="noStrike" dirty="0"/>
              <a:t>a </a:t>
            </a:r>
            <a:r>
              <a:rPr b="0" i="0" strike="noStrike" dirty="0"/>
              <a:t>Document </a:t>
            </a:r>
            <a:r>
              <a:rPr b="0" i="0" strike="noStrike" dirty="0"/>
              <a:t>Type </a:t>
            </a:r>
            <a:r>
              <a:rPr b="0" i="0" strike="noStrike" dirty="0"/>
              <a:t>Definition </a:t>
            </a:r>
            <a:r>
              <a:rPr b="0" i="0" strike="noStrike" dirty="0"/>
              <a:t>(DTD) </a:t>
            </a:r>
            <a:r>
              <a:rPr b="0" i="0" strike="noStrike" dirty="0"/>
              <a:t>or </a:t>
            </a:r>
            <a:r>
              <a:rPr b="0" i="0" strike="noStrike" dirty="0"/>
              <a:t>schema, </a:t>
            </a:r>
            <a:r>
              <a:rPr b="0" i="0" strike="noStrike" dirty="0"/>
              <a:t>processing </a:t>
            </a:r>
            <a:r>
              <a:rPr b="0" i="0" strike="noStrike" dirty="0"/>
              <a:t>instructions, </a:t>
            </a:r>
            <a:r>
              <a:rPr b="0" i="0" strike="noStrike" dirty="0"/>
              <a:t>or </a:t>
            </a:r>
            <a:r>
              <a:rPr b="0" i="0" strike="noStrike" dirty="0"/>
              <a:t>any </a:t>
            </a:r>
            <a:r>
              <a:rPr b="0" i="0" strike="noStrike" dirty="0"/>
              <a:t>other </a:t>
            </a:r>
            <a:r>
              <a:rPr b="0" i="0" strike="noStrike" dirty="0"/>
              <a:t>header </a:t>
            </a:r>
            <a:r>
              <a:rPr b="0" i="0" strike="noStrike" dirty="0"/>
              <a:t>information.</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1280160"/>
          </a:xfrm>
          <a:prstGeom prst="rect">
            <a:avLst/>
          </a:prstGeom>
          <a:ln>
            <a:headEnd type="none"/>
            <a:tailEnd type="none"/>
          </a:ln>
        </p:spPr>
        <p:txBody>
          <a:bodyPr wrap="square">
            <a:spAutoFit/>
          </a:bodyPr>
          <a:lstStyle/>
          <a:p>
            <a:pPr algn="l" defTabSz="914400"/>
            <a:r>
              <a:rPr b="1" i="0" strike="noStrike" dirty="0"/>
              <a:t>XML </a:t>
            </a:r>
            <a:r>
              <a:rPr b="1" i="0" strike="noStrike" dirty="0"/>
              <a:t>namespace</a:t>
            </a:r>
            <a:r>
              <a:rPr b="0" i="0" strike="noStrike" dirty="0"/>
              <a:t>: </a:t>
            </a:r>
            <a:r>
              <a:rPr b="0" i="0" strike="noStrike" dirty="0"/>
              <a:t>A </a:t>
            </a:r>
            <a:r>
              <a:rPr b="0" i="0" strike="noStrike" dirty="0"/>
              <a:t>collection </a:t>
            </a:r>
            <a:r>
              <a:rPr b="0" i="0" strike="noStrike" dirty="0"/>
              <a:t>of </a:t>
            </a:r>
            <a:r>
              <a:rPr b="0" i="0" strike="noStrike" dirty="0"/>
              <a:t>names </a:t>
            </a:r>
            <a:r>
              <a:rPr b="0" i="0" strike="noStrike" dirty="0"/>
              <a:t>that </a:t>
            </a:r>
            <a:r>
              <a:rPr b="0" i="0" strike="noStrike" dirty="0"/>
              <a:t>is </a:t>
            </a:r>
            <a:r>
              <a:rPr b="0" i="0" strike="noStrike" dirty="0"/>
              <a:t>used </a:t>
            </a:r>
            <a:r>
              <a:rPr b="0" i="0" strike="noStrike" dirty="0"/>
              <a:t>to </a:t>
            </a:r>
            <a:r>
              <a:rPr b="0" i="0" strike="noStrike" dirty="0"/>
              <a:t>identify </a:t>
            </a:r>
            <a:r>
              <a:rPr b="0" i="0" strike="noStrike" dirty="0"/>
              <a:t>elements, </a:t>
            </a:r>
            <a:r>
              <a:rPr b="0" i="0" strike="noStrike" dirty="0"/>
              <a:t>types, </a:t>
            </a:r>
            <a:r>
              <a:rPr b="0" i="0" strike="noStrike" dirty="0"/>
              <a:t>and </a:t>
            </a:r>
            <a:r>
              <a:rPr b="0" i="0" strike="noStrike" dirty="0"/>
              <a:t>attributes </a:t>
            </a:r>
            <a:r>
              <a:rPr b="0" i="0" strike="noStrike" dirty="0"/>
              <a:t>in </a:t>
            </a:r>
            <a:r>
              <a:rPr b="0" i="0" strike="noStrike" dirty="0"/>
              <a:t>XML </a:t>
            </a:r>
            <a:r>
              <a:rPr b="0" i="0" strike="noStrike" dirty="0"/>
              <a:t>documents </a:t>
            </a:r>
            <a:r>
              <a:rPr b="0" i="0" strike="noStrike" dirty="0"/>
              <a:t>identified </a:t>
            </a:r>
            <a:r>
              <a:rPr b="0" i="0" strike="noStrike" dirty="0"/>
              <a:t>in </a:t>
            </a:r>
            <a:r>
              <a:rPr b="0" i="0" strike="noStrike" dirty="0"/>
              <a:t>a </a:t>
            </a:r>
            <a:r>
              <a:rPr b="0" i="0" strike="noStrike" dirty="0"/>
              <a:t>URI </a:t>
            </a:r>
            <a:r>
              <a:rPr b="0" i="0" strike="noStrike" dirty="0"/>
              <a:t>reference </a:t>
            </a:r>
            <a:r>
              <a:rPr>
                <a:hlinkClick r:id="rId2" action="ppaction://hlinkfile"/>
              </a:rPr>
              <a:t>[RFC3986]</a:t>
            </a:r>
            <a:r>
              <a:rPr b="0" i="0" strike="noStrike" dirty="0"/>
              <a:t>. </a:t>
            </a:r>
            <a:r>
              <a:rPr b="0" i="0" strike="noStrike" dirty="0"/>
              <a:t>A </a:t>
            </a:r>
            <a:r>
              <a:rPr b="0" i="0" strike="noStrike" dirty="0"/>
              <a:t>combination </a:t>
            </a:r>
            <a:r>
              <a:rPr b="0" i="0" strike="noStrike" dirty="0"/>
              <a:t>of </a:t>
            </a:r>
            <a:r>
              <a:rPr b="0" i="0" strike="noStrike" dirty="0"/>
              <a:t>XML </a:t>
            </a:r>
            <a:r>
              <a:rPr b="0" i="0" strike="noStrike" dirty="0"/>
              <a:t>namespace </a:t>
            </a:r>
            <a:r>
              <a:rPr b="0" i="0" strike="noStrike" dirty="0"/>
              <a:t>and </a:t>
            </a:r>
            <a:r>
              <a:rPr b="0" i="0" strike="noStrike" dirty="0"/>
              <a:t>local </a:t>
            </a:r>
            <a:r>
              <a:rPr b="0" i="0" strike="noStrike" dirty="0"/>
              <a:t>name </a:t>
            </a:r>
            <a:r>
              <a:rPr b="0" i="0" strike="noStrike" dirty="0"/>
              <a:t>allows </a:t>
            </a:r>
            <a:r>
              <a:rPr b="0" i="0" strike="noStrike" dirty="0"/>
              <a:t>XML </a:t>
            </a:r>
            <a:r>
              <a:rPr b="0" i="0" strike="noStrike" dirty="0"/>
              <a:t>documents </a:t>
            </a:r>
            <a:r>
              <a:rPr b="0" i="0" strike="noStrike" dirty="0"/>
              <a:t>to </a:t>
            </a:r>
            <a:r>
              <a:rPr b="0" i="0" strike="noStrike" dirty="0"/>
              <a:t>use </a:t>
            </a:r>
            <a:r>
              <a:rPr b="0" i="0" strike="noStrike" dirty="0"/>
              <a:t>elements, </a:t>
            </a:r>
            <a:r>
              <a:rPr b="0" i="0" strike="noStrike" dirty="0"/>
              <a:t>types, </a:t>
            </a:r>
            <a:r>
              <a:rPr b="0" i="0" strike="noStrike" dirty="0"/>
              <a:t>and </a:t>
            </a:r>
            <a:r>
              <a:rPr b="0" i="0" strike="noStrike" dirty="0"/>
              <a:t>attributes </a:t>
            </a:r>
            <a:r>
              <a:rPr b="0" i="0" strike="noStrike" dirty="0"/>
              <a:t>that </a:t>
            </a:r>
            <a:r>
              <a:rPr b="0" i="0" strike="noStrike" dirty="0"/>
              <a:t>have </a:t>
            </a:r>
            <a:r>
              <a:rPr b="0" i="0" strike="noStrike" dirty="0"/>
              <a:t>the </a:t>
            </a:r>
            <a:r>
              <a:rPr b="0" i="0" strike="noStrike" dirty="0"/>
              <a:t>same </a:t>
            </a:r>
            <a:r>
              <a:rPr b="0" i="0" strike="noStrike" dirty="0"/>
              <a:t>names </a:t>
            </a:r>
            <a:r>
              <a:rPr b="0" i="0" strike="noStrike" dirty="0"/>
              <a:t>but </a:t>
            </a:r>
            <a:r>
              <a:rPr b="0" i="0" strike="noStrike" dirty="0"/>
              <a:t>come </a:t>
            </a:r>
            <a:r>
              <a:rPr b="0" i="0" strike="noStrike" dirty="0"/>
              <a:t>from </a:t>
            </a:r>
            <a:r>
              <a:rPr b="0" i="0" strike="noStrike" dirty="0"/>
              <a:t>different </a:t>
            </a:r>
            <a:r>
              <a:rPr b="0" i="0" strike="noStrike" dirty="0"/>
              <a:t>sources. </a:t>
            </a:r>
            <a:r>
              <a:rPr b="0" i="0" strike="noStrike" dirty="0"/>
              <a:t>For </a:t>
            </a:r>
            <a:r>
              <a:rPr b="0" i="0" strike="noStrike" dirty="0"/>
              <a:t>more </a:t>
            </a:r>
            <a:r>
              <a:rPr b="0" i="0" strike="noStrike" dirty="0"/>
              <a:t>information, </a:t>
            </a:r>
            <a:r>
              <a:rPr b="0" i="0" strike="noStrike" dirty="0"/>
              <a:t>see </a:t>
            </a:r>
            <a:r>
              <a:rPr>
                <a:hlinkClick r:id="rId3" action="ppaction://hlinkfile"/>
              </a:rPr>
              <a:t>[XMLNS-2ED]</a:t>
            </a:r>
            <a:r>
              <a:rPr b="0" i="0" strike="noStrike" dirty="0"/>
              <a:t>.</a:t>
            </a:r>
          </a:p>
        </p:txBody>
      </p:sp>
      <p:sp>
        <p:nvSpPr>
          <p:cNvPr id="3" name="TextBox3"/>
          <p:cNvSpPr txBox="1">
            <a:spLocks noChangeArrowheads="1"/>
          </p:cNvSpPr>
          <p:nvPr/>
        </p:nvSpPr>
        <p:spPr>
          <a:xfrm rot="0">
            <a:off x="508000" y="1813560"/>
            <a:ext cx="11176000" cy="320040"/>
          </a:xfrm>
          <a:prstGeom prst="rect">
            <a:avLst/>
          </a:prstGeom>
          <a:ln>
            <a:headEnd type="none"/>
            <a:tailEnd type="none"/>
          </a:ln>
        </p:spPr>
        <p:txBody>
          <a:bodyPr wrap="square">
            <a:spAutoFit/>
          </a:bodyPr>
          <a:lstStyle/>
          <a:p>
            <a:pPr algn="l" defTabSz="914400"/>
            <a:r>
              <a:rPr b="1" i="0" strike="noStrike" dirty="0"/>
              <a:t>XML </a:t>
            </a:r>
            <a:r>
              <a:rPr b="1" i="0" strike="noStrike" dirty="0"/>
              <a:t>namespace </a:t>
            </a:r>
            <a:r>
              <a:rPr b="1" i="0" strike="noStrike" dirty="0"/>
              <a:t>prefix</a:t>
            </a:r>
            <a:r>
              <a:rPr b="0" i="0" strike="noStrike" dirty="0"/>
              <a:t>: </a:t>
            </a:r>
            <a:r>
              <a:rPr b="0" i="0" strike="noStrike" dirty="0"/>
              <a:t>An </a:t>
            </a:r>
            <a:r>
              <a:rPr b="0" i="0" strike="noStrike" dirty="0"/>
              <a:t>abbreviated </a:t>
            </a:r>
            <a:r>
              <a:rPr b="0" i="0" strike="noStrike" dirty="0"/>
              <a:t>form </a:t>
            </a:r>
            <a:r>
              <a:rPr b="0" i="0" strike="noStrike" dirty="0"/>
              <a:t>of </a:t>
            </a:r>
            <a:r>
              <a:rPr b="0" i="0" strike="noStrike" dirty="0"/>
              <a:t>an </a:t>
            </a:r>
            <a:r>
              <a:rPr/>
              <a:t>XML </a:t>
            </a:r>
            <a:r>
              <a:rPr/>
              <a:t>namespace</a:t>
            </a:r>
            <a:r>
              <a:rPr b="0" i="0" strike="noStrike" dirty="0"/>
              <a:t>, </a:t>
            </a:r>
            <a:r>
              <a:rPr b="0" i="0" strike="noStrike" dirty="0"/>
              <a:t>as </a:t>
            </a:r>
            <a:r>
              <a:rPr b="0" i="0" strike="noStrike" dirty="0"/>
              <a:t>described </a:t>
            </a:r>
            <a:r>
              <a:rPr b="0" i="0" strike="noStrike" dirty="0"/>
              <a:t>in </a:t>
            </a:r>
            <a:r>
              <a:rPr b="0" i="0" strike="noStrike" dirty="0"/>
              <a:t>[XML].</a:t>
            </a:r>
          </a:p>
        </p:txBody>
      </p:sp>
      <p:sp>
        <p:nvSpPr>
          <p:cNvPr id="4" name="TextBox4"/>
          <p:cNvSpPr txBox="1">
            <a:spLocks noChangeArrowheads="1"/>
          </p:cNvSpPr>
          <p:nvPr/>
        </p:nvSpPr>
        <p:spPr>
          <a:xfrm rot="0">
            <a:off x="508000" y="2159000"/>
            <a:ext cx="11176000" cy="1280160"/>
          </a:xfrm>
          <a:prstGeom prst="rect">
            <a:avLst/>
          </a:prstGeom>
          <a:ln>
            <a:headEnd type="none"/>
            <a:tailEnd type="none"/>
          </a:ln>
        </p:spPr>
        <p:txBody>
          <a:bodyPr wrap="square">
            <a:spAutoFit/>
          </a:bodyPr>
          <a:lstStyle/>
          <a:p>
            <a:pPr algn="l" defTabSz="914400"/>
            <a:r>
              <a:rPr b="1" i="0" strike="noStrike" dirty="0"/>
              <a:t>XML </a:t>
            </a:r>
            <a:r>
              <a:rPr b="1" i="0" strike="noStrike" dirty="0"/>
              <a:t>schema</a:t>
            </a:r>
            <a:r>
              <a:rPr b="0" i="0" strike="noStrike" dirty="0"/>
              <a:t>: </a:t>
            </a:r>
            <a:r>
              <a:rPr b="0" i="0" strike="noStrike" dirty="0"/>
              <a:t>A </a:t>
            </a:r>
            <a:r>
              <a:rPr b="0" i="0" strike="noStrike" dirty="0"/>
              <a:t>description </a:t>
            </a:r>
            <a:r>
              <a:rPr b="0" i="0" strike="noStrike" dirty="0"/>
              <a:t>of </a:t>
            </a:r>
            <a:r>
              <a:rPr b="0" i="0" strike="noStrike" dirty="0"/>
              <a:t>a </a:t>
            </a:r>
            <a:r>
              <a:rPr b="0" i="0" strike="noStrike" dirty="0"/>
              <a:t>type </a:t>
            </a:r>
            <a:r>
              <a:rPr b="0" i="0" strike="noStrike" dirty="0"/>
              <a:t>of </a:t>
            </a:r>
            <a:r>
              <a:rPr b="0" i="0" strike="noStrike" dirty="0"/>
              <a:t>XML </a:t>
            </a:r>
            <a:r>
              <a:rPr b="0" i="0" strike="noStrike" dirty="0"/>
              <a:t>document </a:t>
            </a:r>
            <a:r>
              <a:rPr b="0" i="0" strike="noStrike" dirty="0"/>
              <a:t>that </a:t>
            </a:r>
            <a:r>
              <a:rPr b="0" i="0" strike="noStrike" dirty="0"/>
              <a:t>is </a:t>
            </a:r>
            <a:r>
              <a:rPr b="0" i="0" strike="noStrike" dirty="0"/>
              <a:t>typically </a:t>
            </a:r>
            <a:r>
              <a:rPr b="0" i="0" strike="noStrike" dirty="0"/>
              <a:t>expressed </a:t>
            </a:r>
            <a:r>
              <a:rPr b="0" i="0" strike="noStrike" dirty="0"/>
              <a:t>in </a:t>
            </a:r>
            <a:r>
              <a:rPr b="0" i="0" strike="noStrike" dirty="0"/>
              <a:t>terms </a:t>
            </a:r>
            <a:r>
              <a:rPr b="0" i="0" strike="noStrike" dirty="0"/>
              <a:t>of </a:t>
            </a:r>
            <a:r>
              <a:rPr b="0" i="0" strike="noStrike" dirty="0"/>
              <a:t>constraints </a:t>
            </a:r>
            <a:r>
              <a:rPr b="0" i="0" strike="noStrike" dirty="0"/>
              <a:t>on </a:t>
            </a:r>
            <a:r>
              <a:rPr b="0" i="0" strike="noStrike" dirty="0"/>
              <a:t>the </a:t>
            </a:r>
            <a:r>
              <a:rPr b="0" i="0" strike="noStrike" dirty="0"/>
              <a:t>structure </a:t>
            </a:r>
            <a:r>
              <a:rPr b="0" i="0" strike="noStrike" dirty="0"/>
              <a:t>and </a:t>
            </a:r>
            <a:r>
              <a:rPr b="0" i="0" strike="noStrike" dirty="0"/>
              <a:t>content </a:t>
            </a:r>
            <a:r>
              <a:rPr b="0" i="0" strike="noStrike" dirty="0"/>
              <a:t>of </a:t>
            </a:r>
            <a:r>
              <a:rPr b="0" i="0" strike="noStrike" dirty="0"/>
              <a:t>documents </a:t>
            </a:r>
            <a:r>
              <a:rPr b="0" i="0" strike="noStrike" dirty="0"/>
              <a:t>of </a:t>
            </a:r>
            <a:r>
              <a:rPr b="0" i="0" strike="noStrike" dirty="0"/>
              <a:t>that </a:t>
            </a:r>
            <a:r>
              <a:rPr b="0" i="0" strike="noStrike" dirty="0"/>
              <a:t>type, </a:t>
            </a:r>
            <a:r>
              <a:rPr b="0" i="0" strike="noStrike" dirty="0"/>
              <a:t>in </a:t>
            </a:r>
            <a:r>
              <a:rPr b="0" i="0" strike="noStrike" dirty="0"/>
              <a:t>addition </a:t>
            </a:r>
            <a:r>
              <a:rPr b="0" i="0" strike="noStrike" dirty="0"/>
              <a:t>to </a:t>
            </a:r>
            <a:r>
              <a:rPr b="0" i="0" strike="noStrike" dirty="0"/>
              <a:t>the </a:t>
            </a:r>
            <a:r>
              <a:rPr b="0" i="0" strike="noStrike" dirty="0"/>
              <a:t>basic </a:t>
            </a:r>
            <a:r>
              <a:rPr b="0" i="0" strike="noStrike" dirty="0"/>
              <a:t>syntax </a:t>
            </a:r>
            <a:r>
              <a:rPr b="0" i="0" strike="noStrike" dirty="0"/>
              <a:t>constraints </a:t>
            </a:r>
            <a:r>
              <a:rPr b="0" i="0" strike="noStrike" dirty="0"/>
              <a:t>that </a:t>
            </a:r>
            <a:r>
              <a:rPr b="0" i="0" strike="noStrike" dirty="0"/>
              <a:t>are </a:t>
            </a:r>
            <a:r>
              <a:rPr b="0" i="0" strike="noStrike" dirty="0"/>
              <a:t>imposed </a:t>
            </a:r>
            <a:r>
              <a:rPr b="0" i="0" strike="noStrike" dirty="0"/>
              <a:t>by </a:t>
            </a:r>
            <a:r>
              <a:rPr b="0" i="0" strike="noStrike" dirty="0"/>
              <a:t>XML </a:t>
            </a:r>
            <a:r>
              <a:rPr b="0" i="0" strike="noStrike" dirty="0"/>
              <a:t>itself. </a:t>
            </a:r>
            <a:r>
              <a:rPr b="0" i="0" strike="noStrike" dirty="0"/>
              <a:t>An </a:t>
            </a:r>
            <a:r>
              <a:rPr b="0" i="0" strike="noStrike" dirty="0"/>
              <a:t>XML </a:t>
            </a:r>
            <a:r>
              <a:rPr b="0" i="0" strike="noStrike" dirty="0"/>
              <a:t>schema </a:t>
            </a:r>
            <a:r>
              <a:rPr b="0" i="0" strike="noStrike" dirty="0"/>
              <a:t>provides </a:t>
            </a:r>
            <a:r>
              <a:rPr b="0" i="0" strike="noStrike" dirty="0"/>
              <a:t>a </a:t>
            </a:r>
            <a:r>
              <a:rPr b="0" i="0" strike="noStrike" dirty="0"/>
              <a:t>view </a:t>
            </a:r>
            <a:r>
              <a:rPr b="0" i="0" strike="noStrike" dirty="0"/>
              <a:t>of </a:t>
            </a:r>
            <a:r>
              <a:rPr b="0" i="0" strike="noStrike" dirty="0"/>
              <a:t>a </a:t>
            </a:r>
            <a:r>
              <a:rPr b="0" i="0" strike="noStrike" dirty="0"/>
              <a:t>document </a:t>
            </a:r>
            <a:r>
              <a:rPr b="0" i="0" strike="noStrike" dirty="0"/>
              <a:t>type </a:t>
            </a:r>
            <a:r>
              <a:rPr b="0" i="0" strike="noStrike" dirty="0"/>
              <a:t>at </a:t>
            </a:r>
            <a:r>
              <a:rPr b="0" i="0" strike="noStrike" dirty="0"/>
              <a:t>a </a:t>
            </a:r>
            <a:r>
              <a:rPr b="0" i="0" strike="noStrike" dirty="0"/>
              <a:t>relatively </a:t>
            </a:r>
            <a:r>
              <a:rPr b="0" i="0" strike="noStrike" dirty="0"/>
              <a:t>high </a:t>
            </a:r>
            <a:r>
              <a:rPr b="0" i="0" strike="noStrike" dirty="0"/>
              <a:t>level </a:t>
            </a:r>
            <a:r>
              <a:rPr b="0" i="0" strike="noStrike" dirty="0"/>
              <a:t>of </a:t>
            </a:r>
            <a:r>
              <a:rPr b="0" i="0" strike="noStrike" dirty="0"/>
              <a:t>abstraction.</a:t>
            </a:r>
          </a:p>
        </p:txBody>
      </p:sp>
      <p:sp>
        <p:nvSpPr>
          <p:cNvPr id="5" name="TextBox5"/>
          <p:cNvSpPr txBox="1">
            <a:spLocks noChangeArrowheads="1"/>
          </p:cNvSpPr>
          <p:nvPr/>
        </p:nvSpPr>
        <p:spPr>
          <a:xfrm rot="0">
            <a:off x="508000" y="3464560"/>
            <a:ext cx="11176000" cy="1280160"/>
          </a:xfrm>
          <a:prstGeom prst="rect">
            <a:avLst/>
          </a:prstGeom>
          <a:ln>
            <a:headEnd type="none"/>
            <a:tailEnd type="none"/>
          </a:ln>
        </p:spPr>
        <p:txBody>
          <a:bodyPr wrap="square">
            <a:spAutoFit/>
          </a:bodyPr>
          <a:lstStyle/>
          <a:p>
            <a:pPr algn="l" defTabSz="914400"/>
            <a:r>
              <a:rPr b="1" i="0" strike="noStrike" dirty="0"/>
              <a:t>XML </a:t>
            </a:r>
            <a:r>
              <a:rPr b="1" i="0" strike="noStrike" dirty="0"/>
              <a:t>schema </a:t>
            </a:r>
            <a:r>
              <a:rPr b="1" i="0" strike="noStrike" dirty="0"/>
              <a:t>definition </a:t>
            </a:r>
            <a:r>
              <a:rPr b="1" i="0" strike="noStrike" dirty="0"/>
              <a:t>(XSD)</a:t>
            </a:r>
            <a:r>
              <a:rPr b="0" i="0" strike="noStrike" dirty="0"/>
              <a:t>: </a:t>
            </a:r>
            <a:r>
              <a:rPr b="0" i="0" strike="noStrike" dirty="0"/>
              <a:t>The </a:t>
            </a:r>
            <a:r>
              <a:rPr b="0" i="0" strike="noStrike" dirty="0"/>
              <a:t>World </a:t>
            </a:r>
            <a:r>
              <a:rPr b="0" i="0" strike="noStrike" dirty="0"/>
              <a:t>Wide </a:t>
            </a:r>
            <a:r>
              <a:rPr b="0" i="0" strike="noStrike" dirty="0"/>
              <a:t>Web </a:t>
            </a:r>
            <a:r>
              <a:rPr b="0" i="0" strike="noStrike" dirty="0"/>
              <a:t>Consortium </a:t>
            </a:r>
            <a:r>
              <a:rPr b="0" i="0" strike="noStrike" dirty="0"/>
              <a:t>(W3C) </a:t>
            </a:r>
            <a:r>
              <a:rPr b="0" i="0" strike="noStrike" dirty="0"/>
              <a:t>standard </a:t>
            </a:r>
            <a:r>
              <a:rPr b="0" i="0" strike="noStrike" dirty="0"/>
              <a:t>language </a:t>
            </a:r>
            <a:r>
              <a:rPr b="0" i="0" strike="noStrike" dirty="0"/>
              <a:t>that </a:t>
            </a:r>
            <a:r>
              <a:rPr b="0" i="0" strike="noStrike" dirty="0"/>
              <a:t>is </a:t>
            </a:r>
            <a:r>
              <a:rPr b="0" i="0" strike="noStrike" dirty="0"/>
              <a:t>used </a:t>
            </a:r>
            <a:r>
              <a:rPr b="0" i="0" strike="noStrike" dirty="0"/>
              <a:t>in </a:t>
            </a:r>
            <a:r>
              <a:rPr b="0" i="0" strike="noStrike" dirty="0"/>
              <a:t>defining </a:t>
            </a:r>
            <a:r>
              <a:rPr b="0" i="0" strike="noStrike" dirty="0"/>
              <a:t>XML </a:t>
            </a:r>
            <a:r>
              <a:rPr b="0" i="0" strike="noStrike" dirty="0"/>
              <a:t>schemas. </a:t>
            </a:r>
            <a:r>
              <a:rPr b="0" i="0" strike="noStrike" dirty="0"/>
              <a:t>Schemas </a:t>
            </a:r>
            <a:r>
              <a:rPr b="0" i="0" strike="noStrike" dirty="0"/>
              <a:t>are </a:t>
            </a:r>
            <a:r>
              <a:rPr b="0" i="0" strike="noStrike" dirty="0"/>
              <a:t>useful </a:t>
            </a:r>
            <a:r>
              <a:rPr b="0" i="0" strike="noStrike" dirty="0"/>
              <a:t>for </a:t>
            </a:r>
            <a:r>
              <a:rPr b="0" i="0" strike="noStrike" dirty="0"/>
              <a:t>enforcing </a:t>
            </a:r>
            <a:r>
              <a:rPr b="0" i="0" strike="noStrike" dirty="0"/>
              <a:t>structure </a:t>
            </a:r>
            <a:r>
              <a:rPr b="0" i="0" strike="noStrike" dirty="0"/>
              <a:t>and </a:t>
            </a:r>
            <a:r>
              <a:rPr b="0" i="0" strike="noStrike" dirty="0"/>
              <a:t>constraining </a:t>
            </a:r>
            <a:r>
              <a:rPr b="0" i="0" strike="noStrike" dirty="0"/>
              <a:t>the </a:t>
            </a:r>
            <a:r>
              <a:rPr b="0" i="0" strike="noStrike" dirty="0"/>
              <a:t>types </a:t>
            </a:r>
            <a:r>
              <a:rPr b="0" i="0" strike="noStrike" dirty="0"/>
              <a:t>of </a:t>
            </a:r>
            <a:r>
              <a:rPr b="0" i="0" strike="noStrike" dirty="0"/>
              <a:t>data </a:t>
            </a:r>
            <a:r>
              <a:rPr b="0" i="0" strike="noStrike" dirty="0"/>
              <a:t>that </a:t>
            </a:r>
            <a:r>
              <a:rPr b="0" i="0" strike="noStrike" dirty="0"/>
              <a:t>can </a:t>
            </a:r>
            <a:r>
              <a:rPr b="0" i="0" strike="noStrike" dirty="0"/>
              <a:t>be </a:t>
            </a:r>
            <a:r>
              <a:rPr b="0" i="0" strike="noStrike" dirty="0"/>
              <a:t>used </a:t>
            </a:r>
            <a:r>
              <a:rPr b="0" i="0" strike="noStrike" dirty="0"/>
              <a:t>validly </a:t>
            </a:r>
            <a:r>
              <a:rPr b="0" i="0" strike="noStrike" dirty="0"/>
              <a:t>within </a:t>
            </a:r>
            <a:r>
              <a:rPr b="0" i="0" strike="noStrike" dirty="0"/>
              <a:t>other </a:t>
            </a:r>
            <a:r>
              <a:rPr b="0" i="0" strike="noStrike" dirty="0"/>
              <a:t>XML </a:t>
            </a:r>
            <a:r>
              <a:rPr b="0" i="0" strike="noStrike" dirty="0"/>
              <a:t>documents. </a:t>
            </a:r>
            <a:r>
              <a:rPr b="0" i="0" strike="noStrike" dirty="0"/>
              <a:t>XML </a:t>
            </a:r>
            <a:r>
              <a:rPr b="0" i="0" strike="noStrike" dirty="0"/>
              <a:t>schema </a:t>
            </a:r>
            <a:r>
              <a:rPr b="0" i="0" strike="noStrike" dirty="0"/>
              <a:t>definition </a:t>
            </a:r>
            <a:r>
              <a:rPr b="0" i="0" strike="noStrike" dirty="0"/>
              <a:t>refers </a:t>
            </a:r>
            <a:r>
              <a:rPr b="0" i="0" strike="noStrike" dirty="0"/>
              <a:t>to </a:t>
            </a:r>
            <a:r>
              <a:rPr b="0" i="0" strike="noStrike" dirty="0"/>
              <a:t>the </a:t>
            </a:r>
            <a:r>
              <a:rPr b="0" i="0" strike="noStrike" dirty="0"/>
              <a:t>fully </a:t>
            </a:r>
            <a:r>
              <a:rPr b="0" i="0" strike="noStrike" dirty="0"/>
              <a:t>specified </a:t>
            </a:r>
            <a:r>
              <a:rPr b="0" i="0" strike="noStrike" dirty="0"/>
              <a:t>and </a:t>
            </a:r>
            <a:r>
              <a:rPr b="0" i="0" strike="noStrike" dirty="0"/>
              <a:t>currently </a:t>
            </a:r>
            <a:r>
              <a:rPr b="0" i="0" strike="noStrike" dirty="0"/>
              <a:t>recommended </a:t>
            </a:r>
            <a:r>
              <a:rPr b="0" i="0" strike="noStrike" dirty="0"/>
              <a:t>standard </a:t>
            </a:r>
            <a:r>
              <a:rPr b="0" i="0" strike="noStrike" dirty="0"/>
              <a:t>for </a:t>
            </a:r>
            <a:r>
              <a:rPr b="0" i="0" strike="noStrike" dirty="0"/>
              <a:t>use </a:t>
            </a:r>
            <a:r>
              <a:rPr b="0" i="0" strike="noStrike" dirty="0"/>
              <a:t>in </a:t>
            </a:r>
            <a:r>
              <a:rPr b="0" i="0" strike="noStrike" dirty="0"/>
              <a:t>authoring </a:t>
            </a:r>
            <a:r>
              <a:rPr/>
              <a:t>XML </a:t>
            </a:r>
            <a:r>
              <a:rPr/>
              <a:t>schemas</a:t>
            </a:r>
            <a:r>
              <a:rPr b="0" i="0" strike="noStrike" dirty="0"/>
              <a:t>.</a:t>
            </a:r>
          </a:p>
        </p:txBody>
      </p:sp>
      <p:sp>
        <p:nvSpPr>
          <p:cNvPr id="6" name="TextBox6"/>
          <p:cNvSpPr txBox="1">
            <a:spLocks noChangeArrowheads="1"/>
          </p:cNvSpPr>
          <p:nvPr/>
        </p:nvSpPr>
        <p:spPr>
          <a:xfrm rot="0">
            <a:off x="508000" y="4770120"/>
            <a:ext cx="11176000" cy="640080"/>
          </a:xfrm>
          <a:prstGeom prst="rect">
            <a:avLst/>
          </a:prstGeom>
          <a:ln>
            <a:headEnd type="none"/>
            <a:tailEnd type="none"/>
          </a:ln>
        </p:spPr>
        <p:txBody>
          <a:bodyPr wrap="square">
            <a:spAutoFit/>
          </a:bodyPr>
          <a:lstStyle/>
          <a:p>
            <a:pPr algn="l" defTabSz="914400"/>
            <a:r>
              <a:rPr b="1" i="0" strike="noStrike" dirty="0"/>
              <a:t>MAY, </a:t>
            </a:r>
            <a:r>
              <a:rPr b="1" i="0" strike="noStrike" dirty="0"/>
              <a:t>SHOULD, </a:t>
            </a:r>
            <a:r>
              <a:rPr b="1" i="0" strike="noStrike" dirty="0"/>
              <a:t>MUST, </a:t>
            </a:r>
            <a:r>
              <a:rPr b="1" i="0" strike="noStrike" dirty="0"/>
              <a:t>SHOULD </a:t>
            </a:r>
            <a:r>
              <a:rPr b="1" i="0" strike="noStrike" dirty="0"/>
              <a:t>NOT, </a:t>
            </a:r>
            <a:r>
              <a:rPr b="1" i="0" strike="noStrike" dirty="0"/>
              <a:t>MUST </a:t>
            </a:r>
            <a:r>
              <a:rPr b="1" i="0" strike="noStrike" dirty="0"/>
              <a:t>NOT:</a:t>
            </a:r>
            <a:r>
              <a:rPr b="0" i="0" strike="noStrike" dirty="0"/>
              <a:t> </a:t>
            </a:r>
            <a:r>
              <a:rPr b="0" i="0" strike="noStrike" dirty="0"/>
              <a:t>These </a:t>
            </a:r>
            <a:r>
              <a:rPr b="0" i="0" strike="noStrike" dirty="0"/>
              <a:t>terms </a:t>
            </a:r>
            <a:r>
              <a:rPr b="0" i="0" strike="noStrike" dirty="0"/>
              <a:t>(in </a:t>
            </a:r>
            <a:r>
              <a:rPr b="0" i="0" strike="noStrike" dirty="0"/>
              <a:t>all </a:t>
            </a:r>
            <a:r>
              <a:rPr b="0" i="0" strike="noStrike" dirty="0"/>
              <a:t>caps) </a:t>
            </a:r>
            <a:r>
              <a:rPr b="0" i="0" strike="noStrike" dirty="0"/>
              <a:t>are </a:t>
            </a:r>
            <a:r>
              <a:rPr b="0" i="0" strike="noStrike" dirty="0"/>
              <a:t>used </a:t>
            </a:r>
            <a:r>
              <a:rPr b="0" i="0" strike="noStrike" dirty="0"/>
              <a:t>as </a:t>
            </a:r>
            <a:r>
              <a:rPr b="0" i="0" strike="noStrike" dirty="0"/>
              <a:t>defined </a:t>
            </a:r>
            <a:r>
              <a:rPr b="0" i="0" strike="noStrike" dirty="0"/>
              <a:t>in </a:t>
            </a:r>
            <a:r>
              <a:rPr>
                <a:hlinkClick r:id="rId4" action="ppaction://hlinkfile"/>
              </a:rPr>
              <a:t>[RFC2119]</a:t>
            </a:r>
            <a:r>
              <a:rPr b="0" i="0" strike="noStrike" dirty="0"/>
              <a:t>. </a:t>
            </a:r>
            <a:r>
              <a:rPr b="0" i="0" strike="noStrike" dirty="0"/>
              <a:t>All </a:t>
            </a:r>
            <a:r>
              <a:rPr b="0" i="0" strike="noStrike" dirty="0"/>
              <a:t>statements </a:t>
            </a:r>
            <a:r>
              <a:rPr b="0" i="0" strike="noStrike" dirty="0"/>
              <a:t>of </a:t>
            </a:r>
            <a:r>
              <a:rPr b="0" i="0" strike="noStrike" dirty="0"/>
              <a:t>optional </a:t>
            </a:r>
            <a:r>
              <a:rPr b="0" i="0" strike="noStrike" dirty="0"/>
              <a:t>behavior </a:t>
            </a:r>
            <a:r>
              <a:rPr b="0" i="0" strike="noStrike" dirty="0"/>
              <a:t>use </a:t>
            </a:r>
            <a:r>
              <a:rPr b="0" i="0" strike="noStrike" dirty="0"/>
              <a:t>either </a:t>
            </a:r>
            <a:r>
              <a:rPr b="0" i="0" strike="noStrike" dirty="0"/>
              <a:t>MAY, </a:t>
            </a:r>
            <a:r>
              <a:rPr b="0" i="0" strike="noStrike" dirty="0"/>
              <a:t>SHOULD, </a:t>
            </a:r>
            <a:r>
              <a:rPr b="0" i="0" strike="noStrike" dirty="0"/>
              <a:t>or </a:t>
            </a:r>
            <a:r>
              <a:rPr b="0" i="0" strike="noStrike" dirty="0"/>
              <a:t>SHOULD </a:t>
            </a:r>
            <a:r>
              <a:rPr b="0" i="0" strike="noStrike" dirty="0"/>
              <a:t>NOT.</a:t>
            </a:r>
          </a:p>
        </p:txBody>
      </p:sp>
      <p:sp>
        <p:nvSpPr>
          <p:cNvPr id="7" name="TextBox7"/>
          <p:cNvSpPr txBox="1">
            <a:spLocks noChangeArrowheads="1"/>
          </p:cNvSpPr>
          <p:nvPr/>
        </p:nvSpPr>
        <p:spPr>
          <a:xfrm rot="0">
            <a:off x="508000" y="5435600"/>
            <a:ext cx="11176000" cy="497840"/>
          </a:xfrm>
          <a:prstGeom prst="rect">
            <a:avLst/>
          </a:prstGeom>
          <a:ln>
            <a:headEnd type="none"/>
            <a:tailEnd type="none"/>
          </a:ln>
        </p:spPr>
        <p:txBody>
          <a:bodyPr wrap="square">
            <a:spAutoFit/>
          </a:bodyPr>
          <a:lstStyle/>
          <a:p>
            <a:pPr algn="l" defTabSz="914400">
              <a:defRPr sz="2800" b="1" dirty="0"/>
            </a:pPr>
            <a:r>
              <a:rPr b="1" i="1" strike="noStrike" dirty="0"/>
              <a:t>References</a:t>
            </a:r>
          </a:p>
        </p:txBody>
      </p:sp>
      <p:sp>
        <p:nvSpPr>
          <p:cNvPr id="8" name="TextBox8"/>
          <p:cNvSpPr txBox="1">
            <a:spLocks noChangeArrowheads="1"/>
          </p:cNvSpPr>
          <p:nvPr/>
        </p:nvSpPr>
        <p:spPr>
          <a:xfrm rot="0">
            <a:off x="508000" y="5958840"/>
            <a:ext cx="11176000" cy="320040"/>
          </a:xfrm>
          <a:prstGeom prst="rect">
            <a:avLst/>
          </a:prstGeom>
          <a:ln>
            <a:headEnd type="none"/>
            <a:tailEnd type="none"/>
          </a:ln>
        </p:spPr>
        <p:txBody>
          <a:bodyPr wrap="square">
            <a:spAutoFit/>
          </a:bodyPr>
          <a:lstStyle/>
          <a:p>
            <a:pPr algn="l" defTabSz="914400"/>
            <a:r>
              <a:rPr b="0" i="0" strike="noStrike" dirty="0"/>
              <a:t>Links </a:t>
            </a:r>
            <a:r>
              <a:rPr b="0" i="0" strike="noStrike" dirty="0"/>
              <a:t>to </a:t>
            </a:r>
            <a:r>
              <a:rPr b="0" i="0" strike="noStrike" dirty="0"/>
              <a:t>a </a:t>
            </a:r>
            <a:r>
              <a:rPr b="0" i="0" strike="noStrike" dirty="0"/>
              <a:t>document </a:t>
            </a:r>
            <a:r>
              <a:rPr b="0" i="0" strike="noStrike" dirty="0"/>
              <a:t>in </a:t>
            </a:r>
            <a:r>
              <a:rPr b="0" i="0" strike="noStrike" dirty="0"/>
              <a:t>the </a:t>
            </a:r>
            <a:r>
              <a:rPr b="0" i="0" strike="noStrike" dirty="0"/>
              <a:t>Microsoft </a:t>
            </a:r>
            <a:r>
              <a:rPr b="0" i="0" strike="noStrike" dirty="0"/>
              <a:t>Open </a:t>
            </a:r>
            <a:r>
              <a:rPr b="0" i="0" strike="noStrike" dirty="0"/>
              <a:t>Specifications </a:t>
            </a:r>
            <a:r>
              <a:rPr b="0" i="0" strike="noStrike" dirty="0"/>
              <a:t>library </a:t>
            </a:r>
            <a:r>
              <a:rPr b="0" i="0" strike="noStrike" dirty="0"/>
              <a:t>point </a:t>
            </a:r>
            <a:r>
              <a:rPr b="0" i="0" strike="noStrike" dirty="0"/>
              <a:t>to </a:t>
            </a:r>
            <a:r>
              <a:rPr b="0" i="0" strike="noStrike" dirty="0"/>
              <a:t>the </a:t>
            </a:r>
            <a:r>
              <a:rPr b="0" i="0" strike="noStrike" dirty="0"/>
              <a:t>correct </a:t>
            </a:r>
            <a:r>
              <a:rPr b="0" i="0" strike="noStrike" dirty="0"/>
              <a:t>section </a:t>
            </a:r>
            <a:r>
              <a:rPr b="0" i="0" strike="noStrike" dirty="0"/>
              <a:t>in </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960120"/>
          </a:xfrm>
          <a:prstGeom prst="rect">
            <a:avLst/>
          </a:prstGeom>
          <a:ln>
            <a:headEnd type="none"/>
            <a:tailEnd type="none"/>
          </a:ln>
        </p:spPr>
        <p:txBody>
          <a:bodyPr wrap="square">
            <a:spAutoFit/>
          </a:bodyPr>
          <a:lstStyle/>
          <a:p>
            <a:pPr algn="l" defTabSz="914400"/>
            <a:r>
              <a:rPr b="0" i="0" strike="noStrike" dirty="0"/>
              <a:t>the </a:t>
            </a:r>
            <a:r>
              <a:rPr b="0" i="0" strike="noStrike" dirty="0"/>
              <a:t>most </a:t>
            </a:r>
            <a:r>
              <a:rPr b="0" i="0" strike="noStrike" dirty="0"/>
              <a:t>recently </a:t>
            </a:r>
            <a:r>
              <a:rPr b="0" i="0" strike="noStrike" dirty="0"/>
              <a:t>published </a:t>
            </a:r>
            <a:r>
              <a:rPr b="0" i="0" strike="noStrike" dirty="0"/>
              <a:t>version </a:t>
            </a:r>
            <a:r>
              <a:rPr b="0" i="0" strike="noStrike" dirty="0"/>
              <a:t>of </a:t>
            </a:r>
            <a:r>
              <a:rPr b="0" i="0" strike="noStrike" dirty="0"/>
              <a:t>the </a:t>
            </a:r>
            <a:r>
              <a:rPr b="0" i="0" strike="noStrike" dirty="0"/>
              <a:t>referenced </a:t>
            </a:r>
            <a:r>
              <a:rPr b="0" i="0" strike="noStrike" dirty="0"/>
              <a:t>document. </a:t>
            </a:r>
            <a:r>
              <a:rPr b="0" i="0" strike="noStrike" dirty="0"/>
              <a:t>However, </a:t>
            </a:r>
            <a:r>
              <a:rPr b="0" i="0" strike="noStrike" dirty="0"/>
              <a:t>because </a:t>
            </a:r>
            <a:r>
              <a:rPr b="0" i="0" strike="noStrike" dirty="0"/>
              <a:t>individual </a:t>
            </a:r>
            <a:r>
              <a:rPr b="0" i="0" strike="noStrike" dirty="0"/>
              <a:t>documents </a:t>
            </a:r>
            <a:r>
              <a:rPr b="0" i="0" strike="noStrike" dirty="0"/>
              <a:t>in </a:t>
            </a:r>
            <a:r>
              <a:rPr b="0" i="0" strike="noStrike" dirty="0"/>
              <a:t>the </a:t>
            </a:r>
            <a:r>
              <a:rPr b="0" i="0" strike="noStrike" dirty="0"/>
              <a:t>library </a:t>
            </a:r>
            <a:r>
              <a:rPr b="0" i="0" strike="noStrike" dirty="0"/>
              <a:t>are </a:t>
            </a:r>
            <a:r>
              <a:rPr b="0" i="0" strike="noStrike" dirty="0"/>
              <a:t>not </a:t>
            </a:r>
            <a:r>
              <a:rPr b="0" i="0" strike="noStrike" dirty="0"/>
              <a:t>updated </a:t>
            </a:r>
            <a:r>
              <a:rPr b="0" i="0" strike="noStrike" dirty="0"/>
              <a:t>at </a:t>
            </a:r>
            <a:r>
              <a:rPr b="0" i="0" strike="noStrike" dirty="0"/>
              <a:t>the </a:t>
            </a:r>
            <a:r>
              <a:rPr b="0" i="0" strike="noStrike" dirty="0"/>
              <a:t>same </a:t>
            </a:r>
            <a:r>
              <a:rPr b="0" i="0" strike="noStrike" dirty="0"/>
              <a:t>time, </a:t>
            </a:r>
            <a:r>
              <a:rPr b="0" i="0" strike="noStrike" dirty="0"/>
              <a:t>the </a:t>
            </a:r>
            <a:r>
              <a:rPr b="0" i="0" strike="noStrike" dirty="0"/>
              <a:t>section </a:t>
            </a:r>
            <a:r>
              <a:rPr b="0" i="0" strike="noStrike" dirty="0"/>
              <a:t>numbers </a:t>
            </a:r>
            <a:r>
              <a:rPr b="0" i="0" strike="noStrike" dirty="0"/>
              <a:t>in </a:t>
            </a:r>
            <a:r>
              <a:rPr b="0" i="0" strike="noStrike" dirty="0"/>
              <a:t>the </a:t>
            </a:r>
            <a:r>
              <a:rPr b="0" i="0" strike="noStrike" dirty="0"/>
              <a:t>documents </a:t>
            </a:r>
            <a:r>
              <a:rPr b="0" i="0" strike="noStrike" dirty="0"/>
              <a:t>may </a:t>
            </a:r>
            <a:r>
              <a:rPr b="0" i="0" strike="noStrike" dirty="0"/>
              <a:t>not </a:t>
            </a:r>
            <a:r>
              <a:rPr b="0" i="0" strike="noStrike" dirty="0"/>
              <a:t>match. </a:t>
            </a:r>
            <a:r>
              <a:rPr b="0" i="0" strike="noStrike" dirty="0"/>
              <a:t>You </a:t>
            </a:r>
            <a:r>
              <a:rPr b="0" i="0" strike="noStrike" dirty="0"/>
              <a:t>can </a:t>
            </a:r>
            <a:r>
              <a:rPr b="0" i="0" strike="noStrike" dirty="0"/>
              <a:t>confirm </a:t>
            </a:r>
            <a:r>
              <a:rPr b="0" i="0" strike="noStrike" dirty="0"/>
              <a:t>the </a:t>
            </a:r>
            <a:r>
              <a:rPr b="0" i="0" strike="noStrike" dirty="0"/>
              <a:t>correct </a:t>
            </a:r>
            <a:r>
              <a:rPr b="0" i="0" strike="noStrike" dirty="0"/>
              <a:t>section </a:t>
            </a:r>
            <a:r>
              <a:rPr b="0" i="0" strike="noStrike" dirty="0"/>
              <a:t>numbering </a:t>
            </a:r>
            <a:r>
              <a:rPr b="0" i="0" strike="noStrike" dirty="0"/>
              <a:t>by </a:t>
            </a:r>
            <a:r>
              <a:rPr b="0" i="0" strike="noStrike" dirty="0"/>
              <a:t>checking </a:t>
            </a:r>
            <a:r>
              <a:rPr b="0" i="0" strike="noStrike" dirty="0"/>
              <a:t>the </a:t>
            </a:r>
            <a:r>
              <a:rPr>
                <a:hlinkClick r:id="rId2" action="ppaction://hlinkfile"/>
              </a:rPr>
              <a:t>Errata</a:t>
            </a:r>
            <a:r>
              <a:rPr b="0" i="0" strike="noStrike" dirty="0"/>
              <a:t>. </a:t>
            </a:r>
            <a:r>
              <a:rPr b="0" i="0" strike="noStrike" dirty="0"/>
              <a:t> </a:t>
            </a:r>
          </a:p>
        </p:txBody>
      </p:sp>
      <p:sp>
        <p:nvSpPr>
          <p:cNvPr id="3" name="TextBox3"/>
          <p:cNvSpPr txBox="1">
            <a:spLocks noChangeArrowheads="1"/>
          </p:cNvSpPr>
          <p:nvPr/>
        </p:nvSpPr>
        <p:spPr>
          <a:xfrm rot="0">
            <a:off x="508000" y="1493520"/>
            <a:ext cx="11176000" cy="426720"/>
          </a:xfrm>
          <a:prstGeom prst="rect">
            <a:avLst/>
          </a:prstGeom>
          <a:ln>
            <a:headEnd type="none"/>
            <a:tailEnd type="none"/>
          </a:ln>
        </p:spPr>
        <p:txBody>
          <a:bodyPr wrap="square">
            <a:spAutoFit/>
          </a:bodyPr>
          <a:lstStyle/>
          <a:p>
            <a:pPr algn="l" defTabSz="914400">
              <a:defRPr sz="2400" b="1" dirty="0"/>
            </a:pPr>
            <a:r>
              <a:rPr b="1" i="0" strike="noStrike" dirty="0"/>
              <a:t>Normative </a:t>
            </a:r>
            <a:r>
              <a:rPr b="1" i="0" strike="noStrike" dirty="0"/>
              <a:t>References </a:t>
            </a:r>
            <a:r>
              <a:rPr b="1" i="0" strike="noStrike" dirty="0"/>
              <a:t>XE </a:t>
            </a:r>
            <a:r>
              <a:rPr b="1" i="0" strike="noStrike" dirty="0"/>
              <a:t>"References:normative" </a:t>
            </a:r>
            <a:r>
              <a:rPr b="1" i="0" strike="noStrike" dirty="0"/>
              <a:t> </a:t>
            </a:r>
            <a:r>
              <a:rPr b="1" i="0" strike="noStrike" dirty="0"/>
              <a:t>XE </a:t>
            </a:r>
            <a:r>
              <a:rPr b="1" i="0" strike="noStrike" dirty="0"/>
              <a:t>"Normative </a:t>
            </a:r>
            <a:r>
              <a:rPr b="1" i="0" strike="noStrike" dirty="0"/>
              <a:t>references"</a:t>
            </a:r>
          </a:p>
        </p:txBody>
      </p:sp>
      <p:sp>
        <p:nvSpPr>
          <p:cNvPr id="4" name="TextBox4"/>
          <p:cNvSpPr txBox="1">
            <a:spLocks noChangeArrowheads="1"/>
          </p:cNvSpPr>
          <p:nvPr/>
        </p:nvSpPr>
        <p:spPr>
          <a:xfrm rot="0">
            <a:off x="508000" y="1945640"/>
            <a:ext cx="11176000" cy="960120"/>
          </a:xfrm>
          <a:prstGeom prst="rect">
            <a:avLst/>
          </a:prstGeom>
          <a:ln>
            <a:headEnd type="none"/>
            <a:tailEnd type="none"/>
          </a:ln>
        </p:spPr>
        <p:txBody>
          <a:bodyPr wrap="square">
            <a:spAutoFit/>
          </a:bodyPr>
          <a:lstStyle/>
          <a:p>
            <a:pPr algn="l" defTabSz="914400"/>
            <a:r>
              <a:rPr b="0" i="0" strike="noStrike" dirty="0"/>
              <a:t>We </a:t>
            </a:r>
            <a:r>
              <a:rPr b="0" i="0" strike="noStrike" dirty="0"/>
              <a:t>conduct </a:t>
            </a:r>
            <a:r>
              <a:rPr b="0" i="0" strike="noStrike" dirty="0"/>
              <a:t>frequent </a:t>
            </a:r>
            <a:r>
              <a:rPr b="0" i="0" strike="noStrike" dirty="0"/>
              <a:t>surveys </a:t>
            </a:r>
            <a:r>
              <a:rPr b="0" i="0" strike="noStrike" dirty="0"/>
              <a:t>of </a:t>
            </a:r>
            <a:r>
              <a:rPr b="0" i="0" strike="noStrike" dirty="0"/>
              <a:t>the </a:t>
            </a:r>
            <a:r>
              <a:rPr b="0" i="0" strike="noStrike" dirty="0"/>
              <a:t>normative </a:t>
            </a:r>
            <a:r>
              <a:rPr b="0" i="0" strike="noStrike" dirty="0"/>
              <a:t>references </a:t>
            </a:r>
            <a:r>
              <a:rPr b="0" i="0" strike="noStrike" dirty="0"/>
              <a:t>to </a:t>
            </a:r>
            <a:r>
              <a:rPr b="0" i="0" strike="noStrike" dirty="0"/>
              <a:t>assure </a:t>
            </a:r>
            <a:r>
              <a:rPr b="0" i="0" strike="noStrike" dirty="0"/>
              <a:t>their </a:t>
            </a:r>
            <a:r>
              <a:rPr b="0" i="0" strike="noStrike" dirty="0"/>
              <a:t>continued </a:t>
            </a:r>
            <a:r>
              <a:rPr b="0" i="0" strike="noStrike" dirty="0"/>
              <a:t>availability. </a:t>
            </a:r>
            <a:r>
              <a:rPr b="0" i="0" strike="noStrike" dirty="0"/>
              <a:t>If </a:t>
            </a:r>
            <a:r>
              <a:rPr b="0" i="0" strike="noStrike" dirty="0"/>
              <a:t>you </a:t>
            </a:r>
            <a:r>
              <a:rPr b="0" i="0" strike="noStrike" dirty="0"/>
              <a:t>have </a:t>
            </a:r>
            <a:r>
              <a:rPr b="0" i="0" strike="noStrike" dirty="0"/>
              <a:t>any </a:t>
            </a:r>
            <a:r>
              <a:rPr b="0" i="0" strike="noStrike" dirty="0"/>
              <a:t>issue </a:t>
            </a:r>
            <a:r>
              <a:rPr b="0" i="0" strike="noStrike" dirty="0"/>
              <a:t>with </a:t>
            </a:r>
            <a:r>
              <a:rPr b="0" i="0" strike="noStrike" dirty="0"/>
              <a:t>finding </a:t>
            </a:r>
            <a:r>
              <a:rPr b="0" i="0" strike="noStrike" dirty="0"/>
              <a:t>a </a:t>
            </a:r>
            <a:r>
              <a:rPr b="0" i="0" strike="noStrike" dirty="0"/>
              <a:t>normative </a:t>
            </a:r>
            <a:r>
              <a:rPr b="0" i="0" strike="noStrike" dirty="0"/>
              <a:t>reference, </a:t>
            </a:r>
            <a:r>
              <a:rPr b="0" i="0" strike="noStrike" dirty="0"/>
              <a:t>please </a:t>
            </a:r>
            <a:r>
              <a:rPr b="0" i="0" strike="noStrike" dirty="0"/>
              <a:t>contact </a:t>
            </a:r>
            <a:r>
              <a:rPr>
                <a:hlinkClick r:id="rId3" action="ppaction://hlinkfile"/>
              </a:rPr>
              <a:t>dochelp@microsoft.com</a:t>
            </a:r>
            <a:r>
              <a:rPr b="0" i="0" strike="noStrike" dirty="0"/>
              <a:t>. </a:t>
            </a:r>
            <a:r>
              <a:rPr b="0" i="0" strike="noStrike" dirty="0"/>
              <a:t>We </a:t>
            </a:r>
            <a:r>
              <a:rPr b="0" i="0" strike="noStrike" dirty="0"/>
              <a:t>will </a:t>
            </a:r>
            <a:r>
              <a:rPr b="0" i="0" strike="noStrike" dirty="0"/>
              <a:t>assist </a:t>
            </a:r>
            <a:r>
              <a:rPr b="0" i="0" strike="noStrike" dirty="0"/>
              <a:t>you </a:t>
            </a:r>
            <a:r>
              <a:rPr b="0" i="0" strike="noStrike" dirty="0"/>
              <a:t>in </a:t>
            </a:r>
            <a:r>
              <a:rPr b="0" i="0" strike="noStrike" dirty="0"/>
              <a:t>finding </a:t>
            </a:r>
            <a:r>
              <a:rPr b="0" i="0" strike="noStrike" dirty="0"/>
              <a:t>the </a:t>
            </a:r>
            <a:r>
              <a:rPr b="0" i="0" strike="noStrike" dirty="0"/>
              <a:t>relevant </a:t>
            </a:r>
            <a:r>
              <a:rPr b="0" i="0" strike="noStrike" dirty="0"/>
              <a:t>information. </a:t>
            </a:r>
          </a:p>
        </p:txBody>
      </p:sp>
      <p:sp>
        <p:nvSpPr>
          <p:cNvPr id="5" name="TextBox5"/>
          <p:cNvSpPr txBox="1">
            <a:spLocks noChangeArrowheads="1"/>
          </p:cNvSpPr>
          <p:nvPr/>
        </p:nvSpPr>
        <p:spPr>
          <a:xfrm rot="0">
            <a:off x="508000" y="2931160"/>
            <a:ext cx="11176000" cy="640080"/>
          </a:xfrm>
          <a:prstGeom prst="rect">
            <a:avLst/>
          </a:prstGeom>
          <a:ln>
            <a:headEnd type="none"/>
            <a:tailEnd type="none"/>
          </a:ln>
        </p:spPr>
        <p:txBody>
          <a:bodyPr wrap="square">
            <a:spAutoFit/>
          </a:bodyPr>
          <a:lstStyle/>
          <a:p>
            <a:pPr algn="l" defTabSz="914400"/>
            <a:r>
              <a:rPr b="0" i="0" strike="noStrike" dirty="0"/>
              <a:t>[ECMA-376] </a:t>
            </a:r>
            <a:r>
              <a:rPr b="0" i="0" strike="noStrike" dirty="0"/>
              <a:t>ECMA </a:t>
            </a:r>
            <a:r>
              <a:rPr b="0" i="0" strike="noStrike" dirty="0"/>
              <a:t>International, </a:t>
            </a:r>
            <a:r>
              <a:rPr b="0" i="0" strike="noStrike" dirty="0"/>
              <a:t>"Office </a:t>
            </a:r>
            <a:r>
              <a:rPr b="0" i="0" strike="noStrike" dirty="0"/>
              <a:t>Open </a:t>
            </a:r>
            <a:r>
              <a:rPr b="0" i="0" strike="noStrike" dirty="0"/>
              <a:t>XML </a:t>
            </a:r>
            <a:r>
              <a:rPr b="0" i="0" strike="noStrike" dirty="0"/>
              <a:t>File </a:t>
            </a:r>
            <a:r>
              <a:rPr b="0" i="0" strike="noStrike" dirty="0"/>
              <a:t>Formats", </a:t>
            </a:r>
            <a:r>
              <a:rPr b="0" i="0" strike="noStrike" dirty="0"/>
              <a:t>1st </a:t>
            </a:r>
            <a:r>
              <a:rPr b="0" i="0" strike="noStrike" dirty="0"/>
              <a:t>Edition, </a:t>
            </a:r>
            <a:r>
              <a:rPr b="0" i="0" strike="noStrike" dirty="0"/>
              <a:t>ECMA-376, </a:t>
            </a:r>
            <a:r>
              <a:rPr b="0" i="0" strike="noStrike" dirty="0"/>
              <a:t>December </a:t>
            </a:r>
            <a:r>
              <a:rPr b="0" i="0" strike="noStrike" dirty="0"/>
              <a:t>2006, </a:t>
            </a:r>
            <a:r>
              <a:rPr>
                <a:hlinkClick r:id="rId4" action="ppaction://hlinkfile"/>
              </a:rPr>
              <a:t>http://www.ecma-international.org/publications/standards/Ecma-376.htm</a:t>
            </a:r>
          </a:p>
        </p:txBody>
      </p:sp>
      <p:sp>
        <p:nvSpPr>
          <p:cNvPr id="6" name="TextBox6"/>
          <p:cNvSpPr txBox="1">
            <a:spLocks noChangeArrowheads="1"/>
          </p:cNvSpPr>
          <p:nvPr/>
        </p:nvSpPr>
        <p:spPr>
          <a:xfrm rot="0">
            <a:off x="508000" y="3596640"/>
            <a:ext cx="11176000" cy="320040"/>
          </a:xfrm>
          <a:prstGeom prst="rect">
            <a:avLst/>
          </a:prstGeom>
          <a:ln>
            <a:headEnd type="none"/>
            <a:tailEnd type="none"/>
          </a:ln>
        </p:spPr>
        <p:txBody>
          <a:bodyPr wrap="square">
            <a:spAutoFit/>
          </a:bodyPr>
          <a:lstStyle/>
          <a:p>
            <a:pPr algn="l" defTabSz="914400"/>
            <a:r>
              <a:rPr b="0" i="0" strike="noStrike" dirty="0"/>
              <a:t>[MS-CUSTOMUI2] </a:t>
            </a:r>
            <a:r>
              <a:rPr b="0" i="0" strike="noStrike" dirty="0"/>
              <a:t>Microsoft </a:t>
            </a:r>
            <a:r>
              <a:rPr b="0" i="0" strike="noStrike" dirty="0"/>
              <a:t>Corporation, </a:t>
            </a:r>
            <a:r>
              <a:rPr b="0" i="0" strike="noStrike" dirty="0"/>
              <a:t>"</a:t>
            </a:r>
            <a:r>
              <a:rPr/>
              <a:t>Custom </a:t>
            </a:r>
            <a:r>
              <a:rPr/>
              <a:t>UI </a:t>
            </a:r>
            <a:r>
              <a:rPr/>
              <a:t>XML </a:t>
            </a:r>
            <a:r>
              <a:rPr/>
              <a:t>Markup </a:t>
            </a:r>
            <a:r>
              <a:rPr/>
              <a:t>Version </a:t>
            </a:r>
            <a:r>
              <a:rPr/>
              <a:t>2 </a:t>
            </a:r>
            <a:r>
              <a:rPr/>
              <a:t>Specification</a:t>
            </a:r>
            <a:r>
              <a:rPr b="0" i="0" strike="noStrike" dirty="0"/>
              <a:t>".</a:t>
            </a:r>
          </a:p>
        </p:txBody>
      </p:sp>
      <p:sp>
        <p:nvSpPr>
          <p:cNvPr id="7" name="TextBox7"/>
          <p:cNvSpPr txBox="1">
            <a:spLocks noChangeArrowheads="1"/>
          </p:cNvSpPr>
          <p:nvPr/>
        </p:nvSpPr>
        <p:spPr>
          <a:xfrm rot="0">
            <a:off x="508000" y="3942080"/>
            <a:ext cx="11176000" cy="640080"/>
          </a:xfrm>
          <a:prstGeom prst="rect">
            <a:avLst/>
          </a:prstGeom>
          <a:ln>
            <a:headEnd type="none"/>
            <a:tailEnd type="none"/>
          </a:ln>
        </p:spPr>
        <p:txBody>
          <a:bodyPr wrap="square">
            <a:spAutoFit/>
          </a:bodyPr>
          <a:lstStyle/>
          <a:p>
            <a:pPr algn="l" defTabSz="914400"/>
            <a:r>
              <a:rPr b="0" i="0" strike="noStrike" dirty="0"/>
              <a:t>[RFC2119] </a:t>
            </a:r>
            <a:r>
              <a:rPr b="0" i="0" strike="noStrike" dirty="0"/>
              <a:t>Bradner, </a:t>
            </a:r>
            <a:r>
              <a:rPr b="0" i="0" strike="noStrike" dirty="0"/>
              <a:t>S., </a:t>
            </a:r>
            <a:r>
              <a:rPr b="0" i="0" strike="noStrike" dirty="0"/>
              <a:t>"Key </a:t>
            </a:r>
            <a:r>
              <a:rPr b="0" i="0" strike="noStrike" dirty="0"/>
              <a:t>words </a:t>
            </a:r>
            <a:r>
              <a:rPr b="0" i="0" strike="noStrike" dirty="0"/>
              <a:t>for </a:t>
            </a:r>
            <a:r>
              <a:rPr b="0" i="0" strike="noStrike" dirty="0"/>
              <a:t>use </a:t>
            </a:r>
            <a:r>
              <a:rPr b="0" i="0" strike="noStrike" dirty="0"/>
              <a:t>in </a:t>
            </a:r>
            <a:r>
              <a:rPr b="0" i="0" strike="noStrike" dirty="0"/>
              <a:t>RFCs </a:t>
            </a:r>
            <a:r>
              <a:rPr b="0" i="0" strike="noStrike" dirty="0"/>
              <a:t>to </a:t>
            </a:r>
            <a:r>
              <a:rPr b="0" i="0" strike="noStrike" dirty="0"/>
              <a:t>Indicate </a:t>
            </a:r>
            <a:r>
              <a:rPr b="0" i="0" strike="noStrike" dirty="0"/>
              <a:t>Requirement </a:t>
            </a:r>
            <a:r>
              <a:rPr b="0" i="0" strike="noStrike" dirty="0"/>
              <a:t>Levels", </a:t>
            </a:r>
            <a:r>
              <a:rPr b="0" i="0" strike="noStrike" dirty="0"/>
              <a:t>BCP </a:t>
            </a:r>
            <a:r>
              <a:rPr b="0" i="0" strike="noStrike" dirty="0"/>
              <a:t>14, </a:t>
            </a:r>
            <a:r>
              <a:rPr b="0" i="0" strike="noStrike" dirty="0"/>
              <a:t>RFC </a:t>
            </a:r>
            <a:r>
              <a:rPr b="0" i="0" strike="noStrike" dirty="0"/>
              <a:t>2119, </a:t>
            </a:r>
            <a:r>
              <a:rPr b="0" i="0" strike="noStrike" dirty="0"/>
              <a:t>March </a:t>
            </a:r>
            <a:r>
              <a:rPr b="0" i="0" strike="noStrike" dirty="0"/>
              <a:t>1997, </a:t>
            </a:r>
            <a:r>
              <a:rPr>
                <a:hlinkClick r:id="rId5" action="ppaction://hlinkfile"/>
              </a:rPr>
              <a:t>http://www.rfc-editor.org/rfc/rfc2119.txt</a:t>
            </a:r>
          </a:p>
        </p:txBody>
      </p:sp>
      <p:sp>
        <p:nvSpPr>
          <p:cNvPr id="8" name="TextBox8"/>
          <p:cNvSpPr txBox="1">
            <a:spLocks noChangeArrowheads="1"/>
          </p:cNvSpPr>
          <p:nvPr/>
        </p:nvSpPr>
        <p:spPr>
          <a:xfrm rot="0">
            <a:off x="508000" y="4607560"/>
            <a:ext cx="11176000" cy="640080"/>
          </a:xfrm>
          <a:prstGeom prst="rect">
            <a:avLst/>
          </a:prstGeom>
          <a:ln>
            <a:headEnd type="none"/>
            <a:tailEnd type="none"/>
          </a:ln>
        </p:spPr>
        <p:txBody>
          <a:bodyPr wrap="square">
            <a:spAutoFit/>
          </a:bodyPr>
          <a:lstStyle/>
          <a:p>
            <a:pPr algn="l" defTabSz="914400"/>
            <a:r>
              <a:rPr b="0" i="0" strike="noStrike" dirty="0"/>
              <a:t>[XMLNS] </a:t>
            </a:r>
            <a:r>
              <a:rPr b="0" i="0" strike="noStrike" dirty="0"/>
              <a:t>Bray, </a:t>
            </a:r>
            <a:r>
              <a:rPr b="0" i="0" strike="noStrike" dirty="0"/>
              <a:t>T., </a:t>
            </a:r>
            <a:r>
              <a:rPr b="0" i="0" strike="noStrike" dirty="0"/>
              <a:t>Hollander, </a:t>
            </a:r>
            <a:r>
              <a:rPr b="0" i="0" strike="noStrike" dirty="0"/>
              <a:t>D., </a:t>
            </a:r>
            <a:r>
              <a:rPr b="0" i="0" strike="noStrike" dirty="0"/>
              <a:t>Layman, </a:t>
            </a:r>
            <a:r>
              <a:rPr b="0" i="0" strike="noStrike" dirty="0"/>
              <a:t>A., </a:t>
            </a:r>
            <a:r>
              <a:rPr b="0" i="0" strike="noStrike" dirty="0"/>
              <a:t>et </a:t>
            </a:r>
            <a:r>
              <a:rPr b="0" i="0" strike="noStrike" dirty="0"/>
              <a:t>al., </a:t>
            </a:r>
            <a:r>
              <a:rPr b="0" i="0" strike="noStrike" dirty="0"/>
              <a:t>Eds., </a:t>
            </a:r>
            <a:r>
              <a:rPr b="0" i="0" strike="noStrike" dirty="0"/>
              <a:t>"Namespaces </a:t>
            </a:r>
            <a:r>
              <a:rPr b="0" i="0" strike="noStrike" dirty="0"/>
              <a:t>in </a:t>
            </a:r>
            <a:r>
              <a:rPr b="0" i="0" strike="noStrike" dirty="0"/>
              <a:t>XML </a:t>
            </a:r>
            <a:r>
              <a:rPr b="0" i="0" strike="noStrike" dirty="0"/>
              <a:t>1.0 </a:t>
            </a:r>
            <a:r>
              <a:rPr b="0" i="0" strike="noStrike" dirty="0"/>
              <a:t>(Third </a:t>
            </a:r>
            <a:r>
              <a:rPr b="0" i="0" strike="noStrike" dirty="0"/>
              <a:t>Edition)", </a:t>
            </a:r>
            <a:r>
              <a:rPr b="0" i="0" strike="noStrike" dirty="0"/>
              <a:t>W3C </a:t>
            </a:r>
            <a:r>
              <a:rPr b="0" i="0" strike="noStrike" dirty="0"/>
              <a:t>Recommendation, </a:t>
            </a:r>
            <a:r>
              <a:rPr b="0" i="0" strike="noStrike" dirty="0"/>
              <a:t>December </a:t>
            </a:r>
            <a:r>
              <a:rPr b="0" i="0" strike="noStrike" dirty="0"/>
              <a:t>2009, </a:t>
            </a:r>
            <a:r>
              <a:rPr>
                <a:hlinkClick r:id="rId6" action="ppaction://hlinkfile"/>
              </a:rPr>
              <a:t>http://www.w3.org/TR/2009/REC-xml-names-20091208/</a:t>
            </a:r>
          </a:p>
        </p:txBody>
      </p:sp>
      <p:sp>
        <p:nvSpPr>
          <p:cNvPr id="9" name="TextBox9"/>
          <p:cNvSpPr txBox="1">
            <a:spLocks noChangeArrowheads="1"/>
          </p:cNvSpPr>
          <p:nvPr/>
        </p:nvSpPr>
        <p:spPr>
          <a:xfrm rot="0">
            <a:off x="508000" y="5273040"/>
            <a:ext cx="11176000" cy="640080"/>
          </a:xfrm>
          <a:prstGeom prst="rect">
            <a:avLst/>
          </a:prstGeom>
          <a:ln>
            <a:headEnd type="none"/>
            <a:tailEnd type="none"/>
          </a:ln>
        </p:spPr>
        <p:txBody>
          <a:bodyPr wrap="square">
            <a:spAutoFit/>
          </a:bodyPr>
          <a:lstStyle/>
          <a:p>
            <a:pPr algn="l" defTabSz="914400"/>
            <a:r>
              <a:rPr b="0" i="0" strike="noStrike" dirty="0"/>
              <a:t>[XMLSCHEMA1] </a:t>
            </a:r>
            <a:r>
              <a:rPr b="0" i="0" strike="noStrike" dirty="0"/>
              <a:t>Thompson, </a:t>
            </a:r>
            <a:r>
              <a:rPr b="0" i="0" strike="noStrike" dirty="0"/>
              <a:t>H., </a:t>
            </a:r>
            <a:r>
              <a:rPr b="0" i="0" strike="noStrike" dirty="0"/>
              <a:t>Beech, </a:t>
            </a:r>
            <a:r>
              <a:rPr b="0" i="0" strike="noStrike" dirty="0"/>
              <a:t>D., </a:t>
            </a:r>
            <a:r>
              <a:rPr b="0" i="0" strike="noStrike" dirty="0"/>
              <a:t>Maloney, </a:t>
            </a:r>
            <a:r>
              <a:rPr b="0" i="0" strike="noStrike" dirty="0"/>
              <a:t>M., </a:t>
            </a:r>
            <a:r>
              <a:rPr b="0" i="0" strike="noStrike" dirty="0"/>
              <a:t>and </a:t>
            </a:r>
            <a:r>
              <a:rPr b="0" i="0" strike="noStrike" dirty="0"/>
              <a:t>Mendelsohn, </a:t>
            </a:r>
            <a:r>
              <a:rPr b="0" i="0" strike="noStrike" dirty="0"/>
              <a:t>N., </a:t>
            </a:r>
            <a:r>
              <a:rPr b="0" i="0" strike="noStrike" dirty="0"/>
              <a:t>Eds., </a:t>
            </a:r>
            <a:r>
              <a:rPr b="0" i="0" strike="noStrike" dirty="0"/>
              <a:t>"XML </a:t>
            </a:r>
            <a:r>
              <a:rPr b="0" i="0" strike="noStrike" dirty="0"/>
              <a:t>Schema </a:t>
            </a:r>
            <a:r>
              <a:rPr b="0" i="0" strike="noStrike" dirty="0"/>
              <a:t>Part </a:t>
            </a:r>
            <a:r>
              <a:rPr b="0" i="0" strike="noStrike" dirty="0"/>
              <a:t>1: </a:t>
            </a:r>
            <a:r>
              <a:rPr b="0" i="0" strike="noStrike" dirty="0"/>
              <a:t>Structures", </a:t>
            </a:r>
            <a:r>
              <a:rPr b="0" i="0" strike="noStrike" dirty="0"/>
              <a:t>W3C </a:t>
            </a:r>
            <a:r>
              <a:rPr b="0" i="0" strike="noStrike" dirty="0"/>
              <a:t>Recommendation, </a:t>
            </a:r>
            <a:r>
              <a:rPr b="0" i="0" strike="noStrike" dirty="0"/>
              <a:t>May </a:t>
            </a:r>
            <a:r>
              <a:rPr b="0" i="0" strike="noStrike" dirty="0"/>
              <a:t>2001, </a:t>
            </a:r>
            <a:r>
              <a:rPr>
                <a:hlinkClick r:id="rId7" action="ppaction://hlinkfile"/>
              </a:rPr>
              <a:t>http://www.w3.org/TR/2001/REC-xmlschema-1-20010502/</a:t>
            </a:r>
          </a:p>
        </p:txBody>
      </p:sp>
      <p:sp>
        <p:nvSpPr>
          <p:cNvPr id="10" name="TextBox10"/>
          <p:cNvSpPr txBox="1">
            <a:spLocks noChangeArrowheads="1"/>
          </p:cNvSpPr>
          <p:nvPr/>
        </p:nvSpPr>
        <p:spPr>
          <a:xfrm rot="0">
            <a:off x="508000" y="5938520"/>
            <a:ext cx="11176000" cy="320040"/>
          </a:xfrm>
          <a:prstGeom prst="rect">
            <a:avLst/>
          </a:prstGeom>
          <a:ln>
            <a:headEnd type="none"/>
            <a:tailEnd type="none"/>
          </a:ln>
        </p:spPr>
        <p:txBody>
          <a:bodyPr wrap="square">
            <a:spAutoFit/>
          </a:bodyPr>
          <a:lstStyle/>
          <a:p>
            <a:pPr algn="l" defTabSz="914400"/>
            <a:r>
              <a:rPr b="0" i="0" strike="noStrike" dirty="0"/>
              <a:t>[XMLSCHEMA2] </a:t>
            </a:r>
            <a:r>
              <a:rPr b="0" i="0" strike="noStrike" dirty="0"/>
              <a:t>Biron, </a:t>
            </a:r>
            <a:r>
              <a:rPr b="0" i="0" strike="noStrike" dirty="0"/>
              <a:t>P.V., </a:t>
            </a:r>
            <a:r>
              <a:rPr b="0" i="0" strike="noStrike" dirty="0"/>
              <a:t>Ed. </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b="0" i="0" strike="noStrike" dirty="0"/>
              <a:t>and </a:t>
            </a:r>
            <a:r>
              <a:rPr b="0" i="0" strike="noStrike" dirty="0"/>
              <a:t>Malhotra, </a:t>
            </a:r>
            <a:r>
              <a:rPr b="0" i="0" strike="noStrike" dirty="0"/>
              <a:t>A., </a:t>
            </a:r>
            <a:r>
              <a:rPr b="0" i="0" strike="noStrike" dirty="0"/>
              <a:t>Ed., </a:t>
            </a:r>
            <a:r>
              <a:rPr b="0" i="0" strike="noStrike" dirty="0"/>
              <a:t>"XML </a:t>
            </a:r>
            <a:r>
              <a:rPr b="0" i="0" strike="noStrike" dirty="0"/>
              <a:t>Schema </a:t>
            </a:r>
            <a:r>
              <a:rPr b="0" i="0" strike="noStrike" dirty="0"/>
              <a:t>Part </a:t>
            </a:r>
            <a:r>
              <a:rPr b="0" i="0" strike="noStrike" dirty="0"/>
              <a:t>2: </a:t>
            </a:r>
            <a:r>
              <a:rPr b="0" i="0" strike="noStrike" dirty="0"/>
              <a:t>Datatypes", </a:t>
            </a:r>
            <a:r>
              <a:rPr b="0" i="0" strike="noStrike" dirty="0"/>
              <a:t>W3C </a:t>
            </a:r>
            <a:r>
              <a:rPr b="0" i="0" strike="noStrike" dirty="0"/>
              <a:t>Recommendation, </a:t>
            </a:r>
            <a:r>
              <a:rPr b="0" i="0" strike="noStrike" dirty="0"/>
              <a:t>May </a:t>
            </a:r>
            <a:r>
              <a:rPr b="0" i="0" strike="noStrike" dirty="0"/>
              <a:t>2001, </a:t>
            </a:r>
            <a:r>
              <a:rPr>
                <a:hlinkClick r:id="rId2" action="ppaction://hlinkfile"/>
              </a:rPr>
              <a:t>http://www.w3.org/TR/2001/REC-xmlschema-2-20010502/</a:t>
            </a:r>
          </a:p>
        </p:txBody>
      </p:sp>
      <p:sp>
        <p:nvSpPr>
          <p:cNvPr id="3" name="TextBox3"/>
          <p:cNvSpPr txBox="1">
            <a:spLocks noChangeArrowheads="1"/>
          </p:cNvSpPr>
          <p:nvPr/>
        </p:nvSpPr>
        <p:spPr>
          <a:xfrm rot="0">
            <a:off x="508000" y="1173480"/>
            <a:ext cx="11176000" cy="853440"/>
          </a:xfrm>
          <a:prstGeom prst="rect">
            <a:avLst/>
          </a:prstGeom>
          <a:ln>
            <a:headEnd type="none"/>
            <a:tailEnd type="none"/>
          </a:ln>
        </p:spPr>
        <p:txBody>
          <a:bodyPr wrap="square">
            <a:spAutoFit/>
          </a:bodyPr>
          <a:lstStyle/>
          <a:p>
            <a:pPr algn="l" defTabSz="914400">
              <a:defRPr sz="2400" b="1" dirty="0"/>
            </a:pPr>
            <a:r>
              <a:rPr b="1" i="0" strike="noStrike" dirty="0"/>
              <a:t>Informative </a:t>
            </a:r>
            <a:r>
              <a:rPr b="1" i="0" strike="noStrike" dirty="0"/>
              <a:t>References </a:t>
            </a:r>
            <a:r>
              <a:rPr b="1" i="0" strike="noStrike" dirty="0"/>
              <a:t>XE </a:t>
            </a:r>
            <a:r>
              <a:rPr b="1" i="0" strike="noStrike" dirty="0"/>
              <a:t>"References:informative" </a:t>
            </a:r>
            <a:r>
              <a:rPr b="1" i="0" strike="noStrike" dirty="0"/>
              <a:t> </a:t>
            </a:r>
            <a:r>
              <a:rPr b="1" i="0" strike="noStrike" dirty="0"/>
              <a:t>XE </a:t>
            </a:r>
            <a:r>
              <a:rPr b="1" i="0" strike="noStrike" dirty="0"/>
              <a:t>"Informative </a:t>
            </a:r>
            <a:r>
              <a:rPr b="1" i="0" strike="noStrike" dirty="0"/>
              <a:t>references"</a:t>
            </a:r>
          </a:p>
        </p:txBody>
      </p:sp>
      <p:sp>
        <p:nvSpPr>
          <p:cNvPr id="4" name="TextBox4"/>
          <p:cNvSpPr txBox="1">
            <a:spLocks noChangeArrowheads="1"/>
          </p:cNvSpPr>
          <p:nvPr/>
        </p:nvSpPr>
        <p:spPr>
          <a:xfrm rot="0">
            <a:off x="508000" y="2052320"/>
            <a:ext cx="11176000" cy="320040"/>
          </a:xfrm>
          <a:prstGeom prst="rect">
            <a:avLst/>
          </a:prstGeom>
          <a:ln>
            <a:headEnd type="none"/>
            <a:tailEnd type="none"/>
          </a:ln>
        </p:spPr>
        <p:txBody>
          <a:bodyPr wrap="square">
            <a:spAutoFit/>
          </a:bodyPr>
          <a:lstStyle/>
          <a:p>
            <a:pPr algn="l" defTabSz="914400"/>
            <a:r>
              <a:rPr b="0" i="0" strike="noStrike" dirty="0"/>
              <a:t>None.</a:t>
            </a:r>
          </a:p>
        </p:txBody>
      </p:sp>
      <p:sp>
        <p:nvSpPr>
          <p:cNvPr id="5" name="TextBox5"/>
          <p:cNvSpPr txBox="1">
            <a:spLocks noChangeArrowheads="1"/>
          </p:cNvSpPr>
          <p:nvPr/>
        </p:nvSpPr>
        <p:spPr>
          <a:xfrm rot="0">
            <a:off x="508000" y="2397760"/>
            <a:ext cx="11176000" cy="640080"/>
          </a:xfrm>
          <a:prstGeom prst="rect">
            <a:avLst/>
          </a:prstGeom>
          <a:ln>
            <a:headEnd type="none"/>
            <a:tailEnd type="none"/>
          </a:ln>
        </p:spPr>
        <p:txBody>
          <a:bodyPr wrap="square">
            <a:spAutoFit/>
          </a:bodyPr>
          <a:lstStyle/>
          <a:p>
            <a:pPr algn="l" defTabSz="914400">
              <a:defRPr sz="3600" b="1" dirty="0"/>
            </a:pPr>
            <a:r>
              <a:rPr b="1" i="0" strike="noStrike" dirty="0"/>
              <a:t>Custom </a:t>
            </a:r>
            <a:r>
              <a:rPr b="1" i="0" strike="noStrike" dirty="0"/>
              <a:t>UI </a:t>
            </a:r>
            <a:r>
              <a:rPr b="1" i="0" strike="noStrike" dirty="0"/>
              <a:t>XE </a:t>
            </a:r>
            <a:r>
              <a:rPr b="1" i="0" strike="noStrike" dirty="0"/>
              <a:t>"Custom </a:t>
            </a:r>
            <a:r>
              <a:rPr b="1" i="0" strike="noStrike" dirty="0"/>
              <a:t>UI: </a:t>
            </a:r>
            <a:r>
              <a:rPr b="1" i="0" strike="noStrike" dirty="0"/>
              <a:t>parts"</a:t>
            </a:r>
          </a:p>
        </p:txBody>
      </p:sp>
      <p:sp>
        <p:nvSpPr>
          <p:cNvPr id="6" name="TextBox6"/>
          <p:cNvSpPr txBox="1">
            <a:spLocks noChangeArrowheads="1"/>
          </p:cNvSpPr>
          <p:nvPr/>
        </p:nvSpPr>
        <p:spPr>
          <a:xfrm rot="0">
            <a:off x="508000" y="3063240"/>
            <a:ext cx="11176000" cy="1600200"/>
          </a:xfrm>
          <a:prstGeom prst="rect">
            <a:avLst/>
          </a:prstGeom>
          <a:ln>
            <a:headEnd type="none"/>
            <a:tailEnd type="none"/>
          </a:ln>
        </p:spPr>
        <p:txBody>
          <a:bodyPr wrap="square">
            <a:spAutoFit/>
          </a:bodyPr>
          <a:lstStyle/>
          <a:p>
            <a:pPr algn="l" defTabSz="914400"/>
            <a:r>
              <a:rPr b="0" i="0" strike="noStrike" dirty="0"/>
              <a:t>The </a:t>
            </a:r>
            <a:r>
              <a:rPr b="0" i="0" strike="noStrike" dirty="0"/>
              <a:t>subordinate </a:t>
            </a:r>
            <a:r>
              <a:rPr b="0" i="0" strike="noStrike" dirty="0"/>
              <a:t>clauses </a:t>
            </a:r>
            <a:r>
              <a:rPr b="0" i="0" strike="noStrike" dirty="0"/>
              <a:t>specify </a:t>
            </a:r>
            <a:r>
              <a:rPr b="0" i="0" strike="noStrike" dirty="0"/>
              <a:t>the </a:t>
            </a:r>
            <a:r>
              <a:rPr b="0" i="0" strike="noStrike" dirty="0"/>
              <a:t>semantics </a:t>
            </a:r>
            <a:r>
              <a:rPr b="0" i="0" strike="noStrike" dirty="0"/>
              <a:t>for </a:t>
            </a:r>
            <a:r>
              <a:rPr b="0" i="0" strike="noStrike" dirty="0"/>
              <a:t>the </a:t>
            </a:r>
            <a:r>
              <a:rPr b="0" i="0" strike="noStrike" dirty="0"/>
              <a:t>Custom </a:t>
            </a:r>
            <a:r>
              <a:rPr b="0" i="0" strike="noStrike" dirty="0"/>
              <a:t>UI </a:t>
            </a:r>
            <a:r>
              <a:rPr b="0" i="0" strike="noStrike" dirty="0"/>
              <a:t>XML </a:t>
            </a:r>
            <a:r>
              <a:rPr b="0" i="0" strike="noStrike" dirty="0"/>
              <a:t>markup </a:t>
            </a:r>
            <a:r>
              <a:rPr b="0" i="0" strike="noStrike" dirty="0"/>
              <a:t>contained </a:t>
            </a:r>
            <a:r>
              <a:rPr b="0" i="0" strike="noStrike" dirty="0"/>
              <a:t>within </a:t>
            </a:r>
            <a:r>
              <a:rPr b="0" i="0" strike="noStrike" dirty="0"/>
              <a:t>the </a:t>
            </a:r>
            <a:r>
              <a:rPr b="0" i="0" strike="noStrike" dirty="0"/>
              <a:t>ECMA-376 </a:t>
            </a:r>
            <a:r>
              <a:rPr b="0" i="0" strike="noStrike" dirty="0"/>
              <a:t>Office </a:t>
            </a:r>
            <a:r>
              <a:rPr b="0" i="0" strike="noStrike" dirty="0"/>
              <a:t>Open </a:t>
            </a:r>
            <a:r>
              <a:rPr b="0" i="0" strike="noStrike" dirty="0"/>
              <a:t>XML </a:t>
            </a:r>
            <a:r>
              <a:rPr b="0" i="0" strike="noStrike" dirty="0"/>
              <a:t>File </a:t>
            </a:r>
            <a:r>
              <a:rPr b="0" i="0" strike="noStrike" dirty="0"/>
              <a:t>Formats, </a:t>
            </a:r>
            <a:r>
              <a:rPr b="0" i="0" strike="noStrike" dirty="0"/>
              <a:t>as </a:t>
            </a:r>
            <a:r>
              <a:rPr b="0" i="0" strike="noStrike" dirty="0"/>
              <a:t>specified </a:t>
            </a:r>
            <a:r>
              <a:rPr b="0" i="0" strike="noStrike" dirty="0"/>
              <a:t>in </a:t>
            </a:r>
            <a:r>
              <a:rPr>
                <a:hlinkClick r:id="rId3" action="ppaction://hlinkfile"/>
              </a:rPr>
              <a:t>[ECMA-376]</a:t>
            </a:r>
            <a:r>
              <a:rPr b="0" i="0" strike="noStrike" dirty="0"/>
              <a:t>. </a:t>
            </a:r>
            <a:r>
              <a:rPr b="0" i="0" strike="noStrike" dirty="0"/>
              <a:t>These </a:t>
            </a:r>
            <a:r>
              <a:rPr b="0" i="0" strike="noStrike" dirty="0"/>
              <a:t>semantics </a:t>
            </a:r>
            <a:r>
              <a:rPr b="0" i="0" strike="noStrike" dirty="0"/>
              <a:t>describe </a:t>
            </a:r>
            <a:r>
              <a:rPr b="0" i="0" strike="noStrike" dirty="0"/>
              <a:t>customization </a:t>
            </a:r>
            <a:r>
              <a:rPr b="0" i="0" strike="noStrike" dirty="0"/>
              <a:t>of </a:t>
            </a:r>
            <a:r>
              <a:rPr b="0" i="0" strike="noStrike" dirty="0"/>
              <a:t>the </a:t>
            </a:r>
            <a:r>
              <a:rPr b="0" i="0" strike="noStrike" dirty="0"/>
              <a:t>UI </a:t>
            </a:r>
            <a:r>
              <a:rPr b="0" i="0" strike="noStrike" dirty="0"/>
              <a:t>interface. </a:t>
            </a:r>
            <a:r>
              <a:rPr b="0" i="0" strike="noStrike" dirty="0"/>
              <a:t>Examples </a:t>
            </a:r>
            <a:r>
              <a:rPr b="0" i="0" strike="noStrike" dirty="0"/>
              <a:t>in </a:t>
            </a:r>
            <a:r>
              <a:rPr b="0" i="0" strike="noStrike" dirty="0"/>
              <a:t>the </a:t>
            </a:r>
            <a:r>
              <a:rPr b="0" i="0" strike="noStrike" dirty="0"/>
              <a:t>following </a:t>
            </a:r>
            <a:r>
              <a:rPr b="0" i="0" strike="noStrike" dirty="0"/>
              <a:t>clauses </a:t>
            </a:r>
            <a:r>
              <a:rPr b="0" i="0" strike="noStrike" dirty="0"/>
              <a:t>highlight </a:t>
            </a:r>
            <a:r>
              <a:rPr b="0" i="0" strike="noStrike" dirty="0"/>
              <a:t>customizations </a:t>
            </a:r>
            <a:r>
              <a:rPr b="0" i="0" strike="noStrike" dirty="0"/>
              <a:t>in </a:t>
            </a:r>
            <a:r>
              <a:rPr b="0" i="0" strike="noStrike" dirty="0"/>
              <a:t>the </a:t>
            </a:r>
            <a:r>
              <a:rPr b="0" i="0" strike="noStrike" dirty="0"/>
              <a:t>context </a:t>
            </a:r>
            <a:r>
              <a:rPr b="0" i="0" strike="noStrike" dirty="0"/>
              <a:t>of </a:t>
            </a:r>
            <a:r>
              <a:rPr b="0" i="0" strike="noStrike" dirty="0"/>
              <a:t>the </a:t>
            </a:r>
            <a:r>
              <a:rPr b="0" i="0" strike="noStrike" dirty="0"/>
              <a:t>Microsoft </a:t>
            </a:r>
            <a:r>
              <a:rPr b="0" i="0" strike="noStrike" dirty="0"/>
              <a:t>Office </a:t>
            </a:r>
            <a:r>
              <a:rPr b="0" i="0" strike="noStrike" dirty="0"/>
              <a:t>Fluent </a:t>
            </a:r>
            <a:r>
              <a:rPr b="0" i="0" strike="noStrike" dirty="0"/>
              <a:t>interface </a:t>
            </a:r>
            <a:r>
              <a:rPr b="0" i="0" strike="noStrike" dirty="0"/>
              <a:t>(UI) </a:t>
            </a:r>
            <a:r>
              <a:rPr b="0" i="0" strike="noStrike" dirty="0"/>
              <a:t>but </a:t>
            </a:r>
            <a:r>
              <a:rPr b="0" i="0" strike="noStrike" dirty="0"/>
              <a:t>the </a:t>
            </a:r>
            <a:r>
              <a:rPr b="0" i="0" strike="noStrike" dirty="0"/>
              <a:t>concepts </a:t>
            </a:r>
            <a:r>
              <a:rPr b="0" i="0" strike="noStrike" dirty="0"/>
              <a:t>extend </a:t>
            </a:r>
            <a:r>
              <a:rPr b="0" i="0" strike="noStrike" dirty="0"/>
              <a:t>naturally </a:t>
            </a:r>
            <a:r>
              <a:rPr b="0" i="0" strike="noStrike" dirty="0"/>
              <a:t>to </a:t>
            </a:r>
            <a:r>
              <a:rPr b="0" i="0" strike="noStrike" dirty="0"/>
              <a:t>any </a:t>
            </a:r>
            <a:r>
              <a:rPr b="0" i="0" strike="noStrike" dirty="0"/>
              <a:t>user </a:t>
            </a:r>
            <a:r>
              <a:rPr b="0" i="0" strike="noStrike" dirty="0"/>
              <a:t>interface.</a:t>
            </a:r>
          </a:p>
        </p:txBody>
      </p:sp>
      <p:sp>
        <p:nvSpPr>
          <p:cNvPr id="7" name="TextBox7"/>
          <p:cNvSpPr txBox="1">
            <a:spLocks noChangeArrowheads="1"/>
          </p:cNvSpPr>
          <p:nvPr/>
        </p:nvSpPr>
        <p:spPr>
          <a:xfrm rot="0">
            <a:off x="508000" y="4688840"/>
            <a:ext cx="11176000" cy="640080"/>
          </a:xfrm>
          <a:prstGeom prst="rect">
            <a:avLst/>
          </a:prstGeom>
          <a:ln>
            <a:headEnd type="none"/>
            <a:tailEnd type="none"/>
          </a:ln>
        </p:spPr>
        <p:txBody>
          <a:bodyPr wrap="square">
            <a:spAutoFit/>
          </a:bodyPr>
          <a:lstStyle/>
          <a:p>
            <a:pPr algn="l" defTabSz="914400"/>
            <a:r>
              <a:rPr b="0" i="0" strike="noStrike" dirty="0"/>
              <a:t>Customization </a:t>
            </a:r>
            <a:r>
              <a:rPr b="0" i="0" strike="noStrike" dirty="0"/>
              <a:t>of </a:t>
            </a:r>
            <a:r>
              <a:rPr b="0" i="0" strike="noStrike" dirty="0"/>
              <a:t>the </a:t>
            </a:r>
            <a:r>
              <a:rPr b="0" i="0" strike="noStrike" dirty="0"/>
              <a:t>UI </a:t>
            </a:r>
            <a:r>
              <a:rPr b="0" i="0" strike="noStrike" dirty="0"/>
              <a:t>is </a:t>
            </a:r>
            <a:r>
              <a:rPr b="0" i="0" strike="noStrike" dirty="0"/>
              <a:t>accomplished </a:t>
            </a:r>
            <a:r>
              <a:rPr b="0" i="0" strike="noStrike" dirty="0"/>
              <a:t>via </a:t>
            </a:r>
            <a:r>
              <a:rPr b="0" i="0" strike="noStrike" dirty="0"/>
              <a:t>the </a:t>
            </a:r>
            <a:r>
              <a:rPr b="0" i="0" strike="noStrike" dirty="0"/>
              <a:t>addition </a:t>
            </a:r>
            <a:r>
              <a:rPr b="0" i="0" strike="noStrike" dirty="0"/>
              <a:t>of </a:t>
            </a:r>
            <a:r>
              <a:rPr b="0" i="0" strike="noStrike" dirty="0"/>
              <a:t>parts </a:t>
            </a:r>
            <a:r>
              <a:rPr b="0" i="0" strike="noStrike" dirty="0"/>
              <a:t>containing </a:t>
            </a:r>
            <a:r>
              <a:rPr b="0" i="0" strike="noStrike" dirty="0"/>
              <a:t>Custom </a:t>
            </a:r>
            <a:r>
              <a:rPr b="0" i="0" strike="noStrike" dirty="0"/>
              <a:t>UI </a:t>
            </a:r>
            <a:r>
              <a:rPr b="0" i="0" strike="noStrike" dirty="0"/>
              <a:t>XML </a:t>
            </a:r>
            <a:r>
              <a:rPr b="0" i="0" strike="noStrike" dirty="0"/>
              <a:t>markup </a:t>
            </a:r>
            <a:r>
              <a:rPr b="0" i="0" strike="noStrike" dirty="0"/>
              <a:t>to </a:t>
            </a:r>
            <a:r>
              <a:rPr b="0" i="0" strike="noStrike" dirty="0"/>
              <a:t>the </a:t>
            </a:r>
            <a:r>
              <a:rPr b="0" i="0" strike="noStrike" dirty="0"/>
              <a:t>containing </a:t>
            </a:r>
            <a:r>
              <a:rPr b="0" i="0" strike="noStrike" dirty="0"/>
              <a:t>document </a:t>
            </a:r>
            <a:r>
              <a:rPr b="0" i="0" strike="noStrike" dirty="0"/>
              <a:t>package.</a:t>
            </a:r>
          </a:p>
        </p:txBody>
      </p:sp>
      <p:sp>
        <p:nvSpPr>
          <p:cNvPr id="8" name="TextBox8"/>
          <p:cNvSpPr txBox="1">
            <a:spLocks noChangeArrowheads="1"/>
          </p:cNvSpPr>
          <p:nvPr/>
        </p:nvSpPr>
        <p:spPr>
          <a:xfrm rot="0">
            <a:off x="508000" y="5354320"/>
            <a:ext cx="11176000" cy="497840"/>
          </a:xfrm>
          <a:prstGeom prst="rect">
            <a:avLst/>
          </a:prstGeom>
          <a:ln>
            <a:headEnd type="none"/>
            <a:tailEnd type="none"/>
          </a:ln>
        </p:spPr>
        <p:txBody>
          <a:bodyPr wrap="square">
            <a:spAutoFit/>
          </a:bodyPr>
          <a:lstStyle/>
          <a:p>
            <a:pPr algn="l" defTabSz="914400">
              <a:defRPr sz="2800" b="1" dirty="0"/>
            </a:pPr>
            <a:r>
              <a:rPr b="1" i="1" strike="noStrike" dirty="0"/>
              <a:t>Parts </a:t>
            </a:r>
            <a:r>
              <a:rPr b="1" i="1" strike="noStrike" dirty="0"/>
              <a:t>XE </a:t>
            </a:r>
            <a:r>
              <a:rPr b="1" i="1" strike="noStrike" dirty="0"/>
              <a:t>"Parts:additional </a:t>
            </a:r>
            <a:r>
              <a:rPr b="1" i="1" strike="noStrike" dirty="0"/>
              <a:t>part </a:t>
            </a:r>
            <a:r>
              <a:rPr b="1" i="1" strike="noStrike" dirty="0"/>
              <a:t>types"</a:t>
            </a:r>
          </a:p>
        </p:txBody>
      </p:sp>
      <p:sp>
        <p:nvSpPr>
          <p:cNvPr id="9" name="TextBox9"/>
          <p:cNvSpPr txBox="1">
            <a:spLocks noChangeArrowheads="1"/>
          </p:cNvSpPr>
          <p:nvPr/>
        </p:nvSpPr>
        <p:spPr>
          <a:xfrm rot="0">
            <a:off x="508000" y="587756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parts </a:t>
            </a:r>
            <a:r>
              <a:rPr b="0" i="0" strike="noStrike" dirty="0"/>
              <a:t>described </a:t>
            </a:r>
            <a:r>
              <a:rPr b="0" i="0" strike="noStrike" dirty="0"/>
              <a:t>in </a:t>
            </a:r>
            <a:r>
              <a:rPr b="0" i="0" strike="noStrike" dirty="0"/>
              <a:t>the </a:t>
            </a:r>
            <a:r>
              <a:rPr b="0" i="0" strike="noStrike" dirty="0"/>
              <a:t>subordinate </a:t>
            </a:r>
            <a:r>
              <a:rPr b="0" i="0" strike="noStrike" dirty="0"/>
              <a:t>sections </a:t>
            </a:r>
            <a:r>
              <a:rPr b="0" i="0" strike="noStrike" dirty="0"/>
              <a:t>detail </a:t>
            </a:r>
            <a:r>
              <a:rPr b="0" i="0" strike="noStrike" dirty="0"/>
              <a:t>the </a:t>
            </a:r>
            <a:r>
              <a:rPr b="0" i="0" strike="noStrike" dirty="0"/>
              <a:t>additional </a:t>
            </a:r>
            <a:r>
              <a:rPr b="0" i="0" strike="noStrike" dirty="0"/>
              <a:t>part </a:t>
            </a:r>
            <a:r>
              <a:rPr b="0" i="0" strike="noStrike" dirty="0"/>
              <a:t>types </a:t>
            </a:r>
            <a:r>
              <a:rPr b="0" i="0" strike="noStrike" dirty="0"/>
              <a:t>utilized </a:t>
            </a:r>
            <a:r>
              <a:rPr b="0" i="0" strike="noStrike" dirty="0"/>
              <a:t>by </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CustomUI </a:t>
            </a:r>
            <a:r>
              <a:rPr b="0" i="0" strike="noStrike" dirty="0"/>
              <a:t>in </a:t>
            </a:r>
            <a:r>
              <a:rPr b="0" i="0" strike="noStrike" dirty="0"/>
              <a:t>an </a:t>
            </a:r>
            <a:r>
              <a:rPr b="0" i="0" strike="noStrike" dirty="0"/>
              <a:t>ECMA-376 </a:t>
            </a:r>
            <a:r>
              <a:rPr b="0" i="0" strike="noStrike" dirty="0"/>
              <a:t>Office </a:t>
            </a:r>
            <a:r>
              <a:rPr b="0" i="0" strike="noStrike" dirty="0"/>
              <a:t>Open </a:t>
            </a:r>
            <a:r>
              <a:rPr b="0" i="0" strike="noStrike" dirty="0"/>
              <a:t>XML </a:t>
            </a:r>
            <a:r>
              <a:rPr b="0" i="0" strike="noStrike" dirty="0"/>
              <a:t>File </a:t>
            </a:r>
            <a:r>
              <a:rPr b="0" i="0" strike="noStrike" dirty="0"/>
              <a:t>Formats </a:t>
            </a:r>
            <a:r>
              <a:rPr>
                <a:hlinkClick r:id="rId2" action="ppaction://hlinkfile"/>
              </a:rPr>
              <a:t>[ECMA-376]</a:t>
            </a:r>
            <a:r>
              <a:rPr b="0" i="0" strike="noStrike" dirty="0"/>
              <a:t> </a:t>
            </a:r>
            <a:r>
              <a:rPr b="0" i="0" strike="noStrike" dirty="0"/>
              <a:t>file.</a:t>
            </a:r>
          </a:p>
        </p:txBody>
      </p:sp>
      <p:sp>
        <p:nvSpPr>
          <p:cNvPr id="3" name="TextBox3"/>
          <p:cNvSpPr txBox="1">
            <a:spLocks noChangeArrowheads="1"/>
          </p:cNvSpPr>
          <p:nvPr/>
        </p:nvSpPr>
        <p:spPr>
          <a:xfrm rot="0">
            <a:off x="508000" y="853440"/>
            <a:ext cx="11176000" cy="853440"/>
          </a:xfrm>
          <a:prstGeom prst="rect">
            <a:avLst/>
          </a:prstGeom>
          <a:ln>
            <a:headEnd type="none"/>
            <a:tailEnd type="none"/>
          </a:ln>
        </p:spPr>
        <p:txBody>
          <a:bodyPr wrap="square">
            <a:spAutoFit/>
          </a:bodyPr>
          <a:lstStyle/>
          <a:p>
            <a:pPr algn="l" defTabSz="914400">
              <a:defRPr sz="2400" b="1" dirty="0"/>
            </a:pPr>
            <a:r>
              <a:rPr b="1" i="0" strike="noStrike" dirty="0"/>
              <a:t>Quick </a:t>
            </a:r>
            <a:r>
              <a:rPr b="1" i="0" strike="noStrike" dirty="0"/>
              <a:t>Access </a:t>
            </a:r>
            <a:r>
              <a:rPr b="1" i="0" strike="noStrike" dirty="0"/>
              <a:t>Toolbar </a:t>
            </a:r>
            <a:r>
              <a:rPr b="1" i="0" strike="noStrike" dirty="0"/>
              <a:t>Customizations </a:t>
            </a:r>
            <a:r>
              <a:rPr b="1" i="0" strike="noStrike" dirty="0"/>
              <a:t>Part </a:t>
            </a:r>
            <a:r>
              <a:rPr b="1" i="0" strike="noStrike" dirty="0"/>
              <a:t>XE </a:t>
            </a:r>
            <a:r>
              <a:rPr b="1" i="0" strike="noStrike" dirty="0"/>
              <a:t>"Parts:quick </a:t>
            </a:r>
            <a:r>
              <a:rPr b="1" i="0" strike="noStrike" dirty="0"/>
              <a:t>access </a:t>
            </a:r>
            <a:r>
              <a:rPr b="1" i="0" strike="noStrike" dirty="0"/>
              <a:t>toolbar </a:t>
            </a:r>
            <a:r>
              <a:rPr b="1" i="0" strike="noStrike" dirty="0"/>
              <a:t>customizations </a:t>
            </a:r>
            <a:r>
              <a:rPr b="1" i="0" strike="noStrike" dirty="0"/>
              <a:t>part"</a:t>
            </a:r>
          </a:p>
        </p:txBody>
      </p:sp>
      <p:graphicFrame>
        <p:nvGraphicFramePr>
          <p:cNvPr id="4" name="Table 4"/>
          <p:cNvGraphicFramePr/>
          <p:nvPr/>
        </p:nvGraphicFramePr>
        <p:xfrm rot="0">
          <a:off x="508000" y="1732280"/>
          <a:ext cx="11176000" cy="177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Content Type:</a:t>
                      </a:r>
                    </a:p>
                  </a:txBody>
                  <a:tcPr horzOverflow="overflow"/>
                </a:tc>
                <a:tc>
                  <a:txBody>
                    <a:bodyPr/>
                    <a:lstStyle/>
                    <a:p>
                      <a:pPr algn="l" defTabSz="914400"/>
                      <a:r>
                        <a:rPr b="1" i="0" strike="noStrike" dirty="0"/>
                        <a:t>application/xml</a:t>
                      </a:r>
                    </a:p>
                  </a:txBody>
                  <a:tcPr horzOverflow="overflow"/>
                </a:tc>
              </a:tr>
              <a:tr h="508000">
                <a:tc>
                  <a:txBody>
                    <a:bodyPr/>
                    <a:lstStyle/>
                    <a:p>
                      <a:pPr algn="l" defTabSz="914400"/>
                      <a:r>
                        <a:rPr b="0" i="0" strike="noStrike" dirty="0"/>
                        <a:t>Root Namespace:</a:t>
                      </a:r>
                    </a:p>
                  </a:txBody>
                  <a:tcPr horzOverflow="overflow"/>
                </a:tc>
                <a:tc>
                  <a:txBody>
                    <a:bodyPr/>
                    <a:lstStyle/>
                    <a:p>
                      <a:pPr algn="l" defTabSz="914400"/>
                      <a:r>
                        <a:rPr b="0" i="0" strike="noStrike" dirty="0"/>
                        <a:t>http://schemas.microsoft.com/office/2006/01/customui</a:t>
                      </a:r>
                    </a:p>
                  </a:txBody>
                  <a:tcPr horzOverflow="overflow"/>
                </a:tc>
              </a:tr>
              <a:tr h="762000">
                <a:tc>
                  <a:txBody>
                    <a:bodyPr/>
                    <a:lstStyle/>
                    <a:p>
                      <a:pPr algn="l" defTabSz="914400"/>
                      <a:r>
                        <a:rPr b="0" i="0" strike="noStrike" dirty="0"/>
                        <a:t>Source Relationship:</a:t>
                      </a:r>
                    </a:p>
                  </a:txBody>
                  <a:tcPr horzOverflow="overflow"/>
                </a:tc>
                <a:tc>
                  <a:txBody>
                    <a:bodyPr/>
                    <a:lstStyle/>
                    <a:p>
                      <a:pPr algn="l" defTabSz="914400"/>
                      <a:r>
                        <a:rPr b="0" i="0" strike="noStrike" dirty="0"/>
                        <a:t>http://schemas.microsoft.com/office/2006/relationships/ui/userCustomization</a:t>
                      </a:r>
                    </a:p>
                  </a:txBody>
                  <a:tcPr horzOverflow="overflow"/>
                </a:tc>
              </a:tr>
            </a:tbl>
          </a:graphicData>
        </a:graphic>
      </p:graphicFrame>
      <p:sp>
        <p:nvSpPr>
          <p:cNvPr id="5" name="TextBox5"/>
          <p:cNvSpPr txBox="1">
            <a:spLocks noChangeArrowheads="1"/>
          </p:cNvSpPr>
          <p:nvPr/>
        </p:nvSpPr>
        <p:spPr>
          <a:xfrm rot="0">
            <a:off x="508000" y="3561080"/>
            <a:ext cx="11176000" cy="640080"/>
          </a:xfrm>
          <a:prstGeom prst="rect">
            <a:avLst/>
          </a:prstGeom>
          <a:ln>
            <a:headEnd type="none"/>
            <a:tailEnd type="none"/>
          </a:ln>
        </p:spPr>
        <p:txBody>
          <a:bodyPr wrap="square">
            <a:spAutoFit/>
          </a:bodyPr>
          <a:lstStyle/>
          <a:p>
            <a:pPr algn="l" defTabSz="914400"/>
            <a:r>
              <a:rPr b="0" i="0" strike="noStrike" dirty="0"/>
              <a:t>The </a:t>
            </a:r>
            <a:r>
              <a:rPr b="0" i="0" strike="noStrike" dirty="0"/>
              <a:t>syntax </a:t>
            </a:r>
            <a:r>
              <a:rPr b="0" i="0" strike="noStrike" dirty="0"/>
              <a:t>of </a:t>
            </a:r>
            <a:r>
              <a:rPr b="0" i="0" strike="noStrike" dirty="0"/>
              <a:t>the </a:t>
            </a:r>
            <a:r>
              <a:rPr b="0" i="0" strike="noStrike" dirty="0"/>
              <a:t>structures </a:t>
            </a:r>
            <a:r>
              <a:rPr b="0" i="0" strike="noStrike" dirty="0"/>
              <a:t>contained </a:t>
            </a:r>
            <a:r>
              <a:rPr b="0" i="0" strike="noStrike" dirty="0"/>
              <a:t>in </a:t>
            </a:r>
            <a:r>
              <a:rPr b="0" i="0" strike="noStrike" dirty="0"/>
              <a:t>this </a:t>
            </a:r>
            <a:r>
              <a:rPr b="0" i="0" strike="noStrike" dirty="0"/>
              <a:t>part </a:t>
            </a:r>
            <a:r>
              <a:rPr b="0" i="0" strike="noStrike" dirty="0"/>
              <a:t>uses </a:t>
            </a:r>
            <a:r>
              <a:rPr/>
              <a:t>XML </a:t>
            </a:r>
            <a:r>
              <a:rPr/>
              <a:t>schema </a:t>
            </a:r>
            <a:r>
              <a:rPr/>
              <a:t>definition </a:t>
            </a:r>
            <a:r>
              <a:rPr/>
              <a:t>(XSD)</a:t>
            </a:r>
            <a:r>
              <a:rPr b="0" i="0" strike="noStrike" dirty="0"/>
              <a:t>, </a:t>
            </a:r>
            <a:r>
              <a:rPr b="0" i="0" strike="noStrike" dirty="0"/>
              <a:t>as </a:t>
            </a:r>
            <a:r>
              <a:rPr b="0" i="0" strike="noStrike" dirty="0"/>
              <a:t>specified </a:t>
            </a:r>
            <a:r>
              <a:rPr b="0" i="0" strike="noStrike" dirty="0"/>
              <a:t>in </a:t>
            </a:r>
            <a:r>
              <a:rPr>
                <a:hlinkClick r:id="rId3" action="ppaction://hlinkfile"/>
              </a:rPr>
              <a:t>[XMLSCHEMA1]</a:t>
            </a:r>
            <a:r>
              <a:rPr b="0" i="0" strike="noStrike" dirty="0"/>
              <a:t> </a:t>
            </a:r>
            <a:r>
              <a:rPr b="0" i="0" strike="noStrike" dirty="0"/>
              <a:t>and </a:t>
            </a:r>
            <a:r>
              <a:rPr>
                <a:hlinkClick r:id="rId4" action="ppaction://hlinkfile"/>
              </a:rPr>
              <a:t>[XMLSCHEMA2]</a:t>
            </a:r>
            <a:r>
              <a:rPr b="0" i="0" strike="noStrike" dirty="0"/>
              <a:t>.</a:t>
            </a:r>
          </a:p>
        </p:txBody>
      </p:sp>
      <p:sp>
        <p:nvSpPr>
          <p:cNvPr id="6" name="TextBox6"/>
          <p:cNvSpPr txBox="1">
            <a:spLocks noChangeArrowheads="1"/>
          </p:cNvSpPr>
          <p:nvPr/>
        </p:nvSpPr>
        <p:spPr>
          <a:xfrm rot="0">
            <a:off x="508000" y="422656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specification </a:t>
            </a:r>
            <a:r>
              <a:rPr b="0" i="0" strike="noStrike" dirty="0"/>
              <a:t>defines </a:t>
            </a:r>
            <a:r>
              <a:rPr b="0" i="0" strike="noStrike" dirty="0"/>
              <a:t>and </a:t>
            </a:r>
            <a:r>
              <a:rPr b="0" i="0" strike="noStrike" dirty="0"/>
              <a:t>references </a:t>
            </a:r>
            <a:r>
              <a:rPr b="0" i="0" strike="noStrike" dirty="0"/>
              <a:t>various </a:t>
            </a:r>
            <a:r>
              <a:rPr/>
              <a:t>XML </a:t>
            </a:r>
            <a:r>
              <a:rPr/>
              <a:t>namespaces</a:t>
            </a:r>
            <a:r>
              <a:rPr b="0" i="0" strike="noStrike" dirty="0"/>
              <a:t> </a:t>
            </a:r>
            <a:r>
              <a:rPr b="0" i="0" strike="noStrike" dirty="0"/>
              <a:t>by </a:t>
            </a:r>
            <a:r>
              <a:rPr b="0" i="0" strike="noStrike" dirty="0"/>
              <a:t>using </a:t>
            </a:r>
            <a:r>
              <a:rPr b="0" i="0" strike="noStrike" dirty="0"/>
              <a:t>the </a:t>
            </a:r>
            <a:r>
              <a:rPr b="0" i="0" strike="noStrike" dirty="0"/>
              <a:t>mechanisms </a:t>
            </a:r>
            <a:r>
              <a:rPr b="0" i="0" strike="noStrike" dirty="0"/>
              <a:t>specified </a:t>
            </a:r>
            <a:r>
              <a:rPr b="0" i="0" strike="noStrike" dirty="0"/>
              <a:t>in </a:t>
            </a:r>
            <a:r>
              <a:rPr>
                <a:hlinkClick r:id="rId5" action="ppaction://hlinkfile"/>
              </a:rPr>
              <a:t>[XMLNS]</a:t>
            </a:r>
            <a:r>
              <a:rPr b="0" i="0" strike="noStrike" dirty="0"/>
              <a:t>.</a:t>
            </a:r>
          </a:p>
        </p:txBody>
      </p:sp>
      <p:sp>
        <p:nvSpPr>
          <p:cNvPr id="7" name="TextBox7"/>
          <p:cNvSpPr txBox="1">
            <a:spLocks noChangeArrowheads="1"/>
          </p:cNvSpPr>
          <p:nvPr/>
        </p:nvSpPr>
        <p:spPr>
          <a:xfrm rot="0">
            <a:off x="508000" y="4892040"/>
            <a:ext cx="11176000" cy="640080"/>
          </a:xfrm>
          <a:prstGeom prst="rect">
            <a:avLst/>
          </a:prstGeom>
          <a:ln>
            <a:headEnd type="none"/>
            <a:tailEnd type="none"/>
          </a:ln>
        </p:spPr>
        <p:txBody>
          <a:bodyPr wrap="square">
            <a:spAutoFit/>
          </a:bodyPr>
          <a:lstStyle/>
          <a:p>
            <a:pPr algn="l" defTabSz="914400"/>
            <a:r>
              <a:rPr b="0" i="0" strike="noStrike" dirty="0"/>
              <a:t>An </a:t>
            </a:r>
            <a:r>
              <a:rPr b="0" i="0" strike="noStrike" dirty="0"/>
              <a:t>instance </a:t>
            </a:r>
            <a:r>
              <a:rPr b="0" i="0" strike="noStrike" dirty="0"/>
              <a:t>of </a:t>
            </a:r>
            <a:r>
              <a:rPr b="0" i="0" strike="noStrike" dirty="0"/>
              <a:t>this </a:t>
            </a:r>
            <a:r>
              <a:rPr b="0" i="0" strike="noStrike" dirty="0"/>
              <a:t>part </a:t>
            </a:r>
            <a:r>
              <a:rPr b="0" i="0" strike="noStrike" dirty="0"/>
              <a:t>type </a:t>
            </a:r>
            <a:r>
              <a:rPr b="0" i="0" strike="noStrike" dirty="0"/>
              <a:t>contains </a:t>
            </a:r>
            <a:r>
              <a:rPr b="0" i="0" strike="noStrike" dirty="0"/>
              <a:t>information </a:t>
            </a:r>
            <a:r>
              <a:rPr b="0" i="0" strike="noStrike" dirty="0"/>
              <a:t>about </a:t>
            </a:r>
            <a:r>
              <a:rPr b="0" i="0" strike="noStrike" dirty="0"/>
              <a:t>the </a:t>
            </a:r>
            <a:r>
              <a:rPr b="0" i="0" strike="noStrike" dirty="0"/>
              <a:t>quick </a:t>
            </a:r>
            <a:r>
              <a:rPr b="0" i="0" strike="noStrike" dirty="0"/>
              <a:t>access </a:t>
            </a:r>
            <a:r>
              <a:rPr b="0" i="0" strike="noStrike" dirty="0"/>
              <a:t>toolbar </a:t>
            </a:r>
            <a:r>
              <a:rPr b="0" i="0" strike="noStrike" dirty="0"/>
              <a:t>customizations </a:t>
            </a:r>
            <a:r>
              <a:rPr b="0" i="0" strike="noStrike" dirty="0"/>
              <a:t>specific </a:t>
            </a:r>
            <a:r>
              <a:rPr b="0" i="0" strike="noStrike" dirty="0"/>
              <a:t>to </a:t>
            </a:r>
            <a:r>
              <a:rPr b="0" i="0" strike="noStrike" dirty="0"/>
              <a:t>the </a:t>
            </a:r>
            <a:r>
              <a:rPr b="0" i="0" strike="noStrike" dirty="0"/>
              <a:t>containing </a:t>
            </a:r>
            <a:r>
              <a:rPr b="0" i="0" strike="noStrike" dirty="0"/>
              <a:t>package. </a:t>
            </a:r>
          </a:p>
        </p:txBody>
      </p:sp>
      <p:sp>
        <p:nvSpPr>
          <p:cNvPr id="8" name="TextBox8"/>
          <p:cNvSpPr txBox="1">
            <a:spLocks noChangeArrowheads="1"/>
          </p:cNvSpPr>
          <p:nvPr/>
        </p:nvSpPr>
        <p:spPr>
          <a:xfrm rot="0">
            <a:off x="508000" y="5557520"/>
            <a:ext cx="11176000" cy="64008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a </a:t>
            </a:r>
            <a:r>
              <a:rPr b="0" i="0" strike="noStrike" dirty="0"/>
              <a:t>user </a:t>
            </a:r>
            <a:r>
              <a:rPr b="0" i="0" strike="noStrike" dirty="0"/>
              <a:t>can </a:t>
            </a:r>
            <a:r>
              <a:rPr b="0" i="0" strike="noStrike" dirty="0"/>
              <a:t>customize </a:t>
            </a:r>
            <a:r>
              <a:rPr b="0" i="0" strike="noStrike" dirty="0"/>
              <a:t>the </a:t>
            </a:r>
            <a:r>
              <a:rPr b="0" i="0" strike="noStrike" dirty="0"/>
              <a:t>quick </a:t>
            </a:r>
            <a:r>
              <a:rPr b="0" i="0" strike="noStrike" dirty="0"/>
              <a:t>access </a:t>
            </a:r>
            <a:r>
              <a:rPr b="0" i="0" strike="noStrike" dirty="0"/>
              <a:t>toolbar </a:t>
            </a:r>
            <a:r>
              <a:rPr b="0" i="0" strike="noStrike" dirty="0"/>
              <a:t>for </a:t>
            </a:r>
            <a:r>
              <a:rPr b="0" i="0" strike="noStrike" dirty="0"/>
              <a:t>his </a:t>
            </a:r>
            <a:r>
              <a:rPr b="0" i="0" strike="noStrike" dirty="0"/>
              <a:t>WordProcessingML </a:t>
            </a:r>
            <a:r>
              <a:rPr b="0" i="0" strike="noStrike" dirty="0"/>
              <a:t>document </a:t>
            </a:r>
            <a:r>
              <a:rPr b="0" i="0" strike="noStrike" dirty="0"/>
              <a:t>to </a:t>
            </a:r>
            <a:r>
              <a:rPr b="0" i="0" strike="noStrike" dirty="0"/>
              <a:t>contain </a:t>
            </a:r>
            <a:r>
              <a:rPr b="0" i="0" strike="noStrike" dirty="0"/>
              <a:t>the </a:t>
            </a:r>
            <a:r>
              <a:rPr b="0" i="0" strike="noStrike" dirty="0"/>
              <a:t>UI </a:t>
            </a:r>
            <a:r>
              <a:rPr b="0" i="0" strike="noStrike" dirty="0"/>
              <a:t>controls </a:t>
            </a:r>
            <a:r>
              <a:rPr b="0" i="0" strike="noStrike" dirty="0"/>
              <a:t>that </a:t>
            </a:r>
            <a:r>
              <a:rPr b="0" i="0" strike="noStrike" dirty="0"/>
              <a:t>they </a:t>
            </a:r>
            <a:r>
              <a:rPr b="0" i="0" strike="noStrike" dirty="0"/>
              <a:t>commonly </a:t>
            </a:r>
            <a:r>
              <a:rPr b="0" i="0" strike="noStrike" dirty="0"/>
              <a:t>use.</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b="0" i="0" strike="noStrike" dirty="0"/>
              <a:t>A </a:t>
            </a:r>
            <a:r>
              <a:rPr b="0" i="0" strike="noStrike" dirty="0"/>
              <a:t>package </a:t>
            </a:r>
            <a:r>
              <a:rPr b="0" i="0" strike="noStrike" dirty="0"/>
              <a:t>is </a:t>
            </a:r>
            <a:r>
              <a:rPr b="0" i="0" strike="noStrike" dirty="0"/>
              <a:t>permitted </a:t>
            </a:r>
            <a:r>
              <a:rPr b="0" i="0" strike="noStrike" dirty="0"/>
              <a:t>to </a:t>
            </a:r>
            <a:r>
              <a:rPr b="0" i="0" strike="noStrike" dirty="0"/>
              <a:t>contain </a:t>
            </a:r>
            <a:r>
              <a:rPr b="0" i="0" strike="noStrike" dirty="0"/>
              <a:t>at </a:t>
            </a:r>
            <a:r>
              <a:rPr b="0" i="0" strike="noStrike" dirty="0"/>
              <a:t>most </a:t>
            </a:r>
            <a:r>
              <a:rPr b="0" i="0" strike="noStrike" dirty="0"/>
              <a:t>one </a:t>
            </a:r>
            <a:r>
              <a:rPr b="0" i="0" strike="noStrike" dirty="0"/>
              <a:t>Quick </a:t>
            </a:r>
            <a:r>
              <a:rPr b="0" i="0" strike="noStrike" dirty="0"/>
              <a:t>Access </a:t>
            </a:r>
            <a:r>
              <a:rPr b="0" i="0" strike="noStrike" dirty="0"/>
              <a:t>Toolbar </a:t>
            </a:r>
            <a:r>
              <a:rPr b="0" i="0" strike="noStrike" dirty="0"/>
              <a:t>Customizations </a:t>
            </a:r>
            <a:r>
              <a:rPr b="0" i="0" strike="noStrike" dirty="0"/>
              <a:t>part, </a:t>
            </a:r>
            <a:r>
              <a:rPr b="0" i="0" strike="noStrike" dirty="0"/>
              <a:t>and </a:t>
            </a:r>
            <a:r>
              <a:rPr b="0" i="0" strike="noStrike" dirty="0"/>
              <a:t>that </a:t>
            </a:r>
            <a:r>
              <a:rPr b="0" i="0" strike="noStrike" dirty="0"/>
              <a:t>part </a:t>
            </a:r>
            <a:r>
              <a:rPr b="0" i="0" strike="noStrike" dirty="0"/>
              <a:t>is </a:t>
            </a:r>
            <a:r>
              <a:rPr b="0" i="0" strike="noStrike" dirty="0"/>
              <a:t>the </a:t>
            </a:r>
            <a:r>
              <a:rPr b="0" i="0" strike="noStrike" dirty="0"/>
              <a:t>target </a:t>
            </a:r>
            <a:r>
              <a:rPr b="0" i="0" strike="noStrike" dirty="0"/>
              <a:t>of </a:t>
            </a:r>
            <a:r>
              <a:rPr b="0" i="0" strike="noStrike" dirty="0"/>
              <a:t>a </a:t>
            </a:r>
            <a:r>
              <a:rPr b="0" i="0" strike="noStrike" dirty="0"/>
              <a:t>relationship </a:t>
            </a:r>
            <a:r>
              <a:rPr b="0" i="0" strike="noStrike" dirty="0"/>
              <a:t>in </a:t>
            </a:r>
            <a:r>
              <a:rPr b="0" i="0" strike="noStrike" dirty="0"/>
              <a:t>the </a:t>
            </a:r>
            <a:r>
              <a:rPr b="0" i="0" strike="noStrike" dirty="0"/>
              <a:t>package-relationship </a:t>
            </a:r>
            <a:r>
              <a:rPr b="0" i="0" strike="noStrike" dirty="0"/>
              <a:t>item </a:t>
            </a:r>
            <a:r>
              <a:rPr b="0" i="0" strike="noStrike" dirty="0"/>
              <a:t>for </a:t>
            </a:r>
            <a:r>
              <a:rPr b="0" i="0" strike="noStrike" dirty="0"/>
              <a:t>the </a:t>
            </a:r>
            <a:r>
              <a:rPr b="0" i="0" strike="noStrike" dirty="0"/>
              <a:t>document.</a:t>
            </a:r>
          </a:p>
        </p:txBody>
      </p:sp>
      <p:sp>
        <p:nvSpPr>
          <p:cNvPr id="3" name="TextBox3"/>
          <p:cNvSpPr txBox="1">
            <a:spLocks noChangeArrowheads="1"/>
          </p:cNvSpPr>
          <p:nvPr/>
        </p:nvSpPr>
        <p:spPr>
          <a:xfrm rot="0">
            <a:off x="508000" y="1173480"/>
            <a:ext cx="11176000" cy="64008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the </a:t>
            </a:r>
            <a:r>
              <a:rPr b="0" i="0" strike="noStrike" dirty="0"/>
              <a:t>following </a:t>
            </a:r>
            <a:r>
              <a:rPr b="0" i="0" strike="noStrike" dirty="0"/>
              <a:t>package </a:t>
            </a:r>
            <a:r>
              <a:rPr b="0" i="0" strike="noStrike" dirty="0"/>
              <a:t>part-relationship </a:t>
            </a:r>
            <a:r>
              <a:rPr b="0" i="0" strike="noStrike" dirty="0"/>
              <a:t>item </a:t>
            </a:r>
            <a:r>
              <a:rPr b="0" i="0" strike="noStrike" dirty="0"/>
              <a:t>contains </a:t>
            </a:r>
            <a:r>
              <a:rPr b="0" i="0" strike="noStrike" dirty="0"/>
              <a:t>a </a:t>
            </a:r>
            <a:r>
              <a:rPr b="0" i="0" strike="noStrike" dirty="0"/>
              <a:t>relationship </a:t>
            </a:r>
            <a:r>
              <a:rPr b="0" i="0" strike="noStrike" dirty="0"/>
              <a:t>to </a:t>
            </a:r>
            <a:r>
              <a:rPr b="0" i="0" strike="noStrike" dirty="0"/>
              <a:t>a </a:t>
            </a:r>
            <a:r>
              <a:rPr b="0" i="0" strike="noStrike" dirty="0"/>
              <a:t>Quick </a:t>
            </a:r>
            <a:r>
              <a:rPr b="0" i="0" strike="noStrike" dirty="0"/>
              <a:t>Access </a:t>
            </a:r>
            <a:r>
              <a:rPr b="0" i="0" strike="noStrike" dirty="0"/>
              <a:t>Toolbar </a:t>
            </a:r>
            <a:r>
              <a:rPr b="0" i="0" strike="noStrike" dirty="0"/>
              <a:t>Customizations </a:t>
            </a:r>
            <a:r>
              <a:rPr b="0" i="0" strike="noStrike" dirty="0"/>
              <a:t>part, </a:t>
            </a:r>
            <a:r>
              <a:rPr b="0" i="0" strike="noStrike" dirty="0"/>
              <a:t>which </a:t>
            </a:r>
            <a:r>
              <a:rPr b="0" i="0" strike="noStrike" dirty="0"/>
              <a:t>is </a:t>
            </a:r>
            <a:r>
              <a:rPr b="0" i="0" strike="noStrike" dirty="0"/>
              <a:t>stored </a:t>
            </a:r>
            <a:r>
              <a:rPr b="0" i="0" strike="noStrike" dirty="0"/>
              <a:t>in </a:t>
            </a:r>
            <a:r>
              <a:rPr b="0" i="0" strike="noStrike" dirty="0"/>
              <a:t>the </a:t>
            </a:r>
            <a:r>
              <a:rPr b="0" i="0" strike="noStrike" dirty="0"/>
              <a:t>ZIP </a:t>
            </a:r>
            <a:r>
              <a:rPr b="0" i="0" strike="noStrike" dirty="0"/>
              <a:t>item </a:t>
            </a:r>
            <a:r>
              <a:rPr b="0" i="0" strike="noStrike" dirty="0"/>
              <a:t>/userCustomization/customUI.xml:</a:t>
            </a:r>
          </a:p>
        </p:txBody>
      </p:sp>
      <p:sp>
        <p:nvSpPr>
          <p:cNvPr id="4" name="TextBox4"/>
          <p:cNvSpPr txBox="1">
            <a:spLocks noChangeArrowheads="1"/>
          </p:cNvSpPr>
          <p:nvPr/>
        </p:nvSpPr>
        <p:spPr>
          <a:xfrm rot="0">
            <a:off x="508000" y="1838960"/>
            <a:ext cx="11176000" cy="320040"/>
          </a:xfrm>
          <a:prstGeom prst="rect">
            <a:avLst/>
          </a:prstGeom>
          <a:ln>
            <a:headEnd type="none"/>
            <a:tailEnd type="none"/>
          </a:ln>
        </p:spPr>
        <p:txBody>
          <a:bodyPr wrap="square">
            <a:spAutoFit/>
          </a:bodyPr>
          <a:lstStyle/>
          <a:p>
            <a:pPr algn="l" defTabSz="914400"/>
            <a:r>
              <a:rPr b="0" i="0" strike="noStrike" dirty="0"/>
              <a:t>&lt;Relationships </a:t>
            </a:r>
            <a:r>
              <a:rPr b="0" i="0" strike="noStrike" dirty="0"/>
              <a:t>xmlns="…"&gt;</a:t>
            </a:r>
          </a:p>
        </p:txBody>
      </p:sp>
      <p:sp>
        <p:nvSpPr>
          <p:cNvPr id="5" name="TextBox5"/>
          <p:cNvSpPr txBox="1">
            <a:spLocks noChangeArrowheads="1"/>
          </p:cNvSpPr>
          <p:nvPr/>
        </p:nvSpPr>
        <p:spPr>
          <a:xfrm rot="0">
            <a:off x="508000" y="2184400"/>
            <a:ext cx="11176000" cy="320040"/>
          </a:xfrm>
          <a:prstGeom prst="rect">
            <a:avLst/>
          </a:prstGeom>
          <a:ln>
            <a:headEnd type="none"/>
            <a:tailEnd type="none"/>
          </a:ln>
        </p:spPr>
        <p:txBody>
          <a:bodyPr wrap="square">
            <a:spAutoFit/>
          </a:bodyPr>
          <a:lstStyle/>
          <a:p>
            <a:pPr algn="l" defTabSz="914400"/>
            <a:r>
              <a:rPr b="0" i="0" strike="noStrike" dirty="0"/>
              <a:t>&lt;Relationship </a:t>
            </a:r>
            <a:r>
              <a:rPr b="0" i="0" strike="noStrike" dirty="0"/>
              <a:t>Id="rId2" </a:t>
            </a:r>
          </a:p>
        </p:txBody>
      </p:sp>
      <p:sp>
        <p:nvSpPr>
          <p:cNvPr id="6" name="TextBox6"/>
          <p:cNvSpPr txBox="1">
            <a:spLocks noChangeArrowheads="1"/>
          </p:cNvSpPr>
          <p:nvPr/>
        </p:nvSpPr>
        <p:spPr>
          <a:xfrm rot="0">
            <a:off x="508000" y="2529840"/>
            <a:ext cx="11176000" cy="320040"/>
          </a:xfrm>
          <a:prstGeom prst="rect">
            <a:avLst/>
          </a:prstGeom>
          <a:ln>
            <a:headEnd type="none"/>
            <a:tailEnd type="none"/>
          </a:ln>
        </p:spPr>
        <p:txBody>
          <a:bodyPr wrap="square">
            <a:spAutoFit/>
          </a:bodyPr>
          <a:lstStyle/>
          <a:p>
            <a:pPr algn="l" defTabSz="914400"/>
            <a:r>
              <a:rPr b="0" i="0" strike="noStrike" dirty="0"/>
              <a:t>Type="http://…/2006/relationships/ui/userCustomization"</a:t>
            </a:r>
          </a:p>
        </p:txBody>
      </p:sp>
      <p:sp>
        <p:nvSpPr>
          <p:cNvPr id="7" name="TextBox7"/>
          <p:cNvSpPr txBox="1">
            <a:spLocks noChangeArrowheads="1"/>
          </p:cNvSpPr>
          <p:nvPr/>
        </p:nvSpPr>
        <p:spPr>
          <a:xfrm rot="0">
            <a:off x="508000" y="2875280"/>
            <a:ext cx="11176000" cy="320040"/>
          </a:xfrm>
          <a:prstGeom prst="rect">
            <a:avLst/>
          </a:prstGeom>
          <a:ln>
            <a:headEnd type="none"/>
            <a:tailEnd type="none"/>
          </a:ln>
        </p:spPr>
        <p:txBody>
          <a:bodyPr wrap="square">
            <a:spAutoFit/>
          </a:bodyPr>
          <a:lstStyle/>
          <a:p>
            <a:pPr algn="l" defTabSz="914400"/>
            <a:r>
              <a:rPr b="0" i="0" strike="noStrike" dirty="0"/>
              <a:t>Target="/userCustomization/customUI.xml" </a:t>
            </a:r>
            <a:r>
              <a:rPr b="0" i="0" strike="noStrike" dirty="0"/>
              <a:t>/&gt;</a:t>
            </a:r>
          </a:p>
        </p:txBody>
      </p:sp>
      <p:sp>
        <p:nvSpPr>
          <p:cNvPr id="8" name="TextBox8"/>
          <p:cNvSpPr txBox="1">
            <a:spLocks noChangeArrowheads="1"/>
          </p:cNvSpPr>
          <p:nvPr/>
        </p:nvSpPr>
        <p:spPr>
          <a:xfrm rot="0">
            <a:off x="508000" y="3220720"/>
            <a:ext cx="11176000" cy="320040"/>
          </a:xfrm>
          <a:prstGeom prst="rect">
            <a:avLst/>
          </a:prstGeom>
          <a:ln>
            <a:headEnd type="none"/>
            <a:tailEnd type="none"/>
          </a:ln>
        </p:spPr>
        <p:txBody>
          <a:bodyPr wrap="square">
            <a:spAutoFit/>
          </a:bodyPr>
          <a:lstStyle/>
          <a:p>
            <a:pPr algn="l" defTabSz="914400"/>
            <a:r>
              <a:rPr b="0" i="0" strike="noStrike" dirty="0"/>
              <a:t>&lt;/Relationships&gt;</a:t>
            </a:r>
          </a:p>
        </p:txBody>
      </p:sp>
      <p:sp>
        <p:nvSpPr>
          <p:cNvPr id="9" name="TextBox9"/>
          <p:cNvSpPr txBox="1">
            <a:spLocks noChangeArrowheads="1"/>
          </p:cNvSpPr>
          <p:nvPr/>
        </p:nvSpPr>
        <p:spPr>
          <a:xfrm rot="0">
            <a:off x="508000" y="356616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root </a:t>
            </a:r>
            <a:r>
              <a:rPr b="0" i="0" strike="noStrike" dirty="0"/>
              <a:t>element </a:t>
            </a:r>
            <a:r>
              <a:rPr b="0" i="0" strike="noStrike" dirty="0"/>
              <a:t>for </a:t>
            </a:r>
            <a:r>
              <a:rPr b="0" i="0" strike="noStrike" dirty="0"/>
              <a:t>a </a:t>
            </a:r>
            <a:r>
              <a:rPr b="0" i="0" strike="noStrike" dirty="0"/>
              <a:t>part </a:t>
            </a:r>
            <a:r>
              <a:rPr b="0" i="0" strike="noStrike" dirty="0"/>
              <a:t>of </a:t>
            </a:r>
            <a:r>
              <a:rPr b="0" i="0" strike="noStrike" dirty="0"/>
              <a:t>this </a:t>
            </a:r>
            <a:r>
              <a:rPr b="0" i="0" strike="noStrike" dirty="0"/>
              <a:t>content </a:t>
            </a:r>
            <a:r>
              <a:rPr b="0" i="0" strike="noStrike" dirty="0"/>
              <a:t>type </a:t>
            </a:r>
            <a:r>
              <a:rPr b="0" i="0" strike="noStrike" dirty="0"/>
              <a:t>is </a:t>
            </a:r>
            <a:r>
              <a:rPr b="1" i="0" strike="noStrike" dirty="0"/>
              <a:t>customUI</a:t>
            </a:r>
            <a:r>
              <a:rPr b="0" i="0" strike="noStrike" dirty="0"/>
              <a:t>.</a:t>
            </a:r>
          </a:p>
        </p:txBody>
      </p:sp>
      <p:sp>
        <p:nvSpPr>
          <p:cNvPr id="10" name="TextBox10"/>
          <p:cNvSpPr txBox="1">
            <a:spLocks noChangeArrowheads="1"/>
          </p:cNvSpPr>
          <p:nvPr/>
        </p:nvSpPr>
        <p:spPr>
          <a:xfrm rot="0">
            <a:off x="508000" y="3911600"/>
            <a:ext cx="11176000" cy="96012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the </a:t>
            </a:r>
            <a:r>
              <a:rPr b="0" i="0" strike="noStrike" dirty="0"/>
              <a:t>following </a:t>
            </a:r>
            <a:r>
              <a:rPr b="0" i="0" strike="noStrike" dirty="0"/>
              <a:t>Quick </a:t>
            </a:r>
            <a:r>
              <a:rPr b="0" i="0" strike="noStrike" dirty="0"/>
              <a:t>Access </a:t>
            </a:r>
            <a:r>
              <a:rPr b="0" i="0" strike="noStrike" dirty="0"/>
              <a:t>Toolbar </a:t>
            </a:r>
            <a:r>
              <a:rPr b="0" i="0" strike="noStrike" dirty="0"/>
              <a:t>Customizations </a:t>
            </a:r>
            <a:r>
              <a:rPr b="0" i="0" strike="noStrike" dirty="0"/>
              <a:t>content </a:t>
            </a:r>
            <a:r>
              <a:rPr b="0" i="0" strike="noStrike" dirty="0"/>
              <a:t>markup </a:t>
            </a:r>
            <a:r>
              <a:rPr b="0" i="0" strike="noStrike" dirty="0"/>
              <a:t>specifies </a:t>
            </a:r>
            <a:r>
              <a:rPr b="0" i="0" strike="noStrike" dirty="0"/>
              <a:t>that </a:t>
            </a:r>
            <a:r>
              <a:rPr b="0" i="0" strike="noStrike" dirty="0"/>
              <a:t>the </a:t>
            </a:r>
            <a:r>
              <a:rPr b="0" i="0" strike="noStrike" dirty="0"/>
              <a:t>control </a:t>
            </a:r>
            <a:r>
              <a:rPr b="0" i="0" strike="noStrike" dirty="0"/>
              <a:t>with </a:t>
            </a:r>
            <a:r>
              <a:rPr b="0" i="0" strike="noStrike" dirty="0"/>
              <a:t>identifier </a:t>
            </a:r>
            <a:r>
              <a:rPr b="0" i="0" strike="noStrike" dirty="0"/>
              <a:t>"SpellingAndGrammar" </a:t>
            </a:r>
            <a:r>
              <a:rPr b="0" i="0" strike="noStrike" dirty="0"/>
              <a:t>is </a:t>
            </a:r>
            <a:r>
              <a:rPr b="0" i="0" strike="noStrike" dirty="0"/>
              <a:t>to </a:t>
            </a:r>
            <a:r>
              <a:rPr b="0" i="0" strike="noStrike" dirty="0"/>
              <a:t>be </a:t>
            </a:r>
            <a:r>
              <a:rPr b="0" i="0" strike="noStrike" dirty="0"/>
              <a:t>added </a:t>
            </a:r>
            <a:r>
              <a:rPr b="0" i="0" strike="noStrike" dirty="0"/>
              <a:t>to </a:t>
            </a:r>
            <a:r>
              <a:rPr b="0" i="0" strike="noStrike" dirty="0"/>
              <a:t>the </a:t>
            </a:r>
            <a:r>
              <a:rPr b="0" i="0" strike="noStrike" dirty="0"/>
              <a:t>quick </a:t>
            </a:r>
            <a:r>
              <a:rPr b="0" i="0" strike="noStrike" dirty="0"/>
              <a:t>access </a:t>
            </a:r>
            <a:r>
              <a:rPr b="0" i="0" strike="noStrike" dirty="0"/>
              <a:t>toolbar </a:t>
            </a:r>
            <a:r>
              <a:rPr b="0" i="0" strike="noStrike" dirty="0"/>
              <a:t>for </a:t>
            </a:r>
            <a:r>
              <a:rPr b="0" i="0" strike="noStrike" dirty="0"/>
              <a:t>the </a:t>
            </a:r>
            <a:r>
              <a:rPr b="0" i="0" strike="noStrike" dirty="0"/>
              <a:t>package:</a:t>
            </a:r>
          </a:p>
        </p:txBody>
      </p:sp>
      <p:sp>
        <p:nvSpPr>
          <p:cNvPr id="11" name="TextBox11"/>
          <p:cNvSpPr txBox="1">
            <a:spLocks noChangeArrowheads="1"/>
          </p:cNvSpPr>
          <p:nvPr/>
        </p:nvSpPr>
        <p:spPr>
          <a:xfrm rot="0">
            <a:off x="508000" y="4897120"/>
            <a:ext cx="11176000" cy="320040"/>
          </a:xfrm>
          <a:prstGeom prst="rect">
            <a:avLst/>
          </a:prstGeom>
          <a:ln>
            <a:headEnd type="none"/>
            <a:tailEnd type="none"/>
          </a:ln>
        </p:spPr>
        <p:txBody>
          <a:bodyPr wrap="square">
            <a:spAutoFit/>
          </a:bodyPr>
          <a:lstStyle/>
          <a:p>
            <a:pPr algn="l" defTabSz="914400"/>
            <a:r>
              <a:rPr b="0" i="0" strike="noStrike" dirty="0"/>
              <a:t>&lt;mso:customUI </a:t>
            </a:r>
            <a:r>
              <a:rPr b="0" i="0" strike="noStrike" dirty="0"/>
              <a:t>xmlns:mso="http://schemas.microsoft.com/office/2006/01/customui"&gt;</a:t>
            </a:r>
          </a:p>
        </p:txBody>
      </p:sp>
      <p:sp>
        <p:nvSpPr>
          <p:cNvPr id="12" name="TextBox12"/>
          <p:cNvSpPr txBox="1">
            <a:spLocks noChangeArrowheads="1"/>
          </p:cNvSpPr>
          <p:nvPr/>
        </p:nvSpPr>
        <p:spPr>
          <a:xfrm rot="0">
            <a:off x="508000" y="5242560"/>
            <a:ext cx="11176000" cy="320040"/>
          </a:xfrm>
          <a:prstGeom prst="rect">
            <a:avLst/>
          </a:prstGeom>
          <a:ln>
            <a:headEnd type="none"/>
            <a:tailEnd type="none"/>
          </a:ln>
        </p:spPr>
        <p:txBody>
          <a:bodyPr wrap="square">
            <a:spAutoFit/>
          </a:bodyPr>
          <a:lstStyle/>
          <a:p>
            <a:pPr algn="l" defTabSz="914400"/>
            <a:r>
              <a:rPr b="0" i="0" strike="noStrike" dirty="0"/>
              <a:t>&lt;mso:ribbon&gt;</a:t>
            </a:r>
          </a:p>
        </p:txBody>
      </p:sp>
      <p:sp>
        <p:nvSpPr>
          <p:cNvPr id="13" name="TextBox13"/>
          <p:cNvSpPr txBox="1">
            <a:spLocks noChangeArrowheads="1"/>
          </p:cNvSpPr>
          <p:nvPr/>
        </p:nvSpPr>
        <p:spPr>
          <a:xfrm rot="0">
            <a:off x="508000" y="5588000"/>
            <a:ext cx="11176000" cy="320040"/>
          </a:xfrm>
          <a:prstGeom prst="rect">
            <a:avLst/>
          </a:prstGeom>
          <a:ln>
            <a:headEnd type="none"/>
            <a:tailEnd type="none"/>
          </a:ln>
        </p:spPr>
        <p:txBody>
          <a:bodyPr wrap="square">
            <a:spAutoFit/>
          </a:bodyPr>
          <a:lstStyle/>
          <a:p>
            <a:pPr algn="l" defTabSz="914400"/>
            <a:r>
              <a:rPr b="0" i="0" strike="noStrike" dirty="0"/>
              <a:t>&lt;mso:qat&gt;</a:t>
            </a:r>
          </a:p>
        </p:txBody>
      </p:sp>
      <p:sp>
        <p:nvSpPr>
          <p:cNvPr id="14" name="TextBox14"/>
          <p:cNvSpPr txBox="1">
            <a:spLocks noChangeArrowheads="1"/>
          </p:cNvSpPr>
          <p:nvPr/>
        </p:nvSpPr>
        <p:spPr>
          <a:xfrm rot="0">
            <a:off x="508000" y="5933440"/>
            <a:ext cx="11176000" cy="320040"/>
          </a:xfrm>
          <a:prstGeom prst="rect">
            <a:avLst/>
          </a:prstGeom>
          <a:ln>
            <a:headEnd type="none"/>
            <a:tailEnd type="none"/>
          </a:ln>
        </p:spPr>
        <p:txBody>
          <a:bodyPr wrap="square">
            <a:spAutoFit/>
          </a:bodyPr>
          <a:lstStyle/>
          <a:p>
            <a:pPr algn="l" defTabSz="914400"/>
            <a:r>
              <a:rPr b="0" i="0" strike="noStrike" dirty="0"/>
              <a:t>&lt;mso:documentControls&gt;</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&lt;mso:control </a:t>
            </a:r>
            <a:r>
              <a:rPr b="0" i="0" strike="noStrike" dirty="0"/>
              <a:t>idQ="mso:SpellingAndGrammar" </a:t>
            </a:r>
            <a:r>
              <a:rPr b="0" i="0" strike="noStrike" dirty="0"/>
              <a:t>visible="true" </a:t>
            </a:r>
            <a:r>
              <a:rPr b="0" i="0" strike="noStrike" dirty="0"/>
              <a:t>/&gt;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&lt;/mso:documentControls&gt;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&lt;/mso:qat&gt;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&lt;/mso:ribbon&gt;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&lt;/mso:customUI&gt;</a:t>
            </a:r>
          </a:p>
        </p:txBody>
      </p:sp>
      <p:sp>
        <p:nvSpPr>
          <p:cNvPr id="7" name="TextBox7"/>
          <p:cNvSpPr txBox="1">
            <a:spLocks noChangeArrowheads="1"/>
          </p:cNvSpPr>
          <p:nvPr/>
        </p:nvSpPr>
        <p:spPr>
          <a:xfrm rot="0">
            <a:off x="508000" y="2235200"/>
            <a:ext cx="11176000" cy="960120"/>
          </a:xfrm>
          <a:prstGeom prst="rect">
            <a:avLst/>
          </a:prstGeom>
          <a:ln>
            <a:headEnd type="none"/>
            <a:tailEnd type="none"/>
          </a:ln>
        </p:spPr>
        <p:txBody>
          <a:bodyPr wrap="square">
            <a:spAutoFit/>
          </a:bodyPr>
          <a:lstStyle/>
          <a:p>
            <a:pPr algn="l" defTabSz="914400"/>
            <a:r>
              <a:rPr b="0" i="0" strike="noStrike" dirty="0"/>
              <a:t>A </a:t>
            </a:r>
            <a:r>
              <a:rPr b="0" i="0" strike="noStrike" dirty="0"/>
              <a:t>Quick </a:t>
            </a:r>
            <a:r>
              <a:rPr b="0" i="0" strike="noStrike" dirty="0"/>
              <a:t>Access </a:t>
            </a:r>
            <a:r>
              <a:rPr b="0" i="0" strike="noStrike" dirty="0"/>
              <a:t>Toolbar </a:t>
            </a:r>
            <a:r>
              <a:rPr b="0" i="0" strike="noStrike" dirty="0"/>
              <a:t>Customizations </a:t>
            </a:r>
            <a:r>
              <a:rPr b="0" i="0" strike="noStrike" dirty="0"/>
              <a:t>part </a:t>
            </a:r>
            <a:r>
              <a:rPr b="0" i="0" strike="noStrike" dirty="0"/>
              <a:t>is </a:t>
            </a:r>
            <a:r>
              <a:rPr b="0" i="0" strike="noStrike" dirty="0"/>
              <a:t>located </a:t>
            </a:r>
            <a:r>
              <a:rPr b="0" i="0" strike="noStrike" dirty="0"/>
              <a:t>within </a:t>
            </a:r>
            <a:r>
              <a:rPr b="0" i="0" strike="noStrike" dirty="0"/>
              <a:t>the </a:t>
            </a:r>
            <a:r>
              <a:rPr b="0" i="0" strike="noStrike" dirty="0"/>
              <a:t>package </a:t>
            </a:r>
            <a:r>
              <a:rPr b="0" i="0" strike="noStrike" dirty="0"/>
              <a:t>containing </a:t>
            </a:r>
            <a:r>
              <a:rPr b="0" i="0" strike="noStrike" dirty="0"/>
              <a:t>the </a:t>
            </a:r>
            <a:r>
              <a:rPr b="0" i="0" strike="noStrike" dirty="0"/>
              <a:t>source </a:t>
            </a:r>
            <a:r>
              <a:rPr b="0" i="0" strike="noStrike" dirty="0"/>
              <a:t>relationship. </a:t>
            </a:r>
            <a:r>
              <a:rPr b="0" i="0" strike="noStrike" dirty="0"/>
              <a:t>Expressed </a:t>
            </a:r>
            <a:r>
              <a:rPr b="0" i="0" strike="noStrike" dirty="0"/>
              <a:t>syntactically, </a:t>
            </a:r>
            <a:r>
              <a:rPr b="0" i="0" strike="noStrike" dirty="0"/>
              <a:t>the </a:t>
            </a:r>
            <a:r>
              <a:rPr b="1" i="0" strike="noStrike" dirty="0"/>
              <a:t>TargetMode</a:t>
            </a:r>
            <a:r>
              <a:rPr b="0" i="0" strike="noStrike" dirty="0"/>
              <a:t> </a:t>
            </a:r>
            <a:r>
              <a:rPr b="0" i="0" strike="noStrike" dirty="0"/>
              <a:t>attribute </a:t>
            </a:r>
            <a:r>
              <a:rPr b="0" i="0" strike="noStrike" dirty="0"/>
              <a:t>of </a:t>
            </a:r>
            <a:r>
              <a:rPr b="0" i="0" strike="noStrike" dirty="0"/>
              <a:t>the </a:t>
            </a:r>
            <a:r>
              <a:rPr b="1" i="0" strike="noStrike" dirty="0"/>
              <a:t>Relationship</a:t>
            </a:r>
            <a:r>
              <a:rPr b="0" i="0" strike="noStrike" dirty="0"/>
              <a:t> </a:t>
            </a:r>
            <a:r>
              <a:rPr b="0" i="0" strike="noStrike" dirty="0"/>
              <a:t>element </a:t>
            </a:r>
            <a:r>
              <a:rPr b="0" i="0" strike="noStrike" dirty="0"/>
              <a:t>is </a:t>
            </a:r>
            <a:r>
              <a:rPr b="0" i="0" strike="noStrike" dirty="0"/>
              <a:t>"Internal".</a:t>
            </a:r>
          </a:p>
        </p:txBody>
      </p:sp>
      <p:sp>
        <p:nvSpPr>
          <p:cNvPr id="8" name="TextBox8"/>
          <p:cNvSpPr txBox="1">
            <a:spLocks noChangeArrowheads="1"/>
          </p:cNvSpPr>
          <p:nvPr/>
        </p:nvSpPr>
        <p:spPr>
          <a:xfrm rot="0">
            <a:off x="508000" y="3220720"/>
            <a:ext cx="11176000" cy="640080"/>
          </a:xfrm>
          <a:prstGeom prst="rect">
            <a:avLst/>
          </a:prstGeom>
          <a:ln>
            <a:headEnd type="none"/>
            <a:tailEnd type="none"/>
          </a:ln>
        </p:spPr>
        <p:txBody>
          <a:bodyPr wrap="square">
            <a:spAutoFit/>
          </a:bodyPr>
          <a:lstStyle/>
          <a:p>
            <a:pPr algn="l" defTabSz="914400"/>
            <a:r>
              <a:rPr b="0" i="0" strike="noStrike" dirty="0"/>
              <a:t>A </a:t>
            </a:r>
            <a:r>
              <a:rPr b="0" i="0" strike="noStrike" dirty="0"/>
              <a:t>Quick </a:t>
            </a:r>
            <a:r>
              <a:rPr b="0" i="0" strike="noStrike" dirty="0"/>
              <a:t>Access </a:t>
            </a:r>
            <a:r>
              <a:rPr b="0" i="0" strike="noStrike" dirty="0"/>
              <a:t>Toolbar </a:t>
            </a:r>
            <a:r>
              <a:rPr b="0" i="0" strike="noStrike" dirty="0"/>
              <a:t>Customizations </a:t>
            </a:r>
            <a:r>
              <a:rPr b="0" i="0" strike="noStrike" dirty="0"/>
              <a:t>part </a:t>
            </a:r>
            <a:r>
              <a:rPr b="0" i="0" strike="noStrike" dirty="0"/>
              <a:t>does </a:t>
            </a:r>
            <a:r>
              <a:rPr b="0" i="0" strike="noStrike" dirty="0"/>
              <a:t>not </a:t>
            </a:r>
            <a:r>
              <a:rPr b="0" i="0" strike="noStrike" dirty="0"/>
              <a:t>have </a:t>
            </a:r>
            <a:r>
              <a:rPr b="0" i="0" strike="noStrike" dirty="0"/>
              <a:t>implicit </a:t>
            </a:r>
            <a:r>
              <a:rPr b="0" i="0" strike="noStrike" dirty="0"/>
              <a:t>or </a:t>
            </a:r>
            <a:r>
              <a:rPr b="0" i="0" strike="noStrike" dirty="0"/>
              <a:t>explicit </a:t>
            </a:r>
            <a:r>
              <a:rPr b="0" i="0" strike="noStrike" dirty="0"/>
              <a:t>relationships </a:t>
            </a:r>
            <a:r>
              <a:rPr b="0" i="0" strike="noStrike" dirty="0"/>
              <a:t>to </a:t>
            </a:r>
            <a:r>
              <a:rPr b="0" i="0" strike="noStrike" dirty="0"/>
              <a:t>any </a:t>
            </a:r>
            <a:r>
              <a:rPr b="0" i="0" strike="noStrike" dirty="0"/>
              <a:t>other </a:t>
            </a:r>
            <a:r>
              <a:rPr b="0" i="0" strike="noStrike" dirty="0"/>
              <a:t>part </a:t>
            </a:r>
            <a:r>
              <a:rPr b="0" i="0" strike="noStrike" dirty="0"/>
              <a:t>defined </a:t>
            </a:r>
            <a:r>
              <a:rPr b="0" i="0" strike="noStrike" dirty="0"/>
              <a:t>by </a:t>
            </a:r>
            <a:r>
              <a:rPr b="0" i="0" strike="noStrike" dirty="0"/>
              <a:t>ECMA-376 </a:t>
            </a:r>
            <a:r>
              <a:rPr b="0" i="0" strike="noStrike" dirty="0"/>
              <a:t>Office </a:t>
            </a:r>
            <a:r>
              <a:rPr b="0" i="0" strike="noStrike" dirty="0"/>
              <a:t>Open </a:t>
            </a:r>
            <a:r>
              <a:rPr b="0" i="0" strike="noStrike" dirty="0"/>
              <a:t>XML </a:t>
            </a:r>
            <a:r>
              <a:rPr b="0" i="0" strike="noStrike" dirty="0"/>
              <a:t>File </a:t>
            </a:r>
            <a:r>
              <a:rPr b="0" i="0" strike="noStrike" dirty="0"/>
              <a:t>Formats, </a:t>
            </a:r>
            <a:r>
              <a:rPr b="0" i="0" strike="noStrike" dirty="0"/>
              <a:t>as </a:t>
            </a:r>
            <a:r>
              <a:rPr b="0" i="0" strike="noStrike" dirty="0"/>
              <a:t>specified </a:t>
            </a:r>
            <a:r>
              <a:rPr b="0" i="0" strike="noStrike" dirty="0"/>
              <a:t>in </a:t>
            </a:r>
            <a:r>
              <a:rPr>
                <a:hlinkClick r:id="rId2" action="ppaction://hlinkfile"/>
              </a:rPr>
              <a:t>[ECMA-376]</a:t>
            </a:r>
            <a:r>
              <a:rPr b="0" i="0" strike="noStrike" dirty="0"/>
              <a:t>.</a:t>
            </a:r>
          </a:p>
        </p:txBody>
      </p:sp>
      <p:sp>
        <p:nvSpPr>
          <p:cNvPr id="9" name="TextBox9"/>
          <p:cNvSpPr txBox="1">
            <a:spLocks noChangeArrowheads="1"/>
          </p:cNvSpPr>
          <p:nvPr/>
        </p:nvSpPr>
        <p:spPr>
          <a:xfrm rot="0">
            <a:off x="508000" y="3886200"/>
            <a:ext cx="11176000" cy="426720"/>
          </a:xfrm>
          <a:prstGeom prst="rect">
            <a:avLst/>
          </a:prstGeom>
          <a:ln>
            <a:headEnd type="none"/>
            <a:tailEnd type="none"/>
          </a:ln>
        </p:spPr>
        <p:txBody>
          <a:bodyPr wrap="square">
            <a:spAutoFit/>
          </a:bodyPr>
          <a:lstStyle/>
          <a:p>
            <a:pPr algn="l" defTabSz="914400">
              <a:defRPr sz="2400" b="1" dirty="0"/>
            </a:pPr>
            <a:r>
              <a:rPr b="1" i="0" strike="noStrike" dirty="0"/>
              <a:t>Ribbon </a:t>
            </a:r>
            <a:r>
              <a:rPr b="1" i="0" strike="noStrike" dirty="0"/>
              <a:t>Extensibility </a:t>
            </a:r>
            <a:r>
              <a:rPr b="1" i="0" strike="noStrike" dirty="0"/>
              <a:t>Part </a:t>
            </a:r>
            <a:r>
              <a:rPr b="1" i="0" strike="noStrike" dirty="0"/>
              <a:t>XE </a:t>
            </a:r>
            <a:r>
              <a:rPr b="1" i="0" strike="noStrike" dirty="0"/>
              <a:t>"Parts:ribbon </a:t>
            </a:r>
            <a:r>
              <a:rPr b="1" i="0" strike="noStrike" dirty="0"/>
              <a:t>extensibility </a:t>
            </a:r>
            <a:r>
              <a:rPr b="1" i="0" strike="noStrike" dirty="0"/>
              <a:t>part"</a:t>
            </a:r>
          </a:p>
        </p:txBody>
      </p:sp>
      <p:graphicFrame>
        <p:nvGraphicFramePr>
          <p:cNvPr id="10" name="Table 10"/>
          <p:cNvGraphicFramePr/>
          <p:nvPr/>
        </p:nvGraphicFramePr>
        <p:xfrm rot="0">
          <a:off x="508000" y="4338320"/>
          <a:ext cx="11176000" cy="177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Content Type:</a:t>
                      </a:r>
                    </a:p>
                  </a:txBody>
                  <a:tcPr horzOverflow="overflow"/>
                </a:tc>
                <a:tc>
                  <a:txBody>
                    <a:bodyPr/>
                    <a:lstStyle/>
                    <a:p>
                      <a:pPr algn="l" defTabSz="914400"/>
                      <a:r>
                        <a:rPr b="1" i="0" strike="noStrike" dirty="0"/>
                        <a:t>application/xml</a:t>
                      </a:r>
                    </a:p>
                  </a:txBody>
                  <a:tcPr horzOverflow="overflow"/>
                </a:tc>
              </a:tr>
              <a:tr h="508000">
                <a:tc>
                  <a:txBody>
                    <a:bodyPr/>
                    <a:lstStyle/>
                    <a:p>
                      <a:pPr algn="l" defTabSz="914400"/>
                      <a:r>
                        <a:rPr b="0" i="0" strike="noStrike" dirty="0"/>
                        <a:t>Root Namespace:</a:t>
                      </a:r>
                    </a:p>
                  </a:txBody>
                  <a:tcPr horzOverflow="overflow"/>
                </a:tc>
                <a:tc>
                  <a:txBody>
                    <a:bodyPr/>
                    <a:lstStyle/>
                    <a:p>
                      <a:pPr algn="l" defTabSz="914400"/>
                      <a:r>
                        <a:rPr b="0" i="0" strike="noStrike" dirty="0"/>
                        <a:t>http://schemas.microsoft.com/office/2006/01/customui</a:t>
                      </a:r>
                    </a:p>
                  </a:txBody>
                  <a:tcPr horzOverflow="overflow"/>
                </a:tc>
              </a:tr>
              <a:tr h="762000">
                <a:tc>
                  <a:txBody>
                    <a:bodyPr/>
                    <a:lstStyle/>
                    <a:p>
                      <a:pPr algn="l" defTabSz="914400"/>
                      <a:r>
                        <a:rPr b="0" i="0" strike="noStrike" dirty="0"/>
                        <a:t>Source Relationship:</a:t>
                      </a:r>
                    </a:p>
                  </a:txBody>
                  <a:tcPr horzOverflow="overflow"/>
                </a:tc>
                <a:tc>
                  <a:txBody>
                    <a:bodyPr/>
                    <a:lstStyle/>
                    <a:p>
                      <a:pPr algn="l" defTabSz="914400"/>
                      <a:r>
                        <a:rPr b="0" i="0" strike="noStrike" dirty="0"/>
                        <a:t>http://schemas.microsoft.com/office/2006/relationships/ui/extensibility</a:t>
                      </a:r>
                    </a:p>
                  </a:txBody>
                  <a:tcPr horzOverflow="overflow"/>
                </a:tc>
              </a:tr>
            </a:tbl>
          </a:graphicData>
        </a:graphic>
      </p:graphicFrame>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b="0" i="0" strike="noStrike" dirty="0"/>
              <a:t>The </a:t>
            </a:r>
            <a:r>
              <a:rPr b="0" i="0" strike="noStrike" dirty="0"/>
              <a:t>syntax </a:t>
            </a:r>
            <a:r>
              <a:rPr b="0" i="0" strike="noStrike" dirty="0"/>
              <a:t>of </a:t>
            </a:r>
            <a:r>
              <a:rPr b="0" i="0" strike="noStrike" dirty="0"/>
              <a:t>the </a:t>
            </a:r>
            <a:r>
              <a:rPr b="0" i="0" strike="noStrike" dirty="0"/>
              <a:t>structures </a:t>
            </a:r>
            <a:r>
              <a:rPr b="0" i="0" strike="noStrike" dirty="0"/>
              <a:t>contained </a:t>
            </a:r>
            <a:r>
              <a:rPr b="0" i="0" strike="noStrike" dirty="0"/>
              <a:t>in </a:t>
            </a:r>
            <a:r>
              <a:rPr b="0" i="0" strike="noStrike" dirty="0"/>
              <a:t>this </a:t>
            </a:r>
            <a:r>
              <a:rPr b="0" i="0" strike="noStrike" dirty="0"/>
              <a:t>part </a:t>
            </a:r>
            <a:r>
              <a:rPr b="0" i="0" strike="noStrike" dirty="0"/>
              <a:t>uses </a:t>
            </a:r>
            <a:r>
              <a:rPr/>
              <a:t>XML </a:t>
            </a:r>
            <a:r>
              <a:rPr/>
              <a:t>schema </a:t>
            </a:r>
            <a:r>
              <a:rPr/>
              <a:t>definition </a:t>
            </a:r>
            <a:r>
              <a:rPr/>
              <a:t>(XSD)</a:t>
            </a:r>
            <a:r>
              <a:rPr b="0" i="0" strike="noStrike" dirty="0"/>
              <a:t>, </a:t>
            </a:r>
            <a:r>
              <a:rPr b="0" i="0" strike="noStrike" dirty="0"/>
              <a:t>as </a:t>
            </a:r>
            <a:r>
              <a:rPr b="0" i="0" strike="noStrike" dirty="0"/>
              <a:t>specified </a:t>
            </a:r>
            <a:r>
              <a:rPr b="0" i="0" strike="noStrike" dirty="0"/>
              <a:t>in </a:t>
            </a:r>
            <a:r>
              <a:rPr>
                <a:hlinkClick r:id="rId2" action="ppaction://hlinkfile"/>
              </a:rPr>
              <a:t>[XMLSCHEMA1]</a:t>
            </a:r>
            <a:r>
              <a:rPr b="0" i="0" strike="noStrike" dirty="0"/>
              <a:t> </a:t>
            </a:r>
            <a:r>
              <a:rPr b="0" i="0" strike="noStrike" dirty="0"/>
              <a:t>and </a:t>
            </a:r>
            <a:r>
              <a:rPr>
                <a:hlinkClick r:id="rId3" action="ppaction://hlinkfile"/>
              </a:rPr>
              <a:t>[XMLSCHEMA2]</a:t>
            </a:r>
            <a:r>
              <a:rPr b="0" i="0" strike="noStrike" dirty="0"/>
              <a:t>.</a:t>
            </a:r>
          </a:p>
        </p:txBody>
      </p:sp>
      <p:sp>
        <p:nvSpPr>
          <p:cNvPr id="3" name="TextBox3"/>
          <p:cNvSpPr txBox="1">
            <a:spLocks noChangeArrowheads="1"/>
          </p:cNvSpPr>
          <p:nvPr/>
        </p:nvSpPr>
        <p:spPr>
          <a:xfrm rot="0">
            <a:off x="508000" y="117348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specification </a:t>
            </a:r>
            <a:r>
              <a:rPr b="0" i="0" strike="noStrike" dirty="0"/>
              <a:t>defines </a:t>
            </a:r>
            <a:r>
              <a:rPr b="0" i="0" strike="noStrike" dirty="0"/>
              <a:t>and </a:t>
            </a:r>
            <a:r>
              <a:rPr b="0" i="0" strike="noStrike" dirty="0"/>
              <a:t>references </a:t>
            </a:r>
            <a:r>
              <a:rPr b="0" i="0" strike="noStrike" dirty="0"/>
              <a:t>various </a:t>
            </a:r>
            <a:r>
              <a:rPr/>
              <a:t>XML </a:t>
            </a:r>
            <a:r>
              <a:rPr/>
              <a:t>namespaces</a:t>
            </a:r>
            <a:r>
              <a:rPr b="0" i="0" strike="noStrike" dirty="0"/>
              <a:t> </a:t>
            </a:r>
            <a:r>
              <a:rPr b="0" i="0" strike="noStrike" dirty="0"/>
              <a:t>by </a:t>
            </a:r>
            <a:r>
              <a:rPr b="0" i="0" strike="noStrike" dirty="0"/>
              <a:t>using </a:t>
            </a:r>
            <a:r>
              <a:rPr b="0" i="0" strike="noStrike" dirty="0"/>
              <a:t>the </a:t>
            </a:r>
            <a:r>
              <a:rPr b="0" i="0" strike="noStrike" dirty="0"/>
              <a:t>mechanisms </a:t>
            </a:r>
            <a:r>
              <a:rPr b="0" i="0" strike="noStrike" dirty="0"/>
              <a:t>specified </a:t>
            </a:r>
            <a:r>
              <a:rPr b="0" i="0" strike="noStrike" dirty="0"/>
              <a:t>in </a:t>
            </a:r>
            <a:r>
              <a:rPr>
                <a:hlinkClick r:id="rId4" action="ppaction://hlinkfile"/>
              </a:rPr>
              <a:t>[XMLNS]</a:t>
            </a:r>
            <a:r>
              <a:rPr b="0" i="0" strike="noStrike" dirty="0"/>
              <a:t>.</a:t>
            </a:r>
          </a:p>
        </p:txBody>
      </p:sp>
      <p:sp>
        <p:nvSpPr>
          <p:cNvPr id="4" name="TextBox4"/>
          <p:cNvSpPr txBox="1">
            <a:spLocks noChangeArrowheads="1"/>
          </p:cNvSpPr>
          <p:nvPr/>
        </p:nvSpPr>
        <p:spPr>
          <a:xfrm rot="0">
            <a:off x="508000" y="1838960"/>
            <a:ext cx="11176000" cy="640080"/>
          </a:xfrm>
          <a:prstGeom prst="rect">
            <a:avLst/>
          </a:prstGeom>
          <a:ln>
            <a:headEnd type="none"/>
            <a:tailEnd type="none"/>
          </a:ln>
        </p:spPr>
        <p:txBody>
          <a:bodyPr wrap="square">
            <a:spAutoFit/>
          </a:bodyPr>
          <a:lstStyle/>
          <a:p>
            <a:pPr algn="l" defTabSz="914400"/>
            <a:r>
              <a:rPr b="0" i="0" strike="noStrike" dirty="0"/>
              <a:t>An </a:t>
            </a:r>
            <a:r>
              <a:rPr b="0" i="0" strike="noStrike" dirty="0"/>
              <a:t>instance </a:t>
            </a:r>
            <a:r>
              <a:rPr b="0" i="0" strike="noStrike" dirty="0"/>
              <a:t>of </a:t>
            </a:r>
            <a:r>
              <a:rPr b="0" i="0" strike="noStrike" dirty="0"/>
              <a:t>this </a:t>
            </a:r>
            <a:r>
              <a:rPr b="0" i="0" strike="noStrike" dirty="0"/>
              <a:t>part </a:t>
            </a:r>
            <a:r>
              <a:rPr b="0" i="0" strike="noStrike" dirty="0"/>
              <a:t>type </a:t>
            </a:r>
            <a:r>
              <a:rPr b="0" i="0" strike="noStrike" dirty="0"/>
              <a:t>contains </a:t>
            </a:r>
            <a:r>
              <a:rPr b="0" i="0" strike="noStrike" dirty="0"/>
              <a:t>information </a:t>
            </a:r>
            <a:r>
              <a:rPr b="0" i="0" strike="noStrike" dirty="0"/>
              <a:t>about </a:t>
            </a:r>
            <a:r>
              <a:rPr b="0" i="0" strike="noStrike" dirty="0"/>
              <a:t>the </a:t>
            </a:r>
            <a:r>
              <a:rPr b="0" i="0" strike="noStrike" dirty="0"/>
              <a:t>ribbon </a:t>
            </a:r>
            <a:r>
              <a:rPr b="0" i="0" strike="noStrike" dirty="0"/>
              <a:t>customizations </a:t>
            </a:r>
            <a:r>
              <a:rPr b="0" i="0" strike="noStrike" dirty="0"/>
              <a:t>specific </a:t>
            </a:r>
            <a:r>
              <a:rPr b="0" i="0" strike="noStrike" dirty="0"/>
              <a:t>to </a:t>
            </a:r>
            <a:r>
              <a:rPr b="0" i="0" strike="noStrike" dirty="0"/>
              <a:t>the </a:t>
            </a:r>
            <a:r>
              <a:rPr b="0" i="0" strike="noStrike" dirty="0"/>
              <a:t>containing </a:t>
            </a:r>
            <a:r>
              <a:rPr b="0" i="0" strike="noStrike" dirty="0"/>
              <a:t>package.</a:t>
            </a:r>
          </a:p>
        </p:txBody>
      </p:sp>
      <p:sp>
        <p:nvSpPr>
          <p:cNvPr id="5" name="TextBox5"/>
          <p:cNvSpPr txBox="1">
            <a:spLocks noChangeArrowheads="1"/>
          </p:cNvSpPr>
          <p:nvPr/>
        </p:nvSpPr>
        <p:spPr>
          <a:xfrm rot="0">
            <a:off x="508000" y="2504440"/>
            <a:ext cx="11176000" cy="64008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a </a:t>
            </a:r>
            <a:r>
              <a:rPr b="0" i="0" strike="noStrike" dirty="0"/>
              <a:t>SpreadsheetML </a:t>
            </a:r>
            <a:r>
              <a:rPr b="0" i="0" strike="noStrike" dirty="0"/>
              <a:t>document </a:t>
            </a:r>
            <a:r>
              <a:rPr b="0" i="0" strike="noStrike" dirty="0"/>
              <a:t>that </a:t>
            </a:r>
            <a:r>
              <a:rPr b="0" i="0" strike="noStrike" dirty="0"/>
              <a:t>represents </a:t>
            </a:r>
            <a:r>
              <a:rPr b="0" i="0" strike="noStrike" dirty="0"/>
              <a:t>a </a:t>
            </a:r>
            <a:r>
              <a:rPr b="0" i="0" strike="noStrike" dirty="0"/>
              <a:t>timecard </a:t>
            </a:r>
            <a:r>
              <a:rPr b="0" i="0" strike="noStrike" dirty="0"/>
              <a:t>could </a:t>
            </a:r>
            <a:r>
              <a:rPr b="0" i="0" strike="noStrike" dirty="0"/>
              <a:t>contain </a:t>
            </a:r>
            <a:r>
              <a:rPr b="0" i="0" strike="noStrike" dirty="0"/>
              <a:t>custom </a:t>
            </a:r>
            <a:r>
              <a:rPr b="0" i="0" strike="noStrike" dirty="0"/>
              <a:t>UI </a:t>
            </a:r>
            <a:r>
              <a:rPr b="0" i="0" strike="noStrike" dirty="0"/>
              <a:t>controls </a:t>
            </a:r>
            <a:r>
              <a:rPr b="0" i="0" strike="noStrike" dirty="0"/>
              <a:t>to </a:t>
            </a:r>
            <a:r>
              <a:rPr b="0" i="0" strike="noStrike" dirty="0"/>
              <a:t>guide </a:t>
            </a:r>
            <a:r>
              <a:rPr b="0" i="0" strike="noStrike" dirty="0"/>
              <a:t>the </a:t>
            </a:r>
            <a:r>
              <a:rPr b="0" i="0" strike="noStrike" dirty="0"/>
              <a:t>user </a:t>
            </a:r>
            <a:r>
              <a:rPr b="0" i="0" strike="noStrike" dirty="0"/>
              <a:t>in </a:t>
            </a:r>
            <a:r>
              <a:rPr b="0" i="0" strike="noStrike" dirty="0"/>
              <a:t>filling </a:t>
            </a:r>
            <a:r>
              <a:rPr b="0" i="0" strike="noStrike" dirty="0"/>
              <a:t>out </a:t>
            </a:r>
            <a:r>
              <a:rPr b="0" i="0" strike="noStrike" dirty="0"/>
              <a:t>the </a:t>
            </a:r>
            <a:r>
              <a:rPr b="0" i="0" strike="noStrike" dirty="0"/>
              <a:t>timecard.</a:t>
            </a:r>
          </a:p>
        </p:txBody>
      </p:sp>
      <p:sp>
        <p:nvSpPr>
          <p:cNvPr id="6" name="TextBox6"/>
          <p:cNvSpPr txBox="1">
            <a:spLocks noChangeArrowheads="1"/>
          </p:cNvSpPr>
          <p:nvPr/>
        </p:nvSpPr>
        <p:spPr>
          <a:xfrm rot="0">
            <a:off x="508000" y="3169920"/>
            <a:ext cx="11176000" cy="640080"/>
          </a:xfrm>
          <a:prstGeom prst="rect">
            <a:avLst/>
          </a:prstGeom>
          <a:ln>
            <a:headEnd type="none"/>
            <a:tailEnd type="none"/>
          </a:ln>
        </p:spPr>
        <p:txBody>
          <a:bodyPr wrap="square">
            <a:spAutoFit/>
          </a:bodyPr>
          <a:lstStyle/>
          <a:p>
            <a:pPr algn="l" defTabSz="914400"/>
            <a:r>
              <a:rPr b="0" i="0" strike="noStrike" dirty="0"/>
              <a:t>A </a:t>
            </a:r>
            <a:r>
              <a:rPr b="0" i="0" strike="noStrike" dirty="0"/>
              <a:t>package </a:t>
            </a:r>
            <a:r>
              <a:rPr b="0" i="0" strike="noStrike" dirty="0"/>
              <a:t>is </a:t>
            </a:r>
            <a:r>
              <a:rPr b="0" i="0" strike="noStrike" dirty="0"/>
              <a:t>permitted </a:t>
            </a:r>
            <a:r>
              <a:rPr b="0" i="0" strike="noStrike" dirty="0"/>
              <a:t>to </a:t>
            </a:r>
            <a:r>
              <a:rPr b="0" i="0" strike="noStrike" dirty="0"/>
              <a:t>contain </a:t>
            </a:r>
            <a:r>
              <a:rPr b="0" i="0" strike="noStrike" dirty="0"/>
              <a:t>at </a:t>
            </a:r>
            <a:r>
              <a:rPr b="0" i="0" strike="noStrike" dirty="0"/>
              <a:t>most </a:t>
            </a:r>
            <a:r>
              <a:rPr b="0" i="0" strike="noStrike" dirty="0"/>
              <a:t>one </a:t>
            </a:r>
            <a:r>
              <a:rPr b="0" i="0" strike="noStrike" dirty="0"/>
              <a:t>Ribbon </a:t>
            </a:r>
            <a:r>
              <a:rPr b="0" i="0" strike="noStrike" dirty="0"/>
              <a:t>Extensibility </a:t>
            </a:r>
            <a:r>
              <a:rPr b="0" i="0" strike="noStrike" dirty="0"/>
              <a:t>part, </a:t>
            </a:r>
            <a:r>
              <a:rPr b="0" i="0" strike="noStrike" dirty="0"/>
              <a:t>and </a:t>
            </a:r>
            <a:r>
              <a:rPr b="0" i="0" strike="noStrike" dirty="0"/>
              <a:t>that </a:t>
            </a:r>
            <a:r>
              <a:rPr b="0" i="0" strike="noStrike" dirty="0"/>
              <a:t>part </a:t>
            </a:r>
            <a:r>
              <a:rPr b="0" i="0" strike="noStrike" dirty="0"/>
              <a:t>is </a:t>
            </a:r>
            <a:r>
              <a:rPr b="0" i="0" strike="noStrike" dirty="0"/>
              <a:t>the </a:t>
            </a:r>
            <a:r>
              <a:rPr b="0" i="0" strike="noStrike" dirty="0"/>
              <a:t>target </a:t>
            </a:r>
            <a:r>
              <a:rPr b="0" i="0" strike="noStrike" dirty="0"/>
              <a:t>of </a:t>
            </a:r>
            <a:r>
              <a:rPr b="0" i="0" strike="noStrike" dirty="0"/>
              <a:t>a </a:t>
            </a:r>
            <a:r>
              <a:rPr b="0" i="0" strike="noStrike" dirty="0"/>
              <a:t>relationship </a:t>
            </a:r>
            <a:r>
              <a:rPr b="0" i="0" strike="noStrike" dirty="0"/>
              <a:t>in </a:t>
            </a:r>
            <a:r>
              <a:rPr b="0" i="0" strike="noStrike" dirty="0"/>
              <a:t>the </a:t>
            </a:r>
            <a:r>
              <a:rPr b="0" i="0" strike="noStrike" dirty="0"/>
              <a:t>package-relationship </a:t>
            </a:r>
            <a:r>
              <a:rPr b="0" i="0" strike="noStrike" dirty="0"/>
              <a:t>item </a:t>
            </a:r>
            <a:r>
              <a:rPr b="0" i="0" strike="noStrike" dirty="0"/>
              <a:t>for </a:t>
            </a:r>
            <a:r>
              <a:rPr b="0" i="0" strike="noStrike" dirty="0"/>
              <a:t>the </a:t>
            </a:r>
            <a:r>
              <a:rPr b="0" i="0" strike="noStrike" dirty="0"/>
              <a:t>document.</a:t>
            </a:r>
          </a:p>
        </p:txBody>
      </p:sp>
      <p:sp>
        <p:nvSpPr>
          <p:cNvPr id="7" name="TextBox7"/>
          <p:cNvSpPr txBox="1">
            <a:spLocks noChangeArrowheads="1"/>
          </p:cNvSpPr>
          <p:nvPr/>
        </p:nvSpPr>
        <p:spPr>
          <a:xfrm rot="0">
            <a:off x="508000" y="3835400"/>
            <a:ext cx="11176000" cy="64008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the </a:t>
            </a:r>
            <a:r>
              <a:rPr b="0" i="0" strike="noStrike" dirty="0"/>
              <a:t>following </a:t>
            </a:r>
            <a:r>
              <a:rPr b="0" i="0" strike="noStrike" dirty="0"/>
              <a:t>package </a:t>
            </a:r>
            <a:r>
              <a:rPr b="0" i="0" strike="noStrike" dirty="0"/>
              <a:t>part-relationship </a:t>
            </a:r>
            <a:r>
              <a:rPr b="0" i="0" strike="noStrike" dirty="0"/>
              <a:t>item </a:t>
            </a:r>
            <a:r>
              <a:rPr b="0" i="0" strike="noStrike" dirty="0"/>
              <a:t>contains </a:t>
            </a:r>
            <a:r>
              <a:rPr b="0" i="0" strike="noStrike" dirty="0"/>
              <a:t>a </a:t>
            </a:r>
            <a:r>
              <a:rPr b="0" i="0" strike="noStrike" dirty="0"/>
              <a:t>relationship </a:t>
            </a:r>
            <a:r>
              <a:rPr b="0" i="0" strike="noStrike" dirty="0"/>
              <a:t>to </a:t>
            </a:r>
            <a:r>
              <a:rPr b="0" i="0" strike="noStrike" dirty="0"/>
              <a:t>a </a:t>
            </a:r>
            <a:r>
              <a:rPr b="0" i="0" strike="noStrike" dirty="0"/>
              <a:t>Ribbon </a:t>
            </a:r>
            <a:r>
              <a:rPr b="0" i="0" strike="noStrike" dirty="0"/>
              <a:t>Extensibility </a:t>
            </a:r>
            <a:r>
              <a:rPr b="0" i="0" strike="noStrike" dirty="0"/>
              <a:t>part, </a:t>
            </a:r>
            <a:r>
              <a:rPr b="0" i="0" strike="noStrike" dirty="0"/>
              <a:t>which </a:t>
            </a:r>
            <a:r>
              <a:rPr b="0" i="0" strike="noStrike" dirty="0"/>
              <a:t>is </a:t>
            </a:r>
            <a:r>
              <a:rPr b="0" i="0" strike="noStrike" dirty="0"/>
              <a:t>stored </a:t>
            </a:r>
            <a:r>
              <a:rPr b="0" i="0" strike="noStrike" dirty="0"/>
              <a:t>in </a:t>
            </a:r>
            <a:r>
              <a:rPr b="0" i="0" strike="noStrike" dirty="0"/>
              <a:t>the </a:t>
            </a:r>
            <a:r>
              <a:rPr b="0" i="0" strike="noStrike" dirty="0"/>
              <a:t>ZIP </a:t>
            </a:r>
            <a:r>
              <a:rPr b="0" i="0" strike="noStrike" dirty="0"/>
              <a:t>item </a:t>
            </a:r>
            <a:r>
              <a:rPr b="0" i="0" strike="noStrike" dirty="0"/>
              <a:t>/customUI/customUI.xml:</a:t>
            </a:r>
          </a:p>
        </p:txBody>
      </p:sp>
      <p:sp>
        <p:nvSpPr>
          <p:cNvPr id="8" name="TextBox8"/>
          <p:cNvSpPr txBox="1">
            <a:spLocks noChangeArrowheads="1"/>
          </p:cNvSpPr>
          <p:nvPr/>
        </p:nvSpPr>
        <p:spPr>
          <a:xfrm rot="0">
            <a:off x="508000" y="4500880"/>
            <a:ext cx="11176000" cy="320040"/>
          </a:xfrm>
          <a:prstGeom prst="rect">
            <a:avLst/>
          </a:prstGeom>
          <a:ln>
            <a:headEnd type="none"/>
            <a:tailEnd type="none"/>
          </a:ln>
        </p:spPr>
        <p:txBody>
          <a:bodyPr wrap="square">
            <a:spAutoFit/>
          </a:bodyPr>
          <a:lstStyle/>
          <a:p>
            <a:pPr algn="l" defTabSz="914400"/>
            <a:r>
              <a:rPr b="0" i="0" strike="noStrike" dirty="0"/>
              <a:t>&lt;Relationships </a:t>
            </a:r>
            <a:r>
              <a:rPr b="0" i="0" strike="noStrike" dirty="0"/>
              <a:t>xmlns="…"&gt;</a:t>
            </a:r>
          </a:p>
        </p:txBody>
      </p:sp>
      <p:sp>
        <p:nvSpPr>
          <p:cNvPr id="9" name="TextBox9"/>
          <p:cNvSpPr txBox="1">
            <a:spLocks noChangeArrowheads="1"/>
          </p:cNvSpPr>
          <p:nvPr/>
        </p:nvSpPr>
        <p:spPr>
          <a:xfrm rot="0">
            <a:off x="508000" y="4846320"/>
            <a:ext cx="11176000" cy="320040"/>
          </a:xfrm>
          <a:prstGeom prst="rect">
            <a:avLst/>
          </a:prstGeom>
          <a:ln>
            <a:headEnd type="none"/>
            <a:tailEnd type="none"/>
          </a:ln>
        </p:spPr>
        <p:txBody>
          <a:bodyPr wrap="square">
            <a:spAutoFit/>
          </a:bodyPr>
          <a:lstStyle/>
          <a:p>
            <a:pPr algn="l" defTabSz="914400"/>
            <a:r>
              <a:rPr b="0" i="0" strike="noStrike" dirty="0"/>
              <a:t>&lt;Relationship </a:t>
            </a:r>
            <a:r>
              <a:rPr b="0" i="0" strike="noStrike" dirty="0"/>
              <a:t>Id="rId5" </a:t>
            </a:r>
            <a:r>
              <a:rPr b="0" i="0" strike="noStrike" dirty="0"/>
              <a:t> </a:t>
            </a:r>
          </a:p>
        </p:txBody>
      </p:sp>
      <p:sp>
        <p:nvSpPr>
          <p:cNvPr id="10" name="TextBox10"/>
          <p:cNvSpPr txBox="1">
            <a:spLocks noChangeArrowheads="1"/>
          </p:cNvSpPr>
          <p:nvPr/>
        </p:nvSpPr>
        <p:spPr>
          <a:xfrm rot="0">
            <a:off x="508000" y="5191760"/>
            <a:ext cx="11176000" cy="320040"/>
          </a:xfrm>
          <a:prstGeom prst="rect">
            <a:avLst/>
          </a:prstGeom>
          <a:ln>
            <a:headEnd type="none"/>
            <a:tailEnd type="none"/>
          </a:ln>
        </p:spPr>
        <p:txBody>
          <a:bodyPr wrap="square">
            <a:spAutoFit/>
          </a:bodyPr>
          <a:lstStyle/>
          <a:p>
            <a:pPr algn="l" defTabSz="914400"/>
            <a:r>
              <a:rPr b="0" i="0" strike="noStrike" dirty="0"/>
              <a:t>Type="http://…/2006/relationships/ui/extensibility"</a:t>
            </a:r>
          </a:p>
        </p:txBody>
      </p:sp>
      <p:sp>
        <p:nvSpPr>
          <p:cNvPr id="11" name="TextBox11"/>
          <p:cNvSpPr txBox="1">
            <a:spLocks noChangeArrowheads="1"/>
          </p:cNvSpPr>
          <p:nvPr/>
        </p:nvSpPr>
        <p:spPr>
          <a:xfrm rot="0">
            <a:off x="508000" y="5537200"/>
            <a:ext cx="11176000" cy="320040"/>
          </a:xfrm>
          <a:prstGeom prst="rect">
            <a:avLst/>
          </a:prstGeom>
          <a:ln>
            <a:headEnd type="none"/>
            <a:tailEnd type="none"/>
          </a:ln>
        </p:spPr>
        <p:txBody>
          <a:bodyPr wrap="square">
            <a:spAutoFit/>
          </a:bodyPr>
          <a:lstStyle/>
          <a:p>
            <a:pPr algn="l" defTabSz="914400"/>
            <a:r>
              <a:rPr b="0" i="0" strike="noStrike" dirty="0"/>
              <a:t>Target="/customUI/customUI.xml" </a:t>
            </a:r>
            <a:r>
              <a:rPr b="0" i="0" strike="noStrike" dirty="0"/>
              <a:t>/&gt;</a:t>
            </a:r>
          </a:p>
        </p:txBody>
      </p:sp>
      <p:sp>
        <p:nvSpPr>
          <p:cNvPr id="12" name="TextBox12"/>
          <p:cNvSpPr txBox="1">
            <a:spLocks noChangeArrowheads="1"/>
          </p:cNvSpPr>
          <p:nvPr/>
        </p:nvSpPr>
        <p:spPr>
          <a:xfrm rot="0">
            <a:off x="508000" y="5882640"/>
            <a:ext cx="11176000" cy="320040"/>
          </a:xfrm>
          <a:prstGeom prst="rect">
            <a:avLst/>
          </a:prstGeom>
          <a:ln>
            <a:headEnd type="none"/>
            <a:tailEnd type="none"/>
          </a:ln>
        </p:spPr>
        <p:txBody>
          <a:bodyPr wrap="square">
            <a:spAutoFit/>
          </a:bodyPr>
          <a:lstStyle/>
          <a:p>
            <a:pPr algn="l" defTabSz="914400"/>
            <a:r>
              <a:rPr b="0" i="0" strike="noStrike" dirty="0"/>
              <a:t>&lt;/Relationships&gt;</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root </a:t>
            </a:r>
            <a:r>
              <a:rPr b="0" i="0" strike="noStrike" dirty="0"/>
              <a:t>element </a:t>
            </a:r>
            <a:r>
              <a:rPr b="0" i="0" strike="noStrike" dirty="0"/>
              <a:t>for </a:t>
            </a:r>
            <a:r>
              <a:rPr b="0" i="0" strike="noStrike" dirty="0"/>
              <a:t>a </a:t>
            </a:r>
            <a:r>
              <a:rPr b="0" i="0" strike="noStrike" dirty="0"/>
              <a:t>part </a:t>
            </a:r>
            <a:r>
              <a:rPr b="0" i="0" strike="noStrike" dirty="0"/>
              <a:t>of </a:t>
            </a:r>
            <a:r>
              <a:rPr b="0" i="0" strike="noStrike" dirty="0"/>
              <a:t>this </a:t>
            </a:r>
            <a:r>
              <a:rPr b="0" i="0" strike="noStrike" dirty="0"/>
              <a:t>content </a:t>
            </a:r>
            <a:r>
              <a:rPr b="0" i="0" strike="noStrike" dirty="0"/>
              <a:t>type </a:t>
            </a:r>
            <a:r>
              <a:rPr b="0" i="0" strike="noStrike" dirty="0"/>
              <a:t>is </a:t>
            </a:r>
            <a:r>
              <a:rPr b="1" i="0" strike="noStrike" dirty="0"/>
              <a:t>customUI</a:t>
            </a:r>
            <a:r>
              <a:rPr b="0" i="0" strike="noStrike" dirty="0"/>
              <a:t>.</a:t>
            </a:r>
          </a:p>
        </p:txBody>
      </p:sp>
      <p:sp>
        <p:nvSpPr>
          <p:cNvPr id="3" name="TextBox3"/>
          <p:cNvSpPr txBox="1">
            <a:spLocks noChangeArrowheads="1"/>
          </p:cNvSpPr>
          <p:nvPr/>
        </p:nvSpPr>
        <p:spPr>
          <a:xfrm rot="0">
            <a:off x="508000" y="853440"/>
            <a:ext cx="11176000" cy="64008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the </a:t>
            </a:r>
            <a:r>
              <a:rPr b="0" i="0" strike="noStrike" dirty="0"/>
              <a:t>following </a:t>
            </a:r>
            <a:r>
              <a:rPr b="0" i="0" strike="noStrike" dirty="0"/>
              <a:t>Ribbon </a:t>
            </a:r>
            <a:r>
              <a:rPr b="0" i="0" strike="noStrike" dirty="0"/>
              <a:t>Extensibility </a:t>
            </a:r>
            <a:r>
              <a:rPr b="0" i="0" strike="noStrike" dirty="0"/>
              <a:t>content </a:t>
            </a:r>
            <a:r>
              <a:rPr b="0" i="0" strike="noStrike" dirty="0"/>
              <a:t>markup </a:t>
            </a:r>
            <a:r>
              <a:rPr b="0" i="0" strike="noStrike" dirty="0"/>
              <a:t>specifies </a:t>
            </a:r>
            <a:r>
              <a:rPr b="0" i="0" strike="noStrike" dirty="0"/>
              <a:t>that </a:t>
            </a:r>
            <a:r>
              <a:rPr b="0" i="0" strike="noStrike" dirty="0"/>
              <a:t>the </a:t>
            </a:r>
            <a:r>
              <a:rPr b="0" i="0" strike="noStrike" dirty="0"/>
              <a:t>ribbon </a:t>
            </a:r>
            <a:r>
              <a:rPr b="0" i="0" strike="noStrike" dirty="0"/>
              <a:t>tab </a:t>
            </a:r>
            <a:r>
              <a:rPr b="0" i="0" strike="noStrike" dirty="0"/>
              <a:t>with </a:t>
            </a:r>
            <a:r>
              <a:rPr b="0" i="0" strike="noStrike" dirty="0"/>
              <a:t>identifier </a:t>
            </a:r>
            <a:r>
              <a:rPr b="0" i="0" strike="noStrike" dirty="0"/>
              <a:t>"TabHome" </a:t>
            </a:r>
            <a:r>
              <a:rPr b="0" i="0" strike="noStrike" dirty="0"/>
              <a:t>is </a:t>
            </a:r>
            <a:r>
              <a:rPr b="0" i="0" strike="noStrike" dirty="0"/>
              <a:t>to </a:t>
            </a:r>
            <a:r>
              <a:rPr b="0" i="0" strike="noStrike" dirty="0"/>
              <a:t>be </a:t>
            </a:r>
            <a:r>
              <a:rPr b="0" i="0" strike="noStrike" dirty="0"/>
              <a:t>hidden </a:t>
            </a:r>
            <a:r>
              <a:rPr b="0" i="0" strike="noStrike" dirty="0"/>
              <a:t>for </a:t>
            </a:r>
            <a:r>
              <a:rPr b="0" i="0" strike="noStrike" dirty="0"/>
              <a:t>the </a:t>
            </a:r>
            <a:r>
              <a:rPr b="0" i="0" strike="noStrike" dirty="0"/>
              <a:t>containing </a:t>
            </a:r>
            <a:r>
              <a:rPr b="0" i="0" strike="noStrike" dirty="0"/>
              <a:t>package:</a:t>
            </a:r>
          </a:p>
        </p:txBody>
      </p:sp>
      <p:sp>
        <p:nvSpPr>
          <p:cNvPr id="4" name="TextBox4"/>
          <p:cNvSpPr txBox="1">
            <a:spLocks noChangeArrowheads="1"/>
          </p:cNvSpPr>
          <p:nvPr/>
        </p:nvSpPr>
        <p:spPr>
          <a:xfrm rot="0">
            <a:off x="508000" y="1518920"/>
            <a:ext cx="11176000" cy="320040"/>
          </a:xfrm>
          <a:prstGeom prst="rect">
            <a:avLst/>
          </a:prstGeom>
          <a:ln>
            <a:headEnd type="none"/>
            <a:tailEnd type="none"/>
          </a:ln>
        </p:spPr>
        <p:txBody>
          <a:bodyPr wrap="square">
            <a:spAutoFit/>
          </a:bodyPr>
          <a:lstStyle/>
          <a:p>
            <a:pPr algn="l" defTabSz="914400"/>
            <a:r>
              <a:rPr b="0" i="0" strike="noStrike" dirty="0"/>
              <a:t>&lt;customUI </a:t>
            </a:r>
            <a:r>
              <a:rPr b="0" i="0" strike="noStrike" dirty="0"/>
              <a:t>xmlns="http://schemas.microsoft.com/office/2006/01/customui"&gt;</a:t>
            </a:r>
          </a:p>
        </p:txBody>
      </p:sp>
      <p:sp>
        <p:nvSpPr>
          <p:cNvPr id="5" name="TextBox5"/>
          <p:cNvSpPr txBox="1">
            <a:spLocks noChangeArrowheads="1"/>
          </p:cNvSpPr>
          <p:nvPr/>
        </p:nvSpPr>
        <p:spPr>
          <a:xfrm rot="0">
            <a:off x="508000" y="1864360"/>
            <a:ext cx="11176000" cy="320040"/>
          </a:xfrm>
          <a:prstGeom prst="rect">
            <a:avLst/>
          </a:prstGeom>
          <a:ln>
            <a:headEnd type="none"/>
            <a:tailEnd type="none"/>
          </a:ln>
        </p:spPr>
        <p:txBody>
          <a:bodyPr wrap="square">
            <a:spAutoFit/>
          </a:bodyPr>
          <a:lstStyle/>
          <a:p>
            <a:pPr algn="l" defTabSz="914400"/>
            <a:r>
              <a:rPr b="0" i="0" strike="noStrike" dirty="0"/>
              <a:t>&lt;ribbon&gt;</a:t>
            </a:r>
          </a:p>
        </p:txBody>
      </p:sp>
      <p:sp>
        <p:nvSpPr>
          <p:cNvPr id="6" name="TextBox6"/>
          <p:cNvSpPr txBox="1">
            <a:spLocks noChangeArrowheads="1"/>
          </p:cNvSpPr>
          <p:nvPr/>
        </p:nvSpPr>
        <p:spPr>
          <a:xfrm rot="0">
            <a:off x="508000" y="2209800"/>
            <a:ext cx="11176000" cy="320040"/>
          </a:xfrm>
          <a:prstGeom prst="rect">
            <a:avLst/>
          </a:prstGeom>
          <a:ln>
            <a:headEnd type="none"/>
            <a:tailEnd type="none"/>
          </a:ln>
        </p:spPr>
        <p:txBody>
          <a:bodyPr wrap="square">
            <a:spAutoFit/>
          </a:bodyPr>
          <a:lstStyle/>
          <a:p>
            <a:pPr algn="l" defTabSz="914400"/>
            <a:r>
              <a:rPr b="0" i="0" strike="noStrike" dirty="0"/>
              <a:t>&lt;tabs&gt;</a:t>
            </a:r>
          </a:p>
        </p:txBody>
      </p:sp>
      <p:sp>
        <p:nvSpPr>
          <p:cNvPr id="7" name="TextBox7"/>
          <p:cNvSpPr txBox="1">
            <a:spLocks noChangeArrowheads="1"/>
          </p:cNvSpPr>
          <p:nvPr/>
        </p:nvSpPr>
        <p:spPr>
          <a:xfrm rot="0">
            <a:off x="508000" y="2555240"/>
            <a:ext cx="11176000" cy="320040"/>
          </a:xfrm>
          <a:prstGeom prst="rect">
            <a:avLst/>
          </a:prstGeom>
          <a:ln>
            <a:headEnd type="none"/>
            <a:tailEnd type="none"/>
          </a:ln>
        </p:spPr>
        <p:txBody>
          <a:bodyPr wrap="square">
            <a:spAutoFit/>
          </a:bodyPr>
          <a:lstStyle/>
          <a:p>
            <a:pPr algn="l" defTabSz="914400"/>
            <a:r>
              <a:rPr b="0" i="0" strike="noStrike" dirty="0"/>
              <a:t>&lt;tab </a:t>
            </a:r>
            <a:r>
              <a:rPr b="0" i="0" strike="noStrike" dirty="0"/>
              <a:t>idMso="TabHome" </a:t>
            </a:r>
            <a:r>
              <a:rPr b="0" i="0" strike="noStrike" dirty="0"/>
              <a:t>visible="false" </a:t>
            </a:r>
            <a:r>
              <a:rPr b="0" i="0" strike="noStrike" dirty="0"/>
              <a:t>/&gt;</a:t>
            </a:r>
          </a:p>
        </p:txBody>
      </p:sp>
      <p:sp>
        <p:nvSpPr>
          <p:cNvPr id="8" name="TextBox8"/>
          <p:cNvSpPr txBox="1">
            <a:spLocks noChangeArrowheads="1"/>
          </p:cNvSpPr>
          <p:nvPr/>
        </p:nvSpPr>
        <p:spPr>
          <a:xfrm rot="0">
            <a:off x="508000" y="2900680"/>
            <a:ext cx="11176000" cy="320040"/>
          </a:xfrm>
          <a:prstGeom prst="rect">
            <a:avLst/>
          </a:prstGeom>
          <a:ln>
            <a:headEnd type="none"/>
            <a:tailEnd type="none"/>
          </a:ln>
        </p:spPr>
        <p:txBody>
          <a:bodyPr wrap="square">
            <a:spAutoFit/>
          </a:bodyPr>
          <a:lstStyle/>
          <a:p>
            <a:pPr algn="l" defTabSz="914400"/>
            <a:r>
              <a:rPr b="0" i="0" strike="noStrike" dirty="0"/>
              <a:t>&lt;/tabs&gt;</a:t>
            </a:r>
          </a:p>
        </p:txBody>
      </p:sp>
      <p:sp>
        <p:nvSpPr>
          <p:cNvPr id="9" name="TextBox9"/>
          <p:cNvSpPr txBox="1">
            <a:spLocks noChangeArrowheads="1"/>
          </p:cNvSpPr>
          <p:nvPr/>
        </p:nvSpPr>
        <p:spPr>
          <a:xfrm rot="0">
            <a:off x="508000" y="3246120"/>
            <a:ext cx="11176000" cy="320040"/>
          </a:xfrm>
          <a:prstGeom prst="rect">
            <a:avLst/>
          </a:prstGeom>
          <a:ln>
            <a:headEnd type="none"/>
            <a:tailEnd type="none"/>
          </a:ln>
        </p:spPr>
        <p:txBody>
          <a:bodyPr wrap="square">
            <a:spAutoFit/>
          </a:bodyPr>
          <a:lstStyle/>
          <a:p>
            <a:pPr algn="l" defTabSz="914400"/>
            <a:r>
              <a:rPr b="0" i="0" strike="noStrike" dirty="0"/>
              <a:t>&lt;/ribbon&gt;</a:t>
            </a:r>
          </a:p>
        </p:txBody>
      </p:sp>
      <p:sp>
        <p:nvSpPr>
          <p:cNvPr id="10" name="TextBox10"/>
          <p:cNvSpPr txBox="1">
            <a:spLocks noChangeArrowheads="1"/>
          </p:cNvSpPr>
          <p:nvPr/>
        </p:nvSpPr>
        <p:spPr>
          <a:xfrm rot="0">
            <a:off x="508000" y="3591560"/>
            <a:ext cx="11176000" cy="320040"/>
          </a:xfrm>
          <a:prstGeom prst="rect">
            <a:avLst/>
          </a:prstGeom>
          <a:ln>
            <a:headEnd type="none"/>
            <a:tailEnd type="none"/>
          </a:ln>
        </p:spPr>
        <p:txBody>
          <a:bodyPr wrap="square">
            <a:spAutoFit/>
          </a:bodyPr>
          <a:lstStyle/>
          <a:p>
            <a:pPr algn="l" defTabSz="914400"/>
            <a:r>
              <a:rPr b="0" i="0" strike="noStrike" dirty="0"/>
              <a:t>&lt;/customUI&gt;</a:t>
            </a:r>
          </a:p>
        </p:txBody>
      </p:sp>
      <p:sp>
        <p:nvSpPr>
          <p:cNvPr id="11" name="TextBox11"/>
          <p:cNvSpPr txBox="1">
            <a:spLocks noChangeArrowheads="1"/>
          </p:cNvSpPr>
          <p:nvPr/>
        </p:nvSpPr>
        <p:spPr>
          <a:xfrm rot="0">
            <a:off x="508000" y="3937000"/>
            <a:ext cx="11176000" cy="640080"/>
          </a:xfrm>
          <a:prstGeom prst="rect">
            <a:avLst/>
          </a:prstGeom>
          <a:ln>
            <a:headEnd type="none"/>
            <a:tailEnd type="none"/>
          </a:ln>
        </p:spPr>
        <p:txBody>
          <a:bodyPr wrap="square">
            <a:spAutoFit/>
          </a:bodyPr>
          <a:lstStyle/>
          <a:p>
            <a:pPr algn="l" defTabSz="914400"/>
            <a:r>
              <a:rPr b="0" i="0" strike="noStrike" dirty="0"/>
              <a:t>A </a:t>
            </a:r>
            <a:r>
              <a:rPr b="0" i="0" strike="noStrike" dirty="0"/>
              <a:t>Ribbon </a:t>
            </a:r>
            <a:r>
              <a:rPr b="0" i="0" strike="noStrike" dirty="0"/>
              <a:t>Extensibility </a:t>
            </a:r>
            <a:r>
              <a:rPr b="0" i="0" strike="noStrike" dirty="0"/>
              <a:t>part </a:t>
            </a:r>
            <a:r>
              <a:rPr b="0" i="0" strike="noStrike" dirty="0"/>
              <a:t>is </a:t>
            </a:r>
            <a:r>
              <a:rPr b="0" i="0" strike="noStrike" dirty="0"/>
              <a:t>located </a:t>
            </a:r>
            <a:r>
              <a:rPr b="0" i="0" strike="noStrike" dirty="0"/>
              <a:t>within </a:t>
            </a:r>
            <a:r>
              <a:rPr b="0" i="0" strike="noStrike" dirty="0"/>
              <a:t>the </a:t>
            </a:r>
            <a:r>
              <a:rPr b="0" i="0" strike="noStrike" dirty="0"/>
              <a:t>package </a:t>
            </a:r>
            <a:r>
              <a:rPr b="0" i="0" strike="noStrike" dirty="0"/>
              <a:t>containing </a:t>
            </a:r>
            <a:r>
              <a:rPr b="0" i="0" strike="noStrike" dirty="0"/>
              <a:t>the </a:t>
            </a:r>
            <a:r>
              <a:rPr b="0" i="0" strike="noStrike" dirty="0"/>
              <a:t>source </a:t>
            </a:r>
            <a:r>
              <a:rPr b="0" i="0" strike="noStrike" dirty="0"/>
              <a:t>relationship. </a:t>
            </a:r>
            <a:r>
              <a:rPr b="0" i="0" strike="noStrike" dirty="0"/>
              <a:t>Expressed </a:t>
            </a:r>
            <a:r>
              <a:rPr b="0" i="0" strike="noStrike" dirty="0"/>
              <a:t>syntactically, </a:t>
            </a:r>
            <a:r>
              <a:rPr b="0" i="0" strike="noStrike" dirty="0"/>
              <a:t>the </a:t>
            </a:r>
            <a:r>
              <a:rPr b="1" i="0" strike="noStrike" dirty="0"/>
              <a:t>TargetMode</a:t>
            </a:r>
            <a:r>
              <a:rPr b="0" i="0" strike="noStrike" dirty="0"/>
              <a:t> </a:t>
            </a:r>
            <a:r>
              <a:rPr b="0" i="0" strike="noStrike" dirty="0"/>
              <a:t>attribute </a:t>
            </a:r>
            <a:r>
              <a:rPr b="0" i="0" strike="noStrike" dirty="0"/>
              <a:t>of </a:t>
            </a:r>
            <a:r>
              <a:rPr b="0" i="0" strike="noStrike" dirty="0"/>
              <a:t>the </a:t>
            </a:r>
            <a:r>
              <a:rPr b="1" i="0" strike="noStrike" dirty="0"/>
              <a:t>Relationship</a:t>
            </a:r>
            <a:r>
              <a:rPr b="0" i="0" strike="noStrike" dirty="0"/>
              <a:t> </a:t>
            </a:r>
            <a:r>
              <a:rPr b="0" i="0" strike="noStrike" dirty="0"/>
              <a:t>element </a:t>
            </a:r>
            <a:r>
              <a:rPr b="0" i="0" strike="noStrike" dirty="0"/>
              <a:t>is </a:t>
            </a:r>
            <a:r>
              <a:rPr b="0" i="0" strike="noStrike" dirty="0"/>
              <a:t>"Internal".</a:t>
            </a:r>
          </a:p>
        </p:txBody>
      </p:sp>
      <p:sp>
        <p:nvSpPr>
          <p:cNvPr id="12" name="TextBox12"/>
          <p:cNvSpPr txBox="1">
            <a:spLocks noChangeArrowheads="1"/>
          </p:cNvSpPr>
          <p:nvPr/>
        </p:nvSpPr>
        <p:spPr>
          <a:xfrm rot="0">
            <a:off x="508000" y="4602480"/>
            <a:ext cx="11176000" cy="640080"/>
          </a:xfrm>
          <a:prstGeom prst="rect">
            <a:avLst/>
          </a:prstGeom>
          <a:ln>
            <a:headEnd type="none"/>
            <a:tailEnd type="none"/>
          </a:ln>
        </p:spPr>
        <p:txBody>
          <a:bodyPr wrap="square">
            <a:spAutoFit/>
          </a:bodyPr>
          <a:lstStyle/>
          <a:p>
            <a:pPr algn="l" defTabSz="914400"/>
            <a:r>
              <a:rPr b="0" i="0" strike="noStrike" dirty="0"/>
              <a:t>A </a:t>
            </a:r>
            <a:r>
              <a:rPr b="0" i="0" strike="noStrike" dirty="0"/>
              <a:t>Ribbon </a:t>
            </a:r>
            <a:r>
              <a:rPr b="0" i="0" strike="noStrike" dirty="0"/>
              <a:t>Extensibility </a:t>
            </a:r>
            <a:r>
              <a:rPr b="0" i="0" strike="noStrike" dirty="0"/>
              <a:t>part </a:t>
            </a:r>
            <a:r>
              <a:rPr b="0" i="0" strike="noStrike" dirty="0"/>
              <a:t>is </a:t>
            </a:r>
            <a:r>
              <a:rPr b="0" i="0" strike="noStrike" dirty="0"/>
              <a:t>permitted </a:t>
            </a:r>
            <a:r>
              <a:rPr b="0" i="0" strike="noStrike" dirty="0"/>
              <a:t>to </a:t>
            </a:r>
            <a:r>
              <a:rPr b="0" i="0" strike="noStrike" dirty="0"/>
              <a:t>have </a:t>
            </a:r>
            <a:r>
              <a:rPr b="0" i="0" strike="noStrike" dirty="0"/>
              <a:t>explicit </a:t>
            </a:r>
            <a:r>
              <a:rPr b="0" i="0" strike="noStrike" dirty="0"/>
              <a:t>relationships </a:t>
            </a:r>
            <a:r>
              <a:rPr b="0" i="0" strike="noStrike" dirty="0"/>
              <a:t>to </a:t>
            </a:r>
            <a:r>
              <a:rPr b="0" i="0" strike="noStrike" dirty="0"/>
              <a:t>the </a:t>
            </a:r>
            <a:r>
              <a:rPr b="0" i="0" strike="noStrike" dirty="0"/>
              <a:t>following </a:t>
            </a:r>
            <a:r>
              <a:rPr b="0" i="0" strike="noStrike" dirty="0"/>
              <a:t>parts </a:t>
            </a:r>
            <a:r>
              <a:rPr b="0" i="0" strike="noStrike" dirty="0"/>
              <a:t>defined </a:t>
            </a:r>
            <a:r>
              <a:rPr b="0" i="0" strike="noStrike" dirty="0"/>
              <a:t>by </a:t>
            </a:r>
            <a:r>
              <a:rPr b="0" i="0" strike="noStrike" dirty="0"/>
              <a:t>ECMA-376 </a:t>
            </a:r>
            <a:r>
              <a:rPr b="0" i="0" strike="noStrike" dirty="0"/>
              <a:t>Office </a:t>
            </a:r>
            <a:r>
              <a:rPr b="0" i="0" strike="noStrike" dirty="0"/>
              <a:t>Open </a:t>
            </a:r>
            <a:r>
              <a:rPr b="0" i="0" strike="noStrike" dirty="0"/>
              <a:t>XML </a:t>
            </a:r>
            <a:r>
              <a:rPr b="0" i="0" strike="noStrike" dirty="0"/>
              <a:t>File </a:t>
            </a:r>
            <a:r>
              <a:rPr b="0" i="0" strike="noStrike" dirty="0"/>
              <a:t>Formats, </a:t>
            </a:r>
            <a:r>
              <a:rPr b="0" i="0" strike="noStrike" dirty="0"/>
              <a:t>as </a:t>
            </a:r>
            <a:r>
              <a:rPr b="0" i="0" strike="noStrike" dirty="0"/>
              <a:t>specified </a:t>
            </a:r>
            <a:r>
              <a:rPr b="0" i="0" strike="noStrike" dirty="0"/>
              <a:t>in </a:t>
            </a:r>
            <a:r>
              <a:rPr>
                <a:hlinkClick r:id="rId2" action="ppaction://hlinkfile"/>
              </a:rPr>
              <a:t>[ECMA-376]</a:t>
            </a:r>
            <a:r>
              <a:rPr b="0" i="0" strike="noStrike" dirty="0"/>
              <a:t>:</a:t>
            </a:r>
          </a:p>
        </p:txBody>
      </p:sp>
      <p:sp>
        <p:nvSpPr>
          <p:cNvPr id="13" name="TextBox13"/>
          <p:cNvSpPr txBox="1">
            <a:spLocks noChangeArrowheads="1"/>
          </p:cNvSpPr>
          <p:nvPr/>
        </p:nvSpPr>
        <p:spPr>
          <a:xfrm rot="0">
            <a:off x="508000" y="5267960"/>
            <a:ext cx="11176000" cy="320040"/>
          </a:xfrm>
          <a:prstGeom prst="rect">
            <a:avLst/>
          </a:prstGeom>
          <a:ln>
            <a:headEnd type="none"/>
            <a:tailEnd type="none"/>
          </a:ln>
        </p:spPr>
        <p:txBody>
          <a:bodyPr wrap="square">
            <a:spAutoFit/>
          </a:bodyPr>
          <a:lstStyle/>
          <a:p>
            <a:pPr lvl="1" indent="283464" algn="l" defTabSz="914400">
              <a:buChar char="•"/>
            </a:pPr>
            <a:r>
              <a:rPr b="0" i="0" strike="noStrike" dirty="0"/>
              <a:t>Image </a:t>
            </a:r>
            <a:r>
              <a:rPr b="0" i="0" strike="noStrike" dirty="0"/>
              <a:t>Part, </a:t>
            </a:r>
            <a:r>
              <a:rPr b="0" i="0" strike="noStrike" dirty="0"/>
              <a:t>as </a:t>
            </a:r>
            <a:r>
              <a:rPr b="0" i="0" strike="noStrike" dirty="0"/>
              <a:t>specified </a:t>
            </a:r>
            <a:r>
              <a:rPr b="0" i="0" strike="noStrike" dirty="0"/>
              <a:t>in </a:t>
            </a:r>
            <a:r>
              <a:rPr b="0" i="0" strike="noStrike" dirty="0"/>
              <a:t>[ECMA-376] </a:t>
            </a:r>
            <a:r>
              <a:rPr b="0" i="0" strike="noStrike" dirty="0"/>
              <a:t>Part </a:t>
            </a:r>
            <a:r>
              <a:rPr b="0" i="0" strike="noStrike" dirty="0"/>
              <a:t>1 </a:t>
            </a:r>
            <a:r>
              <a:rPr b="0" i="0" strike="noStrike" dirty="0"/>
              <a:t>section15.2.13.</a:t>
            </a: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camera on a table  Description automatically generated"/>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pic>
        <p:nvPicPr>
          <p:cNvPr id="3" name="Picture 3" descr="A grey and white background  Description automatically generated"/>
          <p:cNvPicPr>
            <a:picLocks noChangeAspect="1"/>
          </p:cNvPicPr>
          <p:nvPr/>
        </p:nvPicPr>
        <p:blipFill>
          <a:blip r:embed="rId3">
            <a:lum/>
          </a:blip>
          <a:srcRect/>
          <a:stretch>
            <a:fillRect/>
          </a:stretch>
        </p:blipFill>
        <p:spPr>
          <a:xfrm rot="0">
            <a:off x="508000" y="3073400"/>
            <a:ext cx="3810000" cy="2540000"/>
          </a:xfrm>
          <a:prstGeom prst="rect">
            <a:avLst/>
          </a:prstGeom>
          <a:ln>
            <a:headEnd type="none"/>
            <a:tailEnd type="none"/>
          </a:ln>
        </p:spPr>
      </p:pic>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red silhouette of a family  Description automatically generated"/>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pic>
        <p:nvPicPr>
          <p:cNvPr id="3" name="Picture 3" descr="A person in a suit and tie  Description automatically generated"/>
          <p:cNvPicPr>
            <a:picLocks noChangeAspect="1"/>
          </p:cNvPicPr>
          <p:nvPr/>
        </p:nvPicPr>
        <p:blipFill>
          <a:blip r:embed="rId3">
            <a:lum/>
          </a:blip>
          <a:srcRect/>
          <a:stretch>
            <a:fillRect/>
          </a:stretch>
        </p:blipFill>
        <p:spPr>
          <a:xfrm rot="0">
            <a:off x="508000" y="3073400"/>
            <a:ext cx="3810000" cy="2540000"/>
          </a:xfrm>
          <a:prstGeom prst="rect">
            <a:avLst/>
          </a:prstGeom>
          <a:ln>
            <a:headEnd type="none"/>
            <a:tailEnd type="none"/>
          </a:ln>
        </p:spPr>
      </p:pic>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person in a suit and tie  Description automatically generated"/>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pic>
        <p:nvPicPr>
          <p:cNvPr id="3" name="Picture 3" descr="Picture"/>
          <p:cNvPicPr>
            <a:picLocks noChangeAspect="1"/>
          </p:cNvPicPr>
          <p:nvPr/>
        </p:nvPicPr>
        <p:blipFill>
          <a:blip r:embed="rId3">
            <a:lum/>
          </a:blip>
          <a:srcRect/>
          <a:stretch>
            <a:fillRect/>
          </a:stretch>
        </p:blipFill>
        <p:spPr>
          <a:xfrm rot="0">
            <a:off x="508000" y="3073400"/>
            <a:ext cx="3810000" cy="2540000"/>
          </a:xfrm>
          <a:prstGeom prst="rect">
            <a:avLst/>
          </a:prstGeom>
          <a:ln>
            <a:headEnd type="none"/>
            <a:tailEnd type="none"/>
          </a:ln>
        </p:spPr>
      </p:pic>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tree in a field  Description automatically generated"/>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pic>
        <p:nvPicPr>
          <p:cNvPr id="3" name="Picture 3" descr="A tree in a field  Description automatically generated"/>
          <p:cNvPicPr>
            <a:picLocks noChangeAspect="1"/>
          </p:cNvPicPr>
          <p:nvPr/>
        </p:nvPicPr>
        <p:blipFill>
          <a:blip r:embed="rId3">
            <a:lum/>
          </a:blip>
          <a:srcRect/>
          <a:stretch>
            <a:fillRect/>
          </a:stretch>
        </p:blipFill>
        <p:spPr>
          <a:xfrm rot="0">
            <a:off x="508000" y="3073400"/>
            <a:ext cx="3810000" cy="2540000"/>
          </a:xfrm>
          <a:prstGeom prst="rect">
            <a:avLst/>
          </a:prstGeom>
          <a:ln>
            <a:headEnd type="none"/>
            <a:tailEnd type="none"/>
          </a:ln>
        </p:spPr>
      </p:pic>
      <p:sp>
        <p:nvSpPr>
          <p:cNvPr id="4" name="TextBox4"/>
          <p:cNvSpPr txBox="1">
            <a:spLocks noChangeArrowheads="1"/>
          </p:cNvSpPr>
          <p:nvPr/>
        </p:nvSpPr>
        <p:spPr>
          <a:xfrm rot="0">
            <a:off x="508000" y="5638800"/>
            <a:ext cx="11176000" cy="497840"/>
          </a:xfrm>
          <a:prstGeom prst="rect">
            <a:avLst/>
          </a:prstGeom>
          <a:ln>
            <a:headEnd type="none"/>
            <a:tailEnd type="none"/>
          </a:ln>
        </p:spPr>
        <p:txBody>
          <a:bodyPr wrap="square">
            <a:spAutoFit/>
          </a:bodyPr>
          <a:lstStyle/>
          <a:p>
            <a:pPr algn="l" defTabSz="914400">
              <a:defRPr sz="2800" b="1" dirty="0"/>
            </a:pPr>
            <a:r>
              <a:rPr b="1" i="1" strike="noStrike" dirty="0"/>
              <a:t>Elements </a:t>
            </a:r>
            <a:r>
              <a:rPr b="1" i="1" strike="noStrike" dirty="0"/>
              <a:t>XE </a:t>
            </a:r>
            <a:r>
              <a:rPr b="1" i="1" strike="noStrike" dirty="0"/>
              <a:t>"Elements"</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b="0" i="0" strike="noStrike" dirty="0"/>
              <a:t>A </a:t>
            </a:r>
            <a:r>
              <a:rPr b="0" i="0" strike="noStrike" dirty="0"/>
              <a:t>Custom </a:t>
            </a:r>
            <a:r>
              <a:rPr b="0" i="0" strike="noStrike" dirty="0"/>
              <a:t>UI </a:t>
            </a:r>
            <a:r>
              <a:rPr b="0" i="0" strike="noStrike" dirty="0"/>
              <a:t>document </a:t>
            </a:r>
            <a:r>
              <a:rPr b="0" i="0" strike="noStrike" dirty="0"/>
              <a:t>contains </a:t>
            </a:r>
            <a:r>
              <a:rPr b="0" i="0" strike="noStrike" dirty="0"/>
              <a:t>customizations </a:t>
            </a:r>
            <a:r>
              <a:rPr b="0" i="0" strike="noStrike" dirty="0"/>
              <a:t>of </a:t>
            </a:r>
            <a:r>
              <a:rPr b="0" i="0" strike="noStrike" dirty="0"/>
              <a:t>an </a:t>
            </a:r>
            <a:r>
              <a:rPr b="0" i="0" strike="noStrike" dirty="0"/>
              <a:t>application's </a:t>
            </a:r>
            <a:r>
              <a:rPr b="0" i="0" strike="noStrike" dirty="0"/>
              <a:t>UI. </a:t>
            </a:r>
            <a:r>
              <a:rPr b="0" i="0" strike="noStrike" dirty="0"/>
              <a:t>Customizations </a:t>
            </a:r>
            <a:r>
              <a:rPr b="0" i="0" strike="noStrike" dirty="0"/>
              <a:t>are </a:t>
            </a:r>
            <a:r>
              <a:rPr b="0" i="0" strike="noStrike" dirty="0"/>
              <a:t>mainly </a:t>
            </a:r>
            <a:r>
              <a:rPr b="0" i="0" strike="noStrike" dirty="0"/>
              <a:t>of </a:t>
            </a:r>
            <a:r>
              <a:rPr b="0" i="0" strike="noStrike" dirty="0"/>
              <a:t>two </a:t>
            </a:r>
            <a:r>
              <a:rPr b="0" i="0" strike="noStrike" dirty="0"/>
              <a:t>types:</a:t>
            </a:r>
          </a:p>
        </p:txBody>
      </p:sp>
      <p:sp>
        <p:nvSpPr>
          <p:cNvPr id="3" name="TextBox3"/>
          <p:cNvSpPr txBox="1">
            <a:spLocks noChangeArrowheads="1"/>
          </p:cNvSpPr>
          <p:nvPr/>
        </p:nvSpPr>
        <p:spPr>
          <a:xfrm rot="0">
            <a:off x="508000" y="1173480"/>
            <a:ext cx="11176000" cy="640080"/>
          </a:xfrm>
          <a:prstGeom prst="rect">
            <a:avLst/>
          </a:prstGeom>
          <a:ln>
            <a:headEnd type="none"/>
            <a:tailEnd type="none"/>
          </a:ln>
        </p:spPr>
        <p:txBody>
          <a:bodyPr wrap="square">
            <a:spAutoFit/>
          </a:bodyPr>
          <a:lstStyle/>
          <a:p>
            <a:pPr algn="l" defTabSz="914400"/>
            <a:r>
              <a:rPr b="0" i="0" strike="noStrike" dirty="0"/>
              <a:t>Modifications </a:t>
            </a:r>
            <a:r>
              <a:rPr b="0" i="0" strike="noStrike" dirty="0"/>
              <a:t>of </a:t>
            </a:r>
            <a:r>
              <a:rPr b="0" i="0" strike="noStrike" dirty="0"/>
              <a:t>the </a:t>
            </a:r>
            <a:r>
              <a:rPr b="0" i="0" strike="noStrike" dirty="0"/>
              <a:t>application's </a:t>
            </a:r>
            <a:r>
              <a:rPr b="0" i="0" strike="noStrike" dirty="0"/>
              <a:t>built-in </a:t>
            </a:r>
            <a:r>
              <a:rPr b="0" i="0" strike="noStrike" dirty="0"/>
              <a:t>UI, </a:t>
            </a:r>
            <a:r>
              <a:rPr b="0" i="0" strike="noStrike" dirty="0"/>
              <a:t>such </a:t>
            </a:r>
            <a:r>
              <a:rPr b="0" i="0" strike="noStrike" dirty="0"/>
              <a:t>as </a:t>
            </a:r>
            <a:r>
              <a:rPr b="0" i="0" strike="noStrike" dirty="0"/>
              <a:t>hiding </a:t>
            </a:r>
            <a:r>
              <a:rPr b="0" i="0" strike="noStrike" dirty="0"/>
              <a:t>or </a:t>
            </a:r>
            <a:r>
              <a:rPr b="0" i="0" strike="noStrike" dirty="0"/>
              <a:t>disabling </a:t>
            </a:r>
            <a:r>
              <a:rPr b="0" i="0" strike="noStrike" dirty="0"/>
              <a:t>built-in </a:t>
            </a:r>
            <a:r>
              <a:rPr b="0" i="0" strike="noStrike" dirty="0"/>
              <a:t>UI </a:t>
            </a:r>
            <a:r>
              <a:rPr b="0" i="0" strike="noStrike" dirty="0"/>
              <a:t>controls </a:t>
            </a:r>
            <a:r>
              <a:rPr b="0" i="0" strike="noStrike" dirty="0"/>
              <a:t>or </a:t>
            </a:r>
            <a:r>
              <a:rPr b="0" i="0" strike="noStrike" dirty="0"/>
              <a:t>repurposing </a:t>
            </a:r>
            <a:r>
              <a:rPr b="0" i="0" strike="noStrike" dirty="0"/>
              <a:t>command </a:t>
            </a:r>
            <a:r>
              <a:rPr b="0" i="0" strike="noStrike" dirty="0"/>
              <a:t>actions.</a:t>
            </a:r>
          </a:p>
        </p:txBody>
      </p:sp>
      <p:sp>
        <p:nvSpPr>
          <p:cNvPr id="4" name="TextBox4"/>
          <p:cNvSpPr txBox="1">
            <a:spLocks noChangeArrowheads="1"/>
          </p:cNvSpPr>
          <p:nvPr/>
        </p:nvSpPr>
        <p:spPr>
          <a:xfrm rot="0">
            <a:off x="508000" y="1838960"/>
            <a:ext cx="11176000" cy="640080"/>
          </a:xfrm>
          <a:prstGeom prst="rect">
            <a:avLst/>
          </a:prstGeom>
          <a:ln>
            <a:headEnd type="none"/>
            <a:tailEnd type="none"/>
          </a:ln>
        </p:spPr>
        <p:txBody>
          <a:bodyPr wrap="square">
            <a:spAutoFit/>
          </a:bodyPr>
          <a:lstStyle/>
          <a:p>
            <a:pPr algn="l" defTabSz="914400"/>
            <a:r>
              <a:rPr b="0" i="0" strike="noStrike" dirty="0"/>
              <a:t>Creation </a:t>
            </a:r>
            <a:r>
              <a:rPr b="0" i="0" strike="noStrike" dirty="0"/>
              <a:t>of </a:t>
            </a:r>
            <a:r>
              <a:rPr b="0" i="0" strike="noStrike" dirty="0"/>
              <a:t>custom </a:t>
            </a:r>
            <a:r>
              <a:rPr b="0" i="0" strike="noStrike" dirty="0"/>
              <a:t>UI </a:t>
            </a:r>
            <a:r>
              <a:rPr b="0" i="0" strike="noStrike" dirty="0"/>
              <a:t>controls, </a:t>
            </a:r>
            <a:r>
              <a:rPr b="0" i="0" strike="noStrike" dirty="0"/>
              <a:t>such </a:t>
            </a:r>
            <a:r>
              <a:rPr b="0" i="0" strike="noStrike" dirty="0"/>
              <a:t>as </a:t>
            </a:r>
            <a:r>
              <a:rPr b="0" i="0" strike="noStrike" dirty="0"/>
              <a:t>a </a:t>
            </a:r>
            <a:r>
              <a:rPr b="0" i="0" strike="noStrike" dirty="0"/>
              <a:t>custom </a:t>
            </a:r>
            <a:r>
              <a:rPr b="0" i="0" strike="noStrike" dirty="0"/>
              <a:t>ribbon </a:t>
            </a:r>
            <a:r>
              <a:rPr b="0" i="0" strike="noStrike" dirty="0"/>
              <a:t>tab, </a:t>
            </a:r>
            <a:r>
              <a:rPr b="0" i="0" strike="noStrike" dirty="0"/>
              <a:t>menu </a:t>
            </a:r>
            <a:r>
              <a:rPr b="0" i="0" strike="noStrike" dirty="0"/>
              <a:t>item, </a:t>
            </a:r>
            <a:r>
              <a:rPr b="0" i="0" strike="noStrike" dirty="0"/>
              <a:t>or </a:t>
            </a:r>
            <a:r>
              <a:rPr b="0" i="0" strike="noStrike" dirty="0"/>
              <a:t>quick </a:t>
            </a:r>
            <a:r>
              <a:rPr b="0" i="0" strike="noStrike" dirty="0"/>
              <a:t>access </a:t>
            </a:r>
            <a:r>
              <a:rPr b="0" i="0" strike="noStrike" dirty="0"/>
              <a:t>toolbar </a:t>
            </a:r>
            <a:r>
              <a:rPr b="0" i="0" strike="noStrike" dirty="0"/>
              <a:t>button.</a:t>
            </a:r>
          </a:p>
        </p:txBody>
      </p:sp>
      <p:sp>
        <p:nvSpPr>
          <p:cNvPr id="5" name="TextBox5"/>
          <p:cNvSpPr txBox="1">
            <a:spLocks noChangeArrowheads="1"/>
          </p:cNvSpPr>
          <p:nvPr/>
        </p:nvSpPr>
        <p:spPr>
          <a:xfrm rot="0">
            <a:off x="508000" y="2504440"/>
            <a:ext cx="11176000" cy="32004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the </a:t>
            </a:r>
            <a:r>
              <a:rPr b="0" i="0" strike="noStrike" dirty="0"/>
              <a:t>following </a:t>
            </a:r>
            <a:r>
              <a:rPr b="0" i="0" strike="noStrike" dirty="0"/>
              <a:t>Custom </a:t>
            </a:r>
            <a:r>
              <a:rPr b="0" i="0" strike="noStrike" dirty="0"/>
              <a:t>UI </a:t>
            </a:r>
            <a:r>
              <a:rPr b="0" i="0" strike="noStrike" dirty="0"/>
              <a:t>document:</a:t>
            </a:r>
          </a:p>
        </p:txBody>
      </p:sp>
      <p:sp>
        <p:nvSpPr>
          <p:cNvPr id="6" name="TextBox6"/>
          <p:cNvSpPr txBox="1">
            <a:spLocks noChangeArrowheads="1"/>
          </p:cNvSpPr>
          <p:nvPr/>
        </p:nvSpPr>
        <p:spPr>
          <a:xfrm rot="0">
            <a:off x="508000" y="2849880"/>
            <a:ext cx="11176000" cy="320040"/>
          </a:xfrm>
          <a:prstGeom prst="rect">
            <a:avLst/>
          </a:prstGeom>
          <a:ln>
            <a:headEnd type="none"/>
            <a:tailEnd type="none"/>
          </a:ln>
        </p:spPr>
        <p:txBody>
          <a:bodyPr wrap="square">
            <a:spAutoFit/>
          </a:bodyPr>
          <a:lstStyle/>
          <a:p>
            <a:pPr algn="l" defTabSz="914400"/>
            <a:r>
              <a:rPr b="0" i="0" strike="noStrike" dirty="0"/>
              <a:t>&lt;customUI </a:t>
            </a:r>
            <a:r>
              <a:rPr b="0" i="0" strike="noStrike" dirty="0"/>
              <a:t>xmlns="http://schemas.microsoft.com/office/2006/01/customui"&gt;</a:t>
            </a:r>
          </a:p>
        </p:txBody>
      </p:sp>
      <p:sp>
        <p:nvSpPr>
          <p:cNvPr id="7" name="TextBox7"/>
          <p:cNvSpPr txBox="1">
            <a:spLocks noChangeArrowheads="1"/>
          </p:cNvSpPr>
          <p:nvPr/>
        </p:nvSpPr>
        <p:spPr>
          <a:xfrm rot="0">
            <a:off x="508000" y="3195320"/>
            <a:ext cx="11176000" cy="320040"/>
          </a:xfrm>
          <a:prstGeom prst="rect">
            <a:avLst/>
          </a:prstGeom>
          <a:ln>
            <a:headEnd type="none"/>
            <a:tailEnd type="none"/>
          </a:ln>
        </p:spPr>
        <p:txBody>
          <a:bodyPr wrap="square">
            <a:spAutoFit/>
          </a:bodyPr>
          <a:lstStyle/>
          <a:p>
            <a:pPr algn="l" defTabSz="914400"/>
            <a:r>
              <a:rPr b="0" i="0" strike="noStrike" dirty="0"/>
              <a:t>&lt;commands&gt;</a:t>
            </a:r>
          </a:p>
        </p:txBody>
      </p:sp>
      <p:sp>
        <p:nvSpPr>
          <p:cNvPr id="8" name="TextBox8"/>
          <p:cNvSpPr txBox="1">
            <a:spLocks noChangeArrowheads="1"/>
          </p:cNvSpPr>
          <p:nvPr/>
        </p:nvSpPr>
        <p:spPr>
          <a:xfrm rot="0">
            <a:off x="508000" y="3540760"/>
            <a:ext cx="11176000" cy="320040"/>
          </a:xfrm>
          <a:prstGeom prst="rect">
            <a:avLst/>
          </a:prstGeom>
          <a:ln>
            <a:headEnd type="none"/>
            <a:tailEnd type="none"/>
          </a:ln>
        </p:spPr>
        <p:txBody>
          <a:bodyPr wrap="square">
            <a:spAutoFit/>
          </a:bodyPr>
          <a:lstStyle/>
          <a:p>
            <a:pPr algn="l" defTabSz="914400"/>
            <a:r>
              <a:rPr b="0" i="0" strike="noStrike" dirty="0"/>
              <a:t>&lt;command </a:t>
            </a:r>
            <a:r>
              <a:rPr b="0" i="0" strike="noStrike" dirty="0"/>
              <a:t>idMso="Bold" </a:t>
            </a:r>
            <a:r>
              <a:rPr b="0" i="0" strike="noStrike" dirty="0"/>
              <a:t>enabled="false" </a:t>
            </a:r>
            <a:r>
              <a:rPr b="0" i="0" strike="noStrike" dirty="0"/>
              <a:t>/&gt;</a:t>
            </a:r>
          </a:p>
        </p:txBody>
      </p:sp>
      <p:sp>
        <p:nvSpPr>
          <p:cNvPr id="9" name="TextBox9"/>
          <p:cNvSpPr txBox="1">
            <a:spLocks noChangeArrowheads="1"/>
          </p:cNvSpPr>
          <p:nvPr/>
        </p:nvSpPr>
        <p:spPr>
          <a:xfrm rot="0">
            <a:off x="508000" y="3886200"/>
            <a:ext cx="11176000" cy="320040"/>
          </a:xfrm>
          <a:prstGeom prst="rect">
            <a:avLst/>
          </a:prstGeom>
          <a:ln>
            <a:headEnd type="none"/>
            <a:tailEnd type="none"/>
          </a:ln>
        </p:spPr>
        <p:txBody>
          <a:bodyPr wrap="square">
            <a:spAutoFit/>
          </a:bodyPr>
          <a:lstStyle/>
          <a:p>
            <a:pPr algn="l" defTabSz="914400"/>
            <a:r>
              <a:rPr b="0" i="0" strike="noStrike" dirty="0"/>
              <a:t>&lt;/commands&gt;</a:t>
            </a:r>
          </a:p>
        </p:txBody>
      </p:sp>
      <p:sp>
        <p:nvSpPr>
          <p:cNvPr id="10" name="TextBox10"/>
          <p:cNvSpPr txBox="1">
            <a:spLocks noChangeArrowheads="1"/>
          </p:cNvSpPr>
          <p:nvPr/>
        </p:nvSpPr>
        <p:spPr>
          <a:xfrm rot="0">
            <a:off x="508000" y="4231640"/>
            <a:ext cx="11176000" cy="320040"/>
          </a:xfrm>
          <a:prstGeom prst="rect">
            <a:avLst/>
          </a:prstGeom>
          <a:ln>
            <a:headEnd type="none"/>
            <a:tailEnd type="none"/>
          </a:ln>
        </p:spPr>
        <p:txBody>
          <a:bodyPr wrap="square">
            <a:spAutoFit/>
          </a:bodyPr>
          <a:lstStyle/>
          <a:p>
            <a:pPr algn="l" defTabSz="914400"/>
            <a:r>
              <a:rPr b="0" i="0" strike="noStrike" dirty="0"/>
              <a:t>&lt;ribbon&gt;</a:t>
            </a:r>
          </a:p>
        </p:txBody>
      </p:sp>
      <p:sp>
        <p:nvSpPr>
          <p:cNvPr id="11" name="TextBox11"/>
          <p:cNvSpPr txBox="1">
            <a:spLocks noChangeArrowheads="1"/>
          </p:cNvSpPr>
          <p:nvPr/>
        </p:nvSpPr>
        <p:spPr>
          <a:xfrm rot="0">
            <a:off x="508000" y="4577080"/>
            <a:ext cx="11176000" cy="320040"/>
          </a:xfrm>
          <a:prstGeom prst="rect">
            <a:avLst/>
          </a:prstGeom>
          <a:ln>
            <a:headEnd type="none"/>
            <a:tailEnd type="none"/>
          </a:ln>
        </p:spPr>
        <p:txBody>
          <a:bodyPr wrap="square">
            <a:spAutoFit/>
          </a:bodyPr>
          <a:lstStyle/>
          <a:p>
            <a:pPr algn="l" defTabSz="914400"/>
            <a:r>
              <a:rPr b="0" i="0" strike="noStrike" dirty="0"/>
              <a:t>&lt;tabs&gt;</a:t>
            </a:r>
          </a:p>
        </p:txBody>
      </p:sp>
      <p:sp>
        <p:nvSpPr>
          <p:cNvPr id="12" name="TextBox12"/>
          <p:cNvSpPr txBox="1">
            <a:spLocks noChangeArrowheads="1"/>
          </p:cNvSpPr>
          <p:nvPr/>
        </p:nvSpPr>
        <p:spPr>
          <a:xfrm rot="0">
            <a:off x="508000" y="4922520"/>
            <a:ext cx="11176000" cy="1270000"/>
          </a:xfrm>
          <a:prstGeom prst="rect">
            <a:avLst/>
          </a:prstGeom>
          <a:ln>
            <a:headEnd type="none"/>
            <a:tailEnd type="none"/>
          </a:ln>
        </p:spPr>
        <p:txBody>
          <a:bodyPr wrap="square">
            <a:spAutoFit/>
          </a:bodyPr>
          <a:lstStyle/>
          <a:p>
            <a:pPr defTabSz="914400">
              <a:defRPr sz="1000" dirty="0">
                <a:latin typeface="Courier New"/>
                <a:ea typeface="Courier New"/>
                <a:cs typeface="Courier New"/>
              </a:defRPr>
            </a:pPr>
            <a:r>
              <a:rPr/>
              <a:t>  \&lt;tab idMso\="TabHome" visible\="false" /\&gt;</a:t>
            </a:r>
          </a:p>
          <a:p>
            <a:pPr defTabSz="914400">
              <a:defRPr sz="1000" dirty="0">
                <a:latin typeface="Courier New"/>
                <a:ea typeface="Courier New"/>
                <a:cs typeface="Courier New"/>
              </a:defRPr>
            </a:pPr>
          </a:p>
          <a:p>
            <a:pPr defTabSz="914400">
              <a:defRPr sz="1000" dirty="0">
                <a:latin typeface="Courier New"/>
                <a:ea typeface="Courier New"/>
                <a:cs typeface="Courier New"/>
              </a:defRPr>
            </a:pPr>
            <a:r>
              <a:rPr/>
              <a:t>  \&lt;tab id\="CustomTab" label\="Custom Tab"\&gt;</a:t>
            </a:r>
          </a:p>
          <a:p>
            <a:pPr defTabSz="914400">
              <a:defRPr sz="1000" dirty="0">
                <a:latin typeface="Courier New"/>
                <a:ea typeface="Courier New"/>
                <a:cs typeface="Courier New"/>
              </a:defRPr>
            </a:pPr>
          </a:p>
          <a:p>
            <a:pPr defTabSz="914400">
              <a:defRPr sz="1000" dirty="0">
                <a:latin typeface="Courier New"/>
                <a:ea typeface="Courier New"/>
                <a:cs typeface="Courier New"/>
              </a:defRPr>
            </a:pPr>
            <a:r>
              <a:rPr/>
              <a:t>    \&lt;group id\="CustomGroup" label\="Custom Group"\&gt;</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2032000"/>
          </a:xfrm>
          <a:prstGeom prst="rect">
            <a:avLst/>
          </a:prstGeom>
          <a:ln>
            <a:headEnd type="none"/>
            <a:tailEnd type="none"/>
          </a:ln>
        </p:spPr>
        <p:txBody>
          <a:bodyPr wrap="square">
            <a:spAutoFit/>
          </a:bodyPr>
          <a:lstStyle/>
          <a:p>
            <a:pPr defTabSz="914400">
              <a:defRPr sz="1000" dirty="0">
                <a:latin typeface="Courier New"/>
                <a:ea typeface="Courier New"/>
                <a:cs typeface="Courier New"/>
              </a:defRPr>
            </a:pPr>
          </a:p>
          <a:p>
            <a:pPr defTabSz="914400">
              <a:defRPr sz="1000" dirty="0">
                <a:latin typeface="Courier New"/>
                <a:ea typeface="Courier New"/>
                <a:cs typeface="Courier New"/>
              </a:defRPr>
            </a:pPr>
            <a:r>
              <a:rPr/>
              <a:t>      \&lt;button id\="CustomButton" label\="Custom Button" </a:t>
            </a:r>
          </a:p>
          <a:p>
            <a:pPr defTabSz="914400">
              <a:defRPr sz="1000" dirty="0">
                <a:latin typeface="Courier New"/>
                <a:ea typeface="Courier New"/>
                <a:cs typeface="Courier New"/>
              </a:defRPr>
            </a:pPr>
          </a:p>
          <a:p>
            <a:pPr defTabSz="914400">
              <a:defRPr sz="1000" dirty="0">
                <a:latin typeface="Courier New"/>
                <a:ea typeface="Courier New"/>
                <a:cs typeface="Courier New"/>
              </a:defRPr>
            </a:pPr>
            <a:r>
              <a:rPr/>
              <a:t>        size\="large" imageMso\="HappyFace" onAction\="OnButtonClick" /\&gt;</a:t>
            </a:r>
          </a:p>
          <a:p>
            <a:pPr defTabSz="914400">
              <a:defRPr sz="1000" dirty="0">
                <a:latin typeface="Courier New"/>
                <a:ea typeface="Courier New"/>
                <a:cs typeface="Courier New"/>
              </a:defRPr>
            </a:pPr>
          </a:p>
          <a:p>
            <a:pPr defTabSz="914400">
              <a:defRPr sz="1000" dirty="0">
                <a:latin typeface="Courier New"/>
                <a:ea typeface="Courier New"/>
                <a:cs typeface="Courier New"/>
              </a:defRPr>
            </a:pPr>
            <a:r>
              <a:rPr/>
              <a:t>    \&lt;/group\&gt;</a:t>
            </a:r>
          </a:p>
          <a:p>
            <a:pPr defTabSz="914400">
              <a:defRPr sz="1000" dirty="0">
                <a:latin typeface="Courier New"/>
                <a:ea typeface="Courier New"/>
                <a:cs typeface="Courier New"/>
              </a:defRPr>
            </a:pPr>
          </a:p>
          <a:p>
            <a:pPr defTabSz="914400">
              <a:defRPr sz="1000" dirty="0">
                <a:latin typeface="Courier New"/>
                <a:ea typeface="Courier New"/>
                <a:cs typeface="Courier New"/>
              </a:defRPr>
            </a:pPr>
            <a:r>
              <a:rPr/>
              <a:t>  \&lt;/tab\&gt;</a:t>
            </a:r>
          </a:p>
        </p:txBody>
      </p:sp>
      <p:sp>
        <p:nvSpPr>
          <p:cNvPr id="3" name="TextBox3"/>
          <p:cNvSpPr txBox="1">
            <a:spLocks noChangeArrowheads="1"/>
          </p:cNvSpPr>
          <p:nvPr/>
        </p:nvSpPr>
        <p:spPr>
          <a:xfrm rot="0">
            <a:off x="508000" y="2565400"/>
            <a:ext cx="11176000" cy="320040"/>
          </a:xfrm>
          <a:prstGeom prst="rect">
            <a:avLst/>
          </a:prstGeom>
          <a:ln>
            <a:headEnd type="none"/>
            <a:tailEnd type="none"/>
          </a:ln>
        </p:spPr>
        <p:txBody>
          <a:bodyPr wrap="square">
            <a:spAutoFit/>
          </a:bodyPr>
          <a:lstStyle/>
          <a:p>
            <a:pPr algn="l" defTabSz="914400"/>
            <a:r>
              <a:rPr b="0" i="0" strike="noStrike" dirty="0"/>
              <a:t>&lt;/tabs </a:t>
            </a:r>
            <a:r>
              <a:rPr b="0" i="0" strike="noStrike" dirty="0"/>
              <a:t>&gt;</a:t>
            </a:r>
          </a:p>
        </p:txBody>
      </p:sp>
      <p:sp>
        <p:nvSpPr>
          <p:cNvPr id="4" name="TextBox4"/>
          <p:cNvSpPr txBox="1">
            <a:spLocks noChangeArrowheads="1"/>
          </p:cNvSpPr>
          <p:nvPr/>
        </p:nvSpPr>
        <p:spPr>
          <a:xfrm rot="0">
            <a:off x="508000" y="2910840"/>
            <a:ext cx="11176000" cy="320040"/>
          </a:xfrm>
          <a:prstGeom prst="rect">
            <a:avLst/>
          </a:prstGeom>
          <a:ln>
            <a:headEnd type="none"/>
            <a:tailEnd type="none"/>
          </a:ln>
        </p:spPr>
        <p:txBody>
          <a:bodyPr wrap="square">
            <a:spAutoFit/>
          </a:bodyPr>
          <a:lstStyle/>
          <a:p>
            <a:pPr algn="l" defTabSz="914400"/>
            <a:r>
              <a:rPr b="0" i="0" strike="noStrike" dirty="0"/>
              <a:t>&lt;/ribbon&gt;</a:t>
            </a:r>
          </a:p>
        </p:txBody>
      </p:sp>
      <p:sp>
        <p:nvSpPr>
          <p:cNvPr id="5" name="TextBox5"/>
          <p:cNvSpPr txBox="1">
            <a:spLocks noChangeArrowheads="1"/>
          </p:cNvSpPr>
          <p:nvPr/>
        </p:nvSpPr>
        <p:spPr>
          <a:xfrm rot="0">
            <a:off x="508000" y="3256280"/>
            <a:ext cx="11176000" cy="320040"/>
          </a:xfrm>
          <a:prstGeom prst="rect">
            <a:avLst/>
          </a:prstGeom>
          <a:ln>
            <a:headEnd type="none"/>
            <a:tailEnd type="none"/>
          </a:ln>
        </p:spPr>
        <p:txBody>
          <a:bodyPr wrap="square">
            <a:spAutoFit/>
          </a:bodyPr>
          <a:lstStyle/>
          <a:p>
            <a:pPr algn="l" defTabSz="914400"/>
            <a:r>
              <a:rPr b="0" i="0" strike="noStrike" dirty="0"/>
              <a:t>&lt;/customUI&gt;</a:t>
            </a:r>
          </a:p>
        </p:txBody>
      </p:sp>
      <p:sp>
        <p:nvSpPr>
          <p:cNvPr id="6" name="TextBox6"/>
          <p:cNvSpPr txBox="1">
            <a:spLocks noChangeArrowheads="1"/>
          </p:cNvSpPr>
          <p:nvPr/>
        </p:nvSpPr>
        <p:spPr>
          <a:xfrm rot="0">
            <a:off x="508000" y="360172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example </a:t>
            </a:r>
            <a:r>
              <a:rPr b="0" i="0" strike="noStrike" dirty="0"/>
              <a:t>disables </a:t>
            </a:r>
            <a:r>
              <a:rPr b="0" i="0" strike="noStrike" dirty="0"/>
              <a:t>the </a:t>
            </a:r>
            <a:r>
              <a:rPr b="0" i="0" strike="noStrike" dirty="0"/>
              <a:t>command </a:t>
            </a:r>
            <a:r>
              <a:rPr b="0" i="0" strike="noStrike" dirty="0"/>
              <a:t>with </a:t>
            </a:r>
            <a:r>
              <a:rPr b="0" i="0" strike="noStrike" dirty="0"/>
              <a:t>an </a:t>
            </a:r>
            <a:r>
              <a:rPr b="0" i="0" strike="noStrike" dirty="0"/>
              <a:t>identifier </a:t>
            </a:r>
            <a:r>
              <a:rPr b="0" i="0" strike="noStrike" dirty="0"/>
              <a:t>of </a:t>
            </a:r>
            <a:r>
              <a:rPr b="0" i="0" strike="noStrike" dirty="0"/>
              <a:t>"Bold", </a:t>
            </a:r>
            <a:r>
              <a:rPr b="0" i="0" strike="noStrike" dirty="0"/>
              <a:t>hides </a:t>
            </a:r>
            <a:r>
              <a:rPr b="0" i="0" strike="noStrike" dirty="0"/>
              <a:t>the </a:t>
            </a:r>
            <a:r>
              <a:rPr b="0" i="0" strike="noStrike" dirty="0"/>
              <a:t>ribbon </a:t>
            </a:r>
            <a:r>
              <a:rPr b="0" i="0" strike="noStrike" dirty="0"/>
              <a:t>tab </a:t>
            </a:r>
            <a:r>
              <a:rPr b="0" i="0" strike="noStrike" dirty="0"/>
              <a:t>with </a:t>
            </a:r>
            <a:r>
              <a:rPr b="0" i="0" strike="noStrike" dirty="0"/>
              <a:t>an </a:t>
            </a:r>
            <a:r>
              <a:rPr b="0" i="0" strike="noStrike" dirty="0"/>
              <a:t>identifier </a:t>
            </a:r>
            <a:r>
              <a:rPr b="0" i="0" strike="noStrike" dirty="0"/>
              <a:t>of </a:t>
            </a:r>
            <a:r>
              <a:rPr b="0" i="0" strike="noStrike" dirty="0"/>
              <a:t>"TabHome", </a:t>
            </a:r>
            <a:r>
              <a:rPr b="0" i="0" strike="noStrike" dirty="0"/>
              <a:t>and </a:t>
            </a:r>
            <a:r>
              <a:rPr b="0" i="0" strike="noStrike" dirty="0"/>
              <a:t>creates </a:t>
            </a:r>
            <a:r>
              <a:rPr b="0" i="0" strike="noStrike" dirty="0"/>
              <a:t>a </a:t>
            </a:r>
            <a:r>
              <a:rPr b="0" i="0" strike="noStrike" dirty="0"/>
              <a:t>new </a:t>
            </a:r>
            <a:r>
              <a:rPr b="0" i="0" strike="noStrike" dirty="0"/>
              <a:t>custom </a:t>
            </a:r>
            <a:r>
              <a:rPr b="0" i="0" strike="noStrike" dirty="0"/>
              <a:t>ribbon </a:t>
            </a:r>
            <a:r>
              <a:rPr b="0" i="0" strike="noStrike" dirty="0"/>
              <a:t>tab </a:t>
            </a:r>
            <a:r>
              <a:rPr b="0" i="0" strike="noStrike" dirty="0"/>
              <a:t>with </a:t>
            </a:r>
            <a:r>
              <a:rPr b="0" i="0" strike="noStrike" dirty="0"/>
              <a:t>a </a:t>
            </a:r>
            <a:r>
              <a:rPr b="0" i="0" strike="noStrike" dirty="0"/>
              <a:t>custom </a:t>
            </a:r>
            <a:r>
              <a:rPr b="0" i="0" strike="noStrike" dirty="0"/>
              <a:t>button </a:t>
            </a:r>
            <a:r>
              <a:rPr b="0" i="0" strike="noStrike" dirty="0"/>
              <a:t>in </a:t>
            </a:r>
            <a:r>
              <a:rPr b="0" i="0" strike="noStrike" dirty="0"/>
              <a:t>it.</a:t>
            </a:r>
          </a:p>
        </p:txBody>
      </p:sp>
      <p:sp>
        <p:nvSpPr>
          <p:cNvPr id="7" name="TextBox7"/>
          <p:cNvSpPr txBox="1">
            <a:spLocks noChangeArrowheads="1"/>
          </p:cNvSpPr>
          <p:nvPr/>
        </p:nvSpPr>
        <p:spPr>
          <a:xfrm rot="0">
            <a:off x="508000" y="4267200"/>
            <a:ext cx="11176000" cy="640080"/>
          </a:xfrm>
          <a:prstGeom prst="rect">
            <a:avLst/>
          </a:prstGeom>
          <a:ln>
            <a:headEnd type="none"/>
            <a:tailEnd type="none"/>
          </a:ln>
        </p:spPr>
        <p:txBody>
          <a:bodyPr wrap="square">
            <a:spAutoFit/>
          </a:bodyPr>
          <a:lstStyle/>
          <a:p>
            <a:pPr algn="l" defTabSz="914400"/>
            <a:r>
              <a:rPr b="0" i="0" strike="noStrike" dirty="0"/>
              <a:t>The </a:t>
            </a:r>
            <a:r>
              <a:rPr b="0" i="0" strike="noStrike" dirty="0"/>
              <a:t>full </a:t>
            </a:r>
            <a:r>
              <a:rPr b="0" i="0" strike="noStrike" dirty="0"/>
              <a:t>XML </a:t>
            </a:r>
            <a:r>
              <a:rPr b="0" i="0" strike="noStrike" dirty="0"/>
              <a:t>Schema </a:t>
            </a:r>
            <a:r>
              <a:rPr b="0" i="0" strike="noStrike" dirty="0"/>
              <a:t>Definition </a:t>
            </a:r>
            <a:r>
              <a:rPr b="0" i="0" strike="noStrike" dirty="0"/>
              <a:t>of </a:t>
            </a:r>
            <a:r>
              <a:rPr b="0" i="0" strike="noStrike" dirty="0"/>
              <a:t>the </a:t>
            </a:r>
            <a:r>
              <a:rPr b="0" i="0" strike="noStrike" dirty="0"/>
              <a:t>XML </a:t>
            </a:r>
            <a:r>
              <a:rPr b="0" i="0" strike="noStrike" dirty="0"/>
              <a:t>Schema </a:t>
            </a:r>
            <a:r>
              <a:rPr b="0" i="0" strike="noStrike" dirty="0"/>
              <a:t>fragments </a:t>
            </a:r>
            <a:r>
              <a:rPr b="0" i="0" strike="noStrike" dirty="0"/>
              <a:t>listed </a:t>
            </a:r>
            <a:r>
              <a:rPr b="0" i="0" strike="noStrike" dirty="0"/>
              <a:t>in </a:t>
            </a:r>
            <a:r>
              <a:rPr b="0" i="0" strike="noStrike" dirty="0"/>
              <a:t>this </a:t>
            </a:r>
            <a:r>
              <a:rPr b="0" i="0" strike="noStrike" dirty="0"/>
              <a:t>section </a:t>
            </a:r>
            <a:r>
              <a:rPr b="0" i="0" strike="noStrike" dirty="0"/>
              <a:t>is </a:t>
            </a:r>
            <a:r>
              <a:rPr b="0" i="0" strike="noStrike" dirty="0"/>
              <a:t>defined </a:t>
            </a:r>
            <a:r>
              <a:rPr b="0" i="0" strike="noStrike" dirty="0"/>
              <a:t>in </a:t>
            </a:r>
            <a:r>
              <a:rPr b="0" i="0" strike="noStrike" dirty="0"/>
              <a:t>Appendix </a:t>
            </a:r>
            <a:r>
              <a:rPr b="0" i="0" strike="noStrike" dirty="0"/>
              <a:t>A </a:t>
            </a:r>
            <a:r>
              <a:rPr b="0" i="0" strike="noStrike" dirty="0"/>
              <a:t>of </a:t>
            </a:r>
            <a:r>
              <a:rPr/>
              <a:t>[MS-CUSTOMUI2]</a:t>
            </a:r>
            <a:r>
              <a:rPr b="0" i="0" strike="noStrike" dirty="0"/>
              <a:t>.</a:t>
            </a:r>
          </a:p>
        </p:txBody>
      </p:sp>
      <p:sp>
        <p:nvSpPr>
          <p:cNvPr id="8" name="TextBox8"/>
          <p:cNvSpPr txBox="1">
            <a:spLocks noChangeArrowheads="1"/>
          </p:cNvSpPr>
          <p:nvPr/>
        </p:nvSpPr>
        <p:spPr>
          <a:xfrm rot="0">
            <a:off x="508000" y="4932680"/>
            <a:ext cx="11176000" cy="426720"/>
          </a:xfrm>
          <a:prstGeom prst="rect">
            <a:avLst/>
          </a:prstGeom>
          <a:ln>
            <a:headEnd type="none"/>
            <a:tailEnd type="none"/>
          </a:ln>
        </p:spPr>
        <p:txBody>
          <a:bodyPr wrap="square">
            <a:spAutoFit/>
          </a:bodyPr>
          <a:lstStyle/>
          <a:p>
            <a:pPr algn="l" defTabSz="914400">
              <a:defRPr sz="2400" b="1" dirty="0"/>
            </a:pPr>
            <a:r>
              <a:rPr b="1" i="0" strike="noStrike" dirty="0"/>
              <a:t>box </a:t>
            </a:r>
            <a:r>
              <a:rPr b="1" i="0" strike="noStrike" dirty="0"/>
              <a:t>(Box </a:t>
            </a:r>
            <a:r>
              <a:rPr b="1" i="0" strike="noStrike" dirty="0"/>
              <a:t>Grouping </a:t>
            </a:r>
            <a:r>
              <a:rPr b="1" i="0" strike="noStrike" dirty="0"/>
              <a:t>Container) </a:t>
            </a:r>
            <a:r>
              <a:rPr b="1" i="0" strike="noStrike" dirty="0"/>
              <a:t>XE </a:t>
            </a:r>
            <a:r>
              <a:rPr b="1" i="0" strike="noStrike" dirty="0"/>
              <a:t>"Elements:box </a:t>
            </a:r>
            <a:r>
              <a:rPr b="1" i="0" strike="noStrike" dirty="0"/>
              <a:t>(box </a:t>
            </a:r>
            <a:r>
              <a:rPr b="1" i="0" strike="noStrike" dirty="0"/>
              <a:t>grouping </a:t>
            </a:r>
            <a:r>
              <a:rPr b="1" i="0" strike="noStrike" dirty="0"/>
              <a:t>container)"</a:t>
            </a:r>
          </a:p>
        </p:txBody>
      </p:sp>
      <p:sp>
        <p:nvSpPr>
          <p:cNvPr id="9" name="TextBox9"/>
          <p:cNvSpPr txBox="1">
            <a:spLocks noChangeArrowheads="1"/>
          </p:cNvSpPr>
          <p:nvPr/>
        </p:nvSpPr>
        <p:spPr>
          <a:xfrm rot="0">
            <a:off x="508000" y="538480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grouping </a:t>
            </a:r>
            <a:r>
              <a:rPr b="0" i="0" strike="noStrike" dirty="0"/>
              <a:t>container </a:t>
            </a:r>
            <a:r>
              <a:rPr b="0" i="0" strike="noStrike" dirty="0"/>
              <a:t>control </a:t>
            </a:r>
            <a:r>
              <a:rPr b="0" i="0" strike="noStrike" dirty="0"/>
              <a:t>that </a:t>
            </a:r>
            <a:r>
              <a:rPr b="0" i="0" strike="noStrike" dirty="0"/>
              <a:t>can </a:t>
            </a:r>
            <a:r>
              <a:rPr b="0" i="0" strike="noStrike" dirty="0"/>
              <a:t>be </a:t>
            </a:r>
            <a:r>
              <a:rPr b="0" i="0" strike="noStrike" dirty="0"/>
              <a:t>used </a:t>
            </a:r>
            <a:r>
              <a:rPr b="0" i="0" strike="noStrike" dirty="0"/>
              <a:t>to </a:t>
            </a:r>
            <a:r>
              <a:rPr b="0" i="0" strike="noStrike" dirty="0"/>
              <a:t>align </a:t>
            </a:r>
            <a:r>
              <a:rPr b="0" i="0" strike="noStrike" dirty="0"/>
              <a:t>controls </a:t>
            </a:r>
            <a:r>
              <a:rPr b="0" i="0" strike="noStrike" dirty="0"/>
              <a:t>vertically </a:t>
            </a:r>
            <a:r>
              <a:rPr b="0" i="0" strike="noStrike" dirty="0"/>
              <a:t>or </a:t>
            </a:r>
            <a:r>
              <a:rPr b="0" i="0" strike="noStrike" dirty="0"/>
              <a:t>horizontally. </a:t>
            </a:r>
            <a:r>
              <a:rPr b="1" i="0" strike="noStrike" dirty="0"/>
              <a:t>Box</a:t>
            </a:r>
            <a:r>
              <a:rPr b="0" i="0" strike="noStrike" dirty="0"/>
              <a:t> </a:t>
            </a:r>
            <a:r>
              <a:rPr b="0" i="0" strike="noStrike" dirty="0"/>
              <a:t>elements </a:t>
            </a:r>
            <a:r>
              <a:rPr b="0" i="0" strike="noStrike" dirty="0"/>
              <a:t>can </a:t>
            </a:r>
            <a:r>
              <a:rPr b="0" i="0" strike="noStrike" dirty="0"/>
              <a:t>be </a:t>
            </a:r>
            <a:r>
              <a:rPr b="0" i="0" strike="noStrike" dirty="0"/>
              <a:t>nested </a:t>
            </a:r>
            <a:r>
              <a:rPr b="0" i="0" strike="noStrike" dirty="0"/>
              <a:t>to </a:t>
            </a:r>
            <a:r>
              <a:rPr b="0" i="0" strike="noStrike" dirty="0"/>
              <a:t>create </a:t>
            </a:r>
            <a:r>
              <a:rPr b="0" i="0" strike="noStrike" dirty="0"/>
              <a:t>complex </a:t>
            </a:r>
            <a:r>
              <a:rPr b="0" i="0" strike="noStrike" dirty="0"/>
              <a:t>UI </a:t>
            </a:r>
            <a:r>
              <a:rPr b="0" i="0" strike="noStrike" dirty="0"/>
              <a:t>layouts.</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a </a:t>
            </a:r>
            <a:r>
              <a:rPr b="0" i="0" strike="noStrike" dirty="0"/>
              <a:t>group </a:t>
            </a:r>
            <a:r>
              <a:rPr b="0" i="0" strike="noStrike" dirty="0"/>
              <a:t>of </a:t>
            </a:r>
            <a:r>
              <a:rPr b="0" i="0" strike="noStrike" dirty="0"/>
              <a:t>controls </a:t>
            </a:r>
            <a:r>
              <a:rPr b="0" i="0" strike="noStrike" dirty="0"/>
              <a:t>that </a:t>
            </a:r>
            <a:r>
              <a:rPr b="0" i="0" strike="noStrike" dirty="0"/>
              <a:t>are </a:t>
            </a:r>
            <a:r>
              <a:rPr b="0" i="0" strike="noStrike" dirty="0"/>
              <a:t>laid </a:t>
            </a:r>
            <a:r>
              <a:rPr b="0" i="0" strike="noStrike" dirty="0"/>
              <a:t>out </a:t>
            </a:r>
            <a:r>
              <a:rPr b="0" i="0" strike="noStrike" dirty="0"/>
              <a:t>horizontally, </a:t>
            </a:r>
            <a:r>
              <a:rPr b="0" i="0" strike="noStrike" dirty="0"/>
              <a:t>as </a:t>
            </a:r>
            <a:r>
              <a:rPr b="0" i="0" strike="noStrike" dirty="0"/>
              <a:t>follows:</a:t>
            </a:r>
          </a:p>
        </p:txBody>
      </p:sp>
      <p:pic>
        <p:nvPicPr>
          <p:cNvPr id="3" name="Picture 3" descr="Controls grouped horizontally"/>
          <p:cNvPicPr>
            <a:picLocks noChangeAspect="1"/>
          </p:cNvPicPr>
          <p:nvPr/>
        </p:nvPicPr>
        <p:blipFill>
          <a:blip r:embed="rId2">
            <a:lum/>
          </a:blip>
          <a:srcRect/>
          <a:stretch>
            <a:fillRect/>
          </a:stretch>
        </p:blipFill>
        <p:spPr>
          <a:xfrm rot="0">
            <a:off x="508000" y="853440"/>
            <a:ext cx="3810000" cy="2540000"/>
          </a:xfrm>
          <a:prstGeom prst="rect">
            <a:avLst/>
          </a:prstGeom>
          <a:ln>
            <a:headEnd type="none"/>
            <a:tailEnd type="none"/>
          </a:ln>
        </p:spPr>
      </p:pic>
      <p:sp>
        <p:nvSpPr>
          <p:cNvPr id="4" name="TextBox4"/>
          <p:cNvSpPr txBox="1">
            <a:spLocks noChangeArrowheads="1"/>
          </p:cNvSpPr>
          <p:nvPr/>
        </p:nvSpPr>
        <p:spPr>
          <a:xfrm rot="0">
            <a:off x="508000" y="341884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1: </a:t>
            </a:r>
            <a:r>
              <a:rPr b="1" i="0" strike="noStrike" dirty="0"/>
              <a:t>Controls </a:t>
            </a:r>
            <a:r>
              <a:rPr b="1" i="0" strike="noStrike" dirty="0"/>
              <a:t>grouped </a:t>
            </a:r>
            <a:r>
              <a:rPr b="1" i="0" strike="noStrike" dirty="0"/>
              <a:t>horizontally</a:t>
            </a:r>
          </a:p>
        </p:txBody>
      </p:sp>
      <p:sp>
        <p:nvSpPr>
          <p:cNvPr id="5" name="TextBox5"/>
          <p:cNvSpPr txBox="1">
            <a:spLocks noChangeArrowheads="1"/>
          </p:cNvSpPr>
          <p:nvPr/>
        </p:nvSpPr>
        <p:spPr>
          <a:xfrm rot="0">
            <a:off x="508000" y="376428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layout </a:t>
            </a:r>
            <a:r>
              <a:rPr b="0" i="0" strike="noStrike" dirty="0"/>
              <a:t>is </a:t>
            </a:r>
            <a:r>
              <a:rPr b="0" i="0" strike="noStrike" dirty="0"/>
              <a:t>specified </a:t>
            </a:r>
            <a:r>
              <a:rPr b="0" i="0" strike="noStrike" dirty="0"/>
              <a:t>using </a:t>
            </a:r>
            <a:r>
              <a:rPr b="0" i="0" strike="noStrike" dirty="0"/>
              <a:t>the </a:t>
            </a:r>
            <a:r>
              <a:rPr b="0" i="0" strike="noStrike" dirty="0"/>
              <a:t>following </a:t>
            </a:r>
            <a:r>
              <a:rPr/>
              <a:t>XML </a:t>
            </a:r>
            <a:r>
              <a:rPr/>
              <a:t>fragment</a:t>
            </a:r>
            <a:r>
              <a:rPr b="0" i="0" strike="noStrike" dirty="0"/>
              <a:t>:</a:t>
            </a:r>
          </a:p>
        </p:txBody>
      </p:sp>
      <p:sp>
        <p:nvSpPr>
          <p:cNvPr id="6" name="TextBox6"/>
          <p:cNvSpPr txBox="1">
            <a:spLocks noChangeArrowheads="1"/>
          </p:cNvSpPr>
          <p:nvPr/>
        </p:nvSpPr>
        <p:spPr>
          <a:xfrm rot="0">
            <a:off x="508000" y="4109720"/>
            <a:ext cx="11176000" cy="320040"/>
          </a:xfrm>
          <a:prstGeom prst="rect">
            <a:avLst/>
          </a:prstGeom>
          <a:ln>
            <a:headEnd type="none"/>
            <a:tailEnd type="none"/>
          </a:ln>
        </p:spPr>
        <p:txBody>
          <a:bodyPr wrap="square">
            <a:spAutoFit/>
          </a:bodyPr>
          <a:lstStyle/>
          <a:p>
            <a:pPr algn="l" defTabSz="914400"/>
            <a:r>
              <a:rPr b="0" i="0" strike="noStrike" dirty="0"/>
              <a:t>&lt;box </a:t>
            </a:r>
            <a:r>
              <a:rPr b="0" i="0" strike="noStrike" dirty="0"/>
              <a:t>id="box" </a:t>
            </a:r>
            <a:r>
              <a:rPr b="0" i="0" strike="noStrike" dirty="0"/>
              <a:t>boxStyle="horizontal"&gt;</a:t>
            </a:r>
          </a:p>
        </p:txBody>
      </p:sp>
      <p:sp>
        <p:nvSpPr>
          <p:cNvPr id="7" name="TextBox7"/>
          <p:cNvSpPr txBox="1">
            <a:spLocks noChangeArrowheads="1"/>
          </p:cNvSpPr>
          <p:nvPr/>
        </p:nvSpPr>
        <p:spPr>
          <a:xfrm rot="0">
            <a:off x="508000" y="445516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id="button1" </a:t>
            </a:r>
            <a:r>
              <a:rPr b="0" i="0" strike="noStrike" dirty="0"/>
              <a:t>label="Button </a:t>
            </a:r>
            <a:r>
              <a:rPr b="0" i="0" strike="noStrike" dirty="0"/>
              <a:t>1" </a:t>
            </a:r>
            <a:r>
              <a:rPr b="0" i="0" strike="noStrike" dirty="0"/>
              <a:t>imageMso="HappyFace" </a:t>
            </a:r>
            <a:r>
              <a:rPr b="0" i="0" strike="noStrike" dirty="0"/>
              <a:t>/&gt;</a:t>
            </a:r>
          </a:p>
        </p:txBody>
      </p:sp>
      <p:sp>
        <p:nvSpPr>
          <p:cNvPr id="8" name="TextBox8"/>
          <p:cNvSpPr txBox="1">
            <a:spLocks noChangeArrowheads="1"/>
          </p:cNvSpPr>
          <p:nvPr/>
        </p:nvSpPr>
        <p:spPr>
          <a:xfrm rot="0">
            <a:off x="508000" y="480060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id="button2" </a:t>
            </a:r>
            <a:r>
              <a:rPr b="0" i="0" strike="noStrike" dirty="0"/>
              <a:t>label="Button </a:t>
            </a:r>
            <a:r>
              <a:rPr b="0" i="0" strike="noStrike" dirty="0"/>
              <a:t>2" </a:t>
            </a:r>
            <a:r>
              <a:rPr b="0" i="0" strike="noStrike" dirty="0"/>
              <a:t>imageMso="HappyFace" </a:t>
            </a:r>
            <a:r>
              <a:rPr b="0" i="0" strike="noStrike" dirty="0"/>
              <a:t>/&gt;</a:t>
            </a:r>
          </a:p>
        </p:txBody>
      </p:sp>
      <p:sp>
        <p:nvSpPr>
          <p:cNvPr id="9" name="TextBox9"/>
          <p:cNvSpPr txBox="1">
            <a:spLocks noChangeArrowheads="1"/>
          </p:cNvSpPr>
          <p:nvPr/>
        </p:nvSpPr>
        <p:spPr>
          <a:xfrm rot="0">
            <a:off x="508000" y="5146040"/>
            <a:ext cx="11176000" cy="320040"/>
          </a:xfrm>
          <a:prstGeom prst="rect">
            <a:avLst/>
          </a:prstGeom>
          <a:ln>
            <a:headEnd type="none"/>
            <a:tailEnd type="none"/>
          </a:ln>
        </p:spPr>
        <p:txBody>
          <a:bodyPr wrap="square">
            <a:spAutoFit/>
          </a:bodyPr>
          <a:lstStyle/>
          <a:p>
            <a:pPr algn="l" defTabSz="914400"/>
            <a:r>
              <a:rPr b="0" i="0" strike="noStrike" dirty="0"/>
              <a:t>&lt;/box&gt;</a:t>
            </a:r>
          </a:p>
        </p:txBody>
      </p:sp>
      <p:sp>
        <p:nvSpPr>
          <p:cNvPr id="10" name="TextBox10"/>
          <p:cNvSpPr txBox="1">
            <a:spLocks noChangeArrowheads="1"/>
          </p:cNvSpPr>
          <p:nvPr/>
        </p:nvSpPr>
        <p:spPr>
          <a:xfrm rot="0">
            <a:off x="508000" y="549148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contrasted </a:t>
            </a:r>
            <a:r>
              <a:rPr b="0" i="0" strike="noStrike" dirty="0"/>
              <a:t>to </a:t>
            </a:r>
            <a:r>
              <a:rPr b="0" i="0" strike="noStrike" dirty="0"/>
              <a:t>the </a:t>
            </a:r>
            <a:r>
              <a:rPr b="0" i="0" strike="noStrike" dirty="0"/>
              <a:t>default </a:t>
            </a:r>
            <a:r>
              <a:rPr b="0" i="0" strike="noStrike" dirty="0"/>
              <a:t>vertical </a:t>
            </a:r>
            <a:r>
              <a:rPr b="0" i="0" strike="noStrike" dirty="0"/>
              <a:t>layout </a:t>
            </a:r>
            <a:r>
              <a:rPr b="0" i="0" strike="noStrike" dirty="0"/>
              <a:t>that </a:t>
            </a:r>
            <a:r>
              <a:rPr b="0" i="0" strike="noStrike" dirty="0"/>
              <a:t>is </a:t>
            </a:r>
            <a:r>
              <a:rPr b="0" i="0" strike="noStrike" dirty="0"/>
              <a:t>used </a:t>
            </a:r>
            <a:r>
              <a:rPr b="0" i="0" strike="noStrike" dirty="0"/>
              <a:t>if </a:t>
            </a:r>
            <a:r>
              <a:rPr b="0" i="0" strike="noStrike" dirty="0"/>
              <a:t>the </a:t>
            </a:r>
            <a:r>
              <a:rPr b="1" i="0" strike="noStrike" dirty="0"/>
              <a:t>box</a:t>
            </a:r>
            <a:r>
              <a:rPr b="0" i="0" strike="noStrike" dirty="0"/>
              <a:t> </a:t>
            </a:r>
            <a:r>
              <a:rPr b="0" i="0" strike="noStrike" dirty="0"/>
              <a:t>element </a:t>
            </a:r>
            <a:r>
              <a:rPr b="0" i="0" strike="noStrike" dirty="0"/>
              <a:t>is </a:t>
            </a:r>
            <a:r>
              <a:rPr b="0" i="0" strike="noStrike" dirty="0"/>
              <a:t>not </a:t>
            </a:r>
            <a:r>
              <a:rPr b="0" i="0" strike="noStrike" dirty="0"/>
              <a:t>specified.</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3" name="Table 3"/>
          <p:cNvGraphicFramePr/>
          <p:nvPr/>
        </p:nvGraphicFramePr>
        <p:xfrm rot="0">
          <a:off x="508000" y="853440"/>
          <a:ext cx="11176000" cy="152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Parent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box</a:t>
                      </a:r>
                    </a:p>
                  </a:txBody>
                  <a:tcPr horzOverflow="overflow"/>
                </a:tc>
                <a:tc>
                  <a:txBody>
                    <a:bodyPr/>
                    <a:lstStyle/>
                    <a:p>
                      <a:pPr algn="l" defTabSz="914400"/>
                      <a:r>
                        <a:rPr b="0" i="0" strike="noStrike" dirty="0"/>
                        <a:t>2.2.1</a:t>
                      </a:r>
                    </a:p>
                  </a:txBody>
                  <a:tcPr horzOverflow="overflow"/>
                </a:tc>
              </a:tr>
              <a:tr h="508000">
                <a:tc>
                  <a:txBody>
                    <a:bodyPr/>
                    <a:lstStyle/>
                    <a:p>
                      <a:pPr algn="l" defTabSz="914400"/>
                      <a:r>
                        <a:rPr b="1" i="0" strike="noStrike" dirty="0"/>
                        <a:t>group</a:t>
                      </a:r>
                    </a:p>
                  </a:txBody>
                  <a:tcPr horzOverflow="overflow"/>
                </a:tc>
                <a:tc>
                  <a:txBody>
                    <a:bodyPr/>
                    <a:lstStyle/>
                    <a:p>
                      <a:pPr algn="l" defTabSz="914400"/>
                      <a:r>
                        <a:rPr/>
                        <a:t>2.2.23</a:t>
                      </a:r>
                    </a:p>
                  </a:txBody>
                  <a:tcPr horzOverflow="overflow"/>
                </a:tc>
              </a:tr>
            </a:tbl>
          </a:graphicData>
        </a:graphic>
      </p:graphicFrame>
      <p:sp>
        <p:nvSpPr>
          <p:cNvPr id="4" name="TextBox4"/>
          <p:cNvSpPr txBox="1">
            <a:spLocks noChangeArrowheads="1"/>
          </p:cNvSpPr>
          <p:nvPr/>
        </p:nvSpPr>
        <p:spPr>
          <a:xfrm rot="0">
            <a:off x="508000" y="24282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5" name="Table 5"/>
          <p:cNvGraphicFramePr/>
          <p:nvPr/>
        </p:nvGraphicFramePr>
        <p:xfrm rot="0">
          <a:off x="508000" y="277368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box</a:t>
                      </a:r>
                    </a:p>
                    <a:p>
                      <a:pPr defTabSz="914400"/>
                      <a:r>
                        <a:rPr b="0" i="0" strike="noStrike" dirty="0"/>
                        <a:t> (Box Grouping Container)</a:t>
                      </a:r>
                      <a:endParaRPr b="1" i="0" strike="noStrike" dirty="0"/>
                    </a:p>
                  </a:txBody>
                  <a:tcPr horzOverflow="overflow"/>
                </a:tc>
                <a:tc>
                  <a:txBody>
                    <a:bodyPr/>
                    <a:lstStyle/>
                    <a:p>
                      <a:pPr algn="l" defTabSz="914400"/>
                      <a:r>
                        <a:rPr b="0" i="0" strike="noStrike" dirty="0"/>
                        <a:t>2.2.1</a:t>
                      </a:r>
                    </a:p>
                  </a:txBody>
                  <a:tcPr horzOverflow="overflow"/>
                </a:tc>
              </a:tr>
              <a:tr h="508000">
                <a:tc>
                  <a:txBody>
                    <a:bodyPr/>
                    <a:lstStyle/>
                    <a:p>
                      <a:pPr algn="l" defTabSz="914400"/>
                      <a:r>
                        <a:rPr b="1" i="0" strike="noStrike" dirty="0"/>
                        <a:t>button</a:t>
                      </a:r>
                    </a:p>
                    <a:p>
                      <a:pPr defTabSz="914400"/>
                      <a:r>
                        <a:rPr b="0" i="0" strike="noStrike" dirty="0"/>
                        <a:t> (Button)</a:t>
                      </a:r>
                      <a:endParaRPr b="1" i="0" strike="noStrike" dirty="0"/>
                    </a:p>
                  </a:txBody>
                  <a:tcPr horzOverflow="overflow"/>
                </a:tc>
                <a:tc>
                  <a:txBody>
                    <a:bodyPr/>
                    <a:lstStyle/>
                    <a:p>
                      <a:pPr algn="l" defTabSz="914400"/>
                      <a:r>
                        <a:rPr/>
                        <a:t>2.2.2</a:t>
                      </a:r>
                    </a:p>
                  </a:txBody>
                  <a:tcPr horzOverflow="overflow"/>
                </a:tc>
              </a:tr>
              <a:tr h="508000">
                <a:tc>
                  <a:txBody>
                    <a:bodyPr/>
                    <a:lstStyle/>
                    <a:p>
                      <a:pPr algn="l" defTabSz="914400"/>
                      <a:r>
                        <a:rPr b="1" i="0" strike="noStrike" dirty="0"/>
                        <a:t>buttonGroup</a:t>
                      </a:r>
                    </a:p>
                    <a:p>
                      <a:pPr defTabSz="914400"/>
                      <a:r>
                        <a:rPr b="0" i="0" strike="noStrike" dirty="0"/>
                        <a:t> (Button Grouping Container)</a:t>
                      </a:r>
                      <a:endParaRPr b="1" i="0" strike="noStrike" dirty="0"/>
                    </a:p>
                  </a:txBody>
                  <a:tcPr horzOverflow="overflow"/>
                </a:tc>
                <a:tc>
                  <a:txBody>
                    <a:bodyPr/>
                    <a:lstStyle/>
                    <a:p>
                      <a:pPr algn="l" defTabSz="914400"/>
                      <a:r>
                        <a:rPr/>
                        <a:t>2.2.5</a:t>
                      </a:r>
                    </a:p>
                  </a:txBody>
                  <a:tcPr horzOverflow="overflow"/>
                </a:tc>
              </a:tr>
              <a:tr h="508000">
                <a:tc>
                  <a:txBody>
                    <a:bodyPr/>
                    <a:lstStyle/>
                    <a:p>
                      <a:pPr algn="l" defTabSz="914400"/>
                      <a:r>
                        <a:rPr b="1" i="0" strike="noStrike" dirty="0"/>
                        <a:t>checkBox</a:t>
                      </a:r>
                    </a:p>
                    <a:p>
                      <a:pPr defTabSz="914400"/>
                      <a:r>
                        <a:rPr b="0" i="0" strike="noStrike" dirty="0"/>
                        <a:t> (Check Box)</a:t>
                      </a:r>
                      <a:endParaRPr b="1" i="0" strike="noStrike" dirty="0"/>
                    </a:p>
                  </a:txBody>
                  <a:tcPr horzOverflow="overflow"/>
                </a:tc>
                <a:tc>
                  <a:txBody>
                    <a:bodyPr/>
                    <a:lstStyle/>
                    <a:p>
                      <a:pPr algn="l" defTabSz="914400"/>
                      <a:r>
                        <a:rPr/>
                        <a:t>2.2.6</a:t>
                      </a:r>
                    </a:p>
                  </a:txBody>
                  <a:tcPr horzOverflow="overflow"/>
                </a:tc>
              </a:tr>
              <a:tr h="508000">
                <a:tc>
                  <a:txBody>
                    <a:bodyPr/>
                    <a:lstStyle/>
                    <a:p>
                      <a:pPr algn="l" defTabSz="914400"/>
                      <a:r>
                        <a:rPr b="1" i="0" strike="noStrike" dirty="0"/>
                        <a:t>comboBox</a:t>
                      </a:r>
                    </a:p>
                    <a:p>
                      <a:pPr defTabSz="914400"/>
                      <a:r>
                        <a:rPr b="0" i="0" strike="noStrike" dirty="0"/>
                        <a:t> (Combo Box)</a:t>
                      </a:r>
                      <a:endParaRPr b="1" i="0" strike="noStrike" dirty="0"/>
                    </a:p>
                  </a:txBody>
                  <a:tcPr horzOverflow="overflow"/>
                </a:tc>
                <a:tc>
                  <a:txBody>
                    <a:bodyPr/>
                    <a:lstStyle/>
                    <a:p>
                      <a:pPr algn="l" defTabSz="914400"/>
                      <a:r>
                        <a:rPr/>
                        <a:t>2.2.7</a:t>
                      </a:r>
                    </a:p>
                  </a:txBody>
                  <a:tcPr horzOverflow="overflow"/>
                </a:tc>
              </a:tr>
              <a:tr h="508000">
                <a:tc>
                  <a:txBody>
                    <a:bodyPr/>
                    <a:lstStyle/>
                    <a:p>
                      <a:pPr algn="l" defTabSz="914400"/>
                      <a:r>
                        <a:rPr b="1" i="0" strike="noStrike" dirty="0"/>
                        <a:t>control</a:t>
                      </a:r>
                    </a:p>
                    <a:p>
                      <a:pPr defTabSz="914400"/>
                      <a:r>
                        <a:rPr b="0" i="0" strike="noStrike" dirty="0"/>
                        <a:t> (Control Clone)</a:t>
                      </a:r>
                      <a:endParaRPr b="1" i="0" strike="noStrike" dirty="0"/>
                    </a:p>
                  </a:txBody>
                  <a:tcPr horzOverflow="overflow"/>
                </a:tc>
                <a:tc>
                  <a:txBody>
                    <a:bodyPr/>
                    <a:lstStyle/>
                    <a:p>
                      <a:pPr algn="l" defTabSz="914400"/>
                      <a:r>
                        <a:rPr/>
                        <a:t>2.2.12</a:t>
                      </a:r>
                    </a:p>
                  </a:txBody>
                  <a:tcPr horzOverflow="overflow"/>
                </a:tc>
              </a:tr>
            </a:tbl>
          </a:graphicData>
        </a:graphic>
      </p:graphicFrame>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dropDown</a:t>
                      </a:r>
                    </a:p>
                    <a:p>
                      <a:pPr defTabSz="914400"/>
                      <a:r>
                        <a:rPr b="0" i="0" strike="noStrike" dirty="0"/>
                        <a:t> (Drop-down Control)</a:t>
                      </a:r>
                      <a:endParaRPr b="1" i="0" strike="noStrike" dirty="0"/>
                    </a:p>
                  </a:txBody>
                  <a:tcPr horzOverflow="overflow"/>
                </a:tc>
                <a:tc>
                  <a:txBody>
                    <a:bodyPr/>
                    <a:lstStyle/>
                    <a:p>
                      <a:pPr algn="l" defTabSz="914400"/>
                      <a:r>
                        <a:rPr/>
                        <a:t>2.2.17</a:t>
                      </a:r>
                    </a:p>
                  </a:txBody>
                  <a:tcPr horzOverflow="overflow"/>
                </a:tc>
              </a:tr>
              <a:tr h="508000">
                <a:tc>
                  <a:txBody>
                    <a:bodyPr/>
                    <a:lstStyle/>
                    <a:p>
                      <a:pPr algn="l" defTabSz="914400"/>
                      <a:r>
                        <a:rPr b="1" i="0" strike="noStrike" dirty="0"/>
                        <a:t>dynamicMenu</a:t>
                      </a:r>
                    </a:p>
                    <a:p>
                      <a:pPr defTabSz="914400"/>
                      <a:r>
                        <a:rPr b="0" i="0" strike="noStrike" dirty="0"/>
                        <a:t> (Dynamic Menu)</a:t>
                      </a:r>
                      <a:endParaRPr b="1" i="0" strike="noStrike" dirty="0"/>
                    </a:p>
                  </a:txBody>
                  <a:tcPr horzOverflow="overflow"/>
                </a:tc>
                <a:tc>
                  <a:txBody>
                    <a:bodyPr/>
                    <a:lstStyle/>
                    <a:p>
                      <a:pPr algn="l" defTabSz="914400"/>
                      <a:r>
                        <a:rPr/>
                        <a:t>2.2.19</a:t>
                      </a:r>
                    </a:p>
                  </a:txBody>
                  <a:tcPr horzOverflow="overflow"/>
                </a:tc>
              </a:tr>
              <a:tr h="508000">
                <a:tc>
                  <a:txBody>
                    <a:bodyPr/>
                    <a:lstStyle/>
                    <a:p>
                      <a:pPr algn="l" defTabSz="914400"/>
                      <a:r>
                        <a:rPr b="1" i="0" strike="noStrike" dirty="0"/>
                        <a:t>editBox</a:t>
                      </a:r>
                    </a:p>
                    <a:p>
                      <a:pPr defTabSz="914400"/>
                      <a:r>
                        <a:rPr b="0" i="0" strike="noStrike" dirty="0"/>
                        <a:t> (Edit Box)</a:t>
                      </a:r>
                      <a:endParaRPr b="1" i="0" strike="noStrike" dirty="0"/>
                    </a:p>
                  </a:txBody>
                  <a:tcPr horzOverflow="overflow"/>
                </a:tc>
                <a:tc>
                  <a:txBody>
                    <a:bodyPr/>
                    <a:lstStyle/>
                    <a:p>
                      <a:pPr algn="l" defTabSz="914400"/>
                      <a:r>
                        <a:rPr/>
                        <a:t>2.2.20</a:t>
                      </a:r>
                    </a:p>
                  </a:txBody>
                  <a:tcPr horzOverflow="overflow"/>
                </a:tc>
              </a:tr>
              <a:tr h="508000">
                <a:tc>
                  <a:txBody>
                    <a:bodyPr/>
                    <a:lstStyle/>
                    <a:p>
                      <a:pPr algn="l" defTabSz="914400"/>
                      <a:r>
                        <a:rPr b="1" i="0" strike="noStrike" dirty="0"/>
                        <a:t>gallery</a:t>
                      </a:r>
                    </a:p>
                    <a:p>
                      <a:pPr defTabSz="914400"/>
                      <a:r>
                        <a:rPr b="0" i="0" strike="noStrike" dirty="0"/>
                        <a:t> (Gallery)</a:t>
                      </a:r>
                      <a:endParaRPr b="1" i="0" strike="noStrike" dirty="0"/>
                    </a:p>
                  </a:txBody>
                  <a:tcPr horzOverflow="overflow"/>
                </a:tc>
                <a:tc>
                  <a:txBody>
                    <a:bodyPr/>
                    <a:lstStyle/>
                    <a:p>
                      <a:pPr algn="l" defTabSz="914400"/>
                      <a:r>
                        <a:rPr/>
                        <a:t>2.2.21</a:t>
                      </a:r>
                    </a:p>
                  </a:txBody>
                  <a:tcPr horzOverflow="overflow"/>
                </a:tc>
              </a:tr>
              <a:tr h="508000">
                <a:tc>
                  <a:txBody>
                    <a:bodyPr/>
                    <a:lstStyle/>
                    <a:p>
                      <a:pPr algn="l" defTabSz="914400"/>
                      <a:r>
                        <a:rPr b="1" i="0" strike="noStrike" dirty="0"/>
                        <a:t>labelControl</a:t>
                      </a:r>
                    </a:p>
                    <a:p>
                      <a:pPr defTabSz="914400"/>
                      <a:r>
                        <a:rPr b="0" i="0" strike="noStrike" dirty="0"/>
                        <a:t> (Text Label)</a:t>
                      </a:r>
                      <a:endParaRPr b="1" i="0" strike="noStrike" dirty="0"/>
                    </a:p>
                  </a:txBody>
                  <a:tcPr horzOverflow="overflow"/>
                </a:tc>
                <a:tc>
                  <a:txBody>
                    <a:bodyPr/>
                    <a:lstStyle/>
                    <a:p>
                      <a:pPr algn="l" defTabSz="914400"/>
                      <a:r>
                        <a:rPr/>
                        <a:t>2.2.25</a:t>
                      </a:r>
                    </a:p>
                  </a:txBody>
                  <a:tcPr horzOverflow="overflow"/>
                </a:tc>
              </a:tr>
              <a:tr h="508000">
                <a:tc>
                  <a:txBody>
                    <a:bodyPr/>
                    <a:lstStyle/>
                    <a:p>
                      <a:pPr algn="l" defTabSz="914400"/>
                      <a:r>
                        <a:rPr b="1" i="0" strike="noStrike" dirty="0"/>
                        <a:t>menu</a:t>
                      </a:r>
                    </a:p>
                    <a:p>
                      <a:pPr defTabSz="914400"/>
                      <a:r>
                        <a:rPr b="0" i="0" strike="noStrike" dirty="0"/>
                        <a:t> (Menu)</a:t>
                      </a:r>
                      <a:endParaRPr b="1" i="0" strike="noStrike" dirty="0"/>
                    </a:p>
                  </a:txBody>
                  <a:tcPr horzOverflow="overflow"/>
                </a:tc>
                <a:tc>
                  <a:txBody>
                    <a:bodyPr/>
                    <a:lstStyle/>
                    <a:p>
                      <a:pPr algn="l" defTabSz="914400"/>
                      <a:r>
                        <a:rPr/>
                        <a:t>2.2.28</a:t>
                      </a:r>
                    </a:p>
                  </a:txBody>
                  <a:tcPr horzOverflow="overflow"/>
                </a:tc>
              </a:tr>
              <a:tr h="508000">
                <a:tc>
                  <a:txBody>
                    <a:bodyPr/>
                    <a:lstStyle/>
                    <a:p>
                      <a:pPr algn="l" defTabSz="914400"/>
                      <a:r>
                        <a:rPr b="1" i="0" strike="noStrike" dirty="0"/>
                        <a:t>splitButton</a:t>
                      </a:r>
                    </a:p>
                    <a:p>
                      <a:pPr defTabSz="914400"/>
                      <a:r>
                        <a:rPr b="0" i="0" strike="noStrike" dirty="0"/>
                        <a:t> (Split Button)</a:t>
                      </a:r>
                      <a:endParaRPr b="1" i="0" strike="noStrike" dirty="0"/>
                    </a:p>
                  </a:txBody>
                  <a:tcPr horzOverflow="overflow"/>
                </a:tc>
                <a:tc>
                  <a:txBody>
                    <a:bodyPr/>
                    <a:lstStyle/>
                    <a:p>
                      <a:pPr algn="l" defTabSz="914400"/>
                      <a:r>
                        <a:rPr/>
                        <a:t>2.2.38</a:t>
                      </a:r>
                    </a:p>
                  </a:txBody>
                  <a:tcPr horzOverflow="overflow"/>
                </a:tc>
              </a:tr>
              <a:tr h="508000">
                <a:tc>
                  <a:txBody>
                    <a:bodyPr/>
                    <a:lstStyle/>
                    <a:p>
                      <a:pPr algn="l" defTabSz="914400"/>
                      <a:r>
                        <a:rPr b="1" i="0" strike="noStrike" dirty="0"/>
                        <a:t>toggleButton</a:t>
                      </a:r>
                    </a:p>
                    <a:p>
                      <a:pPr defTabSz="914400"/>
                      <a:r>
                        <a:rPr b="0" i="0" strike="noStrike" dirty="0"/>
                        <a:t> (Toggle Button)</a:t>
                      </a:r>
                      <a:endParaRPr b="1" i="0" strike="noStrike" dirty="0"/>
                    </a:p>
                  </a:txBody>
                  <a:tcPr horzOverflow="overflow"/>
                </a:tc>
                <a:tc>
                  <a:txBody>
                    <a:bodyPr/>
                    <a:lstStyle/>
                    <a:p>
                      <a:pPr algn="l" defTabSz="914400"/>
                      <a:r>
                        <a:rPr/>
                        <a:t>2.2.43</a:t>
                      </a:r>
                    </a:p>
                  </a:txBody>
                  <a:tcPr horzOverflow="overflow"/>
                </a:tc>
              </a:tr>
            </a:tbl>
          </a:graphicData>
        </a:graphic>
      </p:graphicFrame>
      <p:sp>
        <p:nvSpPr>
          <p:cNvPr id="3" name="TextBox3"/>
          <p:cNvSpPr txBox="1">
            <a:spLocks noChangeArrowheads="1"/>
          </p:cNvSpPr>
          <p:nvPr/>
        </p:nvSpPr>
        <p:spPr>
          <a:xfrm rot="0">
            <a:off x="508000" y="5130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boxStyle</a:t>
                      </a:r>
                    </a:p>
                    <a:p>
                      <a:pPr defTabSz="914400"/>
                      <a:r>
                        <a:rPr b="0" i="0" strike="noStrike" dirty="0"/>
                        <a:t> (box style)</a:t>
                      </a:r>
                      <a:endParaRPr b="1" i="0" strike="noStrike" dirty="0"/>
                    </a:p>
                  </a:txBody>
                  <a:tcPr horzOverflow="overflow"/>
                </a:tc>
                <a:tc>
                  <a:txBody>
                    <a:bodyPr/>
                    <a:lstStyle/>
                    <a:p>
                      <a:pPr algn="l" defTabSz="914400"/>
                      <a:r>
                        <a:rPr b="0" i="0" strike="noStrike" dirty="0"/>
                        <a:t>Specifies the layout direction for the child controls inside of the </a:t>
                      </a:r>
                    </a:p>
                    <a:p>
                      <a:pPr defTabSz="914400"/>
                      <a:r>
                        <a:rPr b="1" i="0" strike="noStrike" dirty="0"/>
                        <a:t>box</a:t>
                      </a:r>
                      <a:endParaRPr b="0" i="0" strike="noStrike" dirty="0"/>
                    </a:p>
                    <a:p>
                      <a:pPr defTabSz="914400"/>
                      <a:r>
                        <a:rPr b="0" i="0" strike="noStrike" dirty="0"/>
                        <a:t> element. If this attribute is omitted, the child controls SHOULD be laid out horizontally. For example, consider a group of controls to be laid out vertically. This is specified using the following XML: &lt;box id="box" boxStyle="vertical"&gt;   … &lt;/box&gt; The possible values for this attribute are defined by the </a:t>
                      </a:r>
                      <a:endParaRPr b="0" i="0" strike="noStrike" dirty="0"/>
                    </a:p>
                    <a:p>
                      <a:pPr defTabSz="914400"/>
                      <a:r>
                        <a:rPr b="1" i="0" strike="noStrike" dirty="0"/>
                        <a:t>ST_BoxStyle</a:t>
                      </a:r>
                      <a:endParaRPr b="0" i="0" strike="noStrike" dirty="0"/>
                    </a:p>
                    <a:p>
                      <a:pPr defTabSz="914400"/>
                      <a:r>
                        <a:rPr b="0" i="0" strike="noStrike" dirty="0"/>
                        <a:t> simple type, as specified in section </a:t>
                      </a:r>
                      <a:endParaRPr b="0" i="0" strike="noStrike" dirty="0"/>
                    </a:p>
                    <a:p>
                      <a:pPr defTabSz="914400"/>
                      <a:r>
                        <a:rPr/>
                        <a:t>2.3.1</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getVisible</a:t>
                      </a:r>
                    </a:p>
                    <a:p>
                      <a:pPr defTabSz="914400"/>
                      <a:r>
                        <a:rPr b="0" i="0" strike="noStrike" dirty="0"/>
                        <a:t> ( </a:t>
                      </a:r>
                      <a:endParaRPr b="1" i="0" strike="noStrike" dirty="0"/>
                    </a:p>
                    <a:p>
                      <a:pPr defTabSz="914400"/>
                      <a:r>
                        <a:rPr b="1" i="0" strike="noStrike" dirty="0"/>
                        <a:t>getVisible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that is called to determine the visibility state of this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neither attribute is specified, the control SHOULD default to being visible. For example, consider the following XML fragment: &lt;button id="button" getVisible="IsButtonVisible" /&gt; In this example, the </a:t>
                      </a:r>
                      <a:endParaRPr b="0" i="0" strike="noStrike" dirty="0"/>
                    </a:p>
                    <a:p>
                      <a:pPr defTabSz="914400"/>
                      <a:r>
                        <a:rPr b="1" i="0" strike="noStrike" dirty="0"/>
                        <a:t>IsButtonVisible</a:t>
                      </a:r>
                      <a:endParaRPr b="0" i="0" strike="noStrike" dirty="0"/>
                    </a:p>
                    <a:p>
                      <a:pPr defTabSz="914400"/>
                      <a:r>
                        <a:rPr b="0" i="0" strike="noStrike" dirty="0"/>
                        <a:t> callback function is called when the application needs to determine the visibility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a:t>
                      </a:r>
                      <a:endParaRPr b="0" i="0" strike="noStrike" dirty="0"/>
                    </a:p>
                    <a:p>
                      <a:pPr defTabSz="914400"/>
                      <a:r>
                        <a:rPr/>
                        <a:t>2.3.2</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id</a:t>
                      </a:r>
                    </a:p>
                    <a:p>
                      <a:pPr defTabSz="914400"/>
                      <a:r>
                        <a:rPr b="0" i="0" strike="noStrike" dirty="0"/>
                        <a:t> (control identifier)</a:t>
                      </a:r>
                      <a:endParaRPr b="1" i="0" strike="noStrike" dirty="0"/>
                    </a:p>
                  </a:txBody>
                  <a:tcPr horzOverflow="overflow"/>
                </a:tc>
                <a:tc>
                  <a:txBody>
                    <a:bodyPr/>
                    <a:lstStyle/>
                    <a:p>
                      <a:pPr algn="l" defTabSz="914400"/>
                      <a:r>
                        <a:rPr b="0" i="0" strike="noStrike" dirty="0"/>
                        <a:t>Specifies the identifier for a custom control. All custom controls MUST have unique identifiers. The identifier of a control SHOULD be passed to callback functions to identify which control corresponds to the function call. The </a:t>
                      </a:r>
                    </a:p>
                    <a:p>
                      <a:pPr defTabSz="914400"/>
                      <a:r>
                        <a:rPr b="1" i="0" strike="noStrike" dirty="0"/>
                        <a:t>id</a:t>
                      </a:r>
                      <a:endParaRPr b="0" i="0" strike="noStrike" dirty="0"/>
                    </a:p>
                    <a:p>
                      <a:pPr defTabSz="914400"/>
                      <a:r>
                        <a:rPr b="0" i="0" strike="noStrike" dirty="0"/>
                        <a:t> and </a:t>
                      </a:r>
                      <a:endParaRPr b="0" i="0" strike="noStrike" dirty="0"/>
                    </a:p>
                    <a:p>
                      <a:pPr defTabSz="914400"/>
                      <a:r>
                        <a:rPr b="1" i="0" strike="noStrike" dirty="0"/>
                        <a:t>idQ</a:t>
                      </a:r>
                      <a:endParaRPr b="0" i="0" strike="noStrike" dirty="0"/>
                    </a:p>
                    <a:p>
                      <a:pPr defTabSz="914400"/>
                      <a:r>
                        <a:rPr b="0" i="0" strike="noStrike" dirty="0"/>
                        <a:t> attributes are mutually exclusive. At least one of these attributes is to be specified. For example, consider the following XML fragment: &lt;button id="MyButton" label="Button" /&gt; This specifies a custom button control with an </a:t>
                      </a:r>
                      <a:endParaRPr b="0" i="0" strike="noStrike" dirty="0"/>
                    </a:p>
                    <a:p>
                      <a:pPr defTabSz="914400"/>
                      <a:r>
                        <a:rPr b="1" i="0" strike="noStrike" dirty="0"/>
                        <a:t>id</a:t>
                      </a:r>
                      <a:endParaRPr b="0" i="0" strike="noStrike" dirty="0"/>
                    </a:p>
                    <a:p>
                      <a:pPr defTabSz="914400"/>
                      <a:r>
                        <a:rPr b="0" i="0" strike="noStrike" dirty="0"/>
                        <a:t> of "MyButton". The possible values for this attribute are defined by the </a:t>
                      </a:r>
                      <a:endParaRPr b="0" i="0" strike="noStrike" dirty="0"/>
                    </a:p>
                    <a:p>
                      <a:pPr defTabSz="914400"/>
                      <a:r>
                        <a:rPr b="1" i="0" strike="noStrike" dirty="0"/>
                        <a:t>ST_UniqueID</a:t>
                      </a:r>
                      <a:endParaRPr b="0" i="0" strike="noStrike" dirty="0"/>
                    </a:p>
                    <a:p>
                      <a:pPr defTabSz="914400"/>
                      <a:r>
                        <a:rPr b="0" i="0" strike="noStrike" dirty="0"/>
                        <a:t> simple type, as specified in section </a:t>
                      </a:r>
                      <a:endParaRPr b="0" i="0" strike="noStrike" dirty="0"/>
                    </a:p>
                    <a:p>
                      <a:pPr defTabSz="914400"/>
                      <a:r>
                        <a:rPr/>
                        <a:t>2.3.13</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5080000">
                <a:tc>
                  <a:txBody>
                    <a:bodyPr/>
                    <a:lstStyle/>
                    <a:p>
                      <a:pPr algn="l" defTabSz="914400"/>
                      <a:r>
                        <a:rPr b="1" i="0" strike="noStrike" dirty="0"/>
                        <a:t>idQ</a:t>
                      </a:r>
                    </a:p>
                    <a:p>
                      <a:pPr defTabSz="914400"/>
                      <a:r>
                        <a:rPr b="0" i="0" strike="noStrike" dirty="0"/>
                        <a:t> (qualified control identifier)</a:t>
                      </a:r>
                      <a:endParaRPr b="1" i="0" strike="noStrike" dirty="0"/>
                    </a:p>
                  </a:txBody>
                  <a:tcPr horzOverflow="overflow"/>
                </a:tc>
                <a:tc>
                  <a:txBody>
                    <a:bodyPr/>
                    <a:lstStyle/>
                    <a:p>
                      <a:pPr algn="l" defTabSz="914400"/>
                      <a:r>
                        <a:rPr b="0" i="0" strike="noStrike" dirty="0"/>
                        <a:t>Specifies a qualified identifier for a control. The </a:t>
                      </a:r>
                    </a:p>
                    <a:p>
                      <a:pPr defTabSz="914400"/>
                      <a:r>
                        <a:rPr b="1" i="0" strike="noStrike" dirty="0"/>
                        <a:t>idQ</a:t>
                      </a:r>
                      <a:endParaRPr b="0" i="0" strike="noStrike" dirty="0"/>
                    </a:p>
                    <a:p>
                      <a:pPr defTabSz="914400"/>
                      <a:r>
                        <a:rPr b="0" i="0" strike="noStrike" dirty="0"/>
                        <a:t> attribute can be used to reference controls or </a:t>
                      </a:r>
                      <a:endParaRPr b="0" i="0" strike="noStrike" dirty="0"/>
                    </a:p>
                    <a:p>
                      <a:pPr defTabSz="914400"/>
                      <a:r>
                        <a:rPr b="1" i="0" strike="noStrike" dirty="0"/>
                        <a:t>containers</a:t>
                      </a:r>
                      <a:endParaRPr b="0" i="0" strike="noStrike" dirty="0"/>
                    </a:p>
                    <a:p>
                      <a:pPr defTabSz="914400"/>
                      <a:r>
                        <a:rPr b="0" i="0" strike="noStrike" dirty="0"/>
                        <a:t> created by other Custom UI documents. The </a:t>
                      </a:r>
                      <a:endParaRPr b="0" i="0" strike="noStrike" dirty="0"/>
                    </a:p>
                    <a:p>
                      <a:pPr defTabSz="914400"/>
                      <a:r>
                        <a:rPr b="1" i="0" strike="noStrike" dirty="0"/>
                        <a:t>id</a:t>
                      </a:r>
                      <a:endParaRPr b="0" i="0" strike="noStrike" dirty="0"/>
                    </a:p>
                    <a:p>
                      <a:pPr defTabSz="914400"/>
                      <a:r>
                        <a:rPr b="0" i="0" strike="noStrike" dirty="0"/>
                        <a:t> and </a:t>
                      </a:r>
                      <a:endParaRPr b="0" i="0" strike="noStrike" dirty="0"/>
                    </a:p>
                    <a:p>
                      <a:pPr defTabSz="914400"/>
                      <a:r>
                        <a:rPr b="1" i="0" strike="noStrike" dirty="0"/>
                        <a:t>idQ</a:t>
                      </a:r>
                      <a:endParaRPr b="0" i="0" strike="noStrike" dirty="0"/>
                    </a:p>
                    <a:p>
                      <a:pPr defTabSz="914400"/>
                      <a:r>
                        <a:rPr b="0" i="0" strike="noStrike" dirty="0"/>
                        <a:t> attributes are mutually exclusive. At least one of these attributes is to be specified. For example, consider the following XML fragment: &lt;customUI    xmlns="http://schemas.microsoft.com/office/2006/01/customui"   xmlns:ex="http://www.example.com"&gt;   &lt;ribbon&gt;     &lt;tabs&gt;      &lt;tab idQ="ex:OtherTab" label="Shared Tab"&gt;         &lt;group id="MyGroup" label="My Group"&gt;           …         &lt;/group&gt;       &lt;/tab&gt;     &lt;/tabs&gt;   &lt;/ribbon&gt; &lt;/customUI&gt; In this case, </a:t>
                      </a:r>
                      <a:endParaRPr b="0" i="0" strike="noStrike" dirty="0"/>
                    </a:p>
                    <a:p>
                      <a:pPr defTabSz="914400"/>
                      <a:r>
                        <a:rPr b="1" i="0" strike="noStrike" dirty="0"/>
                        <a:t>ex</a:t>
                      </a:r>
                      <a:endParaRPr b="0" i="0" strike="noStrike" dirty="0"/>
                    </a:p>
                    <a:p>
                      <a:pPr defTabSz="914400"/>
                      <a:r>
                        <a:rPr b="0" i="0" strike="noStrike" dirty="0"/>
                        <a:t> is an </a:t>
                      </a:r>
                      <a:endParaRPr b="0" i="0" strike="noStrike" dirty="0"/>
                    </a:p>
                    <a:p>
                      <a:pPr defTabSz="914400"/>
                      <a:r>
                        <a:rPr/>
                        <a:t>XML namespace prefix</a:t>
                      </a:r>
                      <a:endParaRPr b="0" i="0" strike="noStrike" dirty="0"/>
                    </a:p>
                    <a:p>
                      <a:pPr defTabSz="914400"/>
                      <a:r>
                        <a:rPr b="0" i="0" strike="noStrike" dirty="0"/>
                        <a:t> for the namespace http://www.example.com. This XML fragment refers to a </a:t>
                      </a:r>
                      <a:endParaRPr b="0" i="0" strike="noStrike" dirty="0"/>
                    </a:p>
                    <a:p>
                      <a:pPr defTabSz="914400"/>
                      <a:r>
                        <a:rPr b="1" i="0" strike="noStrike" dirty="0"/>
                        <a:t>tab</a:t>
                      </a:r>
                      <a:endParaRPr b="0" i="0" strike="noStrike" dirty="0"/>
                    </a:p>
                    <a:p>
                      <a:pPr defTabSz="914400"/>
                      <a:r>
                        <a:rPr b="0" i="0" strike="noStrike" dirty="0"/>
                        <a:t> in that namespace with an identifier of "OtherTab". If that tab cannot be found, it is created. A new group belonging to this file is added to the 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a:t>
                      </a:r>
                      <a:endParaRPr b="0" i="0" strike="noStrike" dirty="0"/>
                    </a:p>
                    <a:p>
                      <a:pPr defTabSz="914400"/>
                      <a:r>
                        <a:rPr/>
                        <a:t>2.3.9</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insertAfterMso</a:t>
                      </a:r>
                    </a:p>
                    <a:p>
                      <a:pPr defTabSz="914400"/>
                      <a:r>
                        <a:rPr b="0" i="0" strike="noStrike" dirty="0"/>
                        <a:t> (identifier of built-in control to insert after)</a:t>
                      </a:r>
                      <a:endParaRPr b="1" i="0" strike="noStrike" dirty="0"/>
                    </a:p>
                  </a:txBody>
                  <a:tcPr horzOverflow="overflow"/>
                </a:tc>
                <a:tc>
                  <a:txBody>
                    <a:bodyPr/>
                    <a:lstStyle/>
                    <a:p>
                      <a:pPr algn="l" defTabSz="914400"/>
                      <a:r>
                        <a:rPr b="0" i="0" strike="noStrike" dirty="0"/>
                        <a:t>Specifies the identifier of a built-in control that this control is to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insertAfterMso="TabHome" label="Custom Tab"&gt;   … &lt;/tab&gt; In this example, a new custom tab with an identifier of "MyTab" is to be inserted after the built-in tab with an </a:t>
                      </a:r>
                      <a:endParaRPr b="0" i="0" strike="noStrike" dirty="0"/>
                    </a:p>
                    <a:p>
                      <a:pPr defTabSz="914400"/>
                      <a:r>
                        <a:rPr b="1" i="0" strike="noStrike" dirty="0"/>
                        <a:t>id</a:t>
                      </a:r>
                      <a:endParaRPr b="0" i="0" strike="noStrike" dirty="0"/>
                    </a:p>
                    <a:p>
                      <a:pPr defTabSz="914400"/>
                      <a:r>
                        <a:rPr b="0" i="0" strike="noStrike" dirty="0"/>
                        <a:t>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a:t>
                      </a:r>
                      <a:endParaRPr b="0" i="0" strike="noStrike" dirty="0"/>
                    </a:p>
                    <a:p>
                      <a:pPr defTabSz="914400"/>
                      <a:r>
                        <a:rPr/>
                        <a:t>2.3.5</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insertAfterQ</a:t>
                      </a:r>
                    </a:p>
                    <a:p>
                      <a:pPr defTabSz="914400"/>
                      <a:r>
                        <a:rPr b="0" i="0" strike="noStrike" dirty="0"/>
                        <a:t> (qualified identifier of control to insert after)</a:t>
                      </a:r>
                      <a:endParaRPr b="1" i="0" strike="noStrike" dirty="0"/>
                    </a:p>
                  </a:txBody>
                  <a:tcPr horzOverflow="overflow"/>
                </a:tc>
                <a:tc>
                  <a:txBody>
                    <a:bodyPr/>
                    <a:lstStyle/>
                    <a:p>
                      <a:pPr algn="l" defTabSz="914400"/>
                      <a:r>
                        <a:rPr b="0" i="0" strike="noStrike" dirty="0"/>
                        <a:t>Specifies the qualified identifier of a control that this control is to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insertAfterQ="x:OtherTab" label="Custom Tab"&gt;   … &lt;/tab&gt; In this example, a new custom tab with an </a:t>
                      </a:r>
                      <a:endParaRPr b="0" i="0" strike="noStrike" dirty="0"/>
                    </a:p>
                    <a:p>
                      <a:pPr defTabSz="914400"/>
                      <a:r>
                        <a:rPr b="1" i="0" strike="noStrike" dirty="0"/>
                        <a:t>id</a:t>
                      </a:r>
                      <a:endParaRPr b="0" i="0" strike="noStrike" dirty="0"/>
                    </a:p>
                    <a:p>
                      <a:pPr defTabSz="914400"/>
                      <a:r>
                        <a:rPr b="0" i="0" strike="noStrike" dirty="0"/>
                        <a:t> of "MyTab" is to be inserted after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insertBeforeMso</a:t>
                      </a:r>
                    </a:p>
                    <a:p>
                      <a:pPr defTabSz="914400"/>
                      <a:r>
                        <a:rPr b="0" i="0" strike="noStrike" dirty="0"/>
                        <a:t> (identifier of built-in control to insert before)</a:t>
                      </a:r>
                      <a:endParaRPr b="1" i="0" strike="noStrike" dirty="0"/>
                    </a:p>
                  </a:txBody>
                  <a:tcPr horzOverflow="overflow"/>
                </a:tc>
                <a:tc>
                  <a:txBody>
                    <a:bodyPr/>
                    <a:lstStyle/>
                    <a:p>
                      <a:pPr algn="l" defTabSz="914400"/>
                      <a:r>
                        <a:rPr b="0" i="0" strike="noStrike" dirty="0"/>
                        <a:t>Specifies the identifier of a built-in control that this control is to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insertBeforeMso="TabHome" label="Custom Tab"&gt;   … &lt;/tab&gt; In this example, a new custom tab with an </a:t>
                      </a:r>
                      <a:endParaRPr b="0" i="0" strike="noStrike" dirty="0"/>
                    </a:p>
                    <a:p>
                      <a:pPr defTabSz="914400"/>
                      <a:r>
                        <a:rPr b="1" i="0" strike="noStrike" dirty="0"/>
                        <a:t>id</a:t>
                      </a:r>
                      <a:endParaRPr b="0" i="0" strike="noStrike" dirty="0"/>
                    </a:p>
                    <a:p>
                      <a:pPr defTabSz="914400"/>
                      <a:r>
                        <a:rPr b="0" i="0" strike="noStrike" dirty="0"/>
                        <a:t> of "MyTab" is to be inserted before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as specified in section 2.3.5.</a:t>
                      </a:r>
                      <a:endParaRPr b="0" i="0" strike="noStrike" dirty="0"/>
                    </a:p>
                  </a:txBody>
                  <a:tcPr horzOverflow="overflow"/>
                </a:tc>
              </a:tr>
            </a:tbl>
          </a:graphicData>
        </a:graphic>
      </p:graphicFrame>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insertBeforeQ</a:t>
                      </a:r>
                    </a:p>
                    <a:p>
                      <a:pPr defTabSz="914400"/>
                      <a:r>
                        <a:rPr b="0" i="0" strike="noStrike" dirty="0"/>
                        <a:t> (qualified identifier of control to insert before)</a:t>
                      </a:r>
                      <a:endParaRPr b="1" i="0" strike="noStrike" dirty="0"/>
                    </a:p>
                  </a:txBody>
                  <a:tcPr horzOverflow="overflow"/>
                </a:tc>
                <a:tc>
                  <a:txBody>
                    <a:bodyPr/>
                    <a:lstStyle/>
                    <a:p>
                      <a:pPr algn="l" defTabSz="914400"/>
                      <a:r>
                        <a:rPr b="0" i="0" strike="noStrike" dirty="0"/>
                        <a:t>Specifies the qualified identifier of a control that this control is to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insertBeforeQ="x:OtherTab" label="Custom Tab"&gt;   … &lt;/tab&gt; In this example, a new custom tab with an </a:t>
                      </a:r>
                      <a:endParaRPr b="0" i="0" strike="noStrike" dirty="0"/>
                    </a:p>
                    <a:p>
                      <a:pPr defTabSz="914400"/>
                      <a:r>
                        <a:rPr b="1" i="0" strike="noStrike" dirty="0"/>
                        <a:t>id</a:t>
                      </a:r>
                      <a:endParaRPr b="0" i="0" strike="noStrike" dirty="0"/>
                    </a:p>
                    <a:p>
                      <a:pPr defTabSz="914400"/>
                      <a:r>
                        <a:rPr b="0" i="0" strike="noStrike" dirty="0"/>
                        <a:t> of "MyTab" is to be inserted before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visible</a:t>
                      </a:r>
                    </a:p>
                    <a:p>
                      <a:pPr defTabSz="914400"/>
                      <a:r>
                        <a:rPr b="0" i="0" strike="noStrike" dirty="0"/>
                        <a:t> (control visibility)</a:t>
                      </a:r>
                      <a:endParaRPr b="1" i="0" strike="noStrike" dirty="0"/>
                    </a:p>
                  </a:txBody>
                  <a:tcPr horzOverflow="overflow"/>
                </a:tc>
                <a:tc>
                  <a:txBody>
                    <a:bodyPr/>
                    <a:lstStyle/>
                    <a:p>
                      <a:pPr algn="l" defTabSz="914400"/>
                      <a:r>
                        <a:rPr b="0" i="0" strike="noStrike" dirty="0"/>
                        <a:t>Specifies the visibility state of the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these attributes are omitted, the control SHOULD default to being visible. For example, consider the following XML fragment: &lt;tab idMso="TabHome" visible="false" /&gt; In this example, the built-in tab with an identifier of "TabHome" is to be hidden. The possible values for this attribute are defined by the </a:t>
                      </a:r>
                      <a:endParaRPr b="0" i="0" strike="noStrike" dirty="0"/>
                    </a:p>
                    <a:p>
                      <a:pPr defTabSz="914400"/>
                      <a:r>
                        <a:rPr/>
                        <a:t>XML schema</a:t>
                      </a:r>
                      <a:endParaRPr b="0" i="0" strike="noStrike" dirty="0"/>
                    </a:p>
                    <a:p>
                      <a:pPr defTabSz="914400"/>
                      <a:r>
                        <a:rPr b="0" i="0" strike="noStrike" dirty="0"/>
                        <a:t>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name="CT_Box"&gt;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&lt;xsd:group </a:t>
            </a:r>
            <a:r>
              <a:rPr b="0" i="0" strike="noStrike" dirty="0"/>
              <a:t>ref="EG_Controls" </a:t>
            </a:r>
            <a:r>
              <a:rPr b="0" i="0" strike="noStrike" dirty="0"/>
              <a:t>minOccurs="0" </a:t>
            </a:r>
            <a:r>
              <a:rPr b="0" i="0" strike="noStrike" dirty="0"/>
              <a:t>maxOccurs="1000"/&gt;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ref="AG_IDCustom"/&gt;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ref="AG_Visible"/&gt;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ref="AG_PositionAttributes"/&gt;</a:t>
            </a:r>
          </a:p>
        </p:txBody>
      </p:sp>
      <p:sp>
        <p:nvSpPr>
          <p:cNvPr id="9" name="TextBox9"/>
          <p:cNvSpPr txBox="1">
            <a:spLocks noChangeArrowheads="1"/>
          </p:cNvSpPr>
          <p:nvPr/>
        </p:nvSpPr>
        <p:spPr>
          <a:xfrm rot="0">
            <a:off x="508000" y="5679440"/>
            <a:ext cx="11176000" cy="320040"/>
          </a:xfrm>
          <a:prstGeom prst="rect">
            <a:avLst/>
          </a:prstGeom>
          <a:ln>
            <a:headEnd type="none"/>
            <a:tailEnd type="none"/>
          </a:ln>
        </p:spPr>
        <p:txBody>
          <a:bodyPr wrap="square">
            <a:spAutoFit/>
          </a:bodyPr>
          <a:lstStyle/>
          <a:p>
            <a:pPr algn="l" defTabSz="914400"/>
            <a:r>
              <a:rPr b="0" i="0" strike="noStrike" dirty="0"/>
              <a:t>&lt;xsd:attribute </a:t>
            </a:r>
            <a:r>
              <a:rPr b="0" i="0" strike="noStrike" dirty="0"/>
              <a:t>name="boxStyle" </a:t>
            </a:r>
            <a:r>
              <a:rPr b="0" i="0" strike="noStrike" dirty="0"/>
              <a:t>type="ST_BoxStyle" </a:t>
            </a:r>
            <a:r>
              <a:rPr b="0" i="0" strike="noStrike" dirty="0"/>
              <a:t>use="optional"/&gt;</a:t>
            </a:r>
          </a:p>
        </p:txBody>
      </p:sp>
      <p:sp>
        <p:nvSpPr>
          <p:cNvPr id="10" name="TextBox10"/>
          <p:cNvSpPr txBox="1">
            <a:spLocks noChangeArrowheads="1"/>
          </p:cNvSpPr>
          <p:nvPr/>
        </p:nvSpPr>
        <p:spPr>
          <a:xfrm rot="0">
            <a:off x="508000" y="602488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426720"/>
          </a:xfrm>
          <a:prstGeom prst="rect">
            <a:avLst/>
          </a:prstGeom>
          <a:ln>
            <a:headEnd type="none"/>
            <a:tailEnd type="none"/>
          </a:ln>
        </p:spPr>
        <p:txBody>
          <a:bodyPr wrap="square">
            <a:spAutoFit/>
          </a:bodyPr>
          <a:lstStyle/>
          <a:p>
            <a:pPr algn="l" defTabSz="914400">
              <a:defRPr sz="2400" b="1" dirty="0"/>
            </a:pPr>
            <a:r>
              <a:rPr b="1" i="0" strike="noStrike" dirty="0"/>
              <a:t>button </a:t>
            </a:r>
            <a:r>
              <a:rPr b="1" i="0" strike="noStrike" dirty="0"/>
              <a:t>(Button) </a:t>
            </a:r>
            <a:r>
              <a:rPr b="1" i="0" strike="noStrike" dirty="0"/>
              <a:t>XE </a:t>
            </a:r>
            <a:r>
              <a:rPr b="1" i="0" strike="noStrike" dirty="0"/>
              <a:t>"Elements:button </a:t>
            </a:r>
            <a:r>
              <a:rPr b="1" i="0" strike="noStrike" dirty="0"/>
              <a:t>(button)"</a:t>
            </a:r>
          </a:p>
        </p:txBody>
      </p:sp>
      <p:sp>
        <p:nvSpPr>
          <p:cNvPr id="3" name="TextBox3"/>
          <p:cNvSpPr txBox="1">
            <a:spLocks noChangeArrowheads="1"/>
          </p:cNvSpPr>
          <p:nvPr/>
        </p:nvSpPr>
        <p:spPr>
          <a:xfrm rot="0">
            <a:off x="508000" y="96012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standard </a:t>
            </a:r>
            <a:r>
              <a:rPr b="0" i="0" strike="noStrike" dirty="0"/>
              <a:t>push-button </a:t>
            </a:r>
            <a:r>
              <a:rPr b="0" i="0" strike="noStrike" dirty="0"/>
              <a:t>control </a:t>
            </a:r>
            <a:r>
              <a:rPr b="0" i="0" strike="noStrike" dirty="0"/>
              <a:t>that </a:t>
            </a:r>
            <a:r>
              <a:rPr b="0" i="0" strike="noStrike" dirty="0"/>
              <a:t>performs </a:t>
            </a:r>
            <a:r>
              <a:rPr b="0" i="0" strike="noStrike" dirty="0"/>
              <a:t>an </a:t>
            </a:r>
            <a:r>
              <a:rPr b="0" i="0" strike="noStrike" dirty="0"/>
              <a:t>action </a:t>
            </a:r>
            <a:r>
              <a:rPr b="0" i="0" strike="noStrike" dirty="0"/>
              <a:t>when </a:t>
            </a:r>
            <a:r>
              <a:rPr b="0" i="0" strike="noStrike" dirty="0"/>
              <a:t>clicked.</a:t>
            </a:r>
          </a:p>
        </p:txBody>
      </p:sp>
      <p:sp>
        <p:nvSpPr>
          <p:cNvPr id="4" name="TextBox4"/>
          <p:cNvSpPr txBox="1">
            <a:spLocks noChangeArrowheads="1"/>
          </p:cNvSpPr>
          <p:nvPr/>
        </p:nvSpPr>
        <p:spPr>
          <a:xfrm rot="0">
            <a:off x="508000" y="1305560"/>
            <a:ext cx="11176000" cy="32004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a </a:t>
            </a:r>
            <a:r>
              <a:rPr b="0" i="0" strike="noStrike" dirty="0"/>
              <a:t>button </a:t>
            </a:r>
            <a:r>
              <a:rPr b="0" i="0" strike="noStrike" dirty="0"/>
              <a:t>control, </a:t>
            </a:r>
            <a:r>
              <a:rPr b="0" i="0" strike="noStrike" dirty="0"/>
              <a:t>as </a:t>
            </a:r>
            <a:r>
              <a:rPr b="0" i="0" strike="noStrike" dirty="0"/>
              <a:t>follows:</a:t>
            </a:r>
          </a:p>
        </p:txBody>
      </p:sp>
      <p:pic>
        <p:nvPicPr>
          <p:cNvPr id="5" name="Picture 5" descr="A button control"/>
          <p:cNvPicPr>
            <a:picLocks noChangeAspect="1"/>
          </p:cNvPicPr>
          <p:nvPr/>
        </p:nvPicPr>
        <p:blipFill>
          <a:blip r:embed="rId2">
            <a:lum/>
          </a:blip>
          <a:srcRect/>
          <a:stretch>
            <a:fillRect/>
          </a:stretch>
        </p:blipFill>
        <p:spPr>
          <a:xfrm rot="0">
            <a:off x="508000" y="1651000"/>
            <a:ext cx="3810000" cy="2540000"/>
          </a:xfrm>
          <a:prstGeom prst="rect">
            <a:avLst/>
          </a:prstGeom>
          <a:ln>
            <a:headEnd type="none"/>
            <a:tailEnd type="none"/>
          </a:ln>
        </p:spPr>
      </p:pic>
      <p:sp>
        <p:nvSpPr>
          <p:cNvPr id="6" name="TextBox6"/>
          <p:cNvSpPr txBox="1">
            <a:spLocks noChangeArrowheads="1"/>
          </p:cNvSpPr>
          <p:nvPr/>
        </p:nvSpPr>
        <p:spPr>
          <a:xfrm rot="0">
            <a:off x="508000" y="421640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2: </a:t>
            </a:r>
            <a:r>
              <a:rPr b="1" i="0" strike="noStrike" dirty="0"/>
              <a:t>A </a:t>
            </a:r>
            <a:r>
              <a:rPr b="1" i="0" strike="noStrike" dirty="0"/>
              <a:t>button </a:t>
            </a:r>
            <a:r>
              <a:rPr b="1" i="0" strike="noStrike" dirty="0"/>
              <a:t>control</a:t>
            </a:r>
          </a:p>
        </p:txBody>
      </p:sp>
      <p:sp>
        <p:nvSpPr>
          <p:cNvPr id="7" name="TextBox7"/>
          <p:cNvSpPr txBox="1">
            <a:spLocks noChangeArrowheads="1"/>
          </p:cNvSpPr>
          <p:nvPr/>
        </p:nvSpPr>
        <p:spPr>
          <a:xfrm rot="0">
            <a:off x="508000" y="45618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specified </a:t>
            </a:r>
            <a:r>
              <a:rPr b="0" i="0" strike="noStrike" dirty="0"/>
              <a:t>using </a:t>
            </a:r>
            <a:r>
              <a:rPr b="0" i="0" strike="noStrike" dirty="0"/>
              <a:t>the </a:t>
            </a:r>
            <a:r>
              <a:rPr b="0" i="0" strike="noStrike" dirty="0"/>
              <a:t>following </a:t>
            </a:r>
            <a:r>
              <a:rPr b="0" i="0" strike="noStrike" dirty="0"/>
              <a:t>XML </a:t>
            </a:r>
            <a:r>
              <a:rPr b="0" i="0" strike="noStrike" dirty="0"/>
              <a:t>fragment:</a:t>
            </a:r>
          </a:p>
        </p:txBody>
      </p:sp>
      <p:sp>
        <p:nvSpPr>
          <p:cNvPr id="8" name="TextBox8"/>
          <p:cNvSpPr txBox="1">
            <a:spLocks noChangeArrowheads="1"/>
          </p:cNvSpPr>
          <p:nvPr/>
        </p:nvSpPr>
        <p:spPr>
          <a:xfrm rot="0">
            <a:off x="508000" y="490728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 </a:t>
            </a:r>
            <a:r>
              <a:rPr b="0" i="0" strike="noStrike" dirty="0"/>
              <a:t>label="Button" </a:t>
            </a:r>
            <a:r>
              <a:rPr b="0" i="0" strike="noStrike" dirty="0"/>
              <a:t>imageMso="HappyFace" </a:t>
            </a:r>
            <a:r>
              <a:rPr b="0" i="0" strike="noStrike" dirty="0"/>
              <a:t>/&gt;</a:t>
            </a:r>
          </a:p>
        </p:txBody>
      </p:sp>
      <p:sp>
        <p:nvSpPr>
          <p:cNvPr id="9" name="TextBox9"/>
          <p:cNvSpPr txBox="1">
            <a:spLocks noChangeArrowheads="1"/>
          </p:cNvSpPr>
          <p:nvPr/>
        </p:nvSpPr>
        <p:spPr>
          <a:xfrm rot="0">
            <a:off x="508000" y="52527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152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Parent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box</a:t>
                      </a:r>
                    </a:p>
                  </a:txBody>
                  <a:tcPr horzOverflow="overflow"/>
                </a:tc>
                <a:tc>
                  <a:txBody>
                    <a:bodyPr/>
                    <a:lstStyle/>
                    <a:p>
                      <a:pPr algn="l" defTabSz="914400"/>
                      <a:r>
                        <a:rPr/>
                        <a:t>2.2.1</a:t>
                      </a:r>
                    </a:p>
                  </a:txBody>
                  <a:tcPr horzOverflow="overflow"/>
                </a:tc>
              </a:tr>
              <a:tr h="508000">
                <a:tc>
                  <a:txBody>
                    <a:bodyPr/>
                    <a:lstStyle/>
                    <a:p>
                      <a:pPr algn="l" defTabSz="914400"/>
                      <a:r>
                        <a:rPr b="1" i="0" strike="noStrike" dirty="0"/>
                        <a:t>group</a:t>
                      </a:r>
                    </a:p>
                  </a:txBody>
                  <a:tcPr horzOverflow="overflow"/>
                </a:tc>
                <a:tc>
                  <a:txBody>
                    <a:bodyPr/>
                    <a:lstStyle/>
                    <a:p>
                      <a:pPr algn="l" defTabSz="914400"/>
                      <a:r>
                        <a:rPr/>
                        <a:t>2.2.23</a:t>
                      </a:r>
                    </a:p>
                  </a:txBody>
                  <a:tcPr horzOverflow="overflow"/>
                </a:tc>
              </a:tr>
            </a:tbl>
          </a:graphicData>
        </a:graphic>
      </p:graphicFrame>
      <p:sp>
        <p:nvSpPr>
          <p:cNvPr id="3" name="TextBox3"/>
          <p:cNvSpPr txBox="1">
            <a:spLocks noChangeArrowheads="1"/>
          </p:cNvSpPr>
          <p:nvPr/>
        </p:nvSpPr>
        <p:spPr>
          <a:xfrm rot="0">
            <a:off x="508000" y="2082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24282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5" name="TextBox5"/>
          <p:cNvSpPr txBox="1">
            <a:spLocks noChangeArrowheads="1"/>
          </p:cNvSpPr>
          <p:nvPr/>
        </p:nvSpPr>
        <p:spPr>
          <a:xfrm rot="0">
            <a:off x="508000" y="277368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name="CT_Button"&gt;</a:t>
            </a:r>
          </a:p>
        </p:txBody>
      </p:sp>
      <p:sp>
        <p:nvSpPr>
          <p:cNvPr id="6" name="TextBox6"/>
          <p:cNvSpPr txBox="1">
            <a:spLocks noChangeArrowheads="1"/>
          </p:cNvSpPr>
          <p:nvPr/>
        </p:nvSpPr>
        <p:spPr>
          <a:xfrm rot="0">
            <a:off x="508000" y="311912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7" name="TextBox7"/>
          <p:cNvSpPr txBox="1">
            <a:spLocks noChangeArrowheads="1"/>
          </p:cNvSpPr>
          <p:nvPr/>
        </p:nvSpPr>
        <p:spPr>
          <a:xfrm rot="0">
            <a:off x="508000" y="346456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base="CT_ButtonRegular"&gt;</a:t>
            </a:r>
          </a:p>
        </p:txBody>
      </p:sp>
      <p:sp>
        <p:nvSpPr>
          <p:cNvPr id="8" name="TextBox8"/>
          <p:cNvSpPr txBox="1">
            <a:spLocks noChangeArrowheads="1"/>
          </p:cNvSpPr>
          <p:nvPr/>
        </p:nvSpPr>
        <p:spPr>
          <a:xfrm rot="0">
            <a:off x="508000" y="381000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ref="AG_SizeAttributes"/&gt;</a:t>
            </a:r>
          </a:p>
        </p:txBody>
      </p:sp>
      <p:sp>
        <p:nvSpPr>
          <p:cNvPr id="9" name="TextBox9"/>
          <p:cNvSpPr txBox="1">
            <a:spLocks noChangeArrowheads="1"/>
          </p:cNvSpPr>
          <p:nvPr/>
        </p:nvSpPr>
        <p:spPr>
          <a:xfrm rot="0">
            <a:off x="508000" y="415544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10" name="TextBox10"/>
          <p:cNvSpPr txBox="1">
            <a:spLocks noChangeArrowheads="1"/>
          </p:cNvSpPr>
          <p:nvPr/>
        </p:nvSpPr>
        <p:spPr>
          <a:xfrm rot="0">
            <a:off x="508000" y="450088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11" name="TextBox11"/>
          <p:cNvSpPr txBox="1">
            <a:spLocks noChangeArrowheads="1"/>
          </p:cNvSpPr>
          <p:nvPr/>
        </p:nvSpPr>
        <p:spPr>
          <a:xfrm rot="0">
            <a:off x="508000" y="484632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gallery </a:t>
            </a:r>
            <a:r>
              <a:rPr b="0" i="0" strike="noStrike" dirty="0"/>
              <a:t>control, </a:t>
            </a:r>
            <a:r>
              <a:rPr b="0" i="0" strike="noStrike" dirty="0"/>
              <a:t>which </a:t>
            </a:r>
            <a:r>
              <a:rPr b="0" i="0" strike="noStrike" dirty="0"/>
              <a:t>displays </a:t>
            </a:r>
            <a:r>
              <a:rPr b="0" i="0" strike="noStrike" dirty="0"/>
              <a:t>a </a:t>
            </a:r>
            <a:r>
              <a:rPr b="0" i="0" strike="noStrike" dirty="0"/>
              <a:t>drop-down </a:t>
            </a:r>
            <a:r>
              <a:rPr b="0" i="0" strike="noStrike" dirty="0"/>
              <a:t>grid </a:t>
            </a:r>
            <a:r>
              <a:rPr b="0" i="0" strike="noStrike" dirty="0"/>
              <a:t>of </a:t>
            </a:r>
            <a:r>
              <a:rPr b="0" i="0" strike="noStrike" dirty="0"/>
              <a:t>items </a:t>
            </a:r>
            <a:r>
              <a:rPr b="0" i="0" strike="noStrike" dirty="0"/>
              <a:t>that </a:t>
            </a:r>
            <a:r>
              <a:rPr b="0" i="0" strike="noStrike" dirty="0"/>
              <a:t>the </a:t>
            </a:r>
            <a:r>
              <a:rPr b="0" i="0" strike="noStrike" dirty="0"/>
              <a:t>user </a:t>
            </a:r>
            <a:r>
              <a:rPr b="0" i="0" strike="noStrike" dirty="0"/>
              <a:t>can </a:t>
            </a:r>
            <a:r>
              <a:rPr b="0" i="0" strike="noStrike" dirty="0"/>
              <a:t>select </a:t>
            </a:r>
            <a:r>
              <a:rPr b="0" i="0" strike="noStrike" dirty="0"/>
              <a:t>from. </a:t>
            </a:r>
            <a:r>
              <a:rPr b="0" i="0" strike="noStrike" dirty="0"/>
              <a:t>A </a:t>
            </a:r>
            <a:r>
              <a:rPr b="0" i="0" strike="noStrike" dirty="0"/>
              <a:t>gallery </a:t>
            </a:r>
            <a:r>
              <a:rPr b="0" i="0" strike="noStrike" dirty="0"/>
              <a:t>can </a:t>
            </a:r>
            <a:r>
              <a:rPr b="0" i="0" strike="noStrike" dirty="0"/>
              <a:t>optionally </a:t>
            </a:r>
            <a:r>
              <a:rPr b="0" i="0" strike="noStrike" dirty="0"/>
              <a:t>have </a:t>
            </a:r>
            <a:r>
              <a:rPr b="0" i="0" strike="noStrike" dirty="0"/>
              <a:t>buttons </a:t>
            </a:r>
            <a:r>
              <a:rPr b="0" i="0" strike="noStrike" dirty="0"/>
              <a:t>following </a:t>
            </a:r>
            <a:r>
              <a:rPr b="0" i="0" strike="noStrike" dirty="0"/>
              <a:t>its </a:t>
            </a:r>
            <a:r>
              <a:rPr b="0" i="0" strike="noStrike" dirty="0"/>
              <a:t>selection </a:t>
            </a:r>
            <a:r>
              <a:rPr b="0" i="0" strike="noStrike" dirty="0"/>
              <a:t>items.</a:t>
            </a:r>
          </a:p>
        </p:txBody>
      </p:sp>
      <p:sp>
        <p:nvSpPr>
          <p:cNvPr id="12" name="TextBox12"/>
          <p:cNvSpPr txBox="1">
            <a:spLocks noChangeArrowheads="1"/>
          </p:cNvSpPr>
          <p:nvPr/>
        </p:nvSpPr>
        <p:spPr>
          <a:xfrm rot="0">
            <a:off x="508000" y="5511800"/>
            <a:ext cx="11176000" cy="32004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a </a:t>
            </a:r>
            <a:r>
              <a:rPr b="0" i="0" strike="noStrike" dirty="0"/>
              <a:t>gallery </a:t>
            </a:r>
            <a:r>
              <a:rPr b="0" i="0" strike="noStrike" dirty="0"/>
              <a:t>control </a:t>
            </a:r>
            <a:r>
              <a:rPr b="0" i="0" strike="noStrike" dirty="0"/>
              <a:t>that </a:t>
            </a:r>
            <a:r>
              <a:rPr b="0" i="0" strike="noStrike" dirty="0"/>
              <a:t>shows </a:t>
            </a:r>
            <a:r>
              <a:rPr b="0" i="0" strike="noStrike" dirty="0"/>
              <a:t>a </a:t>
            </a:r>
            <a:r>
              <a:rPr b="0" i="0" strike="noStrike" dirty="0"/>
              <a:t>selection </a:t>
            </a:r>
            <a:r>
              <a:rPr b="0" i="0" strike="noStrike" dirty="0"/>
              <a:t>of </a:t>
            </a:r>
            <a:r>
              <a:rPr b="0" i="0" strike="noStrike" dirty="0"/>
              <a:t>pictures, </a:t>
            </a:r>
            <a:r>
              <a:rPr b="0" i="0" strike="noStrike" dirty="0"/>
              <a:t>as </a:t>
            </a:r>
            <a:r>
              <a:rPr b="0" i="0" strike="noStrike" dirty="0"/>
              <a:t>follows:</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gallery control"/>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sp>
        <p:nvSpPr>
          <p:cNvPr id="3" name="TextBox3"/>
          <p:cNvSpPr txBox="1">
            <a:spLocks noChangeArrowheads="1"/>
          </p:cNvSpPr>
          <p:nvPr/>
        </p:nvSpPr>
        <p:spPr>
          <a:xfrm rot="0">
            <a:off x="508000" y="307340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12: </a:t>
            </a:r>
            <a:r>
              <a:rPr b="1" i="0" strike="noStrike" dirty="0"/>
              <a:t>A </a:t>
            </a:r>
            <a:r>
              <a:rPr b="1" i="0" strike="noStrike" dirty="0"/>
              <a:t>gallery </a:t>
            </a:r>
            <a:r>
              <a:rPr b="1" i="0" strike="noStrike" dirty="0"/>
              <a:t>control</a:t>
            </a:r>
          </a:p>
        </p:txBody>
      </p:sp>
      <p:sp>
        <p:nvSpPr>
          <p:cNvPr id="4" name="TextBox4"/>
          <p:cNvSpPr txBox="1">
            <a:spLocks noChangeArrowheads="1"/>
          </p:cNvSpPr>
          <p:nvPr/>
        </p:nvSpPr>
        <p:spPr>
          <a:xfrm rot="0">
            <a:off x="508000" y="34188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specified </a:t>
            </a:r>
            <a:r>
              <a:rPr b="0" i="0" strike="noStrike" dirty="0"/>
              <a:t>using </a:t>
            </a:r>
            <a:r>
              <a:rPr b="0" i="0" strike="noStrike" dirty="0"/>
              <a:t>the </a:t>
            </a:r>
            <a:r>
              <a:rPr b="0" i="0" strike="noStrike" dirty="0"/>
              <a:t>following </a:t>
            </a:r>
            <a:r>
              <a:rPr b="0" i="0" strike="noStrike" dirty="0"/>
              <a:t>XML </a:t>
            </a:r>
            <a:r>
              <a:rPr b="0" i="0" strike="noStrike" dirty="0"/>
              <a:t>fragment:</a:t>
            </a:r>
          </a:p>
        </p:txBody>
      </p:sp>
      <p:sp>
        <p:nvSpPr>
          <p:cNvPr id="5" name="TextBox5"/>
          <p:cNvSpPr txBox="1">
            <a:spLocks noChangeArrowheads="1"/>
          </p:cNvSpPr>
          <p:nvPr/>
        </p:nvSpPr>
        <p:spPr>
          <a:xfrm rot="0">
            <a:off x="508000" y="3764280"/>
            <a:ext cx="11176000" cy="320040"/>
          </a:xfrm>
          <a:prstGeom prst="rect">
            <a:avLst/>
          </a:prstGeom>
          <a:ln>
            <a:headEnd type="none"/>
            <a:tailEnd type="none"/>
          </a:ln>
        </p:spPr>
        <p:txBody>
          <a:bodyPr wrap="square">
            <a:spAutoFit/>
          </a:bodyPr>
          <a:lstStyle/>
          <a:p>
            <a:pPr algn="l" defTabSz="914400"/>
            <a:r>
              <a:rPr b="0" i="0" strike="noStrike" dirty="0"/>
              <a:t>&lt;gallery </a:t>
            </a:r>
            <a:r>
              <a:rPr b="0" i="0" strike="noStrike" dirty="0"/>
              <a:t>id="gallery" </a:t>
            </a:r>
            <a:r>
              <a:rPr b="0" i="0" strike="noStrike" dirty="0"/>
              <a:t>label="Gallery" </a:t>
            </a:r>
            <a:r>
              <a:rPr b="0" i="0" strike="noStrike" dirty="0"/>
              <a:t>itemWidth="88" </a:t>
            </a:r>
            <a:r>
              <a:rPr b="0" i="0" strike="noStrike" dirty="0"/>
              <a:t>itemHeight="68" </a:t>
            </a:r>
          </a:p>
        </p:txBody>
      </p:sp>
      <p:sp>
        <p:nvSpPr>
          <p:cNvPr id="6" name="TextBox6"/>
          <p:cNvSpPr txBox="1">
            <a:spLocks noChangeArrowheads="1"/>
          </p:cNvSpPr>
          <p:nvPr/>
        </p:nvSpPr>
        <p:spPr>
          <a:xfrm rot="0">
            <a:off x="508000" y="4109720"/>
            <a:ext cx="11176000" cy="254000"/>
          </a:xfrm>
          <a:prstGeom prst="rect">
            <a:avLst/>
          </a:prstGeom>
          <a:ln>
            <a:headEnd type="none"/>
            <a:tailEnd type="none"/>
          </a:ln>
        </p:spPr>
        <p:txBody>
          <a:bodyPr wrap="square">
            <a:spAutoFit/>
          </a:bodyPr>
          <a:lstStyle/>
          <a:p>
            <a:pPr defTabSz="914400">
              <a:defRPr sz="1000" dirty="0">
                <a:latin typeface="Courier New"/>
                <a:ea typeface="Courier New"/>
                <a:cs typeface="Courier New"/>
              </a:defRPr>
            </a:pPr>
            <a:r>
              <a:rPr/>
              <a:t>     size\="large" imageMso\="HappyFace" \&gt;</a:t>
            </a:r>
          </a:p>
        </p:txBody>
      </p:sp>
      <p:sp>
        <p:nvSpPr>
          <p:cNvPr id="7" name="TextBox7"/>
          <p:cNvSpPr txBox="1">
            <a:spLocks noChangeArrowheads="1"/>
          </p:cNvSpPr>
          <p:nvPr/>
        </p:nvSpPr>
        <p:spPr>
          <a:xfrm rot="0">
            <a:off x="508000" y="4389120"/>
            <a:ext cx="11176000" cy="320040"/>
          </a:xfrm>
          <a:prstGeom prst="rect">
            <a:avLst/>
          </a:prstGeom>
          <a:ln>
            <a:headEnd type="none"/>
            <a:tailEnd type="none"/>
          </a:ln>
        </p:spPr>
        <p:txBody>
          <a:bodyPr wrap="square">
            <a:spAutoFit/>
          </a:bodyPr>
          <a:lstStyle/>
          <a:p>
            <a:pPr algn="l" defTabSz="914400"/>
            <a:r>
              <a:rPr b="0" i="0" strike="noStrike" dirty="0"/>
              <a:t>&lt;item </a:t>
            </a:r>
            <a:r>
              <a:rPr b="0" i="0" strike="noStrike" dirty="0"/>
              <a:t>id="item1" </a:t>
            </a:r>
            <a:r>
              <a:rPr b="0" i="0" strike="noStrike" dirty="0"/>
              <a:t>image="Desert" </a:t>
            </a:r>
            <a:r>
              <a:rPr b="0" i="0" strike="noStrike" dirty="0"/>
              <a:t>/&gt;</a:t>
            </a:r>
          </a:p>
        </p:txBody>
      </p:sp>
      <p:sp>
        <p:nvSpPr>
          <p:cNvPr id="8" name="TextBox8"/>
          <p:cNvSpPr txBox="1">
            <a:spLocks noChangeArrowheads="1"/>
          </p:cNvSpPr>
          <p:nvPr/>
        </p:nvSpPr>
        <p:spPr>
          <a:xfrm rot="0">
            <a:off x="508000" y="4734560"/>
            <a:ext cx="11176000" cy="320040"/>
          </a:xfrm>
          <a:prstGeom prst="rect">
            <a:avLst/>
          </a:prstGeom>
          <a:ln>
            <a:headEnd type="none"/>
            <a:tailEnd type="none"/>
          </a:ln>
        </p:spPr>
        <p:txBody>
          <a:bodyPr wrap="square">
            <a:spAutoFit/>
          </a:bodyPr>
          <a:lstStyle/>
          <a:p>
            <a:pPr algn="l" defTabSz="914400"/>
            <a:r>
              <a:rPr b="0" i="0" strike="noStrike" dirty="0"/>
              <a:t>&lt;item </a:t>
            </a:r>
            <a:r>
              <a:rPr b="0" i="0" strike="noStrike" dirty="0"/>
              <a:t>id="item2" </a:t>
            </a:r>
            <a:r>
              <a:rPr b="0" i="0" strike="noStrike" dirty="0"/>
              <a:t>image="Forest" </a:t>
            </a:r>
            <a:r>
              <a:rPr b="0" i="0" strike="noStrike" dirty="0"/>
              <a:t>/&gt;</a:t>
            </a:r>
          </a:p>
        </p:txBody>
      </p:sp>
      <p:sp>
        <p:nvSpPr>
          <p:cNvPr id="9" name="TextBox9"/>
          <p:cNvSpPr txBox="1">
            <a:spLocks noChangeArrowheads="1"/>
          </p:cNvSpPr>
          <p:nvPr/>
        </p:nvSpPr>
        <p:spPr>
          <a:xfrm rot="0">
            <a:off x="508000" y="5080000"/>
            <a:ext cx="11176000" cy="320040"/>
          </a:xfrm>
          <a:prstGeom prst="rect">
            <a:avLst/>
          </a:prstGeom>
          <a:ln>
            <a:headEnd type="none"/>
            <a:tailEnd type="none"/>
          </a:ln>
        </p:spPr>
        <p:txBody>
          <a:bodyPr wrap="square">
            <a:spAutoFit/>
          </a:bodyPr>
          <a:lstStyle/>
          <a:p>
            <a:pPr algn="l" defTabSz="914400"/>
            <a:r>
              <a:rPr b="0" i="0" strike="noStrike" dirty="0"/>
              <a:t>&lt;item </a:t>
            </a:r>
            <a:r>
              <a:rPr b="0" i="0" strike="noStrike" dirty="0"/>
              <a:t>id="item3" </a:t>
            </a:r>
            <a:r>
              <a:rPr b="0" i="0" strike="noStrike" dirty="0"/>
              <a:t>image="Toucan" </a:t>
            </a:r>
            <a:r>
              <a:rPr b="0" i="0" strike="noStrike" dirty="0"/>
              <a:t>/&gt;</a:t>
            </a:r>
          </a:p>
        </p:txBody>
      </p:sp>
      <p:sp>
        <p:nvSpPr>
          <p:cNvPr id="10" name="TextBox10"/>
          <p:cNvSpPr txBox="1">
            <a:spLocks noChangeArrowheads="1"/>
          </p:cNvSpPr>
          <p:nvPr/>
        </p:nvSpPr>
        <p:spPr>
          <a:xfrm rot="0">
            <a:off x="508000" y="5425440"/>
            <a:ext cx="11176000" cy="320040"/>
          </a:xfrm>
          <a:prstGeom prst="rect">
            <a:avLst/>
          </a:prstGeom>
          <a:ln>
            <a:headEnd type="none"/>
            <a:tailEnd type="none"/>
          </a:ln>
        </p:spPr>
        <p:txBody>
          <a:bodyPr wrap="square">
            <a:spAutoFit/>
          </a:bodyPr>
          <a:lstStyle/>
          <a:p>
            <a:pPr algn="l" defTabSz="914400"/>
            <a:r>
              <a:rPr b="0" i="0" strike="noStrike" dirty="0"/>
              <a:t>&lt;item </a:t>
            </a:r>
            <a:r>
              <a:rPr b="0" i="0" strike="noStrike" dirty="0"/>
              <a:t>id="item4" </a:t>
            </a:r>
            <a:r>
              <a:rPr b="0" i="0" strike="noStrike" dirty="0"/>
              <a:t>image="Tree" </a:t>
            </a:r>
            <a:r>
              <a:rPr b="0" i="0" strike="noStrike" dirty="0"/>
              <a:t>/&gt;</a:t>
            </a:r>
          </a:p>
        </p:txBody>
      </p:sp>
      <p:sp>
        <p:nvSpPr>
          <p:cNvPr id="11" name="TextBox11"/>
          <p:cNvSpPr txBox="1">
            <a:spLocks noChangeArrowheads="1"/>
          </p:cNvSpPr>
          <p:nvPr/>
        </p:nvSpPr>
        <p:spPr>
          <a:xfrm rot="0">
            <a:off x="508000" y="5770880"/>
            <a:ext cx="11176000" cy="320040"/>
          </a:xfrm>
          <a:prstGeom prst="rect">
            <a:avLst/>
          </a:prstGeom>
          <a:ln>
            <a:headEnd type="none"/>
            <a:tailEnd type="none"/>
          </a:ln>
        </p:spPr>
        <p:txBody>
          <a:bodyPr wrap="square">
            <a:spAutoFit/>
          </a:bodyPr>
          <a:lstStyle/>
          <a:p>
            <a:pPr algn="l" defTabSz="914400"/>
            <a:r>
              <a:rPr b="0" i="0" strike="noStrike" dirty="0"/>
              <a:t>&lt;/gallery&gt;</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name="CT_Gallery"&gt;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base="CT_GalleryRegular"&gt;</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ref="AG_SizeAttributes"/&gt;</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12" name="TextBox12"/>
          <p:cNvSpPr txBox="1">
            <a:spLocks noChangeArrowheads="1"/>
          </p:cNvSpPr>
          <p:nvPr/>
        </p:nvSpPr>
        <p:spPr>
          <a:xfrm rot="0">
            <a:off x="508000" y="3962400"/>
            <a:ext cx="11176000" cy="160020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the </a:t>
            </a:r>
            <a:r>
              <a:rPr b="0" i="0" strike="noStrike" dirty="0"/>
              <a:t>quick </a:t>
            </a:r>
            <a:r>
              <a:rPr b="0" i="0" strike="noStrike" dirty="0"/>
              <a:t>access </a:t>
            </a:r>
            <a:r>
              <a:rPr b="0" i="0" strike="noStrike" dirty="0"/>
              <a:t>toolbar. </a:t>
            </a:r>
            <a:r>
              <a:rPr b="0" i="0" strike="noStrike" dirty="0"/>
              <a:t>If </a:t>
            </a:r>
            <a:r>
              <a:rPr b="0" i="0" strike="noStrike" dirty="0"/>
              <a:t>the </a:t>
            </a:r>
            <a:r>
              <a:rPr b="0" i="0" strike="noStrike" dirty="0"/>
              <a:t>containing </a:t>
            </a:r>
            <a:r>
              <a:rPr b="0" i="0" strike="noStrike" dirty="0"/>
              <a:t>Custom </a:t>
            </a:r>
            <a:r>
              <a:rPr b="0" i="0" strike="noStrike" dirty="0"/>
              <a:t>UI </a:t>
            </a:r>
            <a:r>
              <a:rPr b="0" i="0" strike="noStrike" dirty="0"/>
              <a:t>file </a:t>
            </a:r>
            <a:r>
              <a:rPr b="0" i="0" strike="noStrike" dirty="0"/>
              <a:t>is </a:t>
            </a:r>
            <a:r>
              <a:rPr b="0" i="0" strike="noStrike" dirty="0"/>
              <a:t>a </a:t>
            </a:r>
            <a:r>
              <a:rPr b="0" i="0" strike="noStrike" dirty="0"/>
              <a:t>Ribbon </a:t>
            </a:r>
            <a:r>
              <a:rPr b="0" i="0" strike="noStrike" dirty="0"/>
              <a:t>Extensibility </a:t>
            </a:r>
            <a:r>
              <a:rPr b="0" i="0" strike="noStrike" dirty="0"/>
              <a:t>part </a:t>
            </a:r>
            <a:r>
              <a:rPr b="0" i="0" strike="noStrike" dirty="0"/>
              <a:t>the </a:t>
            </a:r>
            <a:r>
              <a:rPr b="1" i="0" strike="noStrike" dirty="0"/>
              <a:t>qat</a:t>
            </a:r>
            <a:r>
              <a:rPr b="0" i="0" strike="noStrike" dirty="0"/>
              <a:t> </a:t>
            </a:r>
            <a:r>
              <a:rPr b="0" i="0" strike="noStrike" dirty="0"/>
              <a:t>element </a:t>
            </a:r>
            <a:r>
              <a:rPr b="0" i="0" strike="noStrike" dirty="0"/>
              <a:t>cannot </a:t>
            </a:r>
            <a:r>
              <a:rPr b="0" i="0" strike="noStrike" dirty="0"/>
              <a:t>be </a:t>
            </a:r>
            <a:r>
              <a:rPr b="0" i="0" strike="noStrike" dirty="0"/>
              <a:t>used </a:t>
            </a:r>
            <a:r>
              <a:rPr b="0" i="0" strike="noStrike" dirty="0"/>
              <a:t>unless </a:t>
            </a:r>
            <a:r>
              <a:rPr b="0" i="0" strike="noStrike" dirty="0"/>
              <a:t>the </a:t>
            </a:r>
            <a:r>
              <a:rPr b="1" i="0" strike="noStrike" dirty="0"/>
              <a:t>startFromScratch</a:t>
            </a:r>
            <a:r>
              <a:rPr b="0" i="0" strike="noStrike" dirty="0"/>
              <a:t> </a:t>
            </a:r>
            <a:r>
              <a:rPr b="0" i="0" strike="noStrike" dirty="0"/>
              <a:t>attribute </a:t>
            </a:r>
            <a:r>
              <a:rPr b="0" i="0" strike="noStrike" dirty="0"/>
              <a:t>on </a:t>
            </a:r>
            <a:r>
              <a:rPr b="0" i="0" strike="noStrike" dirty="0"/>
              <a:t>the </a:t>
            </a:r>
            <a:r>
              <a:rPr b="0" i="0" strike="noStrike" dirty="0"/>
              <a:t>ribbon </a:t>
            </a:r>
            <a:r>
              <a:rPr b="0" i="0" strike="noStrike" dirty="0"/>
              <a:t>element </a:t>
            </a:r>
            <a:r>
              <a:rPr b="0" i="0" strike="noStrike" dirty="0"/>
              <a:t>is </a:t>
            </a:r>
            <a:r>
              <a:rPr b="0" i="0" strike="noStrike" dirty="0"/>
              <a:t>set </a:t>
            </a:r>
            <a:r>
              <a:rPr b="0" i="0" strike="noStrike" dirty="0"/>
              <a:t>to </a:t>
            </a:r>
            <a:r>
              <a:rPr b="0" i="0" strike="noStrike" dirty="0"/>
              <a:t>"true". </a:t>
            </a:r>
            <a:r>
              <a:rPr b="0" i="0" strike="noStrike" dirty="0"/>
              <a:t>In </a:t>
            </a:r>
            <a:r>
              <a:rPr b="0" i="0" strike="noStrike" dirty="0"/>
              <a:t>this </a:t>
            </a:r>
            <a:r>
              <a:rPr b="0" i="0" strike="noStrike" dirty="0"/>
              <a:t>case </a:t>
            </a:r>
            <a:r>
              <a:rPr b="0" i="0" strike="noStrike" dirty="0"/>
              <a:t>only </a:t>
            </a:r>
            <a:r>
              <a:rPr b="0" i="0" strike="noStrike" dirty="0"/>
              <a:t>the </a:t>
            </a:r>
            <a:r>
              <a:rPr b="1" i="0" strike="noStrike" dirty="0"/>
              <a:t>sharedControls</a:t>
            </a:r>
            <a:r>
              <a:rPr b="0" i="0" strike="noStrike" dirty="0"/>
              <a:t> </a:t>
            </a:r>
            <a:r>
              <a:rPr b="0" i="0" strike="noStrike" dirty="0"/>
              <a:t>child </a:t>
            </a:r>
            <a:r>
              <a:rPr b="0" i="0" strike="noStrike" dirty="0"/>
              <a:t>element </a:t>
            </a:r>
            <a:r>
              <a:rPr b="0" i="0" strike="noStrike" dirty="0"/>
              <a:t>SHOULD </a:t>
            </a:r>
            <a:r>
              <a:rPr b="0" i="0" strike="noStrike" dirty="0"/>
              <a:t>be </a:t>
            </a:r>
            <a:r>
              <a:rPr b="0" i="0" strike="noStrike" dirty="0"/>
              <a:t>used. </a:t>
            </a:r>
            <a:r>
              <a:rPr b="0" i="0" strike="noStrike" dirty="0"/>
              <a:t> </a:t>
            </a:r>
            <a:r>
              <a:rPr b="0" i="0" strike="noStrike" dirty="0"/>
              <a:t>If </a:t>
            </a:r>
            <a:r>
              <a:rPr b="0" i="0" strike="noStrike" dirty="0"/>
              <a:t>the </a:t>
            </a:r>
            <a:r>
              <a:rPr b="0" i="0" strike="noStrike" dirty="0"/>
              <a:t>containing </a:t>
            </a:r>
            <a:r>
              <a:rPr b="0" i="0" strike="noStrike" dirty="0"/>
              <a:t>Custom </a:t>
            </a:r>
            <a:r>
              <a:rPr b="0" i="0" strike="noStrike" dirty="0"/>
              <a:t>UI </a:t>
            </a:r>
            <a:r>
              <a:rPr b="0" i="0" strike="noStrike" dirty="0"/>
              <a:t>file </a:t>
            </a:r>
            <a:r>
              <a:rPr b="0" i="0" strike="noStrike" dirty="0"/>
              <a:t>is </a:t>
            </a:r>
            <a:r>
              <a:rPr b="0" i="0" strike="noStrike" dirty="0"/>
              <a:t>a </a:t>
            </a:r>
            <a:r>
              <a:rPr b="0" i="0" strike="noStrike" dirty="0"/>
              <a:t>Quick </a:t>
            </a:r>
            <a:r>
              <a:rPr b="0" i="0" strike="noStrike" dirty="0"/>
              <a:t>Access </a:t>
            </a:r>
            <a:r>
              <a:rPr b="0" i="0" strike="noStrike" dirty="0"/>
              <a:t>Toolbar </a:t>
            </a:r>
            <a:r>
              <a:rPr b="0" i="0" strike="noStrike" dirty="0"/>
              <a:t>Customizations </a:t>
            </a:r>
            <a:r>
              <a:rPr b="0" i="0" strike="noStrike" dirty="0"/>
              <a:t>part, </a:t>
            </a:r>
            <a:r>
              <a:rPr b="0" i="0" strike="noStrike" dirty="0"/>
              <a:t>the </a:t>
            </a:r>
            <a:r>
              <a:rPr b="1" i="0" strike="noStrike" dirty="0"/>
              <a:t>documentControls</a:t>
            </a:r>
            <a:r>
              <a:rPr b="0" i="0" strike="noStrike" dirty="0"/>
              <a:t> </a:t>
            </a:r>
            <a:r>
              <a:rPr b="0" i="0" strike="noStrike" dirty="0"/>
              <a:t>child </a:t>
            </a:r>
            <a:r>
              <a:rPr b="0" i="0" strike="noStrike" dirty="0"/>
              <a:t>element </a:t>
            </a:r>
            <a:r>
              <a:rPr b="0" i="0" strike="noStrike" dirty="0"/>
              <a:t>SHOULD </a:t>
            </a:r>
            <a:r>
              <a:rPr b="0" i="0" strike="noStrike" dirty="0"/>
              <a:t>be </a:t>
            </a:r>
            <a:r>
              <a:rPr b="0" i="0" strike="noStrike" dirty="0"/>
              <a:t>used.</a:t>
            </a:r>
          </a:p>
        </p:txBody>
      </p:sp>
      <p:sp>
        <p:nvSpPr>
          <p:cNvPr id="13" name="TextBox13"/>
          <p:cNvSpPr txBox="1">
            <a:spLocks noChangeArrowheads="1"/>
          </p:cNvSpPr>
          <p:nvPr/>
        </p:nvSpPr>
        <p:spPr>
          <a:xfrm rot="0">
            <a:off x="508000" y="5588000"/>
            <a:ext cx="11176000" cy="32004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the </a:t>
            </a:r>
            <a:r>
              <a:rPr b="0" i="0" strike="noStrike" dirty="0"/>
              <a:t>following </a:t>
            </a:r>
            <a:r>
              <a:rPr b="0" i="0" strike="noStrike" dirty="0"/>
              <a:t>controls </a:t>
            </a:r>
            <a:r>
              <a:rPr b="0" i="0" strike="noStrike" dirty="0"/>
              <a:t>on </a:t>
            </a:r>
            <a:r>
              <a:rPr b="0" i="0" strike="noStrike" dirty="0"/>
              <a:t>the </a:t>
            </a:r>
            <a:r>
              <a:rPr b="0" i="0" strike="noStrike" dirty="0"/>
              <a:t>document-specific </a:t>
            </a:r>
            <a:r>
              <a:rPr b="0" i="0" strike="noStrike" dirty="0"/>
              <a:t>quick </a:t>
            </a:r>
            <a:r>
              <a:rPr b="0" i="0" strike="noStrike" dirty="0"/>
              <a:t>access </a:t>
            </a:r>
            <a:r>
              <a:rPr b="0" i="0" strike="noStrike" dirty="0"/>
              <a:t>toolbar:</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ontrols on the quick access toolbar"/>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sp>
        <p:nvSpPr>
          <p:cNvPr id="3" name="TextBox3"/>
          <p:cNvSpPr txBox="1">
            <a:spLocks noChangeArrowheads="1"/>
          </p:cNvSpPr>
          <p:nvPr/>
        </p:nvSpPr>
        <p:spPr>
          <a:xfrm rot="0">
            <a:off x="508000" y="307340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20: </a:t>
            </a:r>
            <a:r>
              <a:rPr b="1" i="0" strike="noStrike" dirty="0"/>
              <a:t>Controls </a:t>
            </a:r>
            <a:r>
              <a:rPr b="1" i="0" strike="noStrike" dirty="0"/>
              <a:t>on </a:t>
            </a:r>
            <a:r>
              <a:rPr b="1" i="0" strike="noStrike" dirty="0"/>
              <a:t>the </a:t>
            </a:r>
            <a:r>
              <a:rPr b="1" i="0" strike="noStrike" dirty="0"/>
              <a:t>quick </a:t>
            </a:r>
            <a:r>
              <a:rPr b="1" i="0" strike="noStrike" dirty="0"/>
              <a:t>access </a:t>
            </a:r>
            <a:r>
              <a:rPr b="1" i="0" strike="noStrike" dirty="0"/>
              <a:t>toolbar</a:t>
            </a:r>
          </a:p>
        </p:txBody>
      </p:sp>
      <p:sp>
        <p:nvSpPr>
          <p:cNvPr id="4" name="TextBox4"/>
          <p:cNvSpPr txBox="1">
            <a:spLocks noChangeArrowheads="1"/>
          </p:cNvSpPr>
          <p:nvPr/>
        </p:nvSpPr>
        <p:spPr>
          <a:xfrm rot="0">
            <a:off x="508000" y="34188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specified </a:t>
            </a:r>
            <a:r>
              <a:rPr b="0" i="0" strike="noStrike" dirty="0"/>
              <a:t>using </a:t>
            </a:r>
            <a:r>
              <a:rPr b="0" i="0" strike="noStrike" dirty="0"/>
              <a:t>the </a:t>
            </a:r>
            <a:r>
              <a:rPr b="0" i="0" strike="noStrike" dirty="0"/>
              <a:t>following </a:t>
            </a:r>
            <a:r>
              <a:rPr b="0" i="0" strike="noStrike" dirty="0"/>
              <a:t>XML </a:t>
            </a:r>
            <a:r>
              <a:rPr b="0" i="0" strike="noStrike" dirty="0"/>
              <a:t>fragment:</a:t>
            </a:r>
          </a:p>
        </p:txBody>
      </p:sp>
      <p:sp>
        <p:nvSpPr>
          <p:cNvPr id="5" name="TextBox5"/>
          <p:cNvSpPr txBox="1">
            <a:spLocks noChangeArrowheads="1"/>
          </p:cNvSpPr>
          <p:nvPr/>
        </p:nvSpPr>
        <p:spPr>
          <a:xfrm rot="0">
            <a:off x="508000" y="3764280"/>
            <a:ext cx="11176000" cy="320040"/>
          </a:xfrm>
          <a:prstGeom prst="rect">
            <a:avLst/>
          </a:prstGeom>
          <a:ln>
            <a:headEnd type="none"/>
            <a:tailEnd type="none"/>
          </a:ln>
        </p:spPr>
        <p:txBody>
          <a:bodyPr wrap="square">
            <a:spAutoFit/>
          </a:bodyPr>
          <a:lstStyle/>
          <a:p>
            <a:pPr algn="l" defTabSz="914400"/>
            <a:r>
              <a:rPr b="0" i="0" strike="noStrike" dirty="0"/>
              <a:t>&lt;qat&gt;</a:t>
            </a:r>
          </a:p>
        </p:txBody>
      </p:sp>
      <p:sp>
        <p:nvSpPr>
          <p:cNvPr id="6" name="TextBox6"/>
          <p:cNvSpPr txBox="1">
            <a:spLocks noChangeArrowheads="1"/>
          </p:cNvSpPr>
          <p:nvPr/>
        </p:nvSpPr>
        <p:spPr>
          <a:xfrm rot="0">
            <a:off x="508000" y="4109720"/>
            <a:ext cx="11176000" cy="320040"/>
          </a:xfrm>
          <a:prstGeom prst="rect">
            <a:avLst/>
          </a:prstGeom>
          <a:ln>
            <a:headEnd type="none"/>
            <a:tailEnd type="none"/>
          </a:ln>
        </p:spPr>
        <p:txBody>
          <a:bodyPr wrap="square">
            <a:spAutoFit/>
          </a:bodyPr>
          <a:lstStyle/>
          <a:p>
            <a:pPr algn="l" defTabSz="914400"/>
            <a:r>
              <a:rPr b="0" i="0" strike="noStrike" dirty="0"/>
              <a:t>&lt;documentControls&gt;</a:t>
            </a:r>
          </a:p>
        </p:txBody>
      </p:sp>
      <p:sp>
        <p:nvSpPr>
          <p:cNvPr id="7" name="TextBox7"/>
          <p:cNvSpPr txBox="1">
            <a:spLocks noChangeArrowheads="1"/>
          </p:cNvSpPr>
          <p:nvPr/>
        </p:nvSpPr>
        <p:spPr>
          <a:xfrm rot="0">
            <a:off x="508000" y="4455160"/>
            <a:ext cx="11176000" cy="320040"/>
          </a:xfrm>
          <a:prstGeom prst="rect">
            <a:avLst/>
          </a:prstGeom>
          <a:ln>
            <a:headEnd type="none"/>
            <a:tailEnd type="none"/>
          </a:ln>
        </p:spPr>
        <p:txBody>
          <a:bodyPr wrap="square">
            <a:spAutoFit/>
          </a:bodyPr>
          <a:lstStyle/>
          <a:p>
            <a:pPr algn="l" defTabSz="914400"/>
            <a:r>
              <a:rPr b="0" i="0" strike="noStrike" dirty="0"/>
              <a:t>&lt;control </a:t>
            </a:r>
            <a:r>
              <a:rPr b="0" i="0" strike="noStrike" dirty="0"/>
              <a:t>idMso="CalculateNow" </a:t>
            </a:r>
            <a:r>
              <a:rPr b="0" i="0" strike="noStrike" dirty="0"/>
              <a:t>/&gt;</a:t>
            </a:r>
          </a:p>
        </p:txBody>
      </p:sp>
      <p:sp>
        <p:nvSpPr>
          <p:cNvPr id="8" name="TextBox8"/>
          <p:cNvSpPr txBox="1">
            <a:spLocks noChangeArrowheads="1"/>
          </p:cNvSpPr>
          <p:nvPr/>
        </p:nvSpPr>
        <p:spPr>
          <a:xfrm rot="0">
            <a:off x="508000" y="4800600"/>
            <a:ext cx="11176000" cy="320040"/>
          </a:xfrm>
          <a:prstGeom prst="rect">
            <a:avLst/>
          </a:prstGeom>
          <a:ln>
            <a:headEnd type="none"/>
            <a:tailEnd type="none"/>
          </a:ln>
        </p:spPr>
        <p:txBody>
          <a:bodyPr wrap="square">
            <a:spAutoFit/>
          </a:bodyPr>
          <a:lstStyle/>
          <a:p>
            <a:pPr algn="l" defTabSz="914400"/>
            <a:r>
              <a:rPr b="0" i="0" strike="noStrike" dirty="0"/>
              <a:t>&lt;control </a:t>
            </a:r>
            <a:r>
              <a:rPr b="0" i="0" strike="noStrike" dirty="0"/>
              <a:t>idMso="HyperlinkInsert" </a:t>
            </a:r>
            <a:r>
              <a:rPr b="0" i="0" strike="noStrike" dirty="0"/>
              <a:t>/&gt;</a:t>
            </a:r>
          </a:p>
        </p:txBody>
      </p:sp>
      <p:sp>
        <p:nvSpPr>
          <p:cNvPr id="9" name="TextBox9"/>
          <p:cNvSpPr txBox="1">
            <a:spLocks noChangeArrowheads="1"/>
          </p:cNvSpPr>
          <p:nvPr/>
        </p:nvSpPr>
        <p:spPr>
          <a:xfrm rot="0">
            <a:off x="508000" y="5146040"/>
            <a:ext cx="11176000" cy="320040"/>
          </a:xfrm>
          <a:prstGeom prst="rect">
            <a:avLst/>
          </a:prstGeom>
          <a:ln>
            <a:headEnd type="none"/>
            <a:tailEnd type="none"/>
          </a:ln>
        </p:spPr>
        <p:txBody>
          <a:bodyPr wrap="square">
            <a:spAutoFit/>
          </a:bodyPr>
          <a:lstStyle/>
          <a:p>
            <a:pPr algn="l" defTabSz="914400"/>
            <a:r>
              <a:rPr b="0" i="0" strike="noStrike" dirty="0"/>
              <a:t>&lt;/documentControls&gt;</a:t>
            </a:r>
          </a:p>
        </p:txBody>
      </p:sp>
      <p:sp>
        <p:nvSpPr>
          <p:cNvPr id="10" name="TextBox10"/>
          <p:cNvSpPr txBox="1">
            <a:spLocks noChangeArrowheads="1"/>
          </p:cNvSpPr>
          <p:nvPr/>
        </p:nvSpPr>
        <p:spPr>
          <a:xfrm rot="0">
            <a:off x="508000" y="5491480"/>
            <a:ext cx="11176000" cy="320040"/>
          </a:xfrm>
          <a:prstGeom prst="rect">
            <a:avLst/>
          </a:prstGeom>
          <a:ln>
            <a:headEnd type="none"/>
            <a:tailEnd type="none"/>
          </a:ln>
        </p:spPr>
        <p:txBody>
          <a:bodyPr wrap="square">
            <a:spAutoFit/>
          </a:bodyPr>
          <a:lstStyle/>
          <a:p>
            <a:pPr algn="l" defTabSz="914400"/>
            <a:r>
              <a:rPr b="0" i="0" strike="noStrike" dirty="0"/>
              <a:t>&lt;/qat&gt;</a:t>
            </a:r>
          </a:p>
        </p:txBody>
      </p:sp>
      <p:sp>
        <p:nvSpPr>
          <p:cNvPr id="11" name="TextBox11"/>
          <p:cNvSpPr txBox="1">
            <a:spLocks noChangeArrowheads="1"/>
          </p:cNvSpPr>
          <p:nvPr/>
        </p:nvSpPr>
        <p:spPr>
          <a:xfrm rot="0">
            <a:off x="508000" y="58369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ribbon</a:t>
                      </a:r>
                    </a:p>
                    <a:p>
                      <a:pPr defTabSz="914400"/>
                      <a:r>
                        <a:rPr b="0" i="0" strike="noStrike" dirty="0"/>
                        <a:t> (section </a:t>
                      </a:r>
                      <a:endParaRPr b="1" i="0" strike="noStrike" dirty="0"/>
                    </a:p>
                    <a:p>
                      <a:pPr defTabSz="914400"/>
                      <a:r>
                        <a:rPr/>
                        <a:t>2.2.33</a:t>
                      </a:r>
                      <a:endParaRPr b="1" i="0" strike="noStrike" dirty="0"/>
                    </a:p>
                    <a:p>
                      <a:pPr defTabSz="914400"/>
                      <a:r>
                        <a:rPr b="0" i="0" strike="noStrike" dirty="0"/>
                        <a:t>)</a:t>
                      </a:r>
                      <a:endParaRPr b="1" i="0" strike="noStrike" dirty="0"/>
                    </a:p>
                  </a:txBody>
                  <a:tcPr horzOverflow="overflow"/>
                </a:tc>
              </a:tr>
            </a:tbl>
          </a:graphicData>
        </a:graphic>
      </p:graphicFrame>
      <p:sp>
        <p:nvSpPr>
          <p:cNvPr id="3" name="TextBox3"/>
          <p:cNvSpPr txBox="1">
            <a:spLocks noChangeArrowheads="1"/>
          </p:cNvSpPr>
          <p:nvPr/>
        </p:nvSpPr>
        <p:spPr>
          <a:xfrm rot="0">
            <a:off x="508000" y="1574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4" name="Table 4"/>
          <p:cNvGraphicFramePr/>
          <p:nvPr/>
        </p:nvGraphicFramePr>
        <p:xfrm rot="0">
          <a:off x="508000" y="1920240"/>
          <a:ext cx="11176000" cy="203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762000">
                <a:tc>
                  <a:txBody>
                    <a:bodyPr/>
                    <a:lstStyle/>
                    <a:p>
                      <a:pPr algn="l" defTabSz="914400"/>
                      <a:r>
                        <a:rPr b="1" i="0" strike="noStrike" dirty="0"/>
                        <a:t>documentControls</a:t>
                      </a:r>
                    </a:p>
                    <a:p>
                      <a:pPr defTabSz="914400"/>
                      <a:r>
                        <a:rPr b="0" i="0" strike="noStrike" dirty="0"/>
                        <a:t> (List of Document-Specific Quick Access Toolbar Controls)</a:t>
                      </a:r>
                      <a:endParaRPr b="1" i="0" strike="noStrike" dirty="0"/>
                    </a:p>
                  </a:txBody>
                  <a:tcPr horzOverflow="overflow"/>
                </a:tc>
                <a:tc>
                  <a:txBody>
                    <a:bodyPr/>
                    <a:lstStyle/>
                    <a:p>
                      <a:pPr algn="l" defTabSz="914400"/>
                      <a:r>
                        <a:rPr/>
                        <a:t>2.2.16</a:t>
                      </a:r>
                    </a:p>
                  </a:txBody>
                  <a:tcPr horzOverflow="overflow"/>
                </a:tc>
              </a:tr>
              <a:tr h="762000">
                <a:tc>
                  <a:txBody>
                    <a:bodyPr/>
                    <a:lstStyle/>
                    <a:p>
                      <a:pPr algn="l" defTabSz="914400"/>
                      <a:r>
                        <a:rPr b="1" i="0" strike="noStrike" dirty="0"/>
                        <a:t>sharedControls</a:t>
                      </a:r>
                    </a:p>
                    <a:p>
                      <a:pPr defTabSz="914400"/>
                      <a:r>
                        <a:rPr b="0" i="0" strike="noStrike" dirty="0"/>
                        <a:t> (List of Shared Quick Access Toolbar Controls)</a:t>
                      </a:r>
                      <a:endParaRPr b="1" i="0" strike="noStrike" dirty="0"/>
                    </a:p>
                  </a:txBody>
                  <a:tcPr horzOverflow="overflow"/>
                </a:tc>
                <a:tc>
                  <a:txBody>
                    <a:bodyPr/>
                    <a:lstStyle/>
                    <a:p>
                      <a:pPr algn="l" defTabSz="914400"/>
                      <a:r>
                        <a:rPr/>
                        <a:t>2.2.35</a:t>
                      </a:r>
                    </a:p>
                  </a:txBody>
                  <a:tcPr horzOverflow="overflow"/>
                </a:tc>
              </a:tr>
            </a:tbl>
          </a:graphicData>
        </a:graphic>
      </p:graphicFrame>
      <p:sp>
        <p:nvSpPr>
          <p:cNvPr id="5" name="TextBox5"/>
          <p:cNvSpPr txBox="1">
            <a:spLocks noChangeArrowheads="1"/>
          </p:cNvSpPr>
          <p:nvPr/>
        </p:nvSpPr>
        <p:spPr>
          <a:xfrm rot="0">
            <a:off x="508000" y="40030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6" name="TextBox6"/>
          <p:cNvSpPr txBox="1">
            <a:spLocks noChangeArrowheads="1"/>
          </p:cNvSpPr>
          <p:nvPr/>
        </p:nvSpPr>
        <p:spPr>
          <a:xfrm rot="0">
            <a:off x="508000" y="434848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name="CT_Qat"&gt;</a:t>
            </a:r>
          </a:p>
        </p:txBody>
      </p:sp>
      <p:sp>
        <p:nvSpPr>
          <p:cNvPr id="7" name="TextBox7"/>
          <p:cNvSpPr txBox="1">
            <a:spLocks noChangeArrowheads="1"/>
          </p:cNvSpPr>
          <p:nvPr/>
        </p:nvSpPr>
        <p:spPr>
          <a:xfrm rot="0">
            <a:off x="508000" y="469392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8" name="TextBox8"/>
          <p:cNvSpPr txBox="1">
            <a:spLocks noChangeArrowheads="1"/>
          </p:cNvSpPr>
          <p:nvPr/>
        </p:nvSpPr>
        <p:spPr>
          <a:xfrm rot="0">
            <a:off x="508000" y="503936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name="sharedControls" </a:t>
            </a:r>
            <a:r>
              <a:rPr b="0" i="0" strike="noStrike" dirty="0"/>
              <a:t>type="CT_QatItems" </a:t>
            </a:r>
            <a:r>
              <a:rPr b="0" i="0" strike="noStrike" dirty="0"/>
              <a:t>minOccurs="0"/&gt;</a:t>
            </a:r>
          </a:p>
        </p:txBody>
      </p:sp>
      <p:sp>
        <p:nvSpPr>
          <p:cNvPr id="9" name="TextBox9"/>
          <p:cNvSpPr txBox="1">
            <a:spLocks noChangeArrowheads="1"/>
          </p:cNvSpPr>
          <p:nvPr/>
        </p:nvSpPr>
        <p:spPr>
          <a:xfrm rot="0">
            <a:off x="508000" y="538480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name="documentControls" </a:t>
            </a:r>
            <a:r>
              <a:rPr b="0" i="0" strike="noStrike" dirty="0"/>
              <a:t>type="CT_QatItems" </a:t>
            </a:r>
            <a:r>
              <a:rPr b="0" i="0" strike="noStrike" dirty="0"/>
              <a:t>minOccurs="0"/&gt;</a:t>
            </a:r>
          </a:p>
        </p:txBody>
      </p:sp>
      <p:sp>
        <p:nvSpPr>
          <p:cNvPr id="10" name="TextBox10"/>
          <p:cNvSpPr txBox="1">
            <a:spLocks noChangeArrowheads="1"/>
          </p:cNvSpPr>
          <p:nvPr/>
        </p:nvSpPr>
        <p:spPr>
          <a:xfrm rot="0">
            <a:off x="508000" y="573024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3" name="TextBox3"/>
          <p:cNvSpPr txBox="1">
            <a:spLocks noChangeArrowheads="1"/>
          </p:cNvSpPr>
          <p:nvPr/>
        </p:nvSpPr>
        <p:spPr>
          <a:xfrm rot="0">
            <a:off x="508000" y="853440"/>
            <a:ext cx="11176000" cy="426720"/>
          </a:xfrm>
          <a:prstGeom prst="rect">
            <a:avLst/>
          </a:prstGeom>
          <a:ln>
            <a:headEnd type="none"/>
            <a:tailEnd type="none"/>
          </a:ln>
        </p:spPr>
        <p:txBody>
          <a:bodyPr wrap="square">
            <a:spAutoFit/>
          </a:bodyPr>
          <a:lstStyle/>
          <a:p>
            <a:pPr algn="l" defTabSz="914400">
              <a:defRPr sz="2400" b="1" dirty="0"/>
            </a:pPr>
            <a:r>
              <a:rPr b="1" i="0" strike="noStrike" dirty="0"/>
              <a:t>ribbon </a:t>
            </a:r>
            <a:r>
              <a:rPr b="1" i="0" strike="noStrike" dirty="0"/>
              <a:t>(Ribbon) </a:t>
            </a:r>
            <a:r>
              <a:rPr b="1" i="0" strike="noStrike" dirty="0"/>
              <a:t>XE </a:t>
            </a:r>
            <a:r>
              <a:rPr b="1" i="0" strike="noStrike" dirty="0"/>
              <a:t>"Elements:ribbon </a:t>
            </a:r>
            <a:r>
              <a:rPr b="1" i="0" strike="noStrike" dirty="0"/>
              <a:t>(ribbon)"</a:t>
            </a:r>
          </a:p>
        </p:txBody>
      </p:sp>
      <p:sp>
        <p:nvSpPr>
          <p:cNvPr id="4" name="TextBox4"/>
          <p:cNvSpPr txBox="1">
            <a:spLocks noChangeArrowheads="1"/>
          </p:cNvSpPr>
          <p:nvPr/>
        </p:nvSpPr>
        <p:spPr>
          <a:xfrm rot="0">
            <a:off x="508000" y="130556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is </a:t>
            </a:r>
            <a:r>
              <a:rPr b="0" i="0" strike="noStrike" dirty="0"/>
              <a:t>used </a:t>
            </a:r>
            <a:r>
              <a:rPr b="0" i="0" strike="noStrike" dirty="0"/>
              <a:t>to </a:t>
            </a:r>
            <a:r>
              <a:rPr b="0" i="0" strike="noStrike" dirty="0"/>
              <a:t>reference </a:t>
            </a:r>
            <a:r>
              <a:rPr b="0" i="0" strike="noStrike" dirty="0"/>
              <a:t>the </a:t>
            </a:r>
            <a:r>
              <a:rPr b="0" i="0" strike="noStrike" dirty="0"/>
              <a:t>Ribbon </a:t>
            </a:r>
            <a:r>
              <a:rPr b="0" i="0" strike="noStrike" dirty="0"/>
              <a:t>of </a:t>
            </a:r>
            <a:r>
              <a:rPr b="0" i="0" strike="noStrike" dirty="0"/>
              <a:t>the </a:t>
            </a:r>
            <a:r>
              <a:rPr b="0" i="0" strike="noStrike" dirty="0"/>
              <a:t>application </a:t>
            </a:r>
            <a:r>
              <a:rPr b="0" i="0" strike="noStrike" dirty="0"/>
              <a:t>and </a:t>
            </a:r>
            <a:r>
              <a:rPr b="0" i="0" strike="noStrike" dirty="0"/>
              <a:t>its </a:t>
            </a:r>
            <a:r>
              <a:rPr b="0" i="0" strike="noStrike" dirty="0"/>
              <a:t>contents.</a:t>
            </a:r>
          </a:p>
        </p:txBody>
      </p:sp>
      <p:sp>
        <p:nvSpPr>
          <p:cNvPr id="5" name="TextBox5"/>
          <p:cNvSpPr txBox="1">
            <a:spLocks noChangeArrowheads="1"/>
          </p:cNvSpPr>
          <p:nvPr/>
        </p:nvSpPr>
        <p:spPr>
          <a:xfrm rot="0">
            <a:off x="508000" y="1651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6" name="Table 6"/>
          <p:cNvGraphicFramePr/>
          <p:nvPr/>
        </p:nvGraphicFramePr>
        <p:xfrm rot="0">
          <a:off x="508000" y="199644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customUI</a:t>
                      </a:r>
                    </a:p>
                    <a:p>
                      <a:pPr defTabSz="914400"/>
                      <a:r>
                        <a:rPr b="0" i="0" strike="noStrike" dirty="0"/>
                        <a:t> (section </a:t>
                      </a:r>
                      <a:endParaRPr b="1" i="0" strike="noStrike" dirty="0"/>
                    </a:p>
                    <a:p>
                      <a:pPr defTabSz="914400"/>
                      <a:r>
                        <a:rPr/>
                        <a:t>2.2.14</a:t>
                      </a:r>
                      <a:endParaRPr b="1" i="0" strike="noStrike" dirty="0"/>
                    </a:p>
                    <a:p>
                      <a:pPr defTabSz="914400"/>
                      <a:r>
                        <a:rPr b="0" i="0" strike="noStrike" dirty="0"/>
                        <a:t>)</a:t>
                      </a:r>
                      <a:endParaRPr b="1" i="0" strike="noStrike" dirty="0"/>
                    </a:p>
                  </a:txBody>
                  <a:tcPr horzOverflow="overflow"/>
                </a:tc>
              </a:tr>
            </a:tbl>
          </a:graphicData>
        </a:graphic>
      </p:graphicFrame>
      <p:sp>
        <p:nvSpPr>
          <p:cNvPr id="7" name="TextBox7"/>
          <p:cNvSpPr txBox="1">
            <a:spLocks noChangeArrowheads="1"/>
          </p:cNvSpPr>
          <p:nvPr/>
        </p:nvSpPr>
        <p:spPr>
          <a:xfrm rot="0">
            <a:off x="508000" y="30632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8" name="Table 8"/>
          <p:cNvGraphicFramePr/>
          <p:nvPr/>
        </p:nvGraphicFramePr>
        <p:xfrm rot="0">
          <a:off x="508000" y="3408680"/>
          <a:ext cx="11176000" cy="254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contextualTabs</a:t>
                      </a:r>
                    </a:p>
                    <a:p>
                      <a:pPr defTabSz="914400"/>
                      <a:r>
                        <a:rPr b="0" i="0" strike="noStrike" dirty="0"/>
                        <a:t> (List of Contextual Tab Sets)</a:t>
                      </a:r>
                      <a:endParaRPr b="1" i="0" strike="noStrike" dirty="0"/>
                    </a:p>
                  </a:txBody>
                  <a:tcPr horzOverflow="overflow"/>
                </a:tc>
                <a:tc>
                  <a:txBody>
                    <a:bodyPr/>
                    <a:lstStyle/>
                    <a:p>
                      <a:pPr algn="l" defTabSz="914400"/>
                      <a:r>
                        <a:rPr/>
                        <a:t>2.2.10</a:t>
                      </a:r>
                    </a:p>
                  </a:txBody>
                  <a:tcPr horzOverflow="overflow"/>
                </a:tc>
              </a:tr>
              <a:tr h="508000">
                <a:tc>
                  <a:txBody>
                    <a:bodyPr/>
                    <a:lstStyle/>
                    <a:p>
                      <a:pPr algn="l" defTabSz="914400"/>
                      <a:r>
                        <a:rPr b="1" i="0" strike="noStrike" dirty="0"/>
                        <a:t>officeMenu</a:t>
                      </a:r>
                    </a:p>
                    <a:p>
                      <a:pPr defTabSz="914400"/>
                      <a:r>
                        <a:rPr b="0" i="0" strike="noStrike" dirty="0"/>
                        <a:t> (Office Menu)</a:t>
                      </a:r>
                      <a:endParaRPr b="1" i="0" strike="noStrike" dirty="0"/>
                    </a:p>
                  </a:txBody>
                  <a:tcPr horzOverflow="overflow"/>
                </a:tc>
                <a:tc>
                  <a:txBody>
                    <a:bodyPr/>
                    <a:lstStyle/>
                    <a:p>
                      <a:pPr algn="l" defTabSz="914400"/>
                      <a:r>
                        <a:rPr/>
                        <a:t>2.2.31</a:t>
                      </a:r>
                    </a:p>
                  </a:txBody>
                  <a:tcPr horzOverflow="overflow"/>
                </a:tc>
              </a:tr>
              <a:tr h="508000">
                <a:tc>
                  <a:txBody>
                    <a:bodyPr/>
                    <a:lstStyle/>
                    <a:p>
                      <a:pPr algn="l" defTabSz="914400"/>
                      <a:r>
                        <a:rPr b="1" i="0" strike="noStrike" dirty="0"/>
                        <a:t>qat</a:t>
                      </a:r>
                    </a:p>
                    <a:p>
                      <a:pPr defTabSz="914400"/>
                      <a:r>
                        <a:rPr b="0" i="0" strike="noStrike" dirty="0"/>
                        <a:t> (Quick Access Toolbar)</a:t>
                      </a:r>
                      <a:endParaRPr b="1" i="0" strike="noStrike" dirty="0"/>
                    </a:p>
                  </a:txBody>
                  <a:tcPr horzOverflow="overflow"/>
                </a:tc>
                <a:tc>
                  <a:txBody>
                    <a:bodyPr/>
                    <a:lstStyle/>
                    <a:p>
                      <a:pPr algn="l" defTabSz="914400"/>
                      <a:r>
                        <a:rPr/>
                        <a:t>2.2.32</a:t>
                      </a:r>
                    </a:p>
                  </a:txBody>
                  <a:tcPr horzOverflow="overflow"/>
                </a:tc>
              </a:tr>
              <a:tr h="508000">
                <a:tc>
                  <a:txBody>
                    <a:bodyPr/>
                    <a:lstStyle/>
                    <a:p>
                      <a:pPr algn="l" defTabSz="914400"/>
                      <a:r>
                        <a:rPr b="1" i="0" strike="noStrike" dirty="0"/>
                        <a:t>tabs</a:t>
                      </a:r>
                    </a:p>
                    <a:p>
                      <a:pPr defTabSz="914400"/>
                      <a:r>
                        <a:rPr b="0" i="0" strike="noStrike" dirty="0"/>
                        <a:t> (List of Tabs)</a:t>
                      </a:r>
                      <a:endParaRPr b="1" i="0" strike="noStrike" dirty="0"/>
                    </a:p>
                  </a:txBody>
                  <a:tcPr horzOverflow="overflow"/>
                </a:tc>
                <a:tc>
                  <a:txBody>
                    <a:bodyPr/>
                    <a:lstStyle/>
                    <a:p>
                      <a:pPr algn="l" defTabSz="914400"/>
                      <a:r>
                        <a:rPr/>
                        <a:t>2.2.40</a:t>
                      </a:r>
                    </a:p>
                  </a:txBody>
                  <a:tcPr horzOverflow="overflow"/>
                </a:tc>
              </a:tr>
            </a:tbl>
          </a:graphicData>
        </a:graphic>
      </p:graphicFrame>
      <p:sp>
        <p:nvSpPr>
          <p:cNvPr id="9" name="TextBox9"/>
          <p:cNvSpPr txBox="1">
            <a:spLocks noChangeArrowheads="1"/>
          </p:cNvSpPr>
          <p:nvPr/>
        </p:nvSpPr>
        <p:spPr>
          <a:xfrm rot="0">
            <a:off x="508000" y="599948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startFromScratch</a:t>
                      </a:r>
                    </a:p>
                    <a:p>
                      <a:pPr defTabSz="914400"/>
                      <a:r>
                        <a:rPr b="0" i="0" strike="noStrike" dirty="0"/>
                        <a:t> (start from scratch)</a:t>
                      </a:r>
                      <a:endParaRPr b="1" i="0" strike="noStrike" dirty="0"/>
                    </a:p>
                  </a:txBody>
                  <a:tcPr horzOverflow="overflow"/>
                </a:tc>
                <a:tc>
                  <a:txBody>
                    <a:bodyPr/>
                    <a:lstStyle/>
                    <a:p>
                      <a:pPr algn="l" defTabSz="914400"/>
                      <a:r>
                        <a:rPr b="0" i="0" strike="noStrike" dirty="0"/>
                        <a:t>Specifies that the application's built-in ribbon UI is reduced to a minimal set of features, providing a clean slate on which to build custom UI. If this attribute is omitted, its value SHOULD default to "false". For example, consider the following XML fragment:  &lt;ribbon startFromScratch="true"&gt;   … &lt;/ribbon&gt; In this example, the application's ribbon is put into start from scratch mode. The possible values for this attribute are defined by the XML schema </a:t>
                      </a:r>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name="CT_Ribbon"&gt;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&lt;xsd:all&gt;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name="officeMenu" </a:t>
            </a:r>
            <a:r>
              <a:rPr b="0" i="0" strike="noStrike" dirty="0"/>
              <a:t>type="CT_OfficeMenu" </a:t>
            </a:r>
            <a:r>
              <a:rPr b="0" i="0" strike="noStrike" dirty="0"/>
              <a:t>minOccurs="0" </a:t>
            </a:r>
            <a:r>
              <a:rPr b="0" i="0" strike="noStrike" dirty="0"/>
              <a:t>maxOccurs="1"/&gt;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name="qat" </a:t>
            </a:r>
            <a:r>
              <a:rPr b="0" i="0" strike="noStrike" dirty="0"/>
              <a:t>type="CT_Qat" </a:t>
            </a:r>
            <a:r>
              <a:rPr b="0" i="0" strike="noStrike" dirty="0"/>
              <a:t>minOccurs="0" </a:t>
            </a:r>
            <a:r>
              <a:rPr b="0" i="0" strike="noStrike" dirty="0"/>
              <a:t>maxOccurs="1"&gt;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&lt;xsd:unique </a:t>
            </a:r>
            <a:r>
              <a:rPr b="0" i="0" strike="noStrike" dirty="0"/>
              <a:t>name="qatControls"&gt;</a:t>
            </a:r>
          </a:p>
        </p:txBody>
      </p:sp>
      <p:sp>
        <p:nvSpPr>
          <p:cNvPr id="9" name="TextBox9"/>
          <p:cNvSpPr txBox="1">
            <a:spLocks noChangeArrowheads="1"/>
          </p:cNvSpPr>
          <p:nvPr/>
        </p:nvSpPr>
        <p:spPr>
          <a:xfrm rot="0">
            <a:off x="508000" y="5679440"/>
            <a:ext cx="11176000" cy="320040"/>
          </a:xfrm>
          <a:prstGeom prst="rect">
            <a:avLst/>
          </a:prstGeom>
          <a:ln>
            <a:headEnd type="none"/>
            <a:tailEnd type="none"/>
          </a:ln>
        </p:spPr>
        <p:txBody>
          <a:bodyPr wrap="square">
            <a:spAutoFit/>
          </a:bodyPr>
          <a:lstStyle/>
          <a:p>
            <a:pPr algn="l" defTabSz="914400"/>
            <a:r>
              <a:rPr b="0" i="0" strike="noStrike" dirty="0"/>
              <a:t>&lt;xsd:selector </a:t>
            </a:r>
            <a:r>
              <a:rPr b="0" i="0" strike="noStrike" dirty="0"/>
              <a:t>xpath="*/*"/&gt;</a:t>
            </a:r>
          </a:p>
        </p:txBody>
      </p:sp>
      <p:sp>
        <p:nvSpPr>
          <p:cNvPr id="10" name="TextBox10"/>
          <p:cNvSpPr txBox="1">
            <a:spLocks noChangeArrowheads="1"/>
          </p:cNvSpPr>
          <p:nvPr/>
        </p:nvSpPr>
        <p:spPr>
          <a:xfrm rot="0">
            <a:off x="508000" y="6024880"/>
            <a:ext cx="11176000" cy="320040"/>
          </a:xfrm>
          <a:prstGeom prst="rect">
            <a:avLst/>
          </a:prstGeom>
          <a:ln>
            <a:headEnd type="none"/>
            <a:tailEnd type="none"/>
          </a:ln>
        </p:spPr>
        <p:txBody>
          <a:bodyPr wrap="square">
            <a:spAutoFit/>
          </a:bodyPr>
          <a:lstStyle/>
          <a:p>
            <a:pPr algn="l" defTabSz="914400"/>
            <a:r>
              <a:rPr b="0" i="0" strike="noStrike" dirty="0"/>
              <a:t>&lt;xsd:field </a:t>
            </a:r>
            <a:r>
              <a:rPr b="0" i="0" strike="noStrike" dirty="0"/>
              <a:t>xpath="@id"/&gt;</a:t>
            </a: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&lt;/xsd:unique&gt;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&lt;/xsd:element&gt;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name="tabs" </a:t>
            </a:r>
            <a:r>
              <a:rPr b="0" i="0" strike="noStrike" dirty="0"/>
              <a:t>type="CT_Tabs" </a:t>
            </a:r>
            <a:r>
              <a:rPr b="0" i="0" strike="noStrike" dirty="0"/>
              <a:t>minOccurs="0" </a:t>
            </a:r>
            <a:r>
              <a:rPr b="0" i="0" strike="noStrike" dirty="0"/>
              <a:t>maxOccurs="1"/&gt;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name="contextualTabs" </a:t>
            </a:r>
            <a:r>
              <a:rPr b="0" i="0" strike="noStrike" dirty="0"/>
              <a:t>type="CT_ContextualTabs" </a:t>
            </a:r>
            <a:r>
              <a:rPr b="0" i="0" strike="noStrike" dirty="0"/>
              <a:t>minOccurs="0" </a:t>
            </a:r>
            <a:r>
              <a:rPr b="0" i="0" strike="noStrike" dirty="0"/>
              <a:t>maxOccurs="1"/&gt;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&lt;/xsd:all&gt;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&lt;xsd:attribute </a:t>
            </a:r>
            <a:r>
              <a:rPr b="0" i="0" strike="noStrike" dirty="0"/>
              <a:t>name="startFromScratch" </a:t>
            </a:r>
            <a:r>
              <a:rPr b="0" i="0" strike="noStrike" dirty="0"/>
              <a:t>type="xsd:boolean" </a:t>
            </a:r>
            <a:r>
              <a:rPr b="0" i="0" strike="noStrike" dirty="0"/>
              <a:t>use="optional"/&gt;</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9" name="TextBox9"/>
          <p:cNvSpPr txBox="1">
            <a:spLocks noChangeArrowheads="1"/>
          </p:cNvSpPr>
          <p:nvPr/>
        </p:nvSpPr>
        <p:spPr>
          <a:xfrm rot="0">
            <a:off x="508000" y="2926080"/>
            <a:ext cx="11176000" cy="426720"/>
          </a:xfrm>
          <a:prstGeom prst="rect">
            <a:avLst/>
          </a:prstGeom>
          <a:ln>
            <a:headEnd type="none"/>
            <a:tailEnd type="none"/>
          </a:ln>
        </p:spPr>
        <p:txBody>
          <a:bodyPr wrap="square">
            <a:spAutoFit/>
          </a:bodyPr>
          <a:lstStyle/>
          <a:p>
            <a:pPr algn="l" defTabSz="914400">
              <a:defRPr sz="2400" b="1" dirty="0"/>
            </a:pPr>
            <a:r>
              <a:rPr b="1" i="0" strike="noStrike" dirty="0"/>
              <a:t>separator </a:t>
            </a:r>
            <a:r>
              <a:rPr b="1" i="0" strike="noStrike" dirty="0"/>
              <a:t>(Separator) </a:t>
            </a:r>
            <a:r>
              <a:rPr b="1" i="0" strike="noStrike" dirty="0"/>
              <a:t>XE </a:t>
            </a:r>
            <a:r>
              <a:rPr b="1" i="0" strike="noStrike" dirty="0"/>
              <a:t>"Elements:separator </a:t>
            </a:r>
            <a:r>
              <a:rPr b="1" i="0" strike="noStrike" dirty="0"/>
              <a:t>(separator)"</a:t>
            </a:r>
          </a:p>
        </p:txBody>
      </p:sp>
      <p:sp>
        <p:nvSpPr>
          <p:cNvPr id="10" name="TextBox10"/>
          <p:cNvSpPr txBox="1">
            <a:spLocks noChangeArrowheads="1"/>
          </p:cNvSpPr>
          <p:nvPr/>
        </p:nvSpPr>
        <p:spPr>
          <a:xfrm rot="0">
            <a:off x="508000" y="337820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vertical </a:t>
            </a:r>
            <a:r>
              <a:rPr b="0" i="0" strike="noStrike" dirty="0"/>
              <a:t>separator </a:t>
            </a:r>
            <a:r>
              <a:rPr b="0" i="0" strike="noStrike" dirty="0"/>
              <a:t>line </a:t>
            </a:r>
            <a:r>
              <a:rPr b="0" i="0" strike="noStrike" dirty="0"/>
              <a:t>between </a:t>
            </a:r>
            <a:r>
              <a:rPr b="0" i="0" strike="noStrike" dirty="0"/>
              <a:t>two </a:t>
            </a:r>
            <a:r>
              <a:rPr b="0" i="0" strike="noStrike" dirty="0"/>
              <a:t>sets </a:t>
            </a:r>
            <a:r>
              <a:rPr b="0" i="0" strike="noStrike" dirty="0"/>
              <a:t>of </a:t>
            </a:r>
            <a:r>
              <a:rPr b="0" i="0" strike="noStrike" dirty="0"/>
              <a:t>controls, </a:t>
            </a:r>
            <a:r>
              <a:rPr b="0" i="0" strike="noStrike" dirty="0"/>
              <a:t>either </a:t>
            </a:r>
            <a:r>
              <a:rPr b="0" i="0" strike="noStrike" dirty="0"/>
              <a:t>in </a:t>
            </a:r>
            <a:r>
              <a:rPr b="0" i="0" strike="noStrike" dirty="0"/>
              <a:t>the </a:t>
            </a:r>
            <a:r>
              <a:rPr b="0" i="0" strike="noStrike" dirty="0"/>
              <a:t>Quick </a:t>
            </a:r>
            <a:r>
              <a:rPr b="0" i="0" strike="noStrike" dirty="0"/>
              <a:t>Access </a:t>
            </a:r>
            <a:r>
              <a:rPr b="0" i="0" strike="noStrike" dirty="0"/>
              <a:t>Toolbar </a:t>
            </a:r>
            <a:r>
              <a:rPr b="0" i="0" strike="noStrike" dirty="0"/>
              <a:t>or </a:t>
            </a:r>
            <a:r>
              <a:rPr b="0" i="0" strike="noStrike" dirty="0"/>
              <a:t>within </a:t>
            </a:r>
            <a:r>
              <a:rPr b="1" i="0" strike="noStrike" dirty="0"/>
              <a:t>group</a:t>
            </a:r>
            <a:r>
              <a:rPr b="0" i="0" strike="noStrike" dirty="0"/>
              <a:t> </a:t>
            </a:r>
            <a:r>
              <a:rPr b="0" i="0" strike="noStrike" dirty="0"/>
              <a:t>elements.</a:t>
            </a:r>
          </a:p>
        </p:txBody>
      </p:sp>
      <p:sp>
        <p:nvSpPr>
          <p:cNvPr id="11" name="TextBox11"/>
          <p:cNvSpPr txBox="1">
            <a:spLocks noChangeArrowheads="1"/>
          </p:cNvSpPr>
          <p:nvPr/>
        </p:nvSpPr>
        <p:spPr>
          <a:xfrm rot="0">
            <a:off x="508000" y="4043680"/>
            <a:ext cx="11176000" cy="32004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a </a:t>
            </a:r>
            <a:r>
              <a:rPr b="0" i="0" strike="noStrike" dirty="0"/>
              <a:t>vertical </a:t>
            </a:r>
            <a:r>
              <a:rPr b="0" i="0" strike="noStrike" dirty="0"/>
              <a:t>separator </a:t>
            </a:r>
            <a:r>
              <a:rPr b="0" i="0" strike="noStrike" dirty="0"/>
              <a:t>control </a:t>
            </a:r>
            <a:r>
              <a:rPr b="0" i="0" strike="noStrike" dirty="0"/>
              <a:t>between </a:t>
            </a:r>
            <a:r>
              <a:rPr b="0" i="0" strike="noStrike" dirty="0"/>
              <a:t>two </a:t>
            </a:r>
            <a:r>
              <a:rPr b="0" i="0" strike="noStrike" dirty="0"/>
              <a:t>buttons, </a:t>
            </a:r>
            <a:r>
              <a:rPr b="0" i="0" strike="noStrike" dirty="0"/>
              <a:t>as </a:t>
            </a:r>
            <a:r>
              <a:rPr b="0" i="0" strike="noStrike" dirty="0"/>
              <a:t>follows:</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vertical separator control"/>
          <p:cNvPicPr>
            <a:picLocks noChangeAspect="1"/>
          </p:cNvPicPr>
          <p:nvPr/>
        </p:nvPicPr>
        <p:blipFill>
          <a:blip r:embed="rId2">
            <a:lum/>
          </a:blip>
          <a:srcRect/>
          <a:stretch>
            <a:fillRect/>
          </a:stretch>
        </p:blipFill>
        <p:spPr>
          <a:xfrm rot="0">
            <a:off x="508000" y="508000"/>
            <a:ext cx="3810000" cy="2540000"/>
          </a:xfrm>
          <a:prstGeom prst="rect">
            <a:avLst/>
          </a:prstGeom>
          <a:ln>
            <a:headEnd type="none"/>
            <a:tailEnd type="none"/>
          </a:ln>
        </p:spPr>
      </p:pic>
      <p:sp>
        <p:nvSpPr>
          <p:cNvPr id="3" name="TextBox3"/>
          <p:cNvSpPr txBox="1">
            <a:spLocks noChangeArrowheads="1"/>
          </p:cNvSpPr>
          <p:nvPr/>
        </p:nvSpPr>
        <p:spPr>
          <a:xfrm rot="0">
            <a:off x="508000" y="307340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21: </a:t>
            </a:r>
            <a:r>
              <a:rPr b="1" i="0" strike="noStrike" dirty="0"/>
              <a:t>A </a:t>
            </a:r>
            <a:r>
              <a:rPr b="1" i="0" strike="noStrike" dirty="0"/>
              <a:t>vertical </a:t>
            </a:r>
            <a:r>
              <a:rPr b="1" i="0" strike="noStrike" dirty="0"/>
              <a:t>separator </a:t>
            </a:r>
            <a:r>
              <a:rPr b="1" i="0" strike="noStrike" dirty="0"/>
              <a:t>control</a:t>
            </a:r>
          </a:p>
        </p:txBody>
      </p:sp>
      <p:sp>
        <p:nvSpPr>
          <p:cNvPr id="4" name="TextBox4"/>
          <p:cNvSpPr txBox="1">
            <a:spLocks noChangeArrowheads="1"/>
          </p:cNvSpPr>
          <p:nvPr/>
        </p:nvSpPr>
        <p:spPr>
          <a:xfrm rot="0">
            <a:off x="508000" y="34188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specified </a:t>
            </a:r>
            <a:r>
              <a:rPr b="0" i="0" strike="noStrike" dirty="0"/>
              <a:t>using </a:t>
            </a:r>
            <a:r>
              <a:rPr b="0" i="0" strike="noStrike" dirty="0"/>
              <a:t>the </a:t>
            </a:r>
            <a:r>
              <a:rPr b="0" i="0" strike="noStrike" dirty="0"/>
              <a:t>following </a:t>
            </a:r>
            <a:r>
              <a:rPr b="0" i="0" strike="noStrike" dirty="0"/>
              <a:t>XML </a:t>
            </a:r>
            <a:r>
              <a:rPr b="0" i="0" strike="noStrike" dirty="0"/>
              <a:t>fragment:</a:t>
            </a:r>
          </a:p>
        </p:txBody>
      </p:sp>
      <p:sp>
        <p:nvSpPr>
          <p:cNvPr id="5" name="TextBox5"/>
          <p:cNvSpPr txBox="1">
            <a:spLocks noChangeArrowheads="1"/>
          </p:cNvSpPr>
          <p:nvPr/>
        </p:nvSpPr>
        <p:spPr>
          <a:xfrm rot="0">
            <a:off x="508000" y="376428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id="button1" </a:t>
            </a:r>
            <a:r>
              <a:rPr b="0" i="0" strike="noStrike" dirty="0"/>
              <a:t>label="Button </a:t>
            </a:r>
            <a:r>
              <a:rPr b="0" i="0" strike="noStrike" dirty="0"/>
              <a:t>1" </a:t>
            </a:r>
            <a:r>
              <a:rPr b="0" i="0" strike="noStrike" dirty="0"/>
              <a:t>imageMso="HappyFace" </a:t>
            </a:r>
            <a:r>
              <a:rPr b="0" i="0" strike="noStrike" dirty="0"/>
              <a:t>size="large" </a:t>
            </a:r>
            <a:r>
              <a:rPr b="0" i="0" strike="noStrike" dirty="0"/>
              <a:t>/&gt;</a:t>
            </a:r>
          </a:p>
        </p:txBody>
      </p:sp>
      <p:sp>
        <p:nvSpPr>
          <p:cNvPr id="6" name="TextBox6"/>
          <p:cNvSpPr txBox="1">
            <a:spLocks noChangeArrowheads="1"/>
          </p:cNvSpPr>
          <p:nvPr/>
        </p:nvSpPr>
        <p:spPr>
          <a:xfrm rot="0">
            <a:off x="508000" y="4109720"/>
            <a:ext cx="11176000" cy="320040"/>
          </a:xfrm>
          <a:prstGeom prst="rect">
            <a:avLst/>
          </a:prstGeom>
          <a:ln>
            <a:headEnd type="none"/>
            <a:tailEnd type="none"/>
          </a:ln>
        </p:spPr>
        <p:txBody>
          <a:bodyPr wrap="square">
            <a:spAutoFit/>
          </a:bodyPr>
          <a:lstStyle/>
          <a:p>
            <a:pPr algn="l" defTabSz="914400"/>
            <a:r>
              <a:rPr b="0" i="0" strike="noStrike" dirty="0"/>
              <a:t>&lt;separator </a:t>
            </a:r>
            <a:r>
              <a:rPr b="0" i="0" strike="noStrike" dirty="0"/>
              <a:t>id="separator" </a:t>
            </a:r>
            <a:r>
              <a:rPr b="0" i="0" strike="noStrike" dirty="0"/>
              <a:t>/&gt;</a:t>
            </a:r>
          </a:p>
        </p:txBody>
      </p:sp>
      <p:sp>
        <p:nvSpPr>
          <p:cNvPr id="7" name="TextBox7"/>
          <p:cNvSpPr txBox="1">
            <a:spLocks noChangeArrowheads="1"/>
          </p:cNvSpPr>
          <p:nvPr/>
        </p:nvSpPr>
        <p:spPr>
          <a:xfrm rot="0">
            <a:off x="508000" y="445516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id="button2" </a:t>
            </a:r>
            <a:r>
              <a:rPr b="0" i="0" strike="noStrike" dirty="0"/>
              <a:t>label="Button </a:t>
            </a:r>
            <a:r>
              <a:rPr b="0" i="0" strike="noStrike" dirty="0"/>
              <a:t>2" </a:t>
            </a:r>
            <a:r>
              <a:rPr b="0" i="0" strike="noStrike" dirty="0"/>
              <a:t>imageMso="HappyFace" </a:t>
            </a:r>
            <a:r>
              <a:rPr b="0" i="0" strike="noStrike" dirty="0"/>
              <a:t>size="large" </a:t>
            </a:r>
            <a:r>
              <a:rPr b="0" i="0" strike="noStrike" dirty="0"/>
              <a:t>/&gt;</a:t>
            </a:r>
          </a:p>
        </p:txBody>
      </p:sp>
      <p:sp>
        <p:nvSpPr>
          <p:cNvPr id="8" name="TextBox8"/>
          <p:cNvSpPr txBox="1">
            <a:spLocks noChangeArrowheads="1"/>
          </p:cNvSpPr>
          <p:nvPr/>
        </p:nvSpPr>
        <p:spPr>
          <a:xfrm rot="0">
            <a:off x="508000" y="48006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9" name="Table 9"/>
          <p:cNvGraphicFramePr/>
          <p:nvPr/>
        </p:nvGraphicFramePr>
        <p:xfrm rot="0">
          <a:off x="508000" y="514604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documentControls</a:t>
                      </a:r>
                    </a:p>
                    <a:p>
                      <a:pPr defTabSz="914400"/>
                      <a:r>
                        <a:rPr b="0" i="0" strike="noStrike" dirty="0"/>
                        <a:t> (section </a:t>
                      </a:r>
                      <a:endParaRPr b="1" i="0" strike="noStrike" dirty="0"/>
                    </a:p>
                    <a:p>
                      <a:pPr defTabSz="914400"/>
                      <a:r>
                        <a:rPr/>
                        <a:t>2.2.16</a:t>
                      </a:r>
                      <a:endParaRPr b="1" i="0" strike="noStrike" dirty="0"/>
                    </a:p>
                    <a:p>
                      <a:pPr defTabSz="914400"/>
                      <a:r>
                        <a:rPr b="0" i="0" strike="noStrike" dirty="0"/>
                        <a:t>); </a:t>
                      </a:r>
                      <a:endParaRPr b="1" i="0" strike="noStrike" dirty="0"/>
                    </a:p>
                    <a:p>
                      <a:pPr defTabSz="914400"/>
                      <a:r>
                        <a:rPr b="1" i="0" strike="noStrike" dirty="0"/>
                        <a:t>group</a:t>
                      </a:r>
                      <a:endParaRPr b="1" i="0" strike="noStrike" dirty="0"/>
                    </a:p>
                    <a:p>
                      <a:pPr defTabSz="914400"/>
                      <a:r>
                        <a:rPr b="0" i="0" strike="noStrike" dirty="0"/>
                        <a:t> (section </a:t>
                      </a:r>
                      <a:endParaRPr b="1" i="0" strike="noStrike" dirty="0"/>
                    </a:p>
                    <a:p>
                      <a:pPr defTabSz="914400"/>
                      <a:r>
                        <a:rPr/>
                        <a:t>2.2.23</a:t>
                      </a:r>
                      <a:endParaRPr b="1" i="0" strike="noStrike" dirty="0"/>
                    </a:p>
                    <a:p>
                      <a:pPr defTabSz="914400"/>
                      <a:r>
                        <a:rPr b="0" i="0" strike="noStrike" dirty="0"/>
                        <a:t>); </a:t>
                      </a:r>
                      <a:endParaRPr b="1" i="0" strike="noStrike" dirty="0"/>
                    </a:p>
                    <a:p>
                      <a:pPr defTabSz="914400"/>
                      <a:r>
                        <a:rPr b="1" i="0" strike="noStrike" dirty="0"/>
                        <a:t>sharedControls</a:t>
                      </a:r>
                      <a:endParaRPr b="1" i="0" strike="noStrike" dirty="0"/>
                    </a:p>
                    <a:p>
                      <a:pPr defTabSz="914400"/>
                      <a:r>
                        <a:rPr b="0" i="0" strike="noStrike" dirty="0"/>
                        <a:t> (section </a:t>
                      </a:r>
                      <a:endParaRPr b="1" i="0" strike="noStrike" dirty="0"/>
                    </a:p>
                    <a:p>
                      <a:pPr defTabSz="914400"/>
                      <a:r>
                        <a:rPr/>
                        <a:t>2.2.35</a:t>
                      </a:r>
                      <a:endParaRPr b="1" i="0" strike="noStrike" dirty="0"/>
                    </a:p>
                    <a:p>
                      <a:pPr defTabSz="914400"/>
                      <a:r>
                        <a:rPr b="0" i="0" strike="noStrike" dirty="0"/>
                        <a:t>)</a:t>
                      </a:r>
                      <a:endParaRPr b="1" i="0" strike="noStrike" dirty="0"/>
                    </a:p>
                  </a:txBody>
                  <a:tcPr horzOverflow="overflow"/>
                </a:tc>
              </a:tr>
            </a:tbl>
          </a:graphicData>
        </a:graphic>
      </p:graphicFrame>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graphicFrame>
        <p:nvGraphicFramePr>
          <p:cNvPr id="3" name="Table 3"/>
          <p:cNvGraphicFramePr/>
          <p:nvPr/>
        </p:nvGraphicFramePr>
        <p:xfrm rot="0">
          <a:off x="508000" y="85344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getVisible</a:t>
                      </a:r>
                    </a:p>
                    <a:p>
                      <a:pPr defTabSz="914400"/>
                      <a:r>
                        <a:rPr b="0" i="0" strike="noStrike" dirty="0"/>
                        <a:t> ( </a:t>
                      </a:r>
                      <a:endParaRPr b="1" i="0" strike="noStrike" dirty="0"/>
                    </a:p>
                    <a:p>
                      <a:pPr defTabSz="914400"/>
                      <a:r>
                        <a:rPr b="1" i="0" strike="noStrike" dirty="0"/>
                        <a:t>getVisible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visibility state of this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neither attribute is specified, the control SHOULD default to being visible. For example, consider the following XML fragment: &lt;button id="button" getVisible="IsButtonVisible" /&gt; In this example, the </a:t>
                      </a:r>
                      <a:endParaRPr b="0" i="0" strike="noStrike" dirty="0"/>
                    </a:p>
                    <a:p>
                      <a:pPr defTabSz="914400"/>
                      <a:r>
                        <a:rPr b="1" i="0" strike="noStrike" dirty="0"/>
                        <a:t>IsButtonVisible</a:t>
                      </a:r>
                      <a:endParaRPr b="0" i="0" strike="noStrike" dirty="0"/>
                    </a:p>
                    <a:p>
                      <a:pPr defTabSz="914400"/>
                      <a:r>
                        <a:rPr b="0" i="0" strike="noStrike" dirty="0"/>
                        <a:t> callback function is called when the application needs to determine the visibility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a:t>
                      </a:r>
                      <a:endParaRPr b="0" i="0" strike="noStrike" dirty="0"/>
                    </a:p>
                    <a:p>
                      <a:pPr defTabSz="914400"/>
                      <a:r>
                        <a:rPr/>
                        <a:t>2.3.2</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id</a:t>
                      </a:r>
                    </a:p>
                    <a:p>
                      <a:pPr defTabSz="914400"/>
                      <a:r>
                        <a:rPr b="0" i="0" strike="noStrike" dirty="0"/>
                        <a:t> (control identifier)</a:t>
                      </a:r>
                      <a:endParaRPr b="1" i="0" strike="noStrike" dirty="0"/>
                    </a:p>
                  </a:txBody>
                  <a:tcPr horzOverflow="overflow"/>
                </a:tc>
                <a:tc>
                  <a:txBody>
                    <a:bodyPr/>
                    <a:lstStyle/>
                    <a:p>
                      <a:pPr algn="l" defTabSz="914400"/>
                      <a:r>
                        <a:rPr b="0" i="0" strike="noStrike" dirty="0"/>
                        <a:t>Specifies the identifier for a custom control. All custom controls MUST have unique identifiers. The identifier of a control SHOULD be passed to callback functions to identify which control corresponds to the function call. The </a:t>
                      </a:r>
                    </a:p>
                    <a:p>
                      <a:pPr defTabSz="914400"/>
                      <a:r>
                        <a:rPr b="1" i="0" strike="noStrike" dirty="0"/>
                        <a:t>id</a:t>
                      </a:r>
                      <a:endParaRPr b="0" i="0" strike="noStrike" dirty="0"/>
                    </a:p>
                    <a:p>
                      <a:pPr defTabSz="914400"/>
                      <a:r>
                        <a:rPr b="0" i="0" strike="noStrike" dirty="0"/>
                        <a:t> and </a:t>
                      </a:r>
                      <a:endParaRPr b="0" i="0" strike="noStrike" dirty="0"/>
                    </a:p>
                    <a:p>
                      <a:pPr defTabSz="914400"/>
                      <a:r>
                        <a:rPr b="1" i="0" strike="noStrike" dirty="0"/>
                        <a:t>idQ</a:t>
                      </a:r>
                      <a:endParaRPr b="0" i="0" strike="noStrike" dirty="0"/>
                    </a:p>
                    <a:p>
                      <a:pPr defTabSz="914400"/>
                      <a:r>
                        <a:rPr b="0" i="0" strike="noStrike" dirty="0"/>
                        <a:t> attributes are mutually exclusive. At least one of these attributes MUST be specified. For example, consider the following XML fragment: &lt;button id="MyButton" label="Button" /&gt; This specifies a custom button control with an identifier of "MyButton". The possible values for this attribute are defined by the </a:t>
                      </a:r>
                      <a:endParaRPr b="0" i="0" strike="noStrike" dirty="0"/>
                    </a:p>
                    <a:p>
                      <a:pPr defTabSz="914400"/>
                      <a:r>
                        <a:rPr b="1" i="0" strike="noStrike" dirty="0"/>
                        <a:t>ST_UniqueID</a:t>
                      </a:r>
                      <a:endParaRPr b="0" i="0" strike="noStrike" dirty="0"/>
                    </a:p>
                    <a:p>
                      <a:pPr defTabSz="914400"/>
                      <a:r>
                        <a:rPr b="0" i="0" strike="noStrike" dirty="0"/>
                        <a:t> simple type, as specified in section </a:t>
                      </a:r>
                      <a:endParaRPr b="0" i="0" strike="noStrike" dirty="0"/>
                    </a:p>
                    <a:p>
                      <a:pPr defTabSz="914400"/>
                      <a:r>
                        <a:rPr/>
                        <a:t>2.3.13</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5080000">
                <a:tc>
                  <a:txBody>
                    <a:bodyPr/>
                    <a:lstStyle/>
                    <a:p>
                      <a:pPr algn="l" defTabSz="914400"/>
                      <a:r>
                        <a:rPr b="1" i="0" strike="noStrike" dirty="0"/>
                        <a:t>idQ</a:t>
                      </a:r>
                    </a:p>
                    <a:p>
                      <a:pPr defTabSz="914400"/>
                      <a:r>
                        <a:rPr b="0" i="0" strike="noStrike" dirty="0"/>
                        <a:t> (qualified control identifier)</a:t>
                      </a:r>
                      <a:endParaRPr b="1" i="0" strike="noStrike" dirty="0"/>
                    </a:p>
                  </a:txBody>
                  <a:tcPr horzOverflow="overflow"/>
                </a:tc>
                <a:tc>
                  <a:txBody>
                    <a:bodyPr/>
                    <a:lstStyle/>
                    <a:p>
                      <a:pPr algn="l" defTabSz="914400"/>
                      <a:r>
                        <a:rPr b="0" i="0" strike="noStrike" dirty="0"/>
                        <a:t>Specifies a qualified identifier for a control. The </a:t>
                      </a:r>
                    </a:p>
                    <a:p>
                      <a:pPr defTabSz="914400"/>
                      <a:r>
                        <a:rPr b="1" i="0" strike="noStrike" dirty="0"/>
                        <a:t>idQ</a:t>
                      </a:r>
                      <a:endParaRPr b="0" i="0" strike="noStrike" dirty="0"/>
                    </a:p>
                    <a:p>
                      <a:pPr defTabSz="914400"/>
                      <a:r>
                        <a:rPr b="0" i="0" strike="noStrike" dirty="0"/>
                        <a:t> attribute can be used to reference controls or containers created by other Custom UI documents. The </a:t>
                      </a:r>
                      <a:endParaRPr b="0" i="0" strike="noStrike" dirty="0"/>
                    </a:p>
                    <a:p>
                      <a:pPr defTabSz="914400"/>
                      <a:r>
                        <a:rPr b="1" i="0" strike="noStrike" dirty="0"/>
                        <a:t>id</a:t>
                      </a:r>
                      <a:endParaRPr b="0" i="0" strike="noStrike" dirty="0"/>
                    </a:p>
                    <a:p>
                      <a:pPr defTabSz="914400"/>
                      <a:r>
                        <a:rPr b="0" i="0" strike="noStrike" dirty="0"/>
                        <a:t> and </a:t>
                      </a:r>
                      <a:endParaRPr b="0" i="0" strike="noStrike" dirty="0"/>
                    </a:p>
                    <a:p>
                      <a:pPr defTabSz="914400"/>
                      <a:r>
                        <a:rPr b="1" i="0" strike="noStrike" dirty="0"/>
                        <a:t>idQ</a:t>
                      </a:r>
                      <a:endParaRPr b="0" i="0" strike="noStrike" dirty="0"/>
                    </a:p>
                    <a:p>
                      <a:pPr defTabSz="914400"/>
                      <a:r>
                        <a:rPr b="0" i="0" strike="noStrike" dirty="0"/>
                        <a:t> attributes are mutually exclusive. At least one of these attributes MUST be specified. For example, consider the following XML fragment: &lt;customUI    xmlns="http://schemas.microsoft.com/office/2006/01/customui"   xmlns:ex="http://www.example.com"&gt;   &lt;ribbon&gt;     &lt;tabs&gt;      &lt;tab idQ="ex:OtherTab" label="Shared Tab"&gt;         &lt;group id="MyGroup" label="My Group"&gt;           …         &lt;/group&gt;       &lt;/tab&gt;     &lt;/tabs&gt;   &lt;/ribbon&gt; &lt;/customUI&gt; In this case, </a:t>
                      </a:r>
                      <a:endParaRPr b="0" i="0" strike="noStrike" dirty="0"/>
                    </a:p>
                    <a:p>
                      <a:pPr defTabSz="914400"/>
                      <a:r>
                        <a:rPr b="1" i="0" strike="noStrike" dirty="0"/>
                        <a:t>ex</a:t>
                      </a:r>
                      <a:endParaRPr b="0" i="0" strike="noStrike" dirty="0"/>
                    </a:p>
                    <a:p>
                      <a:pPr defTabSz="914400"/>
                      <a:r>
                        <a:rPr b="0" i="0" strike="noStrike" dirty="0"/>
                        <a:t> is an XML namespace prefix for the namespace http://www.example.com. This XML fragment refers to a </a:t>
                      </a:r>
                      <a:endParaRPr b="0" i="0" strike="noStrike" dirty="0"/>
                    </a:p>
                    <a:p>
                      <a:pPr defTabSz="914400"/>
                      <a:r>
                        <a:rPr b="1" i="0" strike="noStrike" dirty="0"/>
                        <a:t>tab</a:t>
                      </a:r>
                      <a:endParaRPr b="0" i="0" strike="noStrike" dirty="0"/>
                    </a:p>
                    <a:p>
                      <a:pPr defTabSz="914400"/>
                      <a:r>
                        <a:rPr b="0" i="0" strike="noStrike" dirty="0"/>
                        <a:t> in that namespace with an identifier of "OtherTab". If that tab cannot be found, it is created. A new group belonging to this file is added to the 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a:t>
                      </a:r>
                      <a:endParaRPr b="0" i="0" strike="noStrike" dirty="0"/>
                    </a:p>
                    <a:p>
                      <a:pPr defTabSz="914400"/>
                      <a:r>
                        <a:rPr/>
                        <a:t>2.3.9</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insertAfterMso</a:t>
                      </a:r>
                    </a:p>
                    <a:p>
                      <a:pPr defTabSz="914400"/>
                      <a:r>
                        <a:rPr b="0" i="0" strike="noStrike" dirty="0"/>
                        <a:t> (identifier of built-in control to insert after)</a:t>
                      </a:r>
                      <a:endParaRPr b="1" i="0" strike="noStrike" dirty="0"/>
                    </a:p>
                  </a:txBody>
                  <a:tcPr horzOverflow="overflow"/>
                </a:tc>
                <a:tc>
                  <a:txBody>
                    <a:bodyPr/>
                    <a:lstStyle/>
                    <a:p>
                      <a:pPr algn="l" defTabSz="914400"/>
                      <a:r>
                        <a:rPr b="0" i="0" strike="noStrike" dirty="0"/>
                        <a:t>Specifies the identifier of a built-in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insertAfterMso="TabHome" label="Custom Tab"&gt;   … &lt;/tab&gt; In this example, a new custom tab with an identifier of "MyTab" is to be inserted after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a:t>
                      </a:r>
                      <a:endParaRPr b="0" i="0" strike="noStrike" dirty="0"/>
                    </a:p>
                    <a:p>
                      <a:pPr defTabSz="914400"/>
                      <a:r>
                        <a:rPr/>
                        <a:t>2.3.5</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insertAfterQ</a:t>
                      </a:r>
                    </a:p>
                    <a:p>
                      <a:pPr defTabSz="914400"/>
                      <a:r>
                        <a:rPr b="0" i="0" strike="noStrike" dirty="0"/>
                        <a:t> (qualified identifier of control to insert after)</a:t>
                      </a:r>
                      <a:endParaRPr b="1" i="0" strike="noStrike" dirty="0"/>
                    </a:p>
                  </a:txBody>
                  <a:tcPr horzOverflow="overflow"/>
                </a:tc>
                <a:tc>
                  <a:txBody>
                    <a:bodyPr/>
                    <a:lstStyle/>
                    <a:p>
                      <a:pPr algn="l" defTabSz="914400"/>
                      <a:r>
                        <a:rPr b="0" i="0" strike="noStrike" dirty="0"/>
                        <a:t>Specifies the qualified identifier of a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insertAfterQ="x:OtherTab" label="Custom Tab"&gt;   … &lt;/tab&gt; In this example, a new custom tab with an identifier of "MyTab" is to be inserted after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insertBeforeMso</a:t>
                      </a:r>
                    </a:p>
                    <a:p>
                      <a:pPr defTabSz="914400"/>
                      <a:r>
                        <a:rPr b="0" i="0" strike="noStrike" dirty="0"/>
                        <a:t> (identifier of built-in control to insert before)</a:t>
                      </a:r>
                      <a:endParaRPr b="1" i="0" strike="noStrike" dirty="0"/>
                    </a:p>
                  </a:txBody>
                  <a:tcPr horzOverflow="overflow"/>
                </a:tc>
                <a:tc>
                  <a:txBody>
                    <a:bodyPr/>
                    <a:lstStyle/>
                    <a:p>
                      <a:pPr algn="l" defTabSz="914400"/>
                      <a:r>
                        <a:rPr b="0" i="0" strike="noStrike" dirty="0"/>
                        <a:t>Specifies the identifier of a built-in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insertBeforeMso="TabHome" label="Custom Tab"&gt;   … &lt;/tab&gt; In this example, a new custom tab with an identifier of "MyTab" is to be inserted before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insertBeforeQ</a:t>
                      </a:r>
                    </a:p>
                    <a:p>
                      <a:pPr defTabSz="914400"/>
                      <a:r>
                        <a:rPr b="0" i="0" strike="noStrike" dirty="0"/>
                        <a:t> (qualified identifier of control to insert before)</a:t>
                      </a:r>
                      <a:endParaRPr b="1" i="0" strike="noStrike" dirty="0"/>
                    </a:p>
                  </a:txBody>
                  <a:tcPr horzOverflow="overflow"/>
                </a:tc>
                <a:tc>
                  <a:txBody>
                    <a:bodyPr/>
                    <a:lstStyle/>
                    <a:p>
                      <a:pPr algn="l" defTabSz="914400"/>
                      <a:r>
                        <a:rPr b="0" i="0" strike="noStrike" dirty="0"/>
                        <a:t>Specifies the qualified identifier of a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insertBeforeQ="x:OtherTab" label="Custom Tab"&gt;   … &lt;/tab&gt; In this example, a new custom tab with an identifier of "MyTab" is to be inserted before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visible</a:t>
                      </a:r>
                    </a:p>
                    <a:p>
                      <a:pPr defTabSz="914400"/>
                      <a:r>
                        <a:rPr b="0" i="0" strike="noStrike" dirty="0"/>
                        <a:t> (control visibility)</a:t>
                      </a:r>
                      <a:endParaRPr b="1" i="0" strike="noStrike" dirty="0"/>
                    </a:p>
                  </a:txBody>
                  <a:tcPr horzOverflow="overflow"/>
                </a:tc>
                <a:tc>
                  <a:txBody>
                    <a:bodyPr/>
                    <a:lstStyle/>
                    <a:p>
                      <a:pPr algn="l" defTabSz="914400"/>
                      <a:r>
                        <a:rPr b="0" i="0" strike="noStrike" dirty="0"/>
                        <a:t>Specifies the visibility state of the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these attributes are omitted, the control SHOULD default to being visible. For example, consider the following XML fragment: &lt;tab idMso="TabHome" visible="false" /&gt; In this example, the built-in tab with an identifier of "TabHome" is hidden.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name="CT_Separator"&gt;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ref="AG_IDCustom"/&gt;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ref="AG_Visible"/&gt;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ref="AG_PositionAttributes"/&gt;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9" name="TextBox9"/>
          <p:cNvSpPr txBox="1">
            <a:spLocks noChangeArrowheads="1"/>
          </p:cNvSpPr>
          <p:nvPr/>
        </p:nvSpPr>
        <p:spPr>
          <a:xfrm rot="0">
            <a:off x="508000" y="5679440"/>
            <a:ext cx="11176000" cy="426720"/>
          </a:xfrm>
          <a:prstGeom prst="rect">
            <a:avLst/>
          </a:prstGeom>
          <a:ln>
            <a:headEnd type="none"/>
            <a:tailEnd type="none"/>
          </a:ln>
        </p:spPr>
        <p:txBody>
          <a:bodyPr wrap="square">
            <a:spAutoFit/>
          </a:bodyPr>
          <a:lstStyle/>
          <a:p>
            <a:pPr algn="l" defTabSz="914400">
              <a:defRPr sz="2400" b="1" dirty="0"/>
            </a:pPr>
            <a:r>
              <a:rPr b="1" i="0" strike="noStrike" dirty="0"/>
              <a:t>sharedControls </a:t>
            </a:r>
            <a:r>
              <a:rPr b="1" i="0" strike="noStrike" dirty="0"/>
              <a:t>(List </a:t>
            </a:r>
            <a:r>
              <a:rPr b="1" i="0" strike="noStrike" dirty="0"/>
              <a:t>of </a:t>
            </a:r>
            <a:r>
              <a:rPr b="1" i="0" strike="noStrike" dirty="0"/>
              <a:t>Shared </a:t>
            </a:r>
            <a:r>
              <a:rPr b="1" i="0" strike="noStrike" dirty="0"/>
              <a:t>Quick </a:t>
            </a:r>
            <a:r>
              <a:rPr b="1" i="0" strike="noStrike" dirty="0"/>
              <a:t>Access </a:t>
            </a:r>
            <a:r>
              <a:rPr b="1" i="0" strike="noStrike" dirty="0"/>
              <a:t>Toolbar </a:t>
            </a:r>
            <a:r>
              <a:rPr b="1" i="0" strike="noStrike" dirty="0"/>
              <a:t>Controls) </a:t>
            </a:r>
            <a:r>
              <a:rPr b="1" i="0" strike="noStrike" dirty="0"/>
              <a:t>XE </a:t>
            </a: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426720"/>
          </a:xfrm>
          <a:prstGeom prst="rect">
            <a:avLst/>
          </a:prstGeom>
          <a:ln>
            <a:headEnd type="none"/>
            <a:tailEnd type="none"/>
          </a:ln>
        </p:spPr>
        <p:txBody>
          <a:bodyPr wrap="square">
            <a:spAutoFit/>
          </a:bodyPr>
          <a:lstStyle/>
          <a:p>
            <a:pPr algn="l" defTabSz="914400">
              <a:defRPr sz="2400" b="1" dirty="0"/>
            </a:pPr>
            <a:r>
              <a:rPr b="1" i="0" strike="noStrike" dirty="0"/>
              <a:t>"Elements:sharedControls </a:t>
            </a:r>
            <a:r>
              <a:rPr b="1" i="0" strike="noStrike" dirty="0"/>
              <a:t>(list </a:t>
            </a:r>
            <a:r>
              <a:rPr b="1" i="0" strike="noStrike" dirty="0"/>
              <a:t>of </a:t>
            </a:r>
            <a:r>
              <a:rPr b="1" i="0" strike="noStrike" dirty="0"/>
              <a:t>shared </a:t>
            </a:r>
            <a:r>
              <a:rPr b="1" i="0" strike="noStrike" dirty="0"/>
              <a:t>Quick </a:t>
            </a:r>
            <a:r>
              <a:rPr b="1" i="0" strike="noStrike" dirty="0"/>
              <a:t>Access </a:t>
            </a:r>
            <a:r>
              <a:rPr b="1" i="0" strike="noStrike" dirty="0"/>
              <a:t>Toolbar </a:t>
            </a:r>
            <a:r>
              <a:rPr b="1" i="0" strike="noStrike" dirty="0"/>
              <a:t>controls)"</a:t>
            </a:r>
          </a:p>
        </p:txBody>
      </p:sp>
      <p:sp>
        <p:nvSpPr>
          <p:cNvPr id="3" name="TextBox3"/>
          <p:cNvSpPr txBox="1">
            <a:spLocks noChangeArrowheads="1"/>
          </p:cNvSpPr>
          <p:nvPr/>
        </p:nvSpPr>
        <p:spPr>
          <a:xfrm rot="0">
            <a:off x="508000" y="960120"/>
            <a:ext cx="11176000" cy="160020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the </a:t>
            </a:r>
            <a:r>
              <a:rPr b="0" i="0" strike="noStrike" dirty="0"/>
              <a:t>section </a:t>
            </a:r>
            <a:r>
              <a:rPr b="0" i="0" strike="noStrike" dirty="0"/>
              <a:t>of </a:t>
            </a:r>
            <a:r>
              <a:rPr b="0" i="0" strike="noStrike" dirty="0"/>
              <a:t>the </a:t>
            </a:r>
            <a:r>
              <a:rPr b="0" i="0" strike="noStrike" dirty="0"/>
              <a:t>quick </a:t>
            </a:r>
            <a:r>
              <a:rPr b="0" i="0" strike="noStrike" dirty="0"/>
              <a:t>access </a:t>
            </a:r>
            <a:r>
              <a:rPr b="0" i="0" strike="noStrike" dirty="0"/>
              <a:t>toolbar </a:t>
            </a:r>
            <a:r>
              <a:rPr b="0" i="0" strike="noStrike" dirty="0"/>
              <a:t>that </a:t>
            </a:r>
            <a:r>
              <a:rPr b="0" i="0" strike="noStrike" dirty="0"/>
              <a:t>is </a:t>
            </a:r>
            <a:r>
              <a:rPr b="0" i="0" strike="noStrike" dirty="0"/>
              <a:t>shared </a:t>
            </a:r>
            <a:r>
              <a:rPr b="0" i="0" strike="noStrike" dirty="0"/>
              <a:t>among </a:t>
            </a:r>
            <a:r>
              <a:rPr b="0" i="0" strike="noStrike" dirty="0"/>
              <a:t>all </a:t>
            </a:r>
            <a:r>
              <a:rPr b="0" i="0" strike="noStrike" dirty="0"/>
              <a:t>documents. </a:t>
            </a:r>
            <a:r>
              <a:rPr b="0" i="0" strike="noStrike" dirty="0"/>
              <a:t>This </a:t>
            </a:r>
            <a:r>
              <a:rPr b="0" i="0" strike="noStrike" dirty="0"/>
              <a:t>element </a:t>
            </a:r>
            <a:r>
              <a:rPr b="0" i="0" strike="noStrike" dirty="0"/>
              <a:t>SHOULD </a:t>
            </a:r>
            <a:r>
              <a:rPr b="0" i="0" strike="noStrike" dirty="0"/>
              <a:t>NOT </a:t>
            </a:r>
            <a:r>
              <a:rPr b="0" i="0" strike="noStrike" dirty="0"/>
              <a:t>be </a:t>
            </a:r>
            <a:r>
              <a:rPr b="0" i="0" strike="noStrike" dirty="0"/>
              <a:t>specified </a:t>
            </a:r>
            <a:r>
              <a:rPr b="0" i="0" strike="noStrike" dirty="0"/>
              <a:t>if </a:t>
            </a:r>
            <a:r>
              <a:rPr b="0" i="0" strike="noStrike" dirty="0"/>
              <a:t>the </a:t>
            </a:r>
            <a:r>
              <a:rPr b="0" i="0" strike="noStrike" dirty="0"/>
              <a:t>containing </a:t>
            </a:r>
            <a:r>
              <a:rPr b="0" i="0" strike="noStrike" dirty="0"/>
              <a:t>Custom </a:t>
            </a:r>
            <a:r>
              <a:rPr b="0" i="0" strike="noStrike" dirty="0"/>
              <a:t>UI </a:t>
            </a:r>
            <a:r>
              <a:rPr b="0" i="0" strike="noStrike" dirty="0"/>
              <a:t>XML </a:t>
            </a:r>
            <a:r>
              <a:rPr b="0" i="0" strike="noStrike" dirty="0"/>
              <a:t>document </a:t>
            </a:r>
            <a:r>
              <a:rPr b="0" i="0" strike="noStrike" dirty="0"/>
              <a:t>is </a:t>
            </a:r>
            <a:r>
              <a:rPr b="0" i="0" strike="noStrike" dirty="0"/>
              <a:t>a </a:t>
            </a:r>
            <a:r>
              <a:rPr b="0" i="0" strike="noStrike" dirty="0"/>
              <a:t>Quick </a:t>
            </a:r>
            <a:r>
              <a:rPr b="0" i="0" strike="noStrike" dirty="0"/>
              <a:t>Access </a:t>
            </a:r>
            <a:r>
              <a:rPr b="0" i="0" strike="noStrike" dirty="0"/>
              <a:t>Toolbar </a:t>
            </a:r>
            <a:r>
              <a:rPr b="0" i="0" strike="noStrike" dirty="0"/>
              <a:t>Customizations </a:t>
            </a:r>
            <a:r>
              <a:rPr b="0" i="0" strike="noStrike" dirty="0"/>
              <a:t>part. </a:t>
            </a:r>
            <a:r>
              <a:rPr b="0" i="0" strike="noStrike" dirty="0"/>
              <a:t>If </a:t>
            </a:r>
            <a:r>
              <a:rPr b="0" i="0" strike="noStrike" dirty="0"/>
              <a:t>the </a:t>
            </a:r>
            <a:r>
              <a:rPr b="0" i="0" strike="noStrike" dirty="0"/>
              <a:t>containing </a:t>
            </a:r>
            <a:r>
              <a:rPr b="0" i="0" strike="noStrike" dirty="0"/>
              <a:t>Custom </a:t>
            </a:r>
            <a:r>
              <a:rPr b="0" i="0" strike="noStrike" dirty="0"/>
              <a:t>UI </a:t>
            </a:r>
            <a:r>
              <a:rPr b="0" i="0" strike="noStrike" dirty="0"/>
              <a:t>XML </a:t>
            </a:r>
            <a:r>
              <a:rPr b="0" i="0" strike="noStrike" dirty="0"/>
              <a:t>document </a:t>
            </a:r>
            <a:r>
              <a:rPr b="0" i="0" strike="noStrike" dirty="0"/>
              <a:t>is </a:t>
            </a:r>
            <a:r>
              <a:rPr b="0" i="0" strike="noStrike" dirty="0"/>
              <a:t>a </a:t>
            </a:r>
            <a:r>
              <a:rPr b="0" i="0" strike="noStrike" dirty="0"/>
              <a:t>Ribbon </a:t>
            </a:r>
            <a:r>
              <a:rPr b="0" i="0" strike="noStrike" dirty="0"/>
              <a:t>Extensibility </a:t>
            </a:r>
            <a:r>
              <a:rPr b="0" i="0" strike="noStrike" dirty="0"/>
              <a:t>part, </a:t>
            </a:r>
            <a:r>
              <a:rPr b="0" i="0" strike="noStrike" dirty="0"/>
              <a:t>this </a:t>
            </a:r>
            <a:r>
              <a:rPr b="0" i="0" strike="noStrike" dirty="0"/>
              <a:t>element </a:t>
            </a:r>
            <a:r>
              <a:rPr b="0" i="0" strike="noStrike" dirty="0"/>
              <a:t>can </a:t>
            </a:r>
            <a:r>
              <a:rPr b="0" i="0" strike="noStrike" dirty="0"/>
              <a:t>be </a:t>
            </a:r>
            <a:r>
              <a:rPr b="0" i="0" strike="noStrike" dirty="0"/>
              <a:t>used </a:t>
            </a:r>
            <a:r>
              <a:rPr b="0" i="0" strike="noStrike" dirty="0"/>
              <a:t>if </a:t>
            </a:r>
            <a:r>
              <a:rPr b="0" i="0" strike="noStrike" dirty="0"/>
              <a:t>the </a:t>
            </a:r>
            <a:r>
              <a:rPr b="1" i="0" strike="noStrike" dirty="0"/>
              <a:t>startFromScratch</a:t>
            </a:r>
            <a:r>
              <a:rPr b="0" i="0" strike="noStrike" dirty="0"/>
              <a:t> </a:t>
            </a:r>
            <a:r>
              <a:rPr b="0" i="0" strike="noStrike" dirty="0"/>
              <a:t>attribute </a:t>
            </a:r>
            <a:r>
              <a:rPr b="0" i="0" strike="noStrike" dirty="0"/>
              <a:t>is </a:t>
            </a:r>
            <a:r>
              <a:rPr b="0" i="0" strike="noStrike" dirty="0"/>
              <a:t>set </a:t>
            </a:r>
            <a:r>
              <a:rPr b="0" i="0" strike="noStrike" dirty="0"/>
              <a:t>to </a:t>
            </a:r>
            <a:r>
              <a:rPr b="0" i="0" strike="noStrike" dirty="0"/>
              <a:t>"true" </a:t>
            </a:r>
            <a:r>
              <a:rPr b="0" i="0" strike="noStrike" dirty="0"/>
              <a:t>on </a:t>
            </a:r>
            <a:r>
              <a:rPr b="0" i="0" strike="noStrike" dirty="0"/>
              <a:t>the </a:t>
            </a:r>
            <a:r>
              <a:rPr b="0" i="0" strike="noStrike" dirty="0"/>
              <a:t>ribbon </a:t>
            </a:r>
            <a:r>
              <a:rPr b="0" i="0" strike="noStrike" dirty="0"/>
              <a:t>element.</a:t>
            </a:r>
          </a:p>
        </p:txBody>
      </p:sp>
      <p:sp>
        <p:nvSpPr>
          <p:cNvPr id="4" name="TextBox4"/>
          <p:cNvSpPr txBox="1">
            <a:spLocks noChangeArrowheads="1"/>
          </p:cNvSpPr>
          <p:nvPr/>
        </p:nvSpPr>
        <p:spPr>
          <a:xfrm rot="0">
            <a:off x="508000" y="2585720"/>
            <a:ext cx="11176000" cy="640080"/>
          </a:xfrm>
          <a:prstGeom prst="rect">
            <a:avLst/>
          </a:prstGeom>
          <a:ln>
            <a:headEnd type="none"/>
            <a:tailEnd type="none"/>
          </a:ln>
        </p:spPr>
        <p:txBody>
          <a:bodyPr wrap="square">
            <a:spAutoFit/>
          </a:bodyPr>
          <a:lstStyle/>
          <a:p>
            <a:pPr algn="l" defTabSz="914400"/>
            <a:r>
              <a:rPr b="0" i="0" strike="noStrike" dirty="0"/>
              <a:t>For </a:t>
            </a:r>
            <a:r>
              <a:rPr b="0" i="0" strike="noStrike" dirty="0"/>
              <a:t>example, </a:t>
            </a:r>
            <a:r>
              <a:rPr b="0" i="0" strike="noStrike" dirty="0"/>
              <a:t>consider </a:t>
            </a:r>
            <a:r>
              <a:rPr b="0" i="0" strike="noStrike" dirty="0"/>
              <a:t>a </a:t>
            </a:r>
            <a:r>
              <a:rPr b="0" i="0" strike="noStrike" dirty="0"/>
              <a:t>Ribbon </a:t>
            </a:r>
            <a:r>
              <a:rPr b="0" i="0" strike="noStrike" dirty="0"/>
              <a:t>Extensibility </a:t>
            </a:r>
            <a:r>
              <a:rPr b="0" i="0" strike="noStrike" dirty="0"/>
              <a:t>XML </a:t>
            </a:r>
            <a:r>
              <a:rPr b="0" i="0" strike="noStrike" dirty="0"/>
              <a:t>document </a:t>
            </a:r>
            <a:r>
              <a:rPr b="0" i="0" strike="noStrike" dirty="0"/>
              <a:t>that </a:t>
            </a:r>
            <a:r>
              <a:rPr b="0" i="0" strike="noStrike" dirty="0"/>
              <a:t>adds </a:t>
            </a:r>
            <a:r>
              <a:rPr b="0" i="0" strike="noStrike" dirty="0"/>
              <a:t>the </a:t>
            </a:r>
            <a:r>
              <a:rPr b="0" i="0" strike="noStrike" dirty="0"/>
              <a:t>two </a:t>
            </a:r>
            <a:r>
              <a:rPr b="0" i="0" strike="noStrike" dirty="0"/>
              <a:t>buttons </a:t>
            </a:r>
            <a:r>
              <a:rPr b="0" i="0" strike="noStrike" dirty="0"/>
              <a:t>to </a:t>
            </a:r>
            <a:r>
              <a:rPr b="0" i="0" strike="noStrike" dirty="0"/>
              <a:t>the </a:t>
            </a:r>
            <a:r>
              <a:rPr b="0" i="0" strike="noStrike" dirty="0"/>
              <a:t>shared </a:t>
            </a:r>
            <a:r>
              <a:rPr b="0" i="0" strike="noStrike" dirty="0"/>
              <a:t>section </a:t>
            </a:r>
            <a:r>
              <a:rPr b="0" i="0" strike="noStrike" dirty="0"/>
              <a:t>of </a:t>
            </a:r>
            <a:r>
              <a:rPr b="0" i="0" strike="noStrike" dirty="0"/>
              <a:t>the </a:t>
            </a:r>
            <a:r>
              <a:rPr b="0" i="0" strike="noStrike" dirty="0"/>
              <a:t>quick </a:t>
            </a:r>
            <a:r>
              <a:rPr b="0" i="0" strike="noStrike" dirty="0"/>
              <a:t>access </a:t>
            </a:r>
            <a:r>
              <a:rPr b="0" i="0" strike="noStrike" dirty="0"/>
              <a:t>toolbar:</a:t>
            </a:r>
          </a:p>
        </p:txBody>
      </p:sp>
      <p:pic>
        <p:nvPicPr>
          <p:cNvPr id="5" name="Picture 5" descr="Shared controls on the quick access toolbar"/>
          <p:cNvPicPr>
            <a:picLocks noChangeAspect="1"/>
          </p:cNvPicPr>
          <p:nvPr/>
        </p:nvPicPr>
        <p:blipFill>
          <a:blip r:embed="rId2">
            <a:lum/>
          </a:blip>
          <a:srcRect/>
          <a:stretch>
            <a:fillRect/>
          </a:stretch>
        </p:blipFill>
        <p:spPr>
          <a:xfrm rot="0">
            <a:off x="508000" y="3251200"/>
            <a:ext cx="3810000" cy="2540000"/>
          </a:xfrm>
          <a:prstGeom prst="rect">
            <a:avLst/>
          </a:prstGeom>
          <a:ln>
            <a:headEnd type="none"/>
            <a:tailEnd type="none"/>
          </a:ln>
        </p:spPr>
      </p:pic>
      <p:sp>
        <p:nvSpPr>
          <p:cNvPr id="6" name="TextBox6"/>
          <p:cNvSpPr txBox="1">
            <a:spLocks noChangeArrowheads="1"/>
          </p:cNvSpPr>
          <p:nvPr/>
        </p:nvSpPr>
        <p:spPr>
          <a:xfrm rot="0">
            <a:off x="508000" y="5816600"/>
            <a:ext cx="11176000" cy="320040"/>
          </a:xfrm>
          <a:prstGeom prst="rect">
            <a:avLst/>
          </a:prstGeom>
          <a:ln>
            <a:headEnd type="none"/>
            <a:tailEnd type="none"/>
          </a:ln>
        </p:spPr>
        <p:txBody>
          <a:bodyPr wrap="square">
            <a:spAutoFit/>
          </a:bodyPr>
          <a:lstStyle/>
          <a:p>
            <a:pPr algn="l" defTabSz="914400"/>
            <a:r>
              <a:rPr b="1" i="0" strike="noStrike" dirty="0"/>
              <a:t>Figure </a:t>
            </a:r>
            <a:r>
              <a:rPr b="1" i="0" strike="noStrike" dirty="0"/>
              <a:t> </a:t>
            </a:r>
            <a:r>
              <a:rPr b="1" i="0" strike="noStrike" dirty="0"/>
              <a:t>SEQ </a:t>
            </a:r>
            <a:r>
              <a:rPr b="1" i="0" strike="noStrike" dirty="0"/>
              <a:t>Figure </a:t>
            </a:r>
            <a:r>
              <a:rPr b="1" i="0" strike="noStrike" dirty="0"/>
              <a:t>\* </a:t>
            </a:r>
            <a:r>
              <a:rPr b="1" i="0" strike="noStrike" dirty="0"/>
              <a:t>ARABIC </a:t>
            </a:r>
            <a:r>
              <a:rPr b="1" i="0" strike="noStrike" dirty="0"/>
              <a:t>22: </a:t>
            </a:r>
            <a:r>
              <a:rPr b="1" i="0" strike="noStrike" dirty="0"/>
              <a:t>Shared </a:t>
            </a:r>
            <a:r>
              <a:rPr b="1" i="0" strike="noStrike" dirty="0"/>
              <a:t>controls </a:t>
            </a:r>
            <a:r>
              <a:rPr b="1" i="0" strike="noStrike" dirty="0"/>
              <a:t>on </a:t>
            </a:r>
            <a:r>
              <a:rPr b="1" i="0" strike="noStrike" dirty="0"/>
              <a:t>the </a:t>
            </a:r>
            <a:r>
              <a:rPr b="1" i="0" strike="noStrike" dirty="0"/>
              <a:t>quick </a:t>
            </a:r>
            <a:r>
              <a:rPr b="1" i="0" strike="noStrike" dirty="0"/>
              <a:t>access </a:t>
            </a:r>
            <a:r>
              <a:rPr b="1" i="0" strike="noStrike" dirty="0"/>
              <a:t>toolbar</a:t>
            </a: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is </a:t>
            </a:r>
            <a:r>
              <a:rPr b="0" i="0" strike="noStrike" dirty="0"/>
              <a:t>specified </a:t>
            </a:r>
            <a:r>
              <a:rPr b="0" i="0" strike="noStrike" dirty="0"/>
              <a:t>using </a:t>
            </a:r>
            <a:r>
              <a:rPr b="0" i="0" strike="noStrike" dirty="0"/>
              <a:t>the </a:t>
            </a:r>
            <a:r>
              <a:rPr b="0" i="0" strike="noStrike" dirty="0"/>
              <a:t>following </a:t>
            </a:r>
            <a:r>
              <a:rPr b="0" i="0" strike="noStrike" dirty="0"/>
              <a:t>XML </a:t>
            </a:r>
            <a:r>
              <a:rPr b="0" i="0" strike="noStrike" dirty="0"/>
              <a:t>fragment: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&lt;qat&gt;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&lt;sharedControls&gt;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id="button1" </a:t>
            </a:r>
            <a:r>
              <a:rPr b="0" i="0" strike="noStrike" dirty="0"/>
              <a:t>imageMso="HappyFace" </a:t>
            </a:r>
            <a:r>
              <a:rPr b="0" i="0" strike="noStrike" dirty="0"/>
              <a:t>/&gt;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&lt;button </a:t>
            </a:r>
            <a:r>
              <a:rPr b="0" i="0" strike="noStrike" dirty="0"/>
              <a:t>idMso="Cut" </a:t>
            </a:r>
            <a:r>
              <a:rPr b="0" i="0" strike="noStrike" dirty="0"/>
              <a:t>/&gt;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&lt;/sharedControls&gt;</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0" i="0" strike="noStrike" dirty="0"/>
              <a:t>&lt;/qat&gt;</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10" name="Table 10"/>
          <p:cNvGraphicFramePr/>
          <p:nvPr/>
        </p:nvGraphicFramePr>
        <p:xfrm rot="0">
          <a:off x="508000" y="327152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qat</a:t>
                      </a:r>
                    </a:p>
                    <a:p>
                      <a:pPr defTabSz="914400"/>
                      <a:r>
                        <a:rPr b="0" i="0" strike="noStrike" dirty="0"/>
                        <a:t> (section </a:t>
                      </a:r>
                      <a:endParaRPr b="1" i="0" strike="noStrike" dirty="0"/>
                    </a:p>
                    <a:p>
                      <a:pPr defTabSz="914400"/>
                      <a:r>
                        <a:rPr/>
                        <a:t>2.2.32</a:t>
                      </a:r>
                      <a:endParaRPr b="1" i="0" strike="noStrike" dirty="0"/>
                    </a:p>
                    <a:p>
                      <a:pPr defTabSz="914400"/>
                      <a:r>
                        <a:rPr b="0" i="0" strike="noStrike" dirty="0"/>
                        <a:t>)</a:t>
                      </a:r>
                      <a:endParaRPr b="1" i="0" strike="noStrike" dirty="0"/>
                    </a:p>
                  </a:txBody>
                  <a:tcPr horzOverflow="overflow"/>
                </a:tc>
              </a:tr>
            </a:tbl>
          </a:graphicData>
        </a:graphic>
      </p:graphicFrame>
      <p:sp>
        <p:nvSpPr>
          <p:cNvPr id="11" name="TextBox11"/>
          <p:cNvSpPr txBox="1">
            <a:spLocks noChangeArrowheads="1"/>
          </p:cNvSpPr>
          <p:nvPr/>
        </p:nvSpPr>
        <p:spPr>
          <a:xfrm rot="0">
            <a:off x="508000" y="43383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12" name="Table 12"/>
          <p:cNvGraphicFramePr/>
          <p:nvPr/>
        </p:nvGraphicFramePr>
        <p:xfrm rot="0">
          <a:off x="508000" y="4683760"/>
          <a:ext cx="11176000" cy="152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button</a:t>
                      </a:r>
                    </a:p>
                    <a:p>
                      <a:pPr defTabSz="914400"/>
                      <a:r>
                        <a:rPr b="0" i="0" strike="noStrike" dirty="0"/>
                        <a:t> (Unsized Button)</a:t>
                      </a:r>
                      <a:endParaRPr b="1" i="0" strike="noStrike" dirty="0"/>
                    </a:p>
                  </a:txBody>
                  <a:tcPr horzOverflow="overflow"/>
                </a:tc>
                <a:tc>
                  <a:txBody>
                    <a:bodyPr/>
                    <a:lstStyle/>
                    <a:p>
                      <a:pPr algn="l" defTabSz="914400"/>
                      <a:r>
                        <a:rPr/>
                        <a:t>2.2.3</a:t>
                      </a:r>
                    </a:p>
                  </a:txBody>
                  <a:tcPr horzOverflow="overflow"/>
                </a:tc>
              </a:tr>
              <a:tr h="508000">
                <a:tc>
                  <a:txBody>
                    <a:bodyPr/>
                    <a:lstStyle/>
                    <a:p>
                      <a:pPr algn="l" defTabSz="914400"/>
                      <a:r>
                        <a:rPr b="1" i="0" strike="noStrike" dirty="0"/>
                        <a:t>control</a:t>
                      </a:r>
                    </a:p>
                    <a:p>
                      <a:pPr defTabSz="914400"/>
                      <a:r>
                        <a:rPr b="0" i="0" strike="noStrike" dirty="0"/>
                        <a:t> (Quick Access Toolbar Control Clone)</a:t>
                      </a:r>
                      <a:endParaRPr b="1" i="0" strike="noStrike" dirty="0"/>
                    </a:p>
                  </a:txBody>
                  <a:tcPr horzOverflow="overflow"/>
                </a:tc>
                <a:tc>
                  <a:txBody>
                    <a:bodyPr/>
                    <a:lstStyle/>
                    <a:p>
                      <a:pPr algn="l" defTabSz="914400"/>
                      <a:r>
                        <a:rPr/>
                        <a:t>2.2.13</a:t>
                      </a:r>
                    </a:p>
                  </a:txBody>
                  <a:tcPr horzOverflow="overflow"/>
                </a:tc>
              </a:tr>
            </a:tbl>
          </a:graphicData>
        </a:graphic>
      </p:graphicFrame>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101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separator</a:t>
                      </a:r>
                    </a:p>
                    <a:p>
                      <a:pPr defTabSz="914400"/>
                      <a:r>
                        <a:rPr b="0" i="0" strike="noStrike" dirty="0"/>
                        <a:t> (Separator)</a:t>
                      </a:r>
                      <a:endParaRPr b="1" i="0" strike="noStrike" dirty="0"/>
                    </a:p>
                  </a:txBody>
                  <a:tcPr horzOverflow="overflow"/>
                </a:tc>
                <a:tc>
                  <a:txBody>
                    <a:bodyPr/>
                    <a:lstStyle/>
                    <a:p>
                      <a:pPr algn="l" defTabSz="914400"/>
                      <a:r>
                        <a:rPr/>
                        <a:t>2.2.34</a:t>
                      </a:r>
                    </a:p>
                  </a:txBody>
                  <a:tcPr horzOverflow="overflow"/>
                </a:tc>
              </a:tr>
            </a:tbl>
          </a:graphicData>
        </a:graphic>
      </p:graphicFrame>
      <p:sp>
        <p:nvSpPr>
          <p:cNvPr id="3" name="TextBox3"/>
          <p:cNvSpPr txBox="1">
            <a:spLocks noChangeArrowheads="1"/>
          </p:cNvSpPr>
          <p:nvPr/>
        </p:nvSpPr>
        <p:spPr>
          <a:xfrm rot="0">
            <a:off x="508000" y="1574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1920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name="CT_QatItems"&gt;</a:t>
            </a:r>
          </a:p>
        </p:txBody>
      </p:sp>
      <p:sp>
        <p:nvSpPr>
          <p:cNvPr id="5" name="TextBox5"/>
          <p:cNvSpPr txBox="1">
            <a:spLocks noChangeArrowheads="1"/>
          </p:cNvSpPr>
          <p:nvPr/>
        </p:nvSpPr>
        <p:spPr>
          <a:xfrm rot="0">
            <a:off x="508000" y="226568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6" name="TextBox6"/>
          <p:cNvSpPr txBox="1">
            <a:spLocks noChangeArrowheads="1"/>
          </p:cNvSpPr>
          <p:nvPr/>
        </p:nvSpPr>
        <p:spPr>
          <a:xfrm rot="0">
            <a:off x="508000" y="2611120"/>
            <a:ext cx="11176000" cy="320040"/>
          </a:xfrm>
          <a:prstGeom prst="rect">
            <a:avLst/>
          </a:prstGeom>
          <a:ln>
            <a:headEnd type="none"/>
            <a:tailEnd type="none"/>
          </a:ln>
        </p:spPr>
        <p:txBody>
          <a:bodyPr wrap="square">
            <a:spAutoFit/>
          </a:bodyPr>
          <a:lstStyle/>
          <a:p>
            <a:pPr algn="l" defTabSz="914400"/>
            <a:r>
              <a:rPr b="0" i="0" strike="noStrike" dirty="0"/>
              <a:t>&lt;xsd:choice </a:t>
            </a:r>
            <a:r>
              <a:rPr b="0" i="0" strike="noStrike" dirty="0"/>
              <a:t>minOccurs="0" </a:t>
            </a:r>
            <a:r>
              <a:rPr b="0" i="0" strike="noStrike" dirty="0"/>
              <a:t>maxOccurs="1000"&gt;</a:t>
            </a:r>
          </a:p>
        </p:txBody>
      </p:sp>
      <p:sp>
        <p:nvSpPr>
          <p:cNvPr id="7" name="TextBox7"/>
          <p:cNvSpPr txBox="1">
            <a:spLocks noChangeArrowheads="1"/>
          </p:cNvSpPr>
          <p:nvPr/>
        </p:nvSpPr>
        <p:spPr>
          <a:xfrm rot="0">
            <a:off x="508000" y="295656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name="control" </a:t>
            </a:r>
            <a:r>
              <a:rPr b="0" i="0" strike="noStrike" dirty="0"/>
              <a:t>type="CT_ControlCloneQat"/&gt;</a:t>
            </a:r>
          </a:p>
        </p:txBody>
      </p:sp>
      <p:sp>
        <p:nvSpPr>
          <p:cNvPr id="8" name="TextBox8"/>
          <p:cNvSpPr txBox="1">
            <a:spLocks noChangeArrowheads="1"/>
          </p:cNvSpPr>
          <p:nvPr/>
        </p:nvSpPr>
        <p:spPr>
          <a:xfrm rot="0">
            <a:off x="508000" y="330200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name="button" </a:t>
            </a:r>
            <a:r>
              <a:rPr b="0" i="0" strike="noStrike" dirty="0"/>
              <a:t>type="CT_ButtonRegular"/&gt;</a:t>
            </a:r>
          </a:p>
        </p:txBody>
      </p:sp>
      <p:sp>
        <p:nvSpPr>
          <p:cNvPr id="9" name="TextBox9"/>
          <p:cNvSpPr txBox="1">
            <a:spLocks noChangeArrowheads="1"/>
          </p:cNvSpPr>
          <p:nvPr/>
        </p:nvSpPr>
        <p:spPr>
          <a:xfrm rot="0">
            <a:off x="508000" y="3647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name="separator" </a:t>
            </a:r>
            <a:r>
              <a:rPr b="0" i="0" strike="noStrike" dirty="0"/>
              <a:t>type="CT_Separator"/&gt;</a:t>
            </a:r>
          </a:p>
        </p:txBody>
      </p:sp>
      <p:sp>
        <p:nvSpPr>
          <p:cNvPr id="10" name="TextBox10"/>
          <p:cNvSpPr txBox="1">
            <a:spLocks noChangeArrowheads="1"/>
          </p:cNvSpPr>
          <p:nvPr/>
        </p:nvSpPr>
        <p:spPr>
          <a:xfrm rot="0">
            <a:off x="508000" y="3992880"/>
            <a:ext cx="11176000" cy="320040"/>
          </a:xfrm>
          <a:prstGeom prst="rect">
            <a:avLst/>
          </a:prstGeom>
          <a:ln>
            <a:headEnd type="none"/>
            <a:tailEnd type="none"/>
          </a:ln>
        </p:spPr>
        <p:txBody>
          <a:bodyPr wrap="square">
            <a:spAutoFit/>
          </a:bodyPr>
          <a:lstStyle/>
          <a:p>
            <a:pPr algn="l" defTabSz="914400"/>
            <a:r>
              <a:rPr b="0" i="0" strike="noStrike" dirty="0"/>
              <a:t>&lt;/xsd:choice&gt;</a:t>
            </a:r>
          </a:p>
        </p:txBody>
      </p:sp>
      <p:sp>
        <p:nvSpPr>
          <p:cNvPr id="11" name="TextBox11"/>
          <p:cNvSpPr txBox="1">
            <a:spLocks noChangeArrowheads="1"/>
          </p:cNvSpPr>
          <p:nvPr/>
        </p:nvSpPr>
        <p:spPr>
          <a:xfrm rot="0">
            <a:off x="508000" y="433832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12" name="TextBox12"/>
          <p:cNvSpPr txBox="1">
            <a:spLocks noChangeArrowheads="1"/>
          </p:cNvSpPr>
          <p:nvPr/>
        </p:nvSpPr>
        <p:spPr>
          <a:xfrm rot="0">
            <a:off x="508000" y="468376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13" name="TextBox13"/>
          <p:cNvSpPr txBox="1">
            <a:spLocks noChangeArrowheads="1"/>
          </p:cNvSpPr>
          <p:nvPr/>
        </p:nvSpPr>
        <p:spPr>
          <a:xfrm rot="0">
            <a:off x="508000" y="5029200"/>
            <a:ext cx="11176000" cy="853440"/>
          </a:xfrm>
          <a:prstGeom prst="rect">
            <a:avLst/>
          </a:prstGeom>
          <a:ln>
            <a:headEnd type="none"/>
            <a:tailEnd type="none"/>
          </a:ln>
        </p:spPr>
        <p:txBody>
          <a:bodyPr wrap="square">
            <a:spAutoFit/>
          </a:bodyPr>
          <a:lstStyle/>
          <a:p>
            <a:pPr algn="l" defTabSz="914400">
              <a:defRPr sz="2400" b="1" dirty="0"/>
            </a:pPr>
            <a:r>
              <a:rPr b="1" i="0" strike="noStrike" dirty="0"/>
              <a:t>splitButton </a:t>
            </a:r>
            <a:r>
              <a:rPr b="1" i="0" strike="noStrike" dirty="0"/>
              <a:t>(Unsized </a:t>
            </a:r>
            <a:r>
              <a:rPr b="1" i="0" strike="noStrike" dirty="0"/>
              <a:t>Split </a:t>
            </a:r>
            <a:r>
              <a:rPr b="1" i="0" strike="noStrike" dirty="0"/>
              <a:t>Button) </a:t>
            </a:r>
            <a:r>
              <a:rPr b="1" i="0" strike="noStrike" dirty="0"/>
              <a:t>XE </a:t>
            </a:r>
            <a:r>
              <a:rPr b="1" i="0" strike="noStrike" dirty="0"/>
              <a:t>"Elements:splitButton </a:t>
            </a:r>
            <a:r>
              <a:rPr b="1" i="0" strike="noStrike" dirty="0"/>
              <a:t>(unsized </a:t>
            </a:r>
            <a:r>
              <a:rPr b="1" i="0" strike="noStrike" dirty="0"/>
              <a:t>split </a:t>
            </a:r>
            <a:r>
              <a:rPr b="1" i="0" strike="noStrike" dirty="0"/>
              <a:t>button)"</a:t>
            </a:r>
          </a:p>
        </p:txBody>
      </p:sp>
      <p:sp>
        <p:nvSpPr>
          <p:cNvPr id="14" name="TextBox14"/>
          <p:cNvSpPr txBox="1">
            <a:spLocks noChangeArrowheads="1"/>
          </p:cNvSpPr>
          <p:nvPr/>
        </p:nvSpPr>
        <p:spPr>
          <a:xfrm rot="0">
            <a:off x="508000" y="5908040"/>
            <a:ext cx="11176000" cy="32004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split </a:t>
            </a:r>
            <a:r>
              <a:rPr b="0" i="0" strike="noStrike" dirty="0"/>
              <a:t>button </a:t>
            </a:r>
            <a:r>
              <a:rPr b="0" i="0" strike="noStrike" dirty="0"/>
              <a:t>control </a:t>
            </a:r>
            <a:r>
              <a:rPr b="0" i="0" strike="noStrike" dirty="0"/>
              <a:t>that, </a:t>
            </a:r>
            <a:r>
              <a:rPr b="0" i="0" strike="noStrike" dirty="0"/>
              <a:t>because </a:t>
            </a:r>
            <a:r>
              <a:rPr b="0" i="0" strike="noStrike" dirty="0"/>
              <a:t>of </a:t>
            </a:r>
            <a:r>
              <a:rPr b="0" i="0" strike="noStrike" dirty="0"/>
              <a:t>its </a:t>
            </a:r>
            <a:r>
              <a:rPr b="0" i="0" strike="noStrike" dirty="0"/>
              <a:t>location, </a:t>
            </a:r>
            <a:r>
              <a:rPr b="0" i="0" strike="noStrike" dirty="0"/>
              <a:t>cannot </a:t>
            </a:r>
            <a:r>
              <a:rPr b="0" i="0" strike="noStrike" dirty="0"/>
              <a:t>have </a:t>
            </a:r>
            <a:r>
              <a:rPr b="0" i="0" strike="noStrike" dirty="0"/>
              <a:t>its </a:t>
            </a: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b="0" i="0" strike="noStrike" dirty="0"/>
              <a:t>size </a:t>
            </a:r>
            <a:r>
              <a:rPr b="0" i="0" strike="noStrike" dirty="0"/>
              <a:t>changed. </a:t>
            </a:r>
            <a:r>
              <a:rPr b="0" i="0" strike="noStrike" dirty="0"/>
              <a:t>The </a:t>
            </a:r>
            <a:r>
              <a:rPr b="1" i="0" strike="noStrike" dirty="0"/>
              <a:t>size</a:t>
            </a:r>
            <a:r>
              <a:rPr b="0" i="0" strike="noStrike" dirty="0"/>
              <a:t> </a:t>
            </a:r>
            <a:r>
              <a:rPr b="0" i="0" strike="noStrike" dirty="0"/>
              <a:t>attribute </a:t>
            </a:r>
            <a:r>
              <a:rPr b="0" i="0" strike="noStrike" dirty="0"/>
              <a:t>is </a:t>
            </a:r>
            <a:r>
              <a:rPr b="0" i="0" strike="noStrike" dirty="0"/>
              <a:t>not </a:t>
            </a:r>
            <a:r>
              <a:rPr b="0" i="0" strike="noStrike" dirty="0"/>
              <a:t>present. </a:t>
            </a:r>
            <a:r>
              <a:rPr b="0" i="0" strike="noStrike" dirty="0"/>
              <a:t>It </a:t>
            </a:r>
            <a:r>
              <a:rPr b="0" i="0" strike="noStrike" dirty="0"/>
              <a:t>otherwise </a:t>
            </a:r>
            <a:r>
              <a:rPr b="0" i="0" strike="noStrike" dirty="0"/>
              <a:t>behaves </a:t>
            </a:r>
            <a:r>
              <a:rPr b="0" i="0" strike="noStrike" dirty="0"/>
              <a:t>identically </a:t>
            </a:r>
            <a:r>
              <a:rPr b="0" i="0" strike="noStrike" dirty="0"/>
              <a:t>to </a:t>
            </a:r>
            <a:r>
              <a:rPr b="0" i="0" strike="noStrike" dirty="0"/>
              <a:t>the </a:t>
            </a:r>
            <a:r>
              <a:rPr b="0" i="0" strike="noStrike" dirty="0"/>
              <a:t>regular </a:t>
            </a:r>
            <a:r>
              <a:rPr b="1" i="0" strike="noStrike" dirty="0"/>
              <a:t>splitButton</a:t>
            </a:r>
            <a:r>
              <a:rPr b="0" i="0" strike="noStrike" dirty="0"/>
              <a:t> </a:t>
            </a:r>
            <a:r>
              <a:rPr b="0" i="0" strike="noStrike" dirty="0"/>
              <a:t>element, </a:t>
            </a:r>
            <a:r>
              <a:rPr b="0" i="0" strike="noStrike" dirty="0"/>
              <a:t>as </a:t>
            </a:r>
            <a:r>
              <a:rPr b="0" i="0" strike="noStrike" dirty="0"/>
              <a:t>specified </a:t>
            </a:r>
            <a:r>
              <a:rPr b="0" i="0" strike="noStrike" dirty="0"/>
              <a:t>in </a:t>
            </a:r>
            <a:r>
              <a:rPr b="0" i="0" strike="noStrike" dirty="0"/>
              <a:t>section </a:t>
            </a:r>
            <a:r>
              <a:rPr/>
              <a:t>2.2.38</a:t>
            </a:r>
            <a:r>
              <a:rPr b="0" i="0" strike="noStrike" dirty="0"/>
              <a:t>.</a:t>
            </a:r>
          </a:p>
        </p:txBody>
      </p:sp>
      <p:sp>
        <p:nvSpPr>
          <p:cNvPr id="3" name="TextBox3"/>
          <p:cNvSpPr txBox="1">
            <a:spLocks noChangeArrowheads="1"/>
          </p:cNvSpPr>
          <p:nvPr/>
        </p:nvSpPr>
        <p:spPr>
          <a:xfrm rot="0">
            <a:off x="508000" y="117348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4" name="Table 4"/>
          <p:cNvGraphicFramePr/>
          <p:nvPr/>
        </p:nvGraphicFramePr>
        <p:xfrm rot="0">
          <a:off x="508000" y="151892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buttonGroup</a:t>
                      </a:r>
                    </a:p>
                    <a:p>
                      <a:pPr defTabSz="914400"/>
                      <a:r>
                        <a:rPr b="0" i="0" strike="noStrike" dirty="0"/>
                        <a:t> (section </a:t>
                      </a:r>
                      <a:endParaRPr b="1" i="0" strike="noStrike" dirty="0"/>
                    </a:p>
                    <a:p>
                      <a:pPr defTabSz="914400"/>
                      <a:r>
                        <a:rPr/>
                        <a:t>2.2.5</a:t>
                      </a:r>
                      <a:endParaRPr b="1" i="0" strike="noStrike" dirty="0"/>
                    </a:p>
                    <a:p>
                      <a:pPr defTabSz="914400"/>
                      <a:r>
                        <a:rPr b="0" i="0" strike="noStrike" dirty="0"/>
                        <a:t>); </a:t>
                      </a:r>
                      <a:endParaRPr b="1" i="0" strike="noStrike" dirty="0"/>
                    </a:p>
                    <a:p>
                      <a:pPr defTabSz="914400"/>
                      <a:r>
                        <a:rPr b="1" i="0" strike="noStrike" dirty="0"/>
                        <a:t>menu</a:t>
                      </a:r>
                      <a:endParaRPr b="1" i="0" strike="noStrike" dirty="0"/>
                    </a:p>
                    <a:p>
                      <a:pPr defTabSz="914400"/>
                      <a:r>
                        <a:rPr b="0" i="0" strike="noStrike" dirty="0"/>
                        <a:t> (section </a:t>
                      </a:r>
                      <a:endParaRPr b="1" i="0" strike="noStrike" dirty="0"/>
                    </a:p>
                    <a:p>
                      <a:pPr defTabSz="914400"/>
                      <a:r>
                        <a:rPr/>
                        <a:t>2.2.28</a:t>
                      </a:r>
                      <a:endParaRPr b="1" i="0" strike="noStrike" dirty="0"/>
                    </a:p>
                    <a:p>
                      <a:pPr defTabSz="914400"/>
                      <a:r>
                        <a:rPr b="0" i="0" strike="noStrike" dirty="0"/>
                        <a:t>); </a:t>
                      </a:r>
                      <a:endParaRPr b="1" i="0" strike="noStrike" dirty="0"/>
                    </a:p>
                    <a:p>
                      <a:pPr defTabSz="914400"/>
                      <a:r>
                        <a:rPr b="1" i="0" strike="noStrike" dirty="0"/>
                        <a:t>menu</a:t>
                      </a:r>
                      <a:endParaRPr b="1" i="0" strike="noStrike" dirty="0"/>
                    </a:p>
                    <a:p>
                      <a:pPr defTabSz="914400"/>
                      <a:r>
                        <a:rPr b="0" i="0" strike="noStrike" dirty="0"/>
                        <a:t> (section </a:t>
                      </a:r>
                      <a:endParaRPr b="1" i="0" strike="noStrike" dirty="0"/>
                    </a:p>
                    <a:p>
                      <a:pPr defTabSz="914400"/>
                      <a:r>
                        <a:rPr/>
                        <a:t>2.2.26</a:t>
                      </a:r>
                      <a:endParaRPr b="1" i="0" strike="noStrike" dirty="0"/>
                    </a:p>
                    <a:p>
                      <a:pPr defTabSz="914400"/>
                      <a:r>
                        <a:rPr b="0" i="0" strike="noStrike" dirty="0"/>
                        <a:t>); </a:t>
                      </a:r>
                      <a:endParaRPr b="1" i="0" strike="noStrike" dirty="0"/>
                    </a:p>
                    <a:p>
                      <a:pPr defTabSz="914400"/>
                      <a:r>
                        <a:rPr b="1" i="0" strike="noStrike" dirty="0"/>
                        <a:t>menu</a:t>
                      </a:r>
                      <a:endParaRPr b="1" i="0" strike="noStrike" dirty="0"/>
                    </a:p>
                    <a:p>
                      <a:pPr defTabSz="914400"/>
                      <a:r>
                        <a:rPr b="0" i="0" strike="noStrike" dirty="0"/>
                        <a:t> (section </a:t>
                      </a:r>
                      <a:endParaRPr b="1" i="0" strike="noStrike" dirty="0"/>
                    </a:p>
                    <a:p>
                      <a:pPr defTabSz="914400"/>
                      <a:r>
                        <a:rPr/>
                        <a:t>2.2.29</a:t>
                      </a:r>
                      <a:endParaRPr b="1" i="0" strike="noStrike" dirty="0"/>
                    </a:p>
                    <a:p>
                      <a:pPr defTabSz="914400"/>
                      <a:r>
                        <a:rPr b="0" i="0" strike="noStrike" dirty="0"/>
                        <a:t>)</a:t>
                      </a:r>
                      <a:endParaRPr b="1" i="0" strike="noStrike" dirty="0"/>
                    </a:p>
                  </a:txBody>
                  <a:tcPr horzOverflow="overflow"/>
                </a:tc>
              </a:tr>
            </a:tbl>
          </a:graphicData>
        </a:graphic>
      </p:graphicFrame>
      <p:sp>
        <p:nvSpPr>
          <p:cNvPr id="5" name="TextBox5"/>
          <p:cNvSpPr txBox="1">
            <a:spLocks noChangeArrowheads="1"/>
          </p:cNvSpPr>
          <p:nvPr/>
        </p:nvSpPr>
        <p:spPr>
          <a:xfrm rot="0">
            <a:off x="508000" y="258572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graphicFrame>
        <p:nvGraphicFramePr>
          <p:cNvPr id="6" name="Table 6"/>
          <p:cNvGraphicFramePr/>
          <p:nvPr/>
        </p:nvGraphicFramePr>
        <p:xfrm rot="0">
          <a:off x="508000" y="2931160"/>
          <a:ext cx="11176000" cy="203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button</a:t>
                      </a:r>
                    </a:p>
                    <a:p>
                      <a:pPr defTabSz="914400"/>
                      <a:r>
                        <a:rPr b="0" i="0" strike="noStrike" dirty="0"/>
                        <a:t> (Button Inside of a Split Button)</a:t>
                      </a:r>
                      <a:endParaRPr b="1" i="0" strike="noStrike" dirty="0"/>
                    </a:p>
                  </a:txBody>
                  <a:tcPr horzOverflow="overflow"/>
                </a:tc>
                <a:tc>
                  <a:txBody>
                    <a:bodyPr/>
                    <a:lstStyle/>
                    <a:p>
                      <a:pPr algn="l" defTabSz="914400"/>
                      <a:r>
                        <a:rPr/>
                        <a:t>2.2.4</a:t>
                      </a:r>
                    </a:p>
                  </a:txBody>
                  <a:tcPr horzOverflow="overflow"/>
                </a:tc>
              </a:tr>
              <a:tr h="508000">
                <a:tc>
                  <a:txBody>
                    <a:bodyPr/>
                    <a:lstStyle/>
                    <a:p>
                      <a:pPr algn="l" defTabSz="914400"/>
                      <a:r>
                        <a:rPr b="1" i="0" strike="noStrike" dirty="0"/>
                        <a:t>menu</a:t>
                      </a:r>
                    </a:p>
                    <a:p>
                      <a:pPr defTabSz="914400"/>
                      <a:r>
                        <a:rPr b="0" i="0" strike="noStrike" dirty="0"/>
                        <a:t> (Unsized Menu)</a:t>
                      </a:r>
                      <a:endParaRPr b="1" i="0" strike="noStrike" dirty="0"/>
                    </a:p>
                  </a:txBody>
                  <a:tcPr horzOverflow="overflow"/>
                </a:tc>
                <a:tc>
                  <a:txBody>
                    <a:bodyPr/>
                    <a:lstStyle/>
                    <a:p>
                      <a:pPr algn="l" defTabSz="914400"/>
                      <a:r>
                        <a:rPr b="0" i="0" strike="noStrike" dirty="0"/>
                        <a:t>2.2.26</a:t>
                      </a:r>
                    </a:p>
                  </a:txBody>
                  <a:tcPr horzOverflow="overflow"/>
                </a:tc>
              </a:tr>
              <a:tr h="508000">
                <a:tc>
                  <a:txBody>
                    <a:bodyPr/>
                    <a:lstStyle/>
                    <a:p>
                      <a:pPr algn="l" defTabSz="914400"/>
                      <a:r>
                        <a:rPr b="1" i="0" strike="noStrike" dirty="0"/>
                        <a:t>toggleButton</a:t>
                      </a:r>
                    </a:p>
                    <a:p>
                      <a:pPr defTabSz="914400"/>
                      <a:r>
                        <a:rPr b="0" i="0" strike="noStrike" dirty="0"/>
                        <a:t> (Toggle Button Inside of a Split Button)</a:t>
                      </a:r>
                      <a:endParaRPr b="1" i="0" strike="noStrike" dirty="0"/>
                    </a:p>
                  </a:txBody>
                  <a:tcPr horzOverflow="overflow"/>
                </a:tc>
                <a:tc>
                  <a:txBody>
                    <a:bodyPr/>
                    <a:lstStyle/>
                    <a:p>
                      <a:pPr algn="l" defTabSz="914400"/>
                      <a:r>
                        <a:rPr/>
                        <a:t>2.2.44</a:t>
                      </a:r>
                    </a:p>
                  </a:txBody>
                  <a:tcPr horzOverflow="overflow"/>
                </a:tc>
              </a:tr>
            </a:tbl>
          </a:graphicData>
        </a:graphic>
      </p:graphicFrame>
      <p:sp>
        <p:nvSpPr>
          <p:cNvPr id="7" name="TextBox7"/>
          <p:cNvSpPr txBox="1">
            <a:spLocks noChangeArrowheads="1"/>
          </p:cNvSpPr>
          <p:nvPr/>
        </p:nvSpPr>
        <p:spPr>
          <a:xfrm rot="0">
            <a:off x="508000" y="501396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enabled</a:t>
                      </a:r>
                    </a:p>
                    <a:p>
                      <a:pPr defTabSz="914400"/>
                      <a:r>
                        <a:rPr b="0" i="0" strike="noStrike" dirty="0"/>
                        <a:t> (enabled state)</a:t>
                      </a:r>
                      <a:endParaRPr b="1" i="0" strike="noStrike" dirty="0"/>
                    </a:p>
                  </a:txBody>
                  <a:tcPr horzOverflow="overflow"/>
                </a:tc>
                <a:tc>
                  <a:txBody>
                    <a:bodyPr/>
                    <a:lstStyle/>
                    <a:p>
                      <a:pPr algn="l" defTabSz="914400"/>
                      <a:r>
                        <a:rPr b="0" i="0" strike="noStrike" dirty="0"/>
                        <a:t>Specifies the enabled state of the control. The </a:t>
                      </a:r>
                    </a:p>
                    <a:p>
                      <a:pPr defTabSz="914400"/>
                      <a:r>
                        <a:rPr b="1" i="0" strike="noStrike" dirty="0"/>
                        <a:t>getEnabled</a:t>
                      </a:r>
                      <a:endParaRPr b="0" i="0" strike="noStrike" dirty="0"/>
                    </a:p>
                    <a:p>
                      <a:pPr defTabSz="914400"/>
                      <a:r>
                        <a:rPr b="0" i="0" strike="noStrike" dirty="0"/>
                        <a:t> and </a:t>
                      </a:r>
                      <a:endParaRPr b="0" i="0" strike="noStrike" dirty="0"/>
                    </a:p>
                    <a:p>
                      <a:pPr defTabSz="914400"/>
                      <a:r>
                        <a:rPr b="1" i="0" strike="noStrike" dirty="0"/>
                        <a:t>enabled</a:t>
                      </a:r>
                      <a:endParaRPr b="0" i="0" strike="noStrike" dirty="0"/>
                    </a:p>
                    <a:p>
                      <a:pPr defTabSz="914400"/>
                      <a:r>
                        <a:rPr b="0" i="0" strike="noStrike" dirty="0"/>
                        <a:t> attributes are mutually exclusive. If neither attribute is specified, the control SHOULD default to being enabled. This attribute cannot be used to enable a built-in control that would otherwise be disabled by the application. For example, consider the following XML fragment: &lt;button id="button" label="Disabled Button" enabled="false" /&gt; This specifies a new button that is disabled. A permanently disabled button is not very useful, thus the </a:t>
                      </a:r>
                      <a:endParaRPr b="0" i="0" strike="noStrike" dirty="0"/>
                    </a:p>
                    <a:p>
                      <a:pPr defTabSz="914400"/>
                      <a:r>
                        <a:rPr b="1" i="0" strike="noStrike" dirty="0"/>
                        <a:t>enabled</a:t>
                      </a:r>
                      <a:endParaRPr b="0" i="0" strike="noStrike" dirty="0"/>
                    </a:p>
                    <a:p>
                      <a:pPr defTabSz="914400"/>
                      <a:r>
                        <a:rPr b="0" i="0" strike="noStrike" dirty="0"/>
                        <a:t> attribute is not commonly used.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getEnabled</a:t>
                      </a:r>
                    </a:p>
                    <a:p>
                      <a:pPr defTabSz="914400"/>
                      <a:r>
                        <a:rPr b="0" i="0" strike="noStrike" dirty="0"/>
                        <a:t> ( </a:t>
                      </a:r>
                      <a:endParaRPr b="1" i="0" strike="noStrike" dirty="0"/>
                    </a:p>
                    <a:p>
                      <a:pPr defTabSz="914400"/>
                      <a:r>
                        <a:rPr b="1" i="0" strike="noStrike" dirty="0"/>
                        <a:t>getEnabled</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enabled state of this control. The </a:t>
                      </a:r>
                    </a:p>
                    <a:p>
                      <a:pPr defTabSz="914400"/>
                      <a:r>
                        <a:rPr b="1" i="0" strike="noStrike" dirty="0"/>
                        <a:t>getEnabled</a:t>
                      </a:r>
                      <a:endParaRPr b="0" i="0" strike="noStrike" dirty="0"/>
                    </a:p>
                    <a:p>
                      <a:pPr defTabSz="914400"/>
                      <a:r>
                        <a:rPr b="0" i="0" strike="noStrike" dirty="0"/>
                        <a:t> and </a:t>
                      </a:r>
                      <a:endParaRPr b="0" i="0" strike="noStrike" dirty="0"/>
                    </a:p>
                    <a:p>
                      <a:pPr defTabSz="914400"/>
                      <a:r>
                        <a:rPr b="1" i="0" strike="noStrike" dirty="0"/>
                        <a:t>enabled</a:t>
                      </a:r>
                      <a:endParaRPr b="0" i="0" strike="noStrike" dirty="0"/>
                    </a:p>
                    <a:p>
                      <a:pPr defTabSz="914400"/>
                      <a:r>
                        <a:rPr b="0" i="0" strike="noStrike" dirty="0"/>
                        <a:t> attributes are mutually exclusive. If neither attribute is specified, the control SHOULD default to being enabled. For example, consider the following XML fragment: &lt;button id="button" getEnabled="IsButtonEnabled" /&gt; In this example, the </a:t>
                      </a:r>
                      <a:endParaRPr b="0" i="0" strike="noStrike" dirty="0"/>
                    </a:p>
                    <a:p>
                      <a:pPr defTabSz="914400"/>
                      <a:r>
                        <a:rPr b="1" i="0" strike="noStrike" dirty="0"/>
                        <a:t>IsButtonEnabled</a:t>
                      </a:r>
                      <a:endParaRPr b="0" i="0" strike="noStrike" dirty="0"/>
                    </a:p>
                    <a:p>
                      <a:pPr defTabSz="914400"/>
                      <a:r>
                        <a:rPr b="0" i="0" strike="noStrike" dirty="0"/>
                        <a:t> callback function is called when the application needs to determine the enabled state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a:t>
                      </a:r>
                      <a:endParaRPr b="0" i="0" strike="noStrike" dirty="0"/>
                    </a:p>
                    <a:p>
                      <a:pPr defTabSz="914400"/>
                      <a:r>
                        <a:rPr/>
                        <a:t>2.3.2</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getImage</a:t>
                      </a:r>
                    </a:p>
                    <a:p>
                      <a:pPr defTabSz="914400"/>
                      <a:r>
                        <a:rPr b="0" i="0" strike="noStrike" dirty="0"/>
                        <a:t> ( </a:t>
                      </a:r>
                      <a:endParaRPr b="1" i="0" strike="noStrike" dirty="0"/>
                    </a:p>
                    <a:p>
                      <a:pPr defTabSz="914400"/>
                      <a:r>
                        <a:rPr b="1" i="0" strike="noStrike" dirty="0"/>
                        <a:t>getImage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icon of this control.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getImage="GetButtonImage" /&gt; In this example, the </a:t>
                      </a:r>
                      <a:endParaRPr b="0" i="0" strike="noStrike" dirty="0"/>
                    </a:p>
                    <a:p>
                      <a:pPr defTabSz="914400"/>
                      <a:r>
                        <a:rPr b="1" i="0" strike="noStrike" dirty="0"/>
                        <a:t>GetButtonImage</a:t>
                      </a:r>
                      <a:endParaRPr b="0" i="0" strike="noStrike" dirty="0"/>
                    </a:p>
                    <a:p>
                      <a:pPr defTabSz="914400"/>
                      <a:r>
                        <a:rPr b="0" i="0" strike="noStrike" dirty="0"/>
                        <a:t> callback function is called when the application needs to determine the icon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getKeytip</a:t>
                      </a:r>
                    </a:p>
                    <a:p>
                      <a:pPr defTabSz="914400"/>
                      <a:r>
                        <a:rPr b="0" i="0" strike="noStrike" dirty="0"/>
                        <a:t> ( </a:t>
                      </a:r>
                      <a:endParaRPr b="1" i="0" strike="noStrike" dirty="0"/>
                    </a:p>
                    <a:p>
                      <a:pPr defTabSz="914400"/>
                      <a:r>
                        <a:rPr b="1" i="0" strike="noStrike" dirty="0"/>
                        <a:t>getKeytip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suggested </a:t>
                      </a:r>
                    </a:p>
                    <a:p>
                      <a:pPr defTabSz="914400"/>
                      <a:r>
                        <a:rPr/>
                        <a:t>KeyTip</a:t>
                      </a:r>
                      <a:endParaRPr b="0" i="0" strike="noStrike" dirty="0"/>
                    </a:p>
                    <a:p>
                      <a:pPr defTabSz="914400"/>
                      <a:r>
                        <a:rPr b="0" i="0" strike="noStrike" dirty="0"/>
                        <a:t> of this control. The </a:t>
                      </a:r>
                      <a:endParaRPr b="0" i="0" strike="noStrike" dirty="0"/>
                    </a:p>
                    <a:p>
                      <a:pPr defTabSz="914400"/>
                      <a:r>
                        <a:rPr b="1" i="0" strike="noStrike" dirty="0"/>
                        <a:t>getKeytip</a:t>
                      </a:r>
                      <a:endParaRPr b="0" i="0" strike="noStrike" dirty="0"/>
                    </a:p>
                    <a:p>
                      <a:pPr defTabSz="914400"/>
                      <a:r>
                        <a:rPr b="0" i="0" strike="noStrike" dirty="0"/>
                        <a:t> and </a:t>
                      </a:r>
                      <a:endParaRPr b="0" i="0" strike="noStrike" dirty="0"/>
                    </a:p>
                    <a:p>
                      <a:pPr defTabSz="914400"/>
                      <a:r>
                        <a:rPr b="1" i="0" strike="noStrike" dirty="0"/>
                        <a:t>keytip</a:t>
                      </a:r>
                      <a:endParaRPr b="0" i="0" strike="noStrike" dirty="0"/>
                    </a:p>
                    <a:p>
                      <a:pPr defTabSz="914400"/>
                      <a:r>
                        <a:rPr b="0" i="0" strike="noStrike" dirty="0"/>
                        <a:t> attributes are mutually exclusive. If neither attribute is specified, the application SHOULD generate a KeyTip for the control automatically. For example, consider the following XML fragment: &lt;button id="button" getKeytip="GetButtonKeytip" /&gt; In this example, the </a:t>
                      </a:r>
                      <a:endParaRPr b="0" i="0" strike="noStrike" dirty="0"/>
                    </a:p>
                    <a:p>
                      <a:pPr defTabSz="914400"/>
                      <a:r>
                        <a:rPr b="1" i="0" strike="noStrike" dirty="0"/>
                        <a:t>GetButtonKeytip</a:t>
                      </a:r>
                      <a:endParaRPr b="0" i="0" strike="noStrike" dirty="0"/>
                    </a:p>
                    <a:p>
                      <a:pPr defTabSz="914400"/>
                      <a:r>
                        <a:rPr b="0" i="0" strike="noStrike" dirty="0"/>
                        <a:t> callback function is called when the application needs to determine the KeyTip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getLabel</a:t>
                      </a:r>
                    </a:p>
                    <a:p>
                      <a:pPr defTabSz="914400"/>
                      <a:r>
                        <a:rPr b="0" i="0" strike="noStrike" dirty="0"/>
                        <a:t> ( </a:t>
                      </a:r>
                      <a:endParaRPr b="1" i="0" strike="noStrike" dirty="0"/>
                    </a:p>
                    <a:p>
                      <a:pPr defTabSz="914400"/>
                      <a:r>
                        <a:rPr b="1" i="0" strike="noStrike" dirty="0"/>
                        <a:t>getLabel</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label of this control. The </a:t>
                      </a:r>
                    </a:p>
                    <a:p>
                      <a:pPr defTabSz="914400"/>
                      <a:r>
                        <a:rPr b="1" i="0" strike="noStrike" dirty="0"/>
                        <a:t>getLabel</a:t>
                      </a:r>
                      <a:endParaRPr b="0" i="0" strike="noStrike" dirty="0"/>
                    </a:p>
                    <a:p>
                      <a:pPr defTabSz="914400"/>
                      <a:r>
                        <a:rPr b="0" i="0" strike="noStrike" dirty="0"/>
                        <a:t> and </a:t>
                      </a:r>
                      <a:endParaRPr b="0" i="0" strike="noStrike" dirty="0"/>
                    </a:p>
                    <a:p>
                      <a:pPr defTabSz="914400"/>
                      <a:r>
                        <a:rPr b="1" i="0" strike="noStrike" dirty="0"/>
                        <a:t>label</a:t>
                      </a:r>
                      <a:endParaRPr b="0" i="0" strike="noStrike" dirty="0"/>
                    </a:p>
                    <a:p>
                      <a:pPr defTabSz="914400"/>
                      <a:r>
                        <a:rPr b="0" i="0" strike="noStrike" dirty="0"/>
                        <a:t> attributes are mutually exclusive. If neither attribute is specified, no label SHOULD be displayed. For example, consider the following XML fragment: &lt;button id="button" getLabel="GetButtonLabel" /&gt; In this example, the </a:t>
                      </a:r>
                      <a:endParaRPr b="0" i="0" strike="noStrike" dirty="0"/>
                    </a:p>
                    <a:p>
                      <a:pPr defTabSz="914400"/>
                      <a:r>
                        <a:rPr b="1" i="0" strike="noStrike" dirty="0"/>
                        <a:t>GetButtonLabel</a:t>
                      </a:r>
                      <a:endParaRPr b="0" i="0" strike="noStrike" dirty="0"/>
                    </a:p>
                    <a:p>
                      <a:pPr defTabSz="914400"/>
                      <a:r>
                        <a:rPr b="0" i="0" strike="noStrike" dirty="0"/>
                        <a:t> callback function is called when the application needs to determine the label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getScreentip</a:t>
                      </a:r>
                    </a:p>
                    <a:p>
                      <a:pPr defTabSz="914400"/>
                      <a:r>
                        <a:rPr b="0" i="0" strike="noStrike" dirty="0"/>
                        <a:t> ( </a:t>
                      </a:r>
                      <a:endParaRPr b="1" i="0" strike="noStrike" dirty="0"/>
                    </a:p>
                    <a:p>
                      <a:pPr defTabSz="914400"/>
                      <a:r>
                        <a:rPr b="1" i="0" strike="noStrike" dirty="0"/>
                        <a:t>getScreentip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screentip of this control. The </a:t>
                      </a:r>
                    </a:p>
                    <a:p>
                      <a:pPr defTabSz="914400"/>
                      <a:r>
                        <a:rPr b="1" i="0" strike="noStrike" dirty="0"/>
                        <a:t>getScreentip</a:t>
                      </a:r>
                      <a:endParaRPr b="0" i="0" strike="noStrike" dirty="0"/>
                    </a:p>
                    <a:p>
                      <a:pPr defTabSz="914400"/>
                      <a:r>
                        <a:rPr b="0" i="0" strike="noStrike" dirty="0"/>
                        <a:t> and </a:t>
                      </a:r>
                      <a:endParaRPr b="0" i="0" strike="noStrike" dirty="0"/>
                    </a:p>
                    <a:p>
                      <a:pPr defTabSz="914400"/>
                      <a:r>
                        <a:rPr b="1" i="0" strike="noStrike" dirty="0"/>
                        <a:t>screentip</a:t>
                      </a:r>
                      <a:endParaRPr b="0" i="0" strike="noStrike" dirty="0"/>
                    </a:p>
                    <a:p>
                      <a:pPr defTabSz="914400"/>
                      <a:r>
                        <a:rPr b="0" i="0" strike="noStrike" dirty="0"/>
                        <a:t> attributes are mutually exclusive. If neither attribute is specified, the application SHOULD display the label of the control as the screentip or display no screentip at all. For example, consider the following XML fragment: &lt;button id="button" getScreentip="GetButtonScreentip" /&gt; In this example, the </a:t>
                      </a:r>
                      <a:endParaRPr b="0" i="0" strike="noStrike" dirty="0"/>
                    </a:p>
                    <a:p>
                      <a:pPr defTabSz="914400"/>
                      <a:r>
                        <a:rPr b="1" i="0" strike="noStrike" dirty="0"/>
                        <a:t>GetButtonScreentip</a:t>
                      </a:r>
                      <a:endParaRPr b="0" i="0" strike="noStrike" dirty="0"/>
                    </a:p>
                    <a:p>
                      <a:pPr defTabSz="914400"/>
                      <a:r>
                        <a:rPr b="0" i="0" strike="noStrike" dirty="0"/>
                        <a:t> callback function is called when the application needs to determine the screentip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getShowImage</a:t>
                      </a:r>
                    </a:p>
                    <a:p>
                      <a:pPr defTabSz="914400"/>
                      <a:r>
                        <a:rPr b="0" i="0" strike="noStrike" dirty="0"/>
                        <a:t> ( </a:t>
                      </a:r>
                      <a:endParaRPr b="1" i="0" strike="noStrike" dirty="0"/>
                    </a:p>
                    <a:p>
                      <a:pPr defTabSz="914400"/>
                      <a:r>
                        <a:rPr b="1" i="0" strike="noStrike" dirty="0"/>
                        <a:t>getShowImage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whether the application SHOULD display the icon of this control.  The </a:t>
                      </a:r>
                    </a:p>
                    <a:p>
                      <a:pPr defTabSz="914400"/>
                      <a:r>
                        <a:rPr b="1" i="0" strike="noStrike" dirty="0"/>
                        <a:t>showImage</a:t>
                      </a:r>
                      <a:endParaRPr b="0" i="0" strike="noStrike" dirty="0"/>
                    </a:p>
                    <a:p>
                      <a:pPr defTabSz="914400"/>
                      <a:r>
                        <a:rPr b="0" i="0" strike="noStrike" dirty="0"/>
                        <a:t> and </a:t>
                      </a:r>
                      <a:endParaRPr b="0" i="0" strike="noStrike" dirty="0"/>
                    </a:p>
                    <a:p>
                      <a:pPr defTabSz="914400"/>
                      <a:r>
                        <a:rPr b="1" i="0" strike="noStrike" dirty="0"/>
                        <a:t>getShowImage</a:t>
                      </a:r>
                      <a:endParaRPr b="0" i="0" strike="noStrike" dirty="0"/>
                    </a:p>
                    <a:p>
                      <a:pPr defTabSz="914400"/>
                      <a:r>
                        <a:rPr b="0" i="0" strike="noStrike" dirty="0"/>
                        <a:t> attributes are mutually exclusive. If neither attribute is specified, the control SHOULD display its icon. For example, consider the following XML fragment: &lt;button id="button" getShowImage="IsButtonImageVisible" /&gt; In this example, the </a:t>
                      </a:r>
                      <a:endParaRPr b="0" i="0" strike="noStrike" dirty="0"/>
                    </a:p>
                    <a:p>
                      <a:pPr defTabSz="914400"/>
                      <a:r>
                        <a:rPr b="1" i="0" strike="noStrike" dirty="0"/>
                        <a:t>IsButtonImageVisible</a:t>
                      </a:r>
                      <a:endParaRPr b="0" i="0" strike="noStrike" dirty="0"/>
                    </a:p>
                    <a:p>
                      <a:pPr defTabSz="914400"/>
                      <a:r>
                        <a:rPr b="0" i="0" strike="noStrike" dirty="0"/>
                        <a:t> callback function is called when the application needs to determine whether to display the icon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getShowLabel</a:t>
                      </a:r>
                    </a:p>
                    <a:p>
                      <a:pPr defTabSz="914400"/>
                      <a:r>
                        <a:rPr b="0" i="0" strike="noStrike" dirty="0"/>
                        <a:t> ( </a:t>
                      </a:r>
                      <a:endParaRPr b="1" i="0" strike="noStrike" dirty="0"/>
                    </a:p>
                    <a:p>
                      <a:pPr defTabSz="914400"/>
                      <a:r>
                        <a:rPr b="1" i="0" strike="noStrike" dirty="0"/>
                        <a:t>getShowLabel</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whether the application SHOULD display the label of this control.  The </a:t>
                      </a:r>
                    </a:p>
                    <a:p>
                      <a:pPr defTabSz="914400"/>
                      <a:r>
                        <a:rPr b="1" i="0" strike="noStrike" dirty="0"/>
                        <a:t>showLabel</a:t>
                      </a:r>
                      <a:endParaRPr b="0" i="0" strike="noStrike" dirty="0"/>
                    </a:p>
                    <a:p>
                      <a:pPr defTabSz="914400"/>
                      <a:r>
                        <a:rPr b="0" i="0" strike="noStrike" dirty="0"/>
                        <a:t> and </a:t>
                      </a:r>
                      <a:endParaRPr b="0" i="0" strike="noStrike" dirty="0"/>
                    </a:p>
                    <a:p>
                      <a:pPr defTabSz="914400"/>
                      <a:r>
                        <a:rPr b="1" i="0" strike="noStrike" dirty="0"/>
                        <a:t>getShowLabel</a:t>
                      </a:r>
                      <a:endParaRPr b="0" i="0" strike="noStrike" dirty="0"/>
                    </a:p>
                    <a:p>
                      <a:pPr defTabSz="914400"/>
                      <a:r>
                        <a:rPr b="0" i="0" strike="noStrike" dirty="0"/>
                        <a:t> attributes are mutually exclusive. If neither attribute is specified, the control SHOULD default to showing its label. For example, consider the following XML fragment: &lt;button id="button" getShowLabel="IsButtonLabelVisible" /&gt; In this example, the </a:t>
                      </a:r>
                      <a:endParaRPr b="0" i="0" strike="noStrike" dirty="0"/>
                    </a:p>
                    <a:p>
                      <a:pPr defTabSz="914400"/>
                      <a:r>
                        <a:rPr b="1" i="0" strike="noStrike" dirty="0"/>
                        <a:t>IsButtonLabelVisible</a:t>
                      </a:r>
                      <a:endParaRPr b="0" i="0" strike="noStrike" dirty="0"/>
                    </a:p>
                    <a:p>
                      <a:pPr defTabSz="914400"/>
                      <a:r>
                        <a:rPr b="0" i="0" strike="noStrike" dirty="0"/>
                        <a:t> callback function is called when the application needs to determine whether to display the label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getSupertip</a:t>
                      </a:r>
                    </a:p>
                    <a:p>
                      <a:pPr defTabSz="914400"/>
                      <a:r>
                        <a:rPr b="0" i="0" strike="noStrike" dirty="0"/>
                        <a:t> ( </a:t>
                      </a:r>
                      <a:endParaRPr b="1" i="0" strike="noStrike" dirty="0"/>
                    </a:p>
                    <a:p>
                      <a:pPr defTabSz="914400"/>
                      <a:r>
                        <a:rPr b="1" i="0" strike="noStrike" dirty="0"/>
                        <a:t>getSupertip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supertip of this control. The </a:t>
                      </a:r>
                    </a:p>
                    <a:p>
                      <a:pPr defTabSz="914400"/>
                      <a:r>
                        <a:rPr b="1" i="0" strike="noStrike" dirty="0"/>
                        <a:t>getSupertip</a:t>
                      </a:r>
                      <a:endParaRPr b="0" i="0" strike="noStrike" dirty="0"/>
                    </a:p>
                    <a:p>
                      <a:pPr defTabSz="914400"/>
                      <a:r>
                        <a:rPr b="0" i="0" strike="noStrike" dirty="0"/>
                        <a:t> and </a:t>
                      </a:r>
                      <a:endParaRPr b="0" i="0" strike="noStrike" dirty="0"/>
                    </a:p>
                    <a:p>
                      <a:pPr defTabSz="914400"/>
                      <a:r>
                        <a:rPr b="1" i="0" strike="noStrike" dirty="0"/>
                        <a:t>supertip</a:t>
                      </a:r>
                      <a:endParaRPr b="0" i="0" strike="noStrike" dirty="0"/>
                    </a:p>
                    <a:p>
                      <a:pPr defTabSz="914400"/>
                      <a:r>
                        <a:rPr b="0" i="0" strike="noStrike" dirty="0"/>
                        <a:t> attributes are mutually exclusive. If neither attribute is specified, no supertip for this control SHOULD be shown. For example, consider the following XML fragment: &lt;button id="button" getSupertip="GetButtonSupertip" /&gt; In this example, the </a:t>
                      </a:r>
                      <a:endParaRPr b="0" i="0" strike="noStrike" dirty="0"/>
                    </a:p>
                    <a:p>
                      <a:pPr defTabSz="914400"/>
                      <a:r>
                        <a:rPr b="1" i="0" strike="noStrike" dirty="0"/>
                        <a:t>GetButtonSupertip</a:t>
                      </a:r>
                      <a:endParaRPr b="0" i="0" strike="noStrike" dirty="0"/>
                    </a:p>
                    <a:p>
                      <a:pPr defTabSz="914400"/>
                      <a:r>
                        <a:rPr b="0" i="0" strike="noStrike" dirty="0"/>
                        <a:t> callback function is called when the application needs to determine the supertip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getVisible</a:t>
                      </a:r>
                    </a:p>
                    <a:p>
                      <a:pPr defTabSz="914400"/>
                      <a:r>
                        <a:rPr b="0" i="0" strike="noStrike" dirty="0"/>
                        <a:t> ( </a:t>
                      </a:r>
                      <a:endParaRPr b="1" i="0" strike="noStrike" dirty="0"/>
                    </a:p>
                    <a:p>
                      <a:pPr defTabSz="914400"/>
                      <a:r>
                        <a:rPr b="1" i="0" strike="noStrike" dirty="0"/>
                        <a:t>getVisible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visibility state of this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neither attribute is specified, the control SHOULD default to being visible. For example, consider the following XML fragment: &lt;button id="button" getVisible="IsButtonVisible" /&gt; In this example, the </a:t>
                      </a:r>
                      <a:endParaRPr b="0" i="0" strike="noStrike" dirty="0"/>
                    </a:p>
                    <a:p>
                      <a:pPr defTabSz="914400"/>
                      <a:r>
                        <a:rPr b="1" i="0" strike="noStrike" dirty="0"/>
                        <a:t>IsButtonVisible</a:t>
                      </a:r>
                      <a:endParaRPr b="0" i="0" strike="noStrike" dirty="0"/>
                    </a:p>
                    <a:p>
                      <a:pPr defTabSz="914400"/>
                      <a:r>
                        <a:rPr b="0" i="0" strike="noStrike" dirty="0"/>
                        <a:t> callback function is called when the application needs to determine the visibility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id</a:t>
                      </a:r>
                    </a:p>
                    <a:p>
                      <a:pPr defTabSz="914400"/>
                      <a:r>
                        <a:rPr b="0" i="0" strike="noStrike" dirty="0"/>
                        <a:t> (control identifier)</a:t>
                      </a:r>
                      <a:endParaRPr b="1" i="0" strike="noStrike" dirty="0"/>
                    </a:p>
                  </a:txBody>
                  <a:tcPr horzOverflow="overflow"/>
                </a:tc>
                <a:tc>
                  <a:txBody>
                    <a:bodyPr/>
                    <a:lstStyle/>
                    <a:p>
                      <a:pPr algn="l" defTabSz="914400"/>
                      <a:r>
                        <a:rPr b="0" i="0" strike="noStrike" dirty="0"/>
                        <a:t>Specifies the identifier for a custom control. All custom controls MUST have unique identifiers. The identifier of a control SHOULD be passed to callback functions to identify which control corresponds to the function call. The </a:t>
                      </a:r>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&lt;button id="MyButton" label="Button" /&gt; This specifies a custom button control with an identifier of "MyButton". The possible values for this attribute are defined by the </a:t>
                      </a:r>
                      <a:endParaRPr b="0" i="0" strike="noStrike" dirty="0"/>
                    </a:p>
                    <a:p>
                      <a:pPr defTabSz="914400"/>
                      <a:r>
                        <a:rPr b="1" i="0" strike="noStrike" dirty="0"/>
                        <a:t>ST_UniqueID</a:t>
                      </a:r>
                      <a:endParaRPr b="0" i="0" strike="noStrike" dirty="0"/>
                    </a:p>
                    <a:p>
                      <a:pPr defTabSz="914400"/>
                      <a:r>
                        <a:rPr b="0" i="0" strike="noStrike" dirty="0"/>
                        <a:t> simple type, as specified in section </a:t>
                      </a:r>
                      <a:endParaRPr b="0" i="0" strike="noStrike" dirty="0"/>
                    </a:p>
                    <a:p>
                      <a:pPr defTabSz="914400"/>
                      <a:r>
                        <a:rPr/>
                        <a:t>2.3.13</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idMso</a:t>
                      </a:r>
                    </a:p>
                    <a:p>
                      <a:pPr defTabSz="914400"/>
                      <a:r>
                        <a:rPr b="0" i="0" strike="noStrike" dirty="0"/>
                        <a:t> (built-in control identifier)</a:t>
                      </a:r>
                      <a:endParaRPr b="1" i="0" strike="noStrike" dirty="0"/>
                    </a:p>
                  </a:txBody>
                  <a:tcPr horzOverflow="overflow"/>
                </a:tc>
                <a:tc>
                  <a:txBody>
                    <a:bodyPr/>
                    <a:lstStyle/>
                    <a:p>
                      <a:pPr algn="l" defTabSz="914400"/>
                      <a:r>
                        <a:rPr b="0" i="0" strike="noStrike" dirty="0"/>
                        <a:t>Specifies the identifier of a built-in control.  The contents of this attribute are application-defined. The </a:t>
                      </a:r>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&lt;control idMso="Bold" /&gt; This creates a clone of the control with an identifier of "Bold".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a:t>
                      </a:r>
                      <a:endParaRPr b="0" i="0" strike="noStrike" dirty="0"/>
                    </a:p>
                    <a:p>
                      <a:pPr defTabSz="914400"/>
                      <a:r>
                        <a:rPr/>
                        <a:t>2.3.5</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5080000">
                <a:tc>
                  <a:txBody>
                    <a:bodyPr/>
                    <a:lstStyle/>
                    <a:p>
                      <a:pPr algn="l" defTabSz="914400"/>
                      <a:r>
                        <a:rPr b="1" i="0" strike="noStrike" dirty="0"/>
                        <a:t>idQ</a:t>
                      </a:r>
                    </a:p>
                    <a:p>
                      <a:pPr defTabSz="914400"/>
                      <a:r>
                        <a:rPr b="0" i="0" strike="noStrike" dirty="0"/>
                        <a:t> (qualified control identifier)</a:t>
                      </a:r>
                      <a:endParaRPr b="1" i="0" strike="noStrike" dirty="0"/>
                    </a:p>
                  </a:txBody>
                  <a:tcPr horzOverflow="overflow"/>
                </a:tc>
                <a:tc>
                  <a:txBody>
                    <a:bodyPr/>
                    <a:lstStyle/>
                    <a:p>
                      <a:pPr algn="l" defTabSz="914400"/>
                      <a:r>
                        <a:rPr b="0" i="0" strike="noStrike" dirty="0"/>
                        <a:t>Specifies a qualified identifier for a control. The </a:t>
                      </a:r>
                    </a:p>
                    <a:p>
                      <a:pPr defTabSz="914400"/>
                      <a:r>
                        <a:rPr b="1" i="0" strike="noStrike" dirty="0"/>
                        <a:t>idQ</a:t>
                      </a:r>
                      <a:endParaRPr b="0" i="0" strike="noStrike" dirty="0"/>
                    </a:p>
                    <a:p>
                      <a:pPr defTabSz="914400"/>
                      <a:r>
                        <a:rPr b="0" i="0" strike="noStrike" dirty="0"/>
                        <a:t> attribute can be used to reference controls or containers created by other Custom UI documents. The </a:t>
                      </a:r>
                      <a:endParaRPr b="0" i="0" strike="noStrike" dirty="0"/>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&lt;customUI    xmlns="http://schemas.microsoft.com/office/2006/01/customui"   xmlns:ex="http://www.example.com"&gt;   &lt;ribbon&gt;     &lt;tabs&gt;      &lt;tab idQ="ex:OtherTab" label="Shared Tab"&gt;         &lt;group id="MyGroup" label="My Group"&gt;           …         &lt;/group&gt;       &lt;/tab&gt;     &lt;/tabs&gt;   &lt;/ribbon&gt; &lt;/customUI&gt; In this case, </a:t>
                      </a:r>
                      <a:endParaRPr b="0" i="0" strike="noStrike" dirty="0"/>
                    </a:p>
                    <a:p>
                      <a:pPr defTabSz="914400"/>
                      <a:r>
                        <a:rPr b="1" i="0" strike="noStrike" dirty="0"/>
                        <a:t>ex</a:t>
                      </a:r>
                      <a:endParaRPr b="0" i="0" strike="noStrike" dirty="0"/>
                    </a:p>
                    <a:p>
                      <a:pPr defTabSz="914400"/>
                      <a:r>
                        <a:rPr b="0" i="0" strike="noStrike" dirty="0"/>
                        <a:t> is an XML namespace prefix for the namespace http://www.example.com. This XML fragment refers to a </a:t>
                      </a:r>
                      <a:endParaRPr b="0" i="0" strike="noStrike" dirty="0"/>
                    </a:p>
                    <a:p>
                      <a:pPr defTabSz="914400"/>
                      <a:r>
                        <a:rPr b="1" i="0" strike="noStrike" dirty="0"/>
                        <a:t>tab</a:t>
                      </a:r>
                      <a:endParaRPr b="0" i="0" strike="noStrike" dirty="0"/>
                    </a:p>
                    <a:p>
                      <a:pPr defTabSz="914400"/>
                      <a:r>
                        <a:rPr b="0" i="0" strike="noStrike" dirty="0"/>
                        <a:t> in that namespace with an identifier of "OtherTab". If that tab cannot be found, it is created. A new group belonging to this file is added to the 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a:t>
                      </a:r>
                      <a:endParaRPr b="0" i="0" strike="noStrike" dirty="0"/>
                    </a:p>
                    <a:p>
                      <a:pPr defTabSz="914400"/>
                      <a:r>
                        <a:rPr/>
                        <a:t>2.3.9</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image</a:t>
                      </a:r>
                    </a:p>
                    <a:p>
                      <a:pPr defTabSz="914400"/>
                      <a:r>
                        <a:rPr b="0" i="0" strike="noStrike" dirty="0"/>
                        <a:t> (custom image identifier)</a:t>
                      </a:r>
                      <a:endParaRPr b="1" i="0" strike="noStrike" dirty="0"/>
                    </a:p>
                  </a:txBody>
                  <a:tcPr horzOverflow="overflow"/>
                </a:tc>
                <a:tc>
                  <a:txBody>
                    <a:bodyPr/>
                    <a:lstStyle/>
                    <a:p>
                      <a:pPr algn="l" defTabSz="914400"/>
                      <a:r>
                        <a:rPr b="0" i="0" strike="noStrike" dirty="0"/>
                        <a:t>Specifies the relationship identifier for an image which SHOULD be used as the icon for this control. This attribute is used to specify an embedded picture that resides locally within the containing file.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image="ForestPic" /&gt; This specifies a custom button whose icon SHOULD be the embedded image file referenced by the relationship identifier of "ForestPic". The possible values for this attribute are defined by the </a:t>
                      </a:r>
                      <a:endParaRPr b="0" i="0" strike="noStrike" dirty="0"/>
                    </a:p>
                    <a:p>
                      <a:pPr defTabSz="914400"/>
                      <a:r>
                        <a:rPr b="1" i="0" strike="noStrike" dirty="0"/>
                        <a:t>ST_Uri</a:t>
                      </a:r>
                      <a:endParaRPr b="0" i="0" strike="noStrike" dirty="0"/>
                    </a:p>
                    <a:p>
                      <a:pPr defTabSz="914400"/>
                      <a:r>
                        <a:rPr b="0" i="0" strike="noStrike" dirty="0"/>
                        <a:t> simple type, as specified in section </a:t>
                      </a:r>
                      <a:endParaRPr b="0" i="0" strike="noStrike" dirty="0"/>
                    </a:p>
                    <a:p>
                      <a:pPr defTabSz="914400"/>
                      <a:r>
                        <a:rPr/>
                        <a:t>2.3.14</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imageMso</a:t>
                      </a:r>
                    </a:p>
                    <a:p>
                      <a:pPr defTabSz="914400"/>
                      <a:r>
                        <a:rPr b="0" i="0" strike="noStrike" dirty="0"/>
                        <a:t> (built-in image identifier)</a:t>
                      </a:r>
                      <a:endParaRPr b="1" i="0" strike="noStrike" dirty="0"/>
                    </a:p>
                  </a:txBody>
                  <a:tcPr horzOverflow="overflow"/>
                </a:tc>
                <a:tc>
                  <a:txBody>
                    <a:bodyPr/>
                    <a:lstStyle/>
                    <a:p>
                      <a:pPr algn="l" defTabSz="914400"/>
                      <a:r>
                        <a:rPr b="0" i="0" strike="noStrike" dirty="0"/>
                        <a:t>Specifies the identifier of a built-in image which SHOULD be used as the icon of this control. The contents of this attribute are application-defined and SHOULD be ignored if not understood.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imageMso="Bold" /&gt; This specifies a custom button that SHOULD use the built-in image with an identifier of "Bold".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insertAfterMso</a:t>
                      </a:r>
                    </a:p>
                    <a:p>
                      <a:pPr defTabSz="914400"/>
                      <a:r>
                        <a:rPr b="0" i="0" strike="noStrike" dirty="0"/>
                        <a:t> (identifier of built-in control to insert after)</a:t>
                      </a:r>
                      <a:endParaRPr b="1" i="0" strike="noStrike" dirty="0"/>
                    </a:p>
                  </a:txBody>
                  <a:tcPr horzOverflow="overflow"/>
                </a:tc>
                <a:tc>
                  <a:txBody>
                    <a:bodyPr/>
                    <a:lstStyle/>
                    <a:p>
                      <a:pPr algn="l" defTabSz="914400"/>
                      <a:r>
                        <a:rPr b="0" i="0" strike="noStrike" dirty="0"/>
                        <a:t>Specifies the identifier of a built-in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insertAfterMso="TabHome" label="Custom Tab"&gt;   … &lt;/tab&gt; In this example, a new custom tab with an identifier of "MyTab" is to be inserted after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insertAfterQ</a:t>
                      </a:r>
                    </a:p>
                    <a:p>
                      <a:pPr defTabSz="914400"/>
                      <a:r>
                        <a:rPr b="0" i="0" strike="noStrike" dirty="0"/>
                        <a:t> (qualified identifier of control to insert after)</a:t>
                      </a:r>
                      <a:endParaRPr b="1" i="0" strike="noStrike" dirty="0"/>
                    </a:p>
                  </a:txBody>
                  <a:tcPr horzOverflow="overflow"/>
                </a:tc>
                <a:tc>
                  <a:txBody>
                    <a:bodyPr/>
                    <a:lstStyle/>
                    <a:p>
                      <a:pPr algn="l" defTabSz="914400"/>
                      <a:r>
                        <a:rPr b="0" i="0" strike="noStrike" dirty="0"/>
                        <a:t>Specifies the qualified identifier of a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insertAfterQ="x:OtherTab" label="Custom Tab"&gt;   … &lt;/tab&gt; In this example, a new custom tab with an identifier of "MyTab" is to be inserted after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insertBeforeMso</a:t>
                      </a:r>
                    </a:p>
                    <a:p>
                      <a:pPr defTabSz="914400"/>
                      <a:r>
                        <a:rPr b="0" i="0" strike="noStrike" dirty="0"/>
                        <a:t> (identifier of built-in control to insert before)</a:t>
                      </a:r>
                      <a:endParaRPr b="1" i="0" strike="noStrike" dirty="0"/>
                    </a:p>
                  </a:txBody>
                  <a:tcPr horzOverflow="overflow"/>
                </a:tc>
                <a:tc>
                  <a:txBody>
                    <a:bodyPr/>
                    <a:lstStyle/>
                    <a:p>
                      <a:pPr algn="l" defTabSz="914400"/>
                      <a:r>
                        <a:rPr b="0" i="0" strike="noStrike" dirty="0"/>
                        <a:t>Specifies the identifier of a built-in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insertBeforeMso="TabHome" label="Custom Tab"&gt;   … &lt;/tab&gt; In this example, a new custom tab with an identifier of "MyTab" is to be inserted before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insertBeforeQ</a:t>
                      </a:r>
                    </a:p>
                    <a:p>
                      <a:pPr defTabSz="914400"/>
                      <a:r>
                        <a:rPr b="0" i="0" strike="noStrike" dirty="0"/>
                        <a:t> (qualified identifier of control to insert before)</a:t>
                      </a:r>
                      <a:endParaRPr b="1" i="0" strike="noStrike" dirty="0"/>
                    </a:p>
                  </a:txBody>
                  <a:tcPr horzOverflow="overflow"/>
                </a:tc>
                <a:tc>
                  <a:txBody>
                    <a:bodyPr/>
                    <a:lstStyle/>
                    <a:p>
                      <a:pPr algn="l" defTabSz="914400"/>
                      <a:r>
                        <a:rPr b="0" i="0" strike="noStrike" dirty="0"/>
                        <a:t>Specifies the qualified identifier of a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insertBeforeQ="x:OtherTab" label="Custom Tab"&gt;   … &lt;/tab&gt; In this example, a new custom tab with an identifier of "MyTab" is to be inserted before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84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794000">
                <a:tc>
                  <a:txBody>
                    <a:bodyPr/>
                    <a:lstStyle/>
                    <a:p>
                      <a:pPr algn="l" defTabSz="914400"/>
                      <a:r>
                        <a:rPr b="1" i="0" strike="noStrike" dirty="0"/>
                        <a:t>keytip</a:t>
                      </a:r>
                    </a:p>
                    <a:p>
                      <a:pPr defTabSz="914400"/>
                      <a:r>
                        <a:rPr b="0" i="0" strike="noStrike" dirty="0"/>
                        <a:t> (keytip)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used as the suggested KeyTip for this control. The </a:t>
                      </a:r>
                      <a:endParaRPr b="0" i="0" strike="noStrike" dirty="0"/>
                    </a:p>
                    <a:p>
                      <a:pPr defTabSz="914400"/>
                      <a:r>
                        <a:rPr b="1" i="0" strike="noStrike" dirty="0"/>
                        <a:t>keytip</a:t>
                      </a:r>
                      <a:endParaRPr b="0" i="0" strike="noStrike" dirty="0"/>
                    </a:p>
                    <a:p>
                      <a:pPr defTabSz="914400"/>
                      <a:r>
                        <a:rPr b="0" i="0" strike="noStrike" dirty="0"/>
                        <a:t> and </a:t>
                      </a:r>
                      <a:endParaRPr b="0" i="0" strike="noStrike" dirty="0"/>
                    </a:p>
                    <a:p>
                      <a:pPr defTabSz="914400"/>
                      <a:r>
                        <a:rPr b="1" i="0" strike="noStrike" dirty="0"/>
                        <a:t>getKeytip</a:t>
                      </a:r>
                      <a:endParaRPr b="0" i="0" strike="noStrike" dirty="0"/>
                    </a:p>
                    <a:p>
                      <a:pPr defTabSz="914400"/>
                      <a:r>
                        <a:rPr b="0" i="0" strike="noStrike" dirty="0"/>
                        <a:t> attributes are mutually exclusive. If neither attribute is specified, the application SHOULD generate a KeyTip for the control automatically. For example, consider a button with KeyTip 'K', as follows: </a:t>
                      </a:r>
                      <a:endParaRPr b="0" i="0" strike="noStrike" dirty="0"/>
                    </a:p>
                    <a:p>
                      <a:pPr defTabSz="914400"/>
                      <a:r>
                        <a:rPr/>
                        <a:t>[Button with Key Tip K]</a:t>
                      </a:r>
                      <a:endParaRPr b="0" i="0" strike="noStrike" dirty="0"/>
                    </a:p>
                    <a:p>
                      <a:pPr defTabSz="914400"/>
                      <a:r>
                        <a:rPr b="0" i="0" strike="noStrike" dirty="0"/>
                        <a:t> This is specified using the following XML fragment: &lt;button id="button" imageMso="HappyFace" keytip="K" /&gt; The possible values for this attribute are defined by the </a:t>
                      </a:r>
                      <a:endParaRPr b="0" i="0" strike="noStrike" dirty="0"/>
                    </a:p>
                    <a:p>
                      <a:pPr defTabSz="914400"/>
                      <a:r>
                        <a:rPr b="1" i="0" strike="noStrike" dirty="0"/>
                        <a:t>ST_Keytip</a:t>
                      </a:r>
                      <a:endParaRPr b="0" i="0" strike="noStrike" dirty="0"/>
                    </a:p>
                    <a:p>
                      <a:pPr defTabSz="914400"/>
                      <a:r>
                        <a:rPr b="0" i="0" strike="noStrike" dirty="0"/>
                        <a:t> simple type, as specified in section </a:t>
                      </a:r>
                      <a:endParaRPr b="0" i="0" strike="noStrike" dirty="0"/>
                    </a:p>
                    <a:p>
                      <a:pPr defTabSz="914400"/>
                      <a:r>
                        <a:rPr/>
                        <a:t>2.3.7</a:t>
                      </a:r>
                      <a:endParaRPr b="0" i="0" strike="noStrike" dirty="0"/>
                    </a:p>
                    <a:p>
                      <a:pPr defTabSz="914400"/>
                      <a:r>
                        <a:rPr b="0" i="0" strike="noStrike" dirty="0"/>
                        <a:t>.</a:t>
                      </a:r>
                      <a:endParaRPr b="0" i="0" strike="noStrike" dirty="0"/>
                    </a:p>
                  </a:txBody>
                  <a:tcPr horzOverflow="overflow"/>
                </a:tc>
              </a:tr>
              <a:tr h="2540000">
                <a:tc>
                  <a:txBody>
                    <a:bodyPr/>
                    <a:lstStyle/>
                    <a:p>
                      <a:pPr algn="l" defTabSz="914400"/>
                      <a:r>
                        <a:rPr b="1" i="0" strike="noStrike" dirty="0"/>
                        <a:t>label</a:t>
                      </a:r>
                    </a:p>
                    <a:p>
                      <a:pPr defTabSz="914400"/>
                      <a:r>
                        <a:rPr b="0" i="0" strike="noStrike" dirty="0"/>
                        <a:t> (label)</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used as the label for this control. The </a:t>
                      </a:r>
                      <a:endParaRPr b="0" i="0" strike="noStrike" dirty="0"/>
                    </a:p>
                    <a:p>
                      <a:pPr defTabSz="914400"/>
                      <a:r>
                        <a:rPr b="1" i="0" strike="noStrike" dirty="0"/>
                        <a:t>label</a:t>
                      </a:r>
                      <a:endParaRPr b="0" i="0" strike="noStrike" dirty="0"/>
                    </a:p>
                    <a:p>
                      <a:pPr defTabSz="914400"/>
                      <a:r>
                        <a:rPr b="0" i="0" strike="noStrike" dirty="0"/>
                        <a:t> and </a:t>
                      </a:r>
                      <a:endParaRPr b="0" i="0" strike="noStrike" dirty="0"/>
                    </a:p>
                    <a:p>
                      <a:pPr defTabSz="914400"/>
                      <a:r>
                        <a:rPr b="1" i="0" strike="noStrike" dirty="0"/>
                        <a:t>getLabel</a:t>
                      </a:r>
                      <a:endParaRPr b="0" i="0" strike="noStrike" dirty="0"/>
                    </a:p>
                    <a:p>
                      <a:pPr defTabSz="914400"/>
                      <a:r>
                        <a:rPr b="0" i="0" strike="noStrike" dirty="0"/>
                        <a:t> attributes are mutually exclusive. If neither attribute is specified, no label SHOULD be displayed. For example, consider the following XML fragment: &lt;button id="button" label="Custom Button" /&gt; This specifies a custom </a:t>
                      </a:r>
                      <a:endParaRPr b="0" i="0" strike="noStrike" dirty="0"/>
                    </a:p>
                    <a:p>
                      <a:pPr defTabSz="914400"/>
                      <a:r>
                        <a:rPr b="1" i="0" strike="noStrike" dirty="0"/>
                        <a:t>button</a:t>
                      </a:r>
                      <a:endParaRPr b="0" i="0" strike="noStrike" dirty="0"/>
                    </a:p>
                    <a:p>
                      <a:pPr defTabSz="914400"/>
                      <a:r>
                        <a:rPr b="0" i="0" strike="noStrike" dirty="0"/>
                        <a:t> with a </a:t>
                      </a:r>
                      <a:endParaRPr b="0" i="0" strike="noStrike" dirty="0"/>
                    </a:p>
                    <a:p>
                      <a:pPr defTabSz="914400"/>
                      <a:r>
                        <a:rPr b="1" i="0" strike="noStrike" dirty="0"/>
                        <a:t>label</a:t>
                      </a:r>
                      <a:endParaRPr b="0" i="0" strike="noStrike" dirty="0"/>
                    </a:p>
                    <a:p>
                      <a:pPr defTabSz="914400"/>
                      <a:r>
                        <a:rPr b="0" i="0" strike="noStrike" dirty="0"/>
                        <a:t> of "Custom Button".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a:t>
                      </a:r>
                      <a:endParaRPr b="0" i="0" strike="noStrike" dirty="0"/>
                    </a:p>
                    <a:p>
                      <a:pPr defTabSz="914400"/>
                      <a:r>
                        <a:rPr/>
                        <a:t>2.3.11</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screentip</a:t>
                      </a:r>
                    </a:p>
                    <a:p>
                      <a:pPr defTabSz="914400"/>
                      <a:r>
                        <a:rPr b="0" i="0" strike="noStrike" dirty="0"/>
                        <a:t> (screentip)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shown as the screentip for this control. The </a:t>
                      </a:r>
                      <a:endParaRPr b="0" i="0" strike="noStrike" dirty="0"/>
                    </a:p>
                    <a:p>
                      <a:pPr defTabSz="914400"/>
                      <a:r>
                        <a:rPr b="1" i="0" strike="noStrike" dirty="0"/>
                        <a:t>screentip</a:t>
                      </a:r>
                      <a:endParaRPr b="0" i="0" strike="noStrike" dirty="0"/>
                    </a:p>
                    <a:p>
                      <a:pPr defTabSz="914400"/>
                      <a:r>
                        <a:rPr b="0" i="0" strike="noStrike" dirty="0"/>
                        <a:t> and </a:t>
                      </a:r>
                      <a:endParaRPr b="0" i="0" strike="noStrike" dirty="0"/>
                    </a:p>
                    <a:p>
                      <a:pPr defTabSz="914400"/>
                      <a:r>
                        <a:rPr b="1" i="0" strike="noStrike" dirty="0"/>
                        <a:t>getScreentip</a:t>
                      </a:r>
                      <a:endParaRPr b="0" i="0" strike="noStrike" dirty="0"/>
                    </a:p>
                    <a:p>
                      <a:pPr defTabSz="914400"/>
                      <a:r>
                        <a:rPr b="0" i="0" strike="noStrike" dirty="0"/>
                        <a:t> attributes are mutually exclusive. If neither attribute is specified, the application SHOULD display the label of the control as the screentip or display no screentip at all. For example, consider a button with a screentip, as follows: </a:t>
                      </a:r>
                      <a:endParaRPr b="0" i="0" strike="noStrike" dirty="0"/>
                    </a:p>
                    <a:p>
                      <a:pPr defTabSz="914400"/>
                      <a:r>
                        <a:rPr/>
                        <a:t>[Button with screen tip String]</a:t>
                      </a:r>
                      <a:endParaRPr b="0" i="0" strike="noStrike" dirty="0"/>
                    </a:p>
                    <a:p>
                      <a:pPr defTabSz="914400"/>
                      <a:r>
                        <a:rPr b="0" i="0" strike="noStrike" dirty="0"/>
                        <a:t> This is specified using the following XML fragment: &lt;button id="button" imageMso="HappyFace" label="Button"   size="large" screentip="This is the screentip" /&gt;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showImage</a:t>
                      </a:r>
                    </a:p>
                    <a:p>
                      <a:pPr defTabSz="914400"/>
                      <a:r>
                        <a:rPr b="0" i="0" strike="noStrike" dirty="0"/>
                        <a:t> (show image)</a:t>
                      </a:r>
                      <a:endParaRPr b="1" i="0" strike="noStrike" dirty="0"/>
                    </a:p>
                  </a:txBody>
                  <a:tcPr horzOverflow="overflow"/>
                </a:tc>
                <a:tc>
                  <a:txBody>
                    <a:bodyPr/>
                    <a:lstStyle/>
                    <a:p>
                      <a:pPr algn="l" defTabSz="914400"/>
                      <a:r>
                        <a:rPr b="0" i="0" strike="noStrike" dirty="0"/>
                        <a:t>Specifies whether this control displays an icon.  The </a:t>
                      </a:r>
                    </a:p>
                    <a:p>
                      <a:pPr defTabSz="914400"/>
                      <a:r>
                        <a:rPr b="1" i="0" strike="noStrike" dirty="0"/>
                        <a:t>showImage</a:t>
                      </a:r>
                      <a:endParaRPr b="0" i="0" strike="noStrike" dirty="0"/>
                    </a:p>
                    <a:p>
                      <a:pPr defTabSz="914400"/>
                      <a:r>
                        <a:rPr b="0" i="0" strike="noStrike" dirty="0"/>
                        <a:t> and </a:t>
                      </a:r>
                      <a:endParaRPr b="0" i="0" strike="noStrike" dirty="0"/>
                    </a:p>
                    <a:p>
                      <a:pPr defTabSz="914400"/>
                      <a:r>
                        <a:rPr b="1" i="0" strike="noStrike" dirty="0"/>
                        <a:t>getShowImage</a:t>
                      </a:r>
                      <a:endParaRPr b="0" i="0" strike="noStrike" dirty="0"/>
                    </a:p>
                    <a:p>
                      <a:pPr defTabSz="914400"/>
                      <a:r>
                        <a:rPr b="0" i="0" strike="noStrike" dirty="0"/>
                        <a:t> attributes are mutually exclusive. If neither attribute is specified, the control SHOULD display its icon. For example, consider a button that does not display an icon, as follows: </a:t>
                      </a:r>
                      <a:endParaRPr b="0" i="0" strike="noStrike" dirty="0"/>
                    </a:p>
                    <a:p>
                      <a:pPr defTabSz="914400"/>
                      <a:r>
                        <a:rPr/>
                        <a:t>[Button with no icon]</a:t>
                      </a:r>
                      <a:endParaRPr b="0" i="0" strike="noStrike" dirty="0"/>
                    </a:p>
                    <a:p>
                      <a:pPr defTabSz="914400"/>
                      <a:r>
                        <a:rPr b="0" i="0" strike="noStrike" dirty="0"/>
                        <a:t> This is specified using the following XML fragment: &lt;button id="button" showImage="false"    label="Button with no icon" /&gt;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showLabel</a:t>
                      </a:r>
                    </a:p>
                    <a:p>
                      <a:pPr defTabSz="914400"/>
                      <a:r>
                        <a:rPr b="0" i="0" strike="noStrike" dirty="0"/>
                        <a:t> (show label)</a:t>
                      </a:r>
                      <a:endParaRPr b="1" i="0" strike="noStrike" dirty="0"/>
                    </a:p>
                  </a:txBody>
                  <a:tcPr horzOverflow="overflow"/>
                </a:tc>
                <a:tc>
                  <a:txBody>
                    <a:bodyPr/>
                    <a:lstStyle/>
                    <a:p>
                      <a:pPr algn="l" defTabSz="914400"/>
                      <a:r>
                        <a:rPr b="0" i="0" strike="noStrike" dirty="0"/>
                        <a:t>Specifies whether this control SHOULD display its label.   The </a:t>
                      </a:r>
                    </a:p>
                    <a:p>
                      <a:pPr defTabSz="914400"/>
                      <a:r>
                        <a:rPr b="1" i="0" strike="noStrike" dirty="0"/>
                        <a:t>showLabel</a:t>
                      </a:r>
                      <a:endParaRPr b="0" i="0" strike="noStrike" dirty="0"/>
                    </a:p>
                    <a:p>
                      <a:pPr defTabSz="914400"/>
                      <a:r>
                        <a:rPr b="0" i="0" strike="noStrike" dirty="0"/>
                        <a:t> and </a:t>
                      </a:r>
                      <a:endParaRPr b="0" i="0" strike="noStrike" dirty="0"/>
                    </a:p>
                    <a:p>
                      <a:pPr defTabSz="914400"/>
                      <a:r>
                        <a:rPr b="1" i="0" strike="noStrike" dirty="0"/>
                        <a:t>getShowLabel</a:t>
                      </a:r>
                      <a:endParaRPr b="0" i="0" strike="noStrike" dirty="0"/>
                    </a:p>
                    <a:p>
                      <a:pPr defTabSz="914400"/>
                      <a:r>
                        <a:rPr b="0" i="0" strike="noStrike" dirty="0"/>
                        <a:t> attributes are mutually exclusive. If neither attribute is specified, the control SHOULD default to showing its label. For example, consider the following XML fragment: &lt;button id="button" label="Label" showLabel="false"    imageMso="HappyFace" /&gt; This specifies a </a:t>
                      </a:r>
                      <a:endParaRPr b="0" i="0" strike="noStrike" dirty="0"/>
                    </a:p>
                    <a:p>
                      <a:pPr defTabSz="914400"/>
                      <a:r>
                        <a:rPr b="1" i="0" strike="noStrike" dirty="0"/>
                        <a:t>button</a:t>
                      </a:r>
                      <a:endParaRPr b="0" i="0" strike="noStrike" dirty="0"/>
                    </a:p>
                    <a:p>
                      <a:pPr defTabSz="914400"/>
                      <a:r>
                        <a:rPr b="0" i="0" strike="noStrike" dirty="0"/>
                        <a:t> that has a </a:t>
                      </a:r>
                      <a:endParaRPr b="0" i="0" strike="noStrike" dirty="0"/>
                    </a:p>
                    <a:p>
                      <a:pPr defTabSz="914400"/>
                      <a:r>
                        <a:rPr b="1" i="0" strike="noStrike" dirty="0"/>
                        <a:t>label</a:t>
                      </a:r>
                      <a:endParaRPr b="0" i="0" strike="noStrike" dirty="0"/>
                    </a:p>
                    <a:p>
                      <a:pPr defTabSz="914400"/>
                      <a:r>
                        <a:rPr b="0" i="0" strike="noStrike" dirty="0"/>
                        <a:t>, but does not show it. Even though the </a:t>
                      </a:r>
                      <a:endParaRPr b="0" i="0" strike="noStrike" dirty="0"/>
                    </a:p>
                    <a:p>
                      <a:pPr defTabSz="914400"/>
                      <a:r>
                        <a:rPr b="1" i="0" strike="noStrike" dirty="0"/>
                        <a:t>label</a:t>
                      </a:r>
                      <a:endParaRPr b="0" i="0" strike="noStrike" dirty="0"/>
                    </a:p>
                    <a:p>
                      <a:pPr defTabSz="914400"/>
                      <a:r>
                        <a:rPr b="0" i="0" strike="noStrike" dirty="0"/>
                        <a:t> is hidden, it is provided to accessibility tools.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supertip</a:t>
                      </a:r>
                    </a:p>
                    <a:p>
                      <a:pPr defTabSz="914400"/>
                      <a:r>
                        <a:rPr b="0" i="0" strike="noStrike" dirty="0"/>
                        <a:t> (supertip)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shown as the supertip of the control. The </a:t>
                      </a:r>
                      <a:endParaRPr b="0" i="0" strike="noStrike" dirty="0"/>
                    </a:p>
                    <a:p>
                      <a:pPr defTabSz="914400"/>
                      <a:r>
                        <a:rPr b="1" i="0" strike="noStrike" dirty="0"/>
                        <a:t>supertip</a:t>
                      </a:r>
                      <a:endParaRPr b="0" i="0" strike="noStrike" dirty="0"/>
                    </a:p>
                    <a:p>
                      <a:pPr defTabSz="914400"/>
                      <a:r>
                        <a:rPr b="0" i="0" strike="noStrike" dirty="0"/>
                        <a:t> and </a:t>
                      </a:r>
                      <a:endParaRPr b="0" i="0" strike="noStrike" dirty="0"/>
                    </a:p>
                    <a:p>
                      <a:pPr defTabSz="914400"/>
                      <a:r>
                        <a:rPr b="1" i="0" strike="noStrike" dirty="0"/>
                        <a:t>getSupertip</a:t>
                      </a:r>
                      <a:endParaRPr b="0" i="0" strike="noStrike" dirty="0"/>
                    </a:p>
                    <a:p>
                      <a:pPr defTabSz="914400"/>
                      <a:r>
                        <a:rPr b="0" i="0" strike="noStrike" dirty="0"/>
                        <a:t> attributes are mutually exclusive. If neither attribute is specified no supertip for this control SHOULD be shown. For example, consider a control with a supertip, as follows: </a:t>
                      </a:r>
                      <a:endParaRPr b="0" i="0" strike="noStrike" dirty="0"/>
                    </a:p>
                    <a:p>
                      <a:pPr defTabSz="914400"/>
                      <a:r>
                        <a:rPr/>
                        <a:t>[Button with super stip string]</a:t>
                      </a:r>
                      <a:endParaRPr b="0" i="0" strike="noStrike" dirty="0"/>
                    </a:p>
                    <a:p>
                      <a:pPr defTabSz="914400"/>
                      <a:r>
                        <a:rPr b="0" i="0" strike="noStrike" dirty="0"/>
                        <a:t> This is specified using the following XML fragment: &lt;button id="button" imageMso="HappyFace" label="Button"   size="large" screentip="Screentip"   supertip="This is the supertip string" /&gt;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tag</a:t>
                      </a:r>
                    </a:p>
                    <a:p>
                      <a:pPr defTabSz="914400"/>
                      <a:r>
                        <a:rPr b="0" i="0" strike="noStrike" dirty="0"/>
                        <a:t> (tag)</a:t>
                      </a:r>
                      <a:endParaRPr b="1" i="0" strike="noStrike" dirty="0"/>
                    </a:p>
                  </a:txBody>
                  <a:tcPr horzOverflow="overflow"/>
                </a:tc>
                <a:tc>
                  <a:txBody>
                    <a:bodyPr/>
                    <a:lstStyle/>
                    <a:p>
                      <a:pPr algn="l" defTabSz="914400"/>
                      <a:r>
                        <a:rPr b="0" i="0" strike="noStrike" dirty="0"/>
                        <a:t>Specifies an arbitrary </a:t>
                      </a:r>
                    </a:p>
                    <a:p>
                      <a:pPr defTabSz="914400"/>
                      <a:r>
                        <a:rPr b="1" i="0" strike="noStrike" dirty="0"/>
                        <a:t>string</a:t>
                      </a:r>
                      <a:endParaRPr b="0" i="0" strike="noStrike" dirty="0"/>
                    </a:p>
                    <a:p>
                      <a:pPr defTabSz="914400"/>
                      <a:r>
                        <a:rPr b="0" i="0" strike="noStrike" dirty="0"/>
                        <a:t> that can be used to hold data or identify the control. The contents of this attribute SHOULD be passed to any callback functions specified on this control. If this attribute is omitted, the control's </a:t>
                      </a:r>
                      <a:endParaRPr b="0" i="0" strike="noStrike" dirty="0"/>
                    </a:p>
                    <a:p>
                      <a:pPr defTabSz="914400"/>
                      <a:r>
                        <a:rPr b="1" i="0" strike="noStrike" dirty="0"/>
                        <a:t>tag</a:t>
                      </a:r>
                      <a:endParaRPr b="0" i="0" strike="noStrike" dirty="0"/>
                    </a:p>
                    <a:p>
                      <a:pPr defTabSz="914400"/>
                      <a:r>
                        <a:rPr b="0" i="0" strike="noStrike" dirty="0"/>
                        <a:t> value SHOULD default to an empty </a:t>
                      </a:r>
                      <a:endParaRPr b="0" i="0" strike="noStrike" dirty="0"/>
                    </a:p>
                    <a:p>
                      <a:pPr defTabSz="914400"/>
                      <a:r>
                        <a:rPr b="1" i="0" strike="noStrike" dirty="0"/>
                        <a:t>string</a:t>
                      </a:r>
                      <a:endParaRPr b="0" i="0" strike="noStrike" dirty="0"/>
                    </a:p>
                    <a:p>
                      <a:pPr defTabSz="914400"/>
                      <a:r>
                        <a:rPr b="0" i="0" strike="noStrike" dirty="0"/>
                        <a:t>. For example, consider the following XML fragment: &lt;button id="button" label="Button" tag="123456"    onAction="ButtonClicked" /&gt; This specifies a </a:t>
                      </a:r>
                      <a:endParaRPr b="0" i="0" strike="noStrike" dirty="0"/>
                    </a:p>
                    <a:p>
                      <a:pPr defTabSz="914400"/>
                      <a:r>
                        <a:rPr b="1" i="0" strike="noStrike" dirty="0"/>
                        <a:t>button</a:t>
                      </a:r>
                      <a:endParaRPr b="0" i="0" strike="noStrike" dirty="0"/>
                    </a:p>
                    <a:p>
                      <a:pPr defTabSz="914400"/>
                      <a:r>
                        <a:rPr b="0" i="0" strike="noStrike" dirty="0"/>
                        <a:t> with a </a:t>
                      </a:r>
                      <a:endParaRPr b="0" i="0" strike="noStrike" dirty="0"/>
                    </a:p>
                    <a:p>
                      <a:pPr defTabSz="914400"/>
                      <a:r>
                        <a:rPr b="1" i="0" strike="noStrike" dirty="0"/>
                        <a:t>tag</a:t>
                      </a:r>
                      <a:endParaRPr b="0" i="0" strike="noStrike" dirty="0"/>
                    </a:p>
                    <a:p>
                      <a:pPr defTabSz="914400"/>
                      <a:r>
                        <a:rPr b="0" i="0" strike="noStrike" dirty="0"/>
                        <a:t> value of "123456", which is passed to the </a:t>
                      </a:r>
                      <a:endParaRPr b="0" i="0" strike="noStrike" dirty="0"/>
                    </a:p>
                    <a:p>
                      <a:pPr defTabSz="914400"/>
                      <a:r>
                        <a:rPr b="1" i="0" strike="noStrike" dirty="0"/>
                        <a:t>ButtonClicked</a:t>
                      </a:r>
                      <a:endParaRPr b="0" i="0" strike="noStrike" dirty="0"/>
                    </a:p>
                    <a:p>
                      <a:pPr defTabSz="914400"/>
                      <a:r>
                        <a:rPr b="0" i="0" strike="noStrike" dirty="0"/>
                        <a:t> callback function.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visible</a:t>
                      </a:r>
                    </a:p>
                    <a:p>
                      <a:pPr defTabSz="914400"/>
                      <a:r>
                        <a:rPr b="0" i="0" strike="noStrike" dirty="0"/>
                        <a:t> (control visibility)</a:t>
                      </a:r>
                      <a:endParaRPr b="1" i="0" strike="noStrike" dirty="0"/>
                    </a:p>
                  </a:txBody>
                  <a:tcPr horzOverflow="overflow"/>
                </a:tc>
                <a:tc>
                  <a:txBody>
                    <a:bodyPr/>
                    <a:lstStyle/>
                    <a:p>
                      <a:pPr algn="l" defTabSz="914400"/>
                      <a:r>
                        <a:rPr b="0" i="0" strike="noStrike" dirty="0"/>
                        <a:t>Specifies the visibility state of the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these attributes are omitted, the control SHOULD default to being visible. For example, consider the following XML fragment: &lt;tab idMso="TabHome" visible="false" /&gt; In this example, the built-in tab with an identifier of "TabHome" is hidden.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name="CT_SplitButtonRegular"&gt;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base="CT_SplitButtonRestricted"&gt;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&lt;xsd:sequence </a:t>
            </a:r>
            <a:r>
              <a:rPr b="0" i="0" strike="noStrike" dirty="0"/>
              <a:t>minOccurs="0"&gt;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&lt;xsd:choice </a:t>
            </a:r>
            <a:r>
              <a:rPr b="0" i="0" strike="noStrike" dirty="0"/>
              <a:t>minOccurs="0"&gt;</a:t>
            </a:r>
          </a:p>
        </p:txBody>
      </p:sp>
      <p:sp>
        <p:nvSpPr>
          <p:cNvPr id="9" name="TextBox9"/>
          <p:cNvSpPr txBox="1">
            <a:spLocks noChangeArrowheads="1"/>
          </p:cNvSpPr>
          <p:nvPr/>
        </p:nvSpPr>
        <p:spPr>
          <a:xfrm rot="0">
            <a:off x="508000" y="5679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name="button" </a:t>
            </a:r>
            <a:r>
              <a:rPr b="0" i="0" strike="noStrike" dirty="0"/>
              <a:t>type="CT_VisibleButton"/&gt;</a:t>
            </a:r>
          </a:p>
        </p:txBody>
      </p:sp>
      <p:sp>
        <p:nvSpPr>
          <p:cNvPr id="10" name="TextBox10"/>
          <p:cNvSpPr txBox="1">
            <a:spLocks noChangeArrowheads="1"/>
          </p:cNvSpPr>
          <p:nvPr/>
        </p:nvSpPr>
        <p:spPr>
          <a:xfrm rot="0">
            <a:off x="508000" y="602488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name="toggleButton" </a:t>
            </a:r>
            <a:r>
              <a:rPr b="0" i="0" strike="noStrike" dirty="0"/>
              <a:t>type="CT_VisibleToggleButton"/&gt;</a:t>
            </a: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&lt;/xsd:choice&gt;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name="menu" </a:t>
            </a:r>
            <a:r>
              <a:rPr b="0" i="0" strike="noStrike" dirty="0"/>
              <a:t>type="CT_MenuRegular"/&gt;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8" name="TextBox8"/>
          <p:cNvSpPr txBox="1">
            <a:spLocks noChangeArrowheads="1"/>
          </p:cNvSpPr>
          <p:nvPr/>
        </p:nvSpPr>
        <p:spPr>
          <a:xfrm rot="0">
            <a:off x="508000" y="2580640"/>
            <a:ext cx="11176000" cy="853440"/>
          </a:xfrm>
          <a:prstGeom prst="rect">
            <a:avLst/>
          </a:prstGeom>
          <a:ln>
            <a:headEnd type="none"/>
            <a:tailEnd type="none"/>
          </a:ln>
        </p:spPr>
        <p:txBody>
          <a:bodyPr wrap="square">
            <a:spAutoFit/>
          </a:bodyPr>
          <a:lstStyle/>
          <a:p>
            <a:pPr algn="l" defTabSz="914400">
              <a:defRPr sz="2400" b="1" dirty="0"/>
            </a:pPr>
            <a:r>
              <a:rPr b="1" i="0" strike="noStrike" dirty="0"/>
              <a:t>splitButton </a:t>
            </a:r>
            <a:r>
              <a:rPr b="1" i="0" strike="noStrike" dirty="0"/>
              <a:t>(Split </a:t>
            </a:r>
            <a:r>
              <a:rPr b="1" i="0" strike="noStrike" dirty="0"/>
              <a:t>Button </a:t>
            </a:r>
            <a:r>
              <a:rPr b="1" i="0" strike="noStrike" dirty="0"/>
              <a:t>with </a:t>
            </a:r>
            <a:r>
              <a:rPr b="1" i="0" strike="noStrike" dirty="0"/>
              <a:t>Title) </a:t>
            </a:r>
            <a:r>
              <a:rPr b="1" i="0" strike="noStrike" dirty="0"/>
              <a:t>XE </a:t>
            </a:r>
            <a:r>
              <a:rPr b="1" i="0" strike="noStrike" dirty="0"/>
              <a:t>"Elements:splitButton </a:t>
            </a:r>
            <a:r>
              <a:rPr b="1" i="0" strike="noStrike" dirty="0"/>
              <a:t>(split </a:t>
            </a:r>
            <a:r>
              <a:rPr b="1" i="0" strike="noStrike" dirty="0"/>
              <a:t>button </a:t>
            </a:r>
            <a:r>
              <a:rPr b="1" i="0" strike="noStrike" dirty="0"/>
              <a:t>with </a:t>
            </a:r>
            <a:r>
              <a:rPr b="1" i="0" strike="noStrike" dirty="0"/>
              <a:t>title)"</a:t>
            </a:r>
          </a:p>
        </p:txBody>
      </p:sp>
      <p:sp>
        <p:nvSpPr>
          <p:cNvPr id="9" name="TextBox9"/>
          <p:cNvSpPr txBox="1">
            <a:spLocks noChangeArrowheads="1"/>
          </p:cNvSpPr>
          <p:nvPr/>
        </p:nvSpPr>
        <p:spPr>
          <a:xfrm rot="0">
            <a:off x="508000" y="3459480"/>
            <a:ext cx="11176000" cy="960120"/>
          </a:xfrm>
          <a:prstGeom prst="rect">
            <a:avLst/>
          </a:prstGeom>
          <a:ln>
            <a:headEnd type="none"/>
            <a:tailEnd type="none"/>
          </a:ln>
        </p:spPr>
        <p:txBody>
          <a:bodyPr wrap="square">
            <a:spAutoFit/>
          </a:bodyPr>
          <a:lstStyle/>
          <a:p>
            <a:pPr algn="l" defTabSz="914400"/>
            <a:r>
              <a:rPr b="0" i="0" strike="noStrike" dirty="0"/>
              <a:t>This </a:t>
            </a:r>
            <a:r>
              <a:rPr b="0" i="0" strike="noStrike" dirty="0"/>
              <a:t>element </a:t>
            </a:r>
            <a:r>
              <a:rPr b="0" i="0" strike="noStrike" dirty="0"/>
              <a:t>specifies </a:t>
            </a:r>
            <a:r>
              <a:rPr b="0" i="0" strike="noStrike" dirty="0"/>
              <a:t>a </a:t>
            </a:r>
            <a:r>
              <a:rPr b="0" i="0" strike="noStrike" dirty="0"/>
              <a:t>split </a:t>
            </a:r>
            <a:r>
              <a:rPr b="0" i="0" strike="noStrike" dirty="0"/>
              <a:t>button </a:t>
            </a:r>
            <a:r>
              <a:rPr b="0" i="0" strike="noStrike" dirty="0"/>
              <a:t>control </a:t>
            </a:r>
            <a:r>
              <a:rPr b="0" i="0" strike="noStrike" dirty="0"/>
              <a:t>that, </a:t>
            </a:r>
            <a:r>
              <a:rPr b="0" i="0" strike="noStrike" dirty="0"/>
              <a:t>because </a:t>
            </a:r>
            <a:r>
              <a:rPr b="0" i="0" strike="noStrike" dirty="0"/>
              <a:t>of </a:t>
            </a:r>
            <a:r>
              <a:rPr b="0" i="0" strike="noStrike" dirty="0"/>
              <a:t>its </a:t>
            </a:r>
            <a:r>
              <a:rPr b="0" i="0" strike="noStrike" dirty="0"/>
              <a:t>location, </a:t>
            </a:r>
            <a:r>
              <a:rPr b="0" i="0" strike="noStrike" dirty="0"/>
              <a:t>can </a:t>
            </a:r>
            <a:r>
              <a:rPr b="0" i="0" strike="noStrike" dirty="0"/>
              <a:t>optionally </a:t>
            </a:r>
            <a:r>
              <a:rPr b="0" i="0" strike="noStrike" dirty="0"/>
              <a:t>include </a:t>
            </a:r>
            <a:r>
              <a:rPr b="0" i="0" strike="noStrike" dirty="0"/>
              <a:t>a </a:t>
            </a:r>
            <a:r>
              <a:rPr b="0" i="0" strike="noStrike" dirty="0"/>
              <a:t>title </a:t>
            </a:r>
            <a:r>
              <a:rPr b="0" i="0" strike="noStrike" dirty="0"/>
              <a:t>string </a:t>
            </a:r>
            <a:r>
              <a:rPr b="0" i="0" strike="noStrike" dirty="0"/>
              <a:t>via </a:t>
            </a:r>
            <a:r>
              <a:rPr b="0" i="0" strike="noStrike" dirty="0"/>
              <a:t>the </a:t>
            </a:r>
            <a:r>
              <a:rPr b="1" i="0" strike="noStrike" dirty="0"/>
              <a:t>title</a:t>
            </a:r>
            <a:r>
              <a:rPr b="0" i="0" strike="noStrike" dirty="0"/>
              <a:t> </a:t>
            </a:r>
            <a:r>
              <a:rPr b="0" i="0" strike="noStrike" dirty="0"/>
              <a:t>or </a:t>
            </a:r>
            <a:r>
              <a:rPr b="1" i="0" strike="noStrike" dirty="0"/>
              <a:t>getTitle</a:t>
            </a:r>
            <a:r>
              <a:rPr b="0" i="0" strike="noStrike" dirty="0"/>
              <a:t> </a:t>
            </a:r>
            <a:r>
              <a:rPr b="0" i="0" strike="noStrike" dirty="0"/>
              <a:t>attributes. </a:t>
            </a:r>
            <a:r>
              <a:rPr b="0" i="0" strike="noStrike" dirty="0"/>
              <a:t>It </a:t>
            </a:r>
            <a:r>
              <a:rPr b="0" i="0" strike="noStrike" dirty="0"/>
              <a:t>otherwise </a:t>
            </a:r>
            <a:r>
              <a:rPr b="0" i="0" strike="noStrike" dirty="0"/>
              <a:t>behaves </a:t>
            </a:r>
            <a:r>
              <a:rPr b="0" i="0" strike="noStrike" dirty="0"/>
              <a:t>identically </a:t>
            </a:r>
            <a:r>
              <a:rPr b="0" i="0" strike="noStrike" dirty="0"/>
              <a:t>to </a:t>
            </a:r>
            <a:r>
              <a:rPr b="0" i="0" strike="noStrike" dirty="0"/>
              <a:t>the </a:t>
            </a:r>
            <a:r>
              <a:rPr b="0" i="0" strike="noStrike" dirty="0"/>
              <a:t>regular </a:t>
            </a:r>
            <a:r>
              <a:rPr b="1" i="0" strike="noStrike" dirty="0"/>
              <a:t>splitButton</a:t>
            </a:r>
            <a:r>
              <a:rPr b="0" i="0" strike="noStrike" dirty="0"/>
              <a:t> </a:t>
            </a:r>
            <a:r>
              <a:rPr b="0" i="0" strike="noStrike" dirty="0"/>
              <a:t>element, </a:t>
            </a:r>
            <a:r>
              <a:rPr b="0" i="0" strike="noStrike" dirty="0"/>
              <a:t>as </a:t>
            </a:r>
            <a:r>
              <a:rPr b="0" i="0" strike="noStrike" dirty="0"/>
              <a:t>specified </a:t>
            </a:r>
            <a:r>
              <a:rPr b="0" i="0" strike="noStrike" dirty="0"/>
              <a:t>in </a:t>
            </a:r>
            <a:r>
              <a:rPr b="0" i="0" strike="noStrike" dirty="0"/>
              <a:t>section </a:t>
            </a:r>
            <a:r>
              <a:rPr/>
              <a:t>2.2.38</a:t>
            </a:r>
            <a:r>
              <a:rPr b="0" i="0" strike="noStrike" dirty="0"/>
              <a:t>.</a:t>
            </a:r>
          </a:p>
        </p:txBody>
      </p:sp>
      <p:sp>
        <p:nvSpPr>
          <p:cNvPr id="10" name="TextBox10"/>
          <p:cNvSpPr txBox="1">
            <a:spLocks noChangeArrowheads="1"/>
          </p:cNvSpPr>
          <p:nvPr/>
        </p:nvSpPr>
        <p:spPr>
          <a:xfrm rot="0">
            <a:off x="508000" y="44450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elements </a:t>
            </a:r>
            <a:r>
              <a:rPr b="0" i="0" strike="noStrike" dirty="0"/>
              <a:t>that </a:t>
            </a:r>
            <a:r>
              <a:rPr b="0" i="0" strike="noStrike" dirty="0"/>
              <a:t>are </a:t>
            </a:r>
            <a:r>
              <a:rPr b="0" i="0" strike="noStrike" dirty="0"/>
              <a:t>parents </a:t>
            </a:r>
            <a:r>
              <a:rPr b="0" i="0" strike="noStrike" dirty="0"/>
              <a:t>of </a:t>
            </a:r>
            <a:r>
              <a:rPr b="0" i="0" strike="noStrike" dirty="0"/>
              <a:t>this </a:t>
            </a:r>
            <a:r>
              <a:rPr b="0" i="0" strike="noStrike" dirty="0"/>
              <a:t>element.</a:t>
            </a:r>
          </a:p>
        </p:txBody>
      </p:sp>
      <p:graphicFrame>
        <p:nvGraphicFramePr>
          <p:cNvPr id="11" name="Table 11"/>
          <p:cNvGraphicFramePr/>
          <p:nvPr/>
        </p:nvGraphicFramePr>
        <p:xfrm rot="0">
          <a:off x="508000" y="4790440"/>
          <a:ext cx="11176000" cy="1016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Parent Elements</a:t>
                      </a:r>
                    </a:p>
                  </a:txBody>
                  <a:tcPr horzOverflow="overflow"/>
                </a:tc>
              </a:tr>
              <a:tr h="508000">
                <a:tc>
                  <a:txBody>
                    <a:bodyPr/>
                    <a:lstStyle/>
                    <a:p>
                      <a:pPr algn="l" defTabSz="914400"/>
                      <a:r>
                        <a:rPr b="1" i="0" strike="noStrike" dirty="0"/>
                        <a:t>menu</a:t>
                      </a:r>
                    </a:p>
                    <a:p>
                      <a:pPr defTabSz="914400"/>
                      <a:r>
                        <a:rPr b="0" i="0" strike="noStrike" dirty="0"/>
                        <a:t> (section </a:t>
                      </a:r>
                      <a:endParaRPr b="1" i="0" strike="noStrike" dirty="0"/>
                    </a:p>
                    <a:p>
                      <a:pPr defTabSz="914400"/>
                      <a:r>
                        <a:rPr/>
                        <a:t>2.2.27</a:t>
                      </a:r>
                      <a:endParaRPr b="1" i="0" strike="noStrike" dirty="0"/>
                    </a:p>
                    <a:p>
                      <a:pPr defTabSz="914400"/>
                      <a:r>
                        <a:rPr b="0" i="0" strike="noStrike" dirty="0"/>
                        <a:t>); </a:t>
                      </a:r>
                      <a:endParaRPr b="1" i="0" strike="noStrike" dirty="0"/>
                    </a:p>
                    <a:p>
                      <a:pPr defTabSz="914400"/>
                      <a:r>
                        <a:rPr b="1" i="0" strike="noStrike" dirty="0"/>
                        <a:t>officeMenu</a:t>
                      </a:r>
                      <a:endParaRPr b="1" i="0" strike="noStrike" dirty="0"/>
                    </a:p>
                    <a:p>
                      <a:pPr defTabSz="914400"/>
                      <a:r>
                        <a:rPr b="0" i="0" strike="noStrike" dirty="0"/>
                        <a:t> (section </a:t>
                      </a:r>
                      <a:endParaRPr b="1" i="0" strike="noStrike" dirty="0"/>
                    </a:p>
                    <a:p>
                      <a:pPr defTabSz="914400"/>
                      <a:r>
                        <a:rPr/>
                        <a:t>2.2.31</a:t>
                      </a:r>
                      <a:endParaRPr b="1" i="0" strike="noStrike" dirty="0"/>
                    </a:p>
                    <a:p>
                      <a:pPr defTabSz="914400"/>
                      <a:r>
                        <a:rPr b="0" i="0" strike="noStrike" dirty="0"/>
                        <a:t>)</a:t>
                      </a:r>
                      <a:endParaRPr b="1" i="0" strike="noStrike" dirty="0"/>
                    </a:p>
                  </a:txBody>
                  <a:tcPr horzOverflow="overflow"/>
                </a:tc>
              </a:tr>
            </a:tbl>
          </a:graphicData>
        </a:graphic>
      </p:graphicFrame>
      <p:sp>
        <p:nvSpPr>
          <p:cNvPr id="12" name="TextBox12"/>
          <p:cNvSpPr txBox="1">
            <a:spLocks noChangeArrowheads="1"/>
          </p:cNvSpPr>
          <p:nvPr/>
        </p:nvSpPr>
        <p:spPr>
          <a:xfrm rot="0">
            <a:off x="508000" y="58572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child </a:t>
            </a:r>
            <a:r>
              <a:rPr b="0" i="0" strike="noStrike" dirty="0"/>
              <a:t>elements </a:t>
            </a:r>
            <a:r>
              <a:rPr b="0" i="0" strike="noStrike" dirty="0"/>
              <a:t>of </a:t>
            </a:r>
            <a:r>
              <a:rPr b="0" i="0" strike="noStrike" dirty="0"/>
              <a:t>this </a:t>
            </a:r>
            <a:r>
              <a:rPr b="0" i="0" strike="noStrike" dirty="0"/>
              <a:t>element.</a:t>
            </a:r>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203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Child Elements</a:t>
                      </a:r>
                    </a:p>
                  </a:txBody>
                  <a:tcPr horzOverflow="overflow"/>
                </a:tc>
                <a:tc>
                  <a:txBody>
                    <a:bodyPr/>
                    <a:lstStyle/>
                    <a:p>
                      <a:pPr algn="l" defTabSz="914400"/>
                      <a:r>
                        <a:rPr b="1" i="0" strike="noStrike" dirty="0"/>
                        <a:t>Section</a:t>
                      </a:r>
                    </a:p>
                  </a:txBody>
                  <a:tcPr horzOverflow="overflow"/>
                </a:tc>
              </a:tr>
              <a:tr h="508000">
                <a:tc>
                  <a:txBody>
                    <a:bodyPr/>
                    <a:lstStyle/>
                    <a:p>
                      <a:pPr algn="l" defTabSz="914400"/>
                      <a:r>
                        <a:rPr b="1" i="0" strike="noStrike" dirty="0"/>
                        <a:t>button</a:t>
                      </a:r>
                    </a:p>
                    <a:p>
                      <a:pPr defTabSz="914400"/>
                      <a:r>
                        <a:rPr b="0" i="0" strike="noStrike" dirty="0"/>
                        <a:t> (Button Inside of a Split Button)</a:t>
                      </a:r>
                      <a:endParaRPr b="1" i="0" strike="noStrike" dirty="0"/>
                    </a:p>
                  </a:txBody>
                  <a:tcPr horzOverflow="overflow"/>
                </a:tc>
                <a:tc>
                  <a:txBody>
                    <a:bodyPr/>
                    <a:lstStyle/>
                    <a:p>
                      <a:pPr algn="l" defTabSz="914400"/>
                      <a:r>
                        <a:rPr/>
                        <a:t>2.2.4</a:t>
                      </a:r>
                    </a:p>
                  </a:txBody>
                  <a:tcPr horzOverflow="overflow"/>
                </a:tc>
              </a:tr>
              <a:tr h="508000">
                <a:tc>
                  <a:txBody>
                    <a:bodyPr/>
                    <a:lstStyle/>
                    <a:p>
                      <a:pPr algn="l" defTabSz="914400"/>
                      <a:r>
                        <a:rPr b="1" i="0" strike="noStrike" dirty="0"/>
                        <a:t>menu</a:t>
                      </a:r>
                    </a:p>
                    <a:p>
                      <a:pPr defTabSz="914400"/>
                      <a:r>
                        <a:rPr b="0" i="0" strike="noStrike" dirty="0"/>
                        <a:t> (Menu with Title)</a:t>
                      </a:r>
                      <a:endParaRPr b="1" i="0" strike="noStrike" dirty="0"/>
                    </a:p>
                  </a:txBody>
                  <a:tcPr horzOverflow="overflow"/>
                </a:tc>
                <a:tc>
                  <a:txBody>
                    <a:bodyPr/>
                    <a:lstStyle/>
                    <a:p>
                      <a:pPr algn="l" defTabSz="914400"/>
                      <a:r>
                        <a:rPr b="0" i="0" strike="noStrike" dirty="0"/>
                        <a:t>2.2.27</a:t>
                      </a:r>
                    </a:p>
                  </a:txBody>
                  <a:tcPr horzOverflow="overflow"/>
                </a:tc>
              </a:tr>
              <a:tr h="508000">
                <a:tc>
                  <a:txBody>
                    <a:bodyPr/>
                    <a:lstStyle/>
                    <a:p>
                      <a:pPr algn="l" defTabSz="914400"/>
                      <a:r>
                        <a:rPr b="1" i="0" strike="noStrike" dirty="0"/>
                        <a:t>toggleButton</a:t>
                      </a:r>
                    </a:p>
                    <a:p>
                      <a:pPr defTabSz="914400"/>
                      <a:r>
                        <a:rPr b="0" i="0" strike="noStrike" dirty="0"/>
                        <a:t> (Toggle Button Inside of a Split Button)</a:t>
                      </a:r>
                      <a:endParaRPr b="1" i="0" strike="noStrike" dirty="0"/>
                    </a:p>
                  </a:txBody>
                  <a:tcPr horzOverflow="overflow"/>
                </a:tc>
                <a:tc>
                  <a:txBody>
                    <a:bodyPr/>
                    <a:lstStyle/>
                    <a:p>
                      <a:pPr algn="l" defTabSz="914400"/>
                      <a:r>
                        <a:rPr/>
                        <a:t>2.2.44</a:t>
                      </a:r>
                    </a:p>
                  </a:txBody>
                  <a:tcPr horzOverflow="overflow"/>
                </a:tc>
              </a:tr>
            </a:tbl>
          </a:graphicData>
        </a:graphic>
      </p:graphicFrame>
      <p:sp>
        <p:nvSpPr>
          <p:cNvPr id="3" name="TextBox3"/>
          <p:cNvSpPr txBox="1">
            <a:spLocks noChangeArrowheads="1"/>
          </p:cNvSpPr>
          <p:nvPr/>
        </p:nvSpPr>
        <p:spPr>
          <a:xfrm rot="0">
            <a:off x="508000" y="2590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table </a:t>
            </a:r>
            <a:r>
              <a:rPr b="0" i="0" strike="noStrike" dirty="0"/>
              <a:t>summarizes </a:t>
            </a:r>
            <a:r>
              <a:rPr b="0" i="0" strike="noStrike" dirty="0"/>
              <a:t>the </a:t>
            </a:r>
            <a:r>
              <a:rPr b="0" i="0" strike="noStrike" dirty="0"/>
              <a:t>attributes </a:t>
            </a:r>
            <a:r>
              <a:rPr b="0" i="0" strike="noStrike" dirty="0"/>
              <a:t>of </a:t>
            </a:r>
            <a:r>
              <a:rPr b="0" i="0" strike="noStrike" dirty="0"/>
              <a:t>this </a:t>
            </a:r>
            <a:r>
              <a:rPr b="0" i="0" strike="noStrike" dirty="0"/>
              <a:t>element.</a:t>
            </a: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enabled</a:t>
                      </a:r>
                    </a:p>
                    <a:p>
                      <a:pPr defTabSz="914400"/>
                      <a:r>
                        <a:rPr b="0" i="0" strike="noStrike" dirty="0"/>
                        <a:t> (enabled state)</a:t>
                      </a:r>
                      <a:endParaRPr b="1" i="0" strike="noStrike" dirty="0"/>
                    </a:p>
                  </a:txBody>
                  <a:tcPr horzOverflow="overflow"/>
                </a:tc>
                <a:tc>
                  <a:txBody>
                    <a:bodyPr/>
                    <a:lstStyle/>
                    <a:p>
                      <a:pPr algn="l" defTabSz="914400"/>
                      <a:r>
                        <a:rPr b="0" i="0" strike="noStrike" dirty="0"/>
                        <a:t>Specifies the enabled state of the control. The </a:t>
                      </a:r>
                    </a:p>
                    <a:p>
                      <a:pPr defTabSz="914400"/>
                      <a:r>
                        <a:rPr b="1" i="0" strike="noStrike" dirty="0"/>
                        <a:t>getEnabled</a:t>
                      </a:r>
                      <a:endParaRPr b="0" i="0" strike="noStrike" dirty="0"/>
                    </a:p>
                    <a:p>
                      <a:pPr defTabSz="914400"/>
                      <a:r>
                        <a:rPr b="0" i="0" strike="noStrike" dirty="0"/>
                        <a:t> and </a:t>
                      </a:r>
                      <a:endParaRPr b="0" i="0" strike="noStrike" dirty="0"/>
                    </a:p>
                    <a:p>
                      <a:pPr defTabSz="914400"/>
                      <a:r>
                        <a:rPr b="1" i="0" strike="noStrike" dirty="0"/>
                        <a:t>enabled</a:t>
                      </a:r>
                      <a:endParaRPr b="0" i="0" strike="noStrike" dirty="0"/>
                    </a:p>
                    <a:p>
                      <a:pPr defTabSz="914400"/>
                      <a:r>
                        <a:rPr b="0" i="0" strike="noStrike" dirty="0"/>
                        <a:t> attributes are mutually exclusive. If neither attribute is specified, the control SHOULD default to being enabled. This attribute cannot be used to enable a built-in control that would otherwise be disabled by the application. For example, consider the following XML fragment: &lt;button id="button" label="Disabled Button" enabled="false" /&gt; This specifies a new button that is disabled. A permanently disabled button is not very useful, thus the </a:t>
                      </a:r>
                      <a:endParaRPr b="0" i="0" strike="noStrike" dirty="0"/>
                    </a:p>
                    <a:p>
                      <a:pPr defTabSz="914400"/>
                      <a:r>
                        <a:rPr b="1" i="0" strike="noStrike" dirty="0"/>
                        <a:t>enabled</a:t>
                      </a:r>
                      <a:endParaRPr b="0" i="0" strike="noStrike" dirty="0"/>
                    </a:p>
                    <a:p>
                      <a:pPr defTabSz="914400"/>
                      <a:r>
                        <a:rPr b="0" i="0" strike="noStrike" dirty="0"/>
                        <a:t> attribute is not commonly used.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getEnabled</a:t>
                      </a:r>
                    </a:p>
                    <a:p>
                      <a:pPr defTabSz="914400"/>
                      <a:r>
                        <a:rPr b="0" i="0" strike="noStrike" dirty="0"/>
                        <a:t> ( </a:t>
                      </a:r>
                      <a:endParaRPr b="1" i="0" strike="noStrike" dirty="0"/>
                    </a:p>
                    <a:p>
                      <a:pPr defTabSz="914400"/>
                      <a:r>
                        <a:rPr b="1" i="0" strike="noStrike" dirty="0"/>
                        <a:t>getEnabled</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enabled state of this control. The </a:t>
                      </a:r>
                    </a:p>
                    <a:p>
                      <a:pPr defTabSz="914400"/>
                      <a:r>
                        <a:rPr b="1" i="0" strike="noStrike" dirty="0"/>
                        <a:t>getEnabled</a:t>
                      </a:r>
                      <a:endParaRPr b="0" i="0" strike="noStrike" dirty="0"/>
                    </a:p>
                    <a:p>
                      <a:pPr defTabSz="914400"/>
                      <a:r>
                        <a:rPr b="0" i="0" strike="noStrike" dirty="0"/>
                        <a:t> and </a:t>
                      </a:r>
                      <a:endParaRPr b="0" i="0" strike="noStrike" dirty="0"/>
                    </a:p>
                    <a:p>
                      <a:pPr defTabSz="914400"/>
                      <a:r>
                        <a:rPr b="1" i="0" strike="noStrike" dirty="0"/>
                        <a:t>enabled</a:t>
                      </a:r>
                      <a:endParaRPr b="0" i="0" strike="noStrike" dirty="0"/>
                    </a:p>
                    <a:p>
                      <a:pPr defTabSz="914400"/>
                      <a:r>
                        <a:rPr b="0" i="0" strike="noStrike" dirty="0"/>
                        <a:t> attributes are mutually exclusive. If neither attribute is specified, the control SHOULD default to being enabled. For example, consider the following XML fragment: &lt;button id="button" getEnabled="IsButtonEnabled" /&gt; In this example, the </a:t>
                      </a:r>
                      <a:endParaRPr b="0" i="0" strike="noStrike" dirty="0"/>
                    </a:p>
                    <a:p>
                      <a:pPr defTabSz="914400"/>
                      <a:r>
                        <a:rPr b="1" i="0" strike="noStrike" dirty="0"/>
                        <a:t>IsButtonEnabled</a:t>
                      </a:r>
                      <a:endParaRPr b="0" i="0" strike="noStrike" dirty="0"/>
                    </a:p>
                    <a:p>
                      <a:pPr defTabSz="914400"/>
                      <a:r>
                        <a:rPr b="0" i="0" strike="noStrike" dirty="0"/>
                        <a:t> callback function is called when the application needs to determine the enabled state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a:t>
                      </a:r>
                      <a:endParaRPr b="0" i="0" strike="noStrike" dirty="0"/>
                    </a:p>
                    <a:p>
                      <a:pPr defTabSz="914400"/>
                      <a:r>
                        <a:rPr/>
                        <a:t>2.3.2</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getImage</a:t>
                      </a:r>
                    </a:p>
                    <a:p>
                      <a:pPr defTabSz="914400"/>
                      <a:r>
                        <a:rPr b="0" i="0" strike="noStrike" dirty="0"/>
                        <a:t> ( </a:t>
                      </a:r>
                      <a:endParaRPr b="1" i="0" strike="noStrike" dirty="0"/>
                    </a:p>
                    <a:p>
                      <a:pPr defTabSz="914400"/>
                      <a:r>
                        <a:rPr b="1" i="0" strike="noStrike" dirty="0"/>
                        <a:t>getImage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icon of this control.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getImage="GetButtonImage" /&gt; In this example, the </a:t>
                      </a:r>
                      <a:endParaRPr b="0" i="0" strike="noStrike" dirty="0"/>
                    </a:p>
                    <a:p>
                      <a:pPr defTabSz="914400"/>
                      <a:r>
                        <a:rPr b="1" i="0" strike="noStrike" dirty="0"/>
                        <a:t>GetButtonImage</a:t>
                      </a:r>
                      <a:endParaRPr b="0" i="0" strike="noStrike" dirty="0"/>
                    </a:p>
                    <a:p>
                      <a:pPr defTabSz="914400"/>
                      <a:r>
                        <a:rPr b="0" i="0" strike="noStrike" dirty="0"/>
                        <a:t> callback function is called when the application needs to determine the icon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getKeytip</a:t>
                      </a:r>
                    </a:p>
                    <a:p>
                      <a:pPr defTabSz="914400"/>
                      <a:r>
                        <a:rPr b="0" i="0" strike="noStrike" dirty="0"/>
                        <a:t> ( </a:t>
                      </a:r>
                      <a:endParaRPr b="1" i="0" strike="noStrike" dirty="0"/>
                    </a:p>
                    <a:p>
                      <a:pPr defTabSz="914400"/>
                      <a:r>
                        <a:rPr b="1" i="0" strike="noStrike" dirty="0"/>
                        <a:t>getKeytip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suggested </a:t>
                      </a:r>
                    </a:p>
                    <a:p>
                      <a:pPr defTabSz="914400"/>
                      <a:r>
                        <a:rPr/>
                        <a:t>KeyTip</a:t>
                      </a:r>
                      <a:endParaRPr b="0" i="0" strike="noStrike" dirty="0"/>
                    </a:p>
                    <a:p>
                      <a:pPr defTabSz="914400"/>
                      <a:r>
                        <a:rPr b="0" i="0" strike="noStrike" dirty="0"/>
                        <a:t> of this control. The </a:t>
                      </a:r>
                      <a:endParaRPr b="0" i="0" strike="noStrike" dirty="0"/>
                    </a:p>
                    <a:p>
                      <a:pPr defTabSz="914400"/>
                      <a:r>
                        <a:rPr b="1" i="0" strike="noStrike" dirty="0"/>
                        <a:t>getKeytip</a:t>
                      </a:r>
                      <a:endParaRPr b="0" i="0" strike="noStrike" dirty="0"/>
                    </a:p>
                    <a:p>
                      <a:pPr defTabSz="914400"/>
                      <a:r>
                        <a:rPr b="0" i="0" strike="noStrike" dirty="0"/>
                        <a:t> and </a:t>
                      </a:r>
                      <a:endParaRPr b="0" i="0" strike="noStrike" dirty="0"/>
                    </a:p>
                    <a:p>
                      <a:pPr defTabSz="914400"/>
                      <a:r>
                        <a:rPr b="1" i="0" strike="noStrike" dirty="0"/>
                        <a:t>keytip</a:t>
                      </a:r>
                      <a:endParaRPr b="0" i="0" strike="noStrike" dirty="0"/>
                    </a:p>
                    <a:p>
                      <a:pPr defTabSz="914400"/>
                      <a:r>
                        <a:rPr b="0" i="0" strike="noStrike" dirty="0"/>
                        <a:t> attributes are mutually exclusive. If neither attribute is specified, the application SHOULD generate a KeyTip for the control automatically. For example, consider the following XML fragment: &lt;button id="button" getKeytip="GetButtonKeytip" /&gt; In this example, the </a:t>
                      </a:r>
                      <a:endParaRPr b="0" i="0" strike="noStrike" dirty="0"/>
                    </a:p>
                    <a:p>
                      <a:pPr defTabSz="914400"/>
                      <a:r>
                        <a:rPr b="1" i="0" strike="noStrike" dirty="0"/>
                        <a:t>GetButtonKeytip</a:t>
                      </a:r>
                      <a:endParaRPr b="0" i="0" strike="noStrike" dirty="0"/>
                    </a:p>
                    <a:p>
                      <a:pPr defTabSz="914400"/>
                      <a:r>
                        <a:rPr b="0" i="0" strike="noStrike" dirty="0"/>
                        <a:t> callback function is called when the application needs to determine the KeyTip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getLabel</a:t>
                      </a:r>
                    </a:p>
                    <a:p>
                      <a:pPr defTabSz="914400"/>
                      <a:r>
                        <a:rPr b="0" i="0" strike="noStrike" dirty="0"/>
                        <a:t> ( </a:t>
                      </a:r>
                      <a:endParaRPr b="1" i="0" strike="noStrike" dirty="0"/>
                    </a:p>
                    <a:p>
                      <a:pPr defTabSz="914400"/>
                      <a:r>
                        <a:rPr b="1" i="0" strike="noStrike" dirty="0"/>
                        <a:t>getLabel</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label of this control. The </a:t>
                      </a:r>
                    </a:p>
                    <a:p>
                      <a:pPr defTabSz="914400"/>
                      <a:r>
                        <a:rPr b="1" i="0" strike="noStrike" dirty="0"/>
                        <a:t>getLabel</a:t>
                      </a:r>
                      <a:endParaRPr b="0" i="0" strike="noStrike" dirty="0"/>
                    </a:p>
                    <a:p>
                      <a:pPr defTabSz="914400"/>
                      <a:r>
                        <a:rPr b="0" i="0" strike="noStrike" dirty="0"/>
                        <a:t> and </a:t>
                      </a:r>
                      <a:endParaRPr b="0" i="0" strike="noStrike" dirty="0"/>
                    </a:p>
                    <a:p>
                      <a:pPr defTabSz="914400"/>
                      <a:r>
                        <a:rPr b="1" i="0" strike="noStrike" dirty="0"/>
                        <a:t>label</a:t>
                      </a:r>
                      <a:endParaRPr b="0" i="0" strike="noStrike" dirty="0"/>
                    </a:p>
                    <a:p>
                      <a:pPr defTabSz="914400"/>
                      <a:r>
                        <a:rPr b="0" i="0" strike="noStrike" dirty="0"/>
                        <a:t> attributes are mutually exclusive. If neither attribute is specified, no label SHOULD be displayed. For example, consider the following XML fragment: &lt;button id="button" getLabel="GetButtonLabel" /&gt; In this example, the </a:t>
                      </a:r>
                      <a:endParaRPr b="0" i="0" strike="noStrike" dirty="0"/>
                    </a:p>
                    <a:p>
                      <a:pPr defTabSz="914400"/>
                      <a:r>
                        <a:rPr b="1" i="0" strike="noStrike" dirty="0"/>
                        <a:t>GetButtonLabel</a:t>
                      </a:r>
                      <a:endParaRPr b="0" i="0" strike="noStrike" dirty="0"/>
                    </a:p>
                    <a:p>
                      <a:pPr defTabSz="914400"/>
                      <a:r>
                        <a:rPr b="0" i="0" strike="noStrike" dirty="0"/>
                        <a:t> callback function is called when the application needs to determine the label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getScreentip</a:t>
                      </a:r>
                    </a:p>
                    <a:p>
                      <a:pPr defTabSz="914400"/>
                      <a:r>
                        <a:rPr b="0" i="0" strike="noStrike" dirty="0"/>
                        <a:t> ( </a:t>
                      </a:r>
                      <a:endParaRPr b="1" i="0" strike="noStrike" dirty="0"/>
                    </a:p>
                    <a:p>
                      <a:pPr defTabSz="914400"/>
                      <a:r>
                        <a:rPr b="1" i="0" strike="noStrike" dirty="0"/>
                        <a:t>getScreentip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screentip of this control. The </a:t>
                      </a:r>
                    </a:p>
                    <a:p>
                      <a:pPr defTabSz="914400"/>
                      <a:r>
                        <a:rPr b="1" i="0" strike="noStrike" dirty="0"/>
                        <a:t>getScreentip</a:t>
                      </a:r>
                      <a:endParaRPr b="0" i="0" strike="noStrike" dirty="0"/>
                    </a:p>
                    <a:p>
                      <a:pPr defTabSz="914400"/>
                      <a:r>
                        <a:rPr b="0" i="0" strike="noStrike" dirty="0"/>
                        <a:t> and </a:t>
                      </a:r>
                      <a:endParaRPr b="0" i="0" strike="noStrike" dirty="0"/>
                    </a:p>
                    <a:p>
                      <a:pPr defTabSz="914400"/>
                      <a:r>
                        <a:rPr b="1" i="0" strike="noStrike" dirty="0"/>
                        <a:t>screentip</a:t>
                      </a:r>
                      <a:endParaRPr b="0" i="0" strike="noStrike" dirty="0"/>
                    </a:p>
                    <a:p>
                      <a:pPr defTabSz="914400"/>
                      <a:r>
                        <a:rPr b="0" i="0" strike="noStrike" dirty="0"/>
                        <a:t> attributes are mutually exclusive. If neither attribute is specified, the application SHOULD display the label of the control as the screentip or display no screentip at all. For example, consider the following XML fragment: &lt;button id="button" getScreentip="GetButtonScreentip" /&gt; In this example, the </a:t>
                      </a:r>
                      <a:endParaRPr b="0" i="0" strike="noStrike" dirty="0"/>
                    </a:p>
                    <a:p>
                      <a:pPr defTabSz="914400"/>
                      <a:r>
                        <a:rPr b="1" i="0" strike="noStrike" dirty="0"/>
                        <a:t>GetButtonScreentip</a:t>
                      </a:r>
                      <a:endParaRPr b="0" i="0" strike="noStrike" dirty="0"/>
                    </a:p>
                    <a:p>
                      <a:pPr defTabSz="914400"/>
                      <a:r>
                        <a:rPr b="0" i="0" strike="noStrike" dirty="0"/>
                        <a:t> callback function is called when the application needs to determine the screentip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getShowImage</a:t>
                      </a:r>
                    </a:p>
                    <a:p>
                      <a:pPr defTabSz="914400"/>
                      <a:r>
                        <a:rPr b="0" i="0" strike="noStrike" dirty="0"/>
                        <a:t> ( </a:t>
                      </a:r>
                      <a:endParaRPr b="1" i="0" strike="noStrike" dirty="0"/>
                    </a:p>
                    <a:p>
                      <a:pPr defTabSz="914400"/>
                      <a:r>
                        <a:rPr b="1" i="0" strike="noStrike" dirty="0"/>
                        <a:t>getShowImage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whether the application SHOULD display the icon of this control.  The </a:t>
                      </a:r>
                    </a:p>
                    <a:p>
                      <a:pPr defTabSz="914400"/>
                      <a:r>
                        <a:rPr b="1" i="0" strike="noStrike" dirty="0"/>
                        <a:t>showImage</a:t>
                      </a:r>
                      <a:endParaRPr b="0" i="0" strike="noStrike" dirty="0"/>
                    </a:p>
                    <a:p>
                      <a:pPr defTabSz="914400"/>
                      <a:r>
                        <a:rPr b="0" i="0" strike="noStrike" dirty="0"/>
                        <a:t> and </a:t>
                      </a:r>
                      <a:endParaRPr b="0" i="0" strike="noStrike" dirty="0"/>
                    </a:p>
                    <a:p>
                      <a:pPr defTabSz="914400"/>
                      <a:r>
                        <a:rPr b="1" i="0" strike="noStrike" dirty="0"/>
                        <a:t>getShowImage</a:t>
                      </a:r>
                      <a:endParaRPr b="0" i="0" strike="noStrike" dirty="0"/>
                    </a:p>
                    <a:p>
                      <a:pPr defTabSz="914400"/>
                      <a:r>
                        <a:rPr b="0" i="0" strike="noStrike" dirty="0"/>
                        <a:t> attributes are mutually exclusive. If neither attribute is specified, the control SHOULD display its icon. For example, consider the following XML fragment: &lt;button id="button" getShowImage="IsButtonImageVisible" /&gt; In this example, the </a:t>
                      </a:r>
                      <a:endParaRPr b="0" i="0" strike="noStrike" dirty="0"/>
                    </a:p>
                    <a:p>
                      <a:pPr defTabSz="914400"/>
                      <a:r>
                        <a:rPr b="1" i="0" strike="noStrike" dirty="0"/>
                        <a:t>IsButtonImageVisible</a:t>
                      </a:r>
                      <a:endParaRPr b="0" i="0" strike="noStrike" dirty="0"/>
                    </a:p>
                    <a:p>
                      <a:pPr defTabSz="914400"/>
                      <a:r>
                        <a:rPr b="0" i="0" strike="noStrike" dirty="0"/>
                        <a:t> callback function is called when the application needs to determine whether to display the icon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getShowLabel</a:t>
                      </a:r>
                    </a:p>
                    <a:p>
                      <a:pPr defTabSz="914400"/>
                      <a:r>
                        <a:rPr b="0" i="0" strike="noStrike" dirty="0"/>
                        <a:t> ( </a:t>
                      </a:r>
                      <a:endParaRPr b="1" i="0" strike="noStrike" dirty="0"/>
                    </a:p>
                    <a:p>
                      <a:pPr defTabSz="914400"/>
                      <a:r>
                        <a:rPr b="1" i="0" strike="noStrike" dirty="0"/>
                        <a:t>getShowLabel</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whether the application SHOULD display the label of this control.  The </a:t>
                      </a:r>
                    </a:p>
                    <a:p>
                      <a:pPr defTabSz="914400"/>
                      <a:r>
                        <a:rPr b="1" i="0" strike="noStrike" dirty="0"/>
                        <a:t>showLabel</a:t>
                      </a:r>
                      <a:endParaRPr b="0" i="0" strike="noStrike" dirty="0"/>
                    </a:p>
                    <a:p>
                      <a:pPr defTabSz="914400"/>
                      <a:r>
                        <a:rPr b="0" i="0" strike="noStrike" dirty="0"/>
                        <a:t> and </a:t>
                      </a:r>
                      <a:endParaRPr b="0" i="0" strike="noStrike" dirty="0"/>
                    </a:p>
                    <a:p>
                      <a:pPr defTabSz="914400"/>
                      <a:r>
                        <a:rPr b="1" i="0" strike="noStrike" dirty="0"/>
                        <a:t>getShowLabel</a:t>
                      </a:r>
                      <a:endParaRPr b="0" i="0" strike="noStrike" dirty="0"/>
                    </a:p>
                    <a:p>
                      <a:pPr defTabSz="914400"/>
                      <a:r>
                        <a:rPr b="0" i="0" strike="noStrike" dirty="0"/>
                        <a:t> attributes are mutually exclusive. If neither attribute is specified, the control SHOULD default to showing its label. For example, consider the following XML fragment: &lt;button id="button" getShowLabel="IsButtonLabelVisible" /&gt; In this example, the </a:t>
                      </a:r>
                      <a:endParaRPr b="0" i="0" strike="noStrike" dirty="0"/>
                    </a:p>
                    <a:p>
                      <a:pPr defTabSz="914400"/>
                      <a:r>
                        <a:rPr b="1" i="0" strike="noStrike" dirty="0"/>
                        <a:t>IsButtonLabelVisible</a:t>
                      </a:r>
                      <a:endParaRPr b="0" i="0" strike="noStrike" dirty="0"/>
                    </a:p>
                    <a:p>
                      <a:pPr defTabSz="914400"/>
                      <a:r>
                        <a:rPr b="0" i="0" strike="noStrike" dirty="0"/>
                        <a:t> callback function is called when the application needs to determine whether to display the label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getSupertip</a:t>
                      </a:r>
                    </a:p>
                    <a:p>
                      <a:pPr defTabSz="914400"/>
                      <a:r>
                        <a:rPr b="0" i="0" strike="noStrike" dirty="0"/>
                        <a:t> ( </a:t>
                      </a:r>
                      <a:endParaRPr b="1" i="0" strike="noStrike" dirty="0"/>
                    </a:p>
                    <a:p>
                      <a:pPr defTabSz="914400"/>
                      <a:r>
                        <a:rPr b="1" i="0" strike="noStrike" dirty="0"/>
                        <a:t>getSupertip</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supertip of this control. The </a:t>
                      </a:r>
                    </a:p>
                    <a:p>
                      <a:pPr defTabSz="914400"/>
                      <a:r>
                        <a:rPr b="1" i="0" strike="noStrike" dirty="0"/>
                        <a:t>getSupertip</a:t>
                      </a:r>
                      <a:endParaRPr b="0" i="0" strike="noStrike" dirty="0"/>
                    </a:p>
                    <a:p>
                      <a:pPr defTabSz="914400"/>
                      <a:r>
                        <a:rPr b="0" i="0" strike="noStrike" dirty="0"/>
                        <a:t> and </a:t>
                      </a:r>
                      <a:endParaRPr b="0" i="0" strike="noStrike" dirty="0"/>
                    </a:p>
                    <a:p>
                      <a:pPr defTabSz="914400"/>
                      <a:r>
                        <a:rPr b="1" i="0" strike="noStrike" dirty="0"/>
                        <a:t>supertip</a:t>
                      </a:r>
                      <a:endParaRPr b="0" i="0" strike="noStrike" dirty="0"/>
                    </a:p>
                    <a:p>
                      <a:pPr defTabSz="914400"/>
                      <a:r>
                        <a:rPr b="0" i="0" strike="noStrike" dirty="0"/>
                        <a:t> attributes are mutually exclusive. If neither attribute is specified, no supertip for this control SHOULD be shown. For example, consider the following XML fragment: &lt;button id="button" getSupertip="GetButtonSupertip" /&gt; In this example, the </a:t>
                      </a:r>
                      <a:endParaRPr b="0" i="0" strike="noStrike" dirty="0"/>
                    </a:p>
                    <a:p>
                      <a:pPr defTabSz="914400"/>
                      <a:r>
                        <a:rPr b="1" i="0" strike="noStrike" dirty="0"/>
                        <a:t>GetButtonSupertip</a:t>
                      </a:r>
                      <a:endParaRPr b="0" i="0" strike="noStrike" dirty="0"/>
                    </a:p>
                    <a:p>
                      <a:pPr defTabSz="914400"/>
                      <a:r>
                        <a:rPr b="0" i="0" strike="noStrike" dirty="0"/>
                        <a:t> callback function is called when the application needs to determine the supertip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getVisible</a:t>
                      </a:r>
                    </a:p>
                    <a:p>
                      <a:pPr defTabSz="914400"/>
                      <a:r>
                        <a:rPr b="0" i="0" strike="noStrike" dirty="0"/>
                        <a:t> ( </a:t>
                      </a:r>
                      <a:endParaRPr b="1" i="0" strike="noStrike" dirty="0"/>
                    </a:p>
                    <a:p>
                      <a:pPr defTabSz="914400"/>
                      <a:r>
                        <a:rPr b="1" i="0" strike="noStrike" dirty="0"/>
                        <a:t>getVisible</a:t>
                      </a:r>
                      <a:endParaRPr b="1" i="0" strike="noStrike" dirty="0"/>
                    </a:p>
                    <a:p>
                      <a:pPr defTabSz="914400"/>
                      <a:r>
                        <a:rPr b="0" i="0" strike="noStrike" dirty="0"/>
                        <a:t> callback)</a:t>
                      </a:r>
                      <a:endParaRPr b="1" i="0" strike="noStrike" dirty="0"/>
                    </a:p>
                  </a:txBody>
                  <a:tcPr horzOverflow="overflow"/>
                </a:tc>
                <a:tc>
                  <a:txBody>
                    <a:bodyPr/>
                    <a:lstStyle/>
                    <a:p>
                      <a:pPr algn="l" defTabSz="914400"/>
                      <a:r>
                        <a:rPr b="0" i="0" strike="noStrike" dirty="0"/>
                        <a:t>Specifies the name of a callback function to be called to determine the visibility state of this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neither attribute is specified, the control SHOULD default to being visible. For example, consider the following XML fragment: &lt;button id="button" getVisible="IsButtonVisible" /&gt; In this example, the </a:t>
                      </a:r>
                      <a:endParaRPr b="0" i="0" strike="noStrike" dirty="0"/>
                    </a:p>
                    <a:p>
                      <a:pPr defTabSz="914400"/>
                      <a:r>
                        <a:rPr b="1" i="0" strike="noStrike" dirty="0"/>
                        <a:t>IsButtonVisible</a:t>
                      </a:r>
                      <a:endParaRPr b="0" i="0" strike="noStrike" dirty="0"/>
                    </a:p>
                    <a:p>
                      <a:pPr defTabSz="914400"/>
                      <a:r>
                        <a:rPr b="0" i="0" strike="noStrike" dirty="0"/>
                        <a:t> callback function is called when the application needs to determine the visibility of the button. The possible values for this attribute are defined by the </a:t>
                      </a:r>
                      <a:endParaRPr b="0" i="0" strike="noStrike" dirty="0"/>
                    </a:p>
                    <a:p>
                      <a:pPr defTabSz="914400"/>
                      <a:r>
                        <a:rPr b="1" i="0" strike="noStrike" dirty="0"/>
                        <a:t>ST_Delegate</a:t>
                      </a:r>
                      <a:endParaRPr b="0" i="0" strike="noStrike" dirty="0"/>
                    </a:p>
                    <a:p>
                      <a:pPr defTabSz="914400"/>
                      <a:r>
                        <a:rPr b="0" i="0" strike="noStrike" dirty="0"/>
                        <a:t> simple type, as specified in section 2.3.2.</a:t>
                      </a:r>
                      <a:endParaRPr b="0" i="0" strike="noStrike" dirty="0"/>
                    </a:p>
                  </a:txBody>
                  <a:tcPr horzOverflow="overflow"/>
                </a:tc>
              </a:tr>
            </a:tbl>
          </a:graphicData>
        </a:graphic>
      </p:graphicFrame>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id</a:t>
                      </a:r>
                    </a:p>
                    <a:p>
                      <a:pPr defTabSz="914400"/>
                      <a:r>
                        <a:rPr b="0" i="0" strike="noStrike" dirty="0"/>
                        <a:t> (control identifier)</a:t>
                      </a:r>
                      <a:endParaRPr b="1" i="0" strike="noStrike" dirty="0"/>
                    </a:p>
                  </a:txBody>
                  <a:tcPr horzOverflow="overflow"/>
                </a:tc>
                <a:tc>
                  <a:txBody>
                    <a:bodyPr/>
                    <a:lstStyle/>
                    <a:p>
                      <a:pPr algn="l" defTabSz="914400"/>
                      <a:r>
                        <a:rPr b="0" i="0" strike="noStrike" dirty="0"/>
                        <a:t>Specifies the identifier for a custom control. All custom controls MUST have unique identifiers. The identifier of a control SHOULD be passed to callback functions to identify which control corresponds to the function call. The </a:t>
                      </a:r>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&lt;button id="MyButton" label="Button" /&gt; This specifies a custom button control with an identifier of "MyButton". The possible values for this attribute are defined by the </a:t>
                      </a:r>
                      <a:endParaRPr b="0" i="0" strike="noStrike" dirty="0"/>
                    </a:p>
                    <a:p>
                      <a:pPr defTabSz="914400"/>
                      <a:r>
                        <a:rPr b="1" i="0" strike="noStrike" dirty="0"/>
                        <a:t>ST_UniqueID</a:t>
                      </a:r>
                      <a:endParaRPr b="0" i="0" strike="noStrike" dirty="0"/>
                    </a:p>
                    <a:p>
                      <a:pPr defTabSz="914400"/>
                      <a:r>
                        <a:rPr b="0" i="0" strike="noStrike" dirty="0"/>
                        <a:t> simple type, as specified in section </a:t>
                      </a:r>
                      <a:endParaRPr b="0" i="0" strike="noStrike" dirty="0"/>
                    </a:p>
                    <a:p>
                      <a:pPr defTabSz="914400"/>
                      <a:r>
                        <a:rPr/>
                        <a:t>2.3.13</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idMso</a:t>
                      </a:r>
                    </a:p>
                    <a:p>
                      <a:pPr defTabSz="914400"/>
                      <a:r>
                        <a:rPr b="0" i="0" strike="noStrike" dirty="0"/>
                        <a:t> (built-in control identifier)</a:t>
                      </a:r>
                      <a:endParaRPr b="1" i="0" strike="noStrike" dirty="0"/>
                    </a:p>
                  </a:txBody>
                  <a:tcPr horzOverflow="overflow"/>
                </a:tc>
                <a:tc>
                  <a:txBody>
                    <a:bodyPr/>
                    <a:lstStyle/>
                    <a:p>
                      <a:pPr algn="l" defTabSz="914400"/>
                      <a:r>
                        <a:rPr b="0" i="0" strike="noStrike" dirty="0"/>
                        <a:t>Specifies the identifier of a built-in control.  The contents of this attribute are application-defined. The </a:t>
                      </a:r>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&lt;control idMso="Bold" /&gt; This creates a clone of the control with an identifier of "Bold".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a:t>
                      </a:r>
                      <a:endParaRPr b="0" i="0" strike="noStrike" dirty="0"/>
                    </a:p>
                    <a:p>
                      <a:pPr defTabSz="914400"/>
                      <a:r>
                        <a:rPr/>
                        <a:t>2.3.5</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5080000">
                <a:tc>
                  <a:txBody>
                    <a:bodyPr/>
                    <a:lstStyle/>
                    <a:p>
                      <a:pPr algn="l" defTabSz="914400"/>
                      <a:r>
                        <a:rPr b="1" i="0" strike="noStrike" dirty="0"/>
                        <a:t>idQ</a:t>
                      </a:r>
                    </a:p>
                    <a:p>
                      <a:pPr defTabSz="914400"/>
                      <a:r>
                        <a:rPr b="0" i="0" strike="noStrike" dirty="0"/>
                        <a:t> (qualified control identifier)</a:t>
                      </a:r>
                      <a:endParaRPr b="1" i="0" strike="noStrike" dirty="0"/>
                    </a:p>
                  </a:txBody>
                  <a:tcPr horzOverflow="overflow"/>
                </a:tc>
                <a:tc>
                  <a:txBody>
                    <a:bodyPr/>
                    <a:lstStyle/>
                    <a:p>
                      <a:pPr algn="l" defTabSz="914400"/>
                      <a:r>
                        <a:rPr b="0" i="0" strike="noStrike" dirty="0"/>
                        <a:t>Specifies a qualified identifier for a control. The </a:t>
                      </a:r>
                    </a:p>
                    <a:p>
                      <a:pPr defTabSz="914400"/>
                      <a:r>
                        <a:rPr b="1" i="0" strike="noStrike" dirty="0"/>
                        <a:t>idQ</a:t>
                      </a:r>
                      <a:endParaRPr b="0" i="0" strike="noStrike" dirty="0"/>
                    </a:p>
                    <a:p>
                      <a:pPr defTabSz="914400"/>
                      <a:r>
                        <a:rPr b="0" i="0" strike="noStrike" dirty="0"/>
                        <a:t> attribute can be used to reference controls or containers created by other Custom UI documents. The </a:t>
                      </a:r>
                      <a:endParaRPr b="0" i="0" strike="noStrike" dirty="0"/>
                    </a:p>
                    <a:p>
                      <a:pPr defTabSz="914400"/>
                      <a:r>
                        <a:rPr b="1" i="0" strike="noStrike" dirty="0"/>
                        <a:t>id</a:t>
                      </a:r>
                      <a:endParaRPr b="0" i="0" strike="noStrike" dirty="0"/>
                    </a:p>
                    <a:p>
                      <a:pPr defTabSz="914400"/>
                      <a:r>
                        <a:rPr b="0" i="0" strike="noStrike" dirty="0"/>
                        <a:t>, </a:t>
                      </a:r>
                      <a:endParaRPr b="0" i="0" strike="noStrike" dirty="0"/>
                    </a:p>
                    <a:p>
                      <a:pPr defTabSz="914400"/>
                      <a:r>
                        <a:rPr b="1" i="0" strike="noStrike" dirty="0"/>
                        <a:t>idQ</a:t>
                      </a:r>
                      <a:endParaRPr b="0" i="0" strike="noStrike" dirty="0"/>
                    </a:p>
                    <a:p>
                      <a:pPr defTabSz="914400"/>
                      <a:r>
                        <a:rPr b="0" i="0" strike="noStrike" dirty="0"/>
                        <a:t>, and </a:t>
                      </a:r>
                      <a:endParaRPr b="0" i="0" strike="noStrike" dirty="0"/>
                    </a:p>
                    <a:p>
                      <a:pPr defTabSz="914400"/>
                      <a:r>
                        <a:rPr b="1" i="0" strike="noStrike" dirty="0"/>
                        <a:t>idMso</a:t>
                      </a:r>
                      <a:endParaRPr b="0" i="0" strike="noStrike" dirty="0"/>
                    </a:p>
                    <a:p>
                      <a:pPr defTabSz="914400"/>
                      <a:r>
                        <a:rPr b="0" i="0" strike="noStrike" dirty="0"/>
                        <a:t> attributes are mutually exclusive. At least one of these attributes MUST be specified. For example, consider the following XML fragment: &lt;customUI    xmlns="http://schemas.microsoft.com/office/2006/01/customui"   xmlns:ex="http://www.example.com"&gt;   &lt;ribbon&gt;     &lt;tabs&gt;      &lt;tab idQ="ex:OtherTab" label="Shared Tab"&gt;         &lt;group id="MyGroup" label="My Group"&gt;           …         &lt;/group&gt;       &lt;/tab&gt;     &lt;/tabs&gt;   &lt;/ribbon&gt; &lt;/customUI&gt; In this case, </a:t>
                      </a:r>
                      <a:endParaRPr b="0" i="0" strike="noStrike" dirty="0"/>
                    </a:p>
                    <a:p>
                      <a:pPr defTabSz="914400"/>
                      <a:r>
                        <a:rPr b="1" i="0" strike="noStrike" dirty="0"/>
                        <a:t>ex</a:t>
                      </a:r>
                      <a:endParaRPr b="0" i="0" strike="noStrike" dirty="0"/>
                    </a:p>
                    <a:p>
                      <a:pPr defTabSz="914400"/>
                      <a:r>
                        <a:rPr b="0" i="0" strike="noStrike" dirty="0"/>
                        <a:t> is an XML namespace prefix for the namespace http://www.example.com. This XML fragment refers to a </a:t>
                      </a:r>
                      <a:endParaRPr b="0" i="0" strike="noStrike" dirty="0"/>
                    </a:p>
                    <a:p>
                      <a:pPr defTabSz="914400"/>
                      <a:r>
                        <a:rPr b="1" i="0" strike="noStrike" dirty="0"/>
                        <a:t>tab</a:t>
                      </a:r>
                      <a:endParaRPr b="0" i="0" strike="noStrike" dirty="0"/>
                    </a:p>
                    <a:p>
                      <a:pPr defTabSz="914400"/>
                      <a:r>
                        <a:rPr b="0" i="0" strike="noStrike" dirty="0"/>
                        <a:t> in that namespace with an identifier of "OtherTab". If that tab cannot be found, it is created. A new group belonging to this file is added to the 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a:t>
                      </a:r>
                      <a:endParaRPr b="0" i="0" strike="noStrike" dirty="0"/>
                    </a:p>
                    <a:p>
                      <a:pPr defTabSz="914400"/>
                      <a:r>
                        <a:rPr/>
                        <a:t>2.3.9</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064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556000">
                <a:tc>
                  <a:txBody>
                    <a:bodyPr/>
                    <a:lstStyle/>
                    <a:p>
                      <a:pPr algn="l" defTabSz="914400"/>
                      <a:r>
                        <a:rPr b="1" i="0" strike="noStrike" dirty="0"/>
                        <a:t>image</a:t>
                      </a:r>
                    </a:p>
                    <a:p>
                      <a:pPr defTabSz="914400"/>
                      <a:r>
                        <a:rPr b="0" i="0" strike="noStrike" dirty="0"/>
                        <a:t> (custom image identifier)</a:t>
                      </a:r>
                      <a:endParaRPr b="1" i="0" strike="noStrike" dirty="0"/>
                    </a:p>
                  </a:txBody>
                  <a:tcPr horzOverflow="overflow"/>
                </a:tc>
                <a:tc>
                  <a:txBody>
                    <a:bodyPr/>
                    <a:lstStyle/>
                    <a:p>
                      <a:pPr algn="l" defTabSz="914400"/>
                      <a:r>
                        <a:rPr b="0" i="0" strike="noStrike" dirty="0"/>
                        <a:t>Specifies the relationship identifier for an image which SHOULD be used as the icon for this control. This attribute is used to specify an embedded picture that resides locally within the containing file.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image="ForestPic" /&gt; This specifies a custom button whose icon SHOULD be the embedded image file referenced by the relationship identifier of "ForestPic". The possible values for this attribute are defined by the </a:t>
                      </a:r>
                      <a:endParaRPr b="0" i="0" strike="noStrike" dirty="0"/>
                    </a:p>
                    <a:p>
                      <a:pPr defTabSz="914400"/>
                      <a:r>
                        <a:rPr b="1" i="0" strike="noStrike" dirty="0"/>
                        <a:t>ST_Uri</a:t>
                      </a:r>
                      <a:endParaRPr b="0" i="0" strike="noStrike" dirty="0"/>
                    </a:p>
                    <a:p>
                      <a:pPr defTabSz="914400"/>
                      <a:r>
                        <a:rPr b="0" i="0" strike="noStrike" dirty="0"/>
                        <a:t> simple type, as specified in section </a:t>
                      </a:r>
                      <a:endParaRPr b="0" i="0" strike="noStrike" dirty="0"/>
                    </a:p>
                    <a:p>
                      <a:pPr defTabSz="914400"/>
                      <a:r>
                        <a:rPr/>
                        <a:t>2.3.14</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imageMso</a:t>
                      </a:r>
                    </a:p>
                    <a:p>
                      <a:pPr defTabSz="914400"/>
                      <a:r>
                        <a:rPr b="0" i="0" strike="noStrike" dirty="0"/>
                        <a:t> (built-in image identifier)</a:t>
                      </a:r>
                      <a:endParaRPr b="1" i="0" strike="noStrike" dirty="0"/>
                    </a:p>
                  </a:txBody>
                  <a:tcPr horzOverflow="overflow"/>
                </a:tc>
                <a:tc>
                  <a:txBody>
                    <a:bodyPr/>
                    <a:lstStyle/>
                    <a:p>
                      <a:pPr algn="l" defTabSz="914400"/>
                      <a:r>
                        <a:rPr b="0" i="0" strike="noStrike" dirty="0"/>
                        <a:t>Specifies the identifier of a built-in image which SHOULD be used as the icon of this control. The contents of this attribute are application-defined and SHOULD be ignored if not understood. The </a:t>
                      </a:r>
                    </a:p>
                    <a:p>
                      <a:pPr defTabSz="914400"/>
                      <a:r>
                        <a:rPr b="1" i="0" strike="noStrike" dirty="0"/>
                        <a:t>getImage</a:t>
                      </a:r>
                      <a:endParaRPr b="0" i="0" strike="noStrike" dirty="0"/>
                    </a:p>
                    <a:p>
                      <a:pPr defTabSz="914400"/>
                      <a:r>
                        <a:rPr b="0" i="0" strike="noStrike" dirty="0"/>
                        <a:t>, </a:t>
                      </a:r>
                      <a:endParaRPr b="0" i="0" strike="noStrike" dirty="0"/>
                    </a:p>
                    <a:p>
                      <a:pPr defTabSz="914400"/>
                      <a:r>
                        <a:rPr b="1" i="0" strike="noStrike" dirty="0"/>
                        <a:t>image</a:t>
                      </a:r>
                      <a:endParaRPr b="0" i="0" strike="noStrike" dirty="0"/>
                    </a:p>
                    <a:p>
                      <a:pPr defTabSz="914400"/>
                      <a:r>
                        <a:rPr b="0" i="0" strike="noStrike" dirty="0"/>
                        <a:t>, and </a:t>
                      </a:r>
                      <a:endParaRPr b="0" i="0" strike="noStrike" dirty="0"/>
                    </a:p>
                    <a:p>
                      <a:pPr defTabSz="914400"/>
                      <a:r>
                        <a:rPr b="1" i="0" strike="noStrike" dirty="0"/>
                        <a:t>imageMso</a:t>
                      </a:r>
                      <a:endParaRPr b="0" i="0" strike="noStrike" dirty="0"/>
                    </a:p>
                    <a:p>
                      <a:pPr defTabSz="914400"/>
                      <a:r>
                        <a:rPr b="0" i="0" strike="noStrike" dirty="0"/>
                        <a:t> attributes are mutually exclusive. If none of these attributes are specified, no icon SHOULD be displayed. For example, consider the following XML fragment: &lt;button id="button" imageMso="Bold" /&gt; This specifies a custom button that SHOULD use the built-in image with an identifier of "Bold".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insertAfterMso</a:t>
                      </a:r>
                    </a:p>
                    <a:p>
                      <a:pPr defTabSz="914400"/>
                      <a:r>
                        <a:rPr b="0" i="0" strike="noStrike" dirty="0"/>
                        <a:t> (identifier of built-in control to insert after)</a:t>
                      </a:r>
                      <a:endParaRPr b="1" i="0" strike="noStrike" dirty="0"/>
                    </a:p>
                  </a:txBody>
                  <a:tcPr horzOverflow="overflow"/>
                </a:tc>
                <a:tc>
                  <a:txBody>
                    <a:bodyPr/>
                    <a:lstStyle/>
                    <a:p>
                      <a:pPr algn="l" defTabSz="914400"/>
                      <a:r>
                        <a:rPr b="0" i="0" strike="noStrike" dirty="0"/>
                        <a:t>Specifies the identifier of a built-in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insertAfterMso="TabHome" label="Custom Tab"&gt;   … &lt;/tab&gt; In this example, a new custom tab with an identifier of "MyTab" is to be inserted after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insertAfterQ</a:t>
                      </a:r>
                    </a:p>
                    <a:p>
                      <a:pPr defTabSz="914400"/>
                      <a:r>
                        <a:rPr b="0" i="0" strike="noStrike" dirty="0"/>
                        <a:t> (qualified identifier of control to insert after)</a:t>
                      </a:r>
                      <a:endParaRPr b="1" i="0" strike="noStrike" dirty="0"/>
                    </a:p>
                  </a:txBody>
                  <a:tcPr horzOverflow="overflow"/>
                </a:tc>
                <a:tc>
                  <a:txBody>
                    <a:bodyPr/>
                    <a:lstStyle/>
                    <a:p>
                      <a:pPr algn="l" defTabSz="914400"/>
                      <a:r>
                        <a:rPr b="0" i="0" strike="noStrike" dirty="0"/>
                        <a:t>Specifies the qualified identifier of a control that this control SHOULD be inserted after.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insertAfterQ="x:OtherTab" label="Custom Tab"&gt;   … &lt;/tab&gt; In this example, a new custom tab with an identifier of "MyTab" is to be inserted after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insertBeforeMso</a:t>
                      </a:r>
                    </a:p>
                    <a:p>
                      <a:pPr defTabSz="914400"/>
                      <a:r>
                        <a:rPr b="0" i="0" strike="noStrike" dirty="0"/>
                        <a:t> (identifier of built-in control to insert before)</a:t>
                      </a:r>
                      <a:endParaRPr b="1" i="0" strike="noStrike" dirty="0"/>
                    </a:p>
                  </a:txBody>
                  <a:tcPr horzOverflow="overflow"/>
                </a:tc>
                <a:tc>
                  <a:txBody>
                    <a:bodyPr/>
                    <a:lstStyle/>
                    <a:p>
                      <a:pPr algn="l" defTabSz="914400"/>
                      <a:r>
                        <a:rPr b="0" i="0" strike="noStrike" dirty="0"/>
                        <a:t>Specifies the identifier of a built-in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insertBeforeMso="TabHome" label="Custom Tab"&gt;   … &lt;/tab&gt; In this example, a new custom tab with an identifier of "MyTab" is to be inserted before the built-in tab with an identifier of "TabHome". The possible values for this attribute are defined by the </a:t>
                      </a:r>
                      <a:endParaRPr b="0" i="0" strike="noStrike" dirty="0"/>
                    </a:p>
                    <a:p>
                      <a:pPr defTabSz="914400"/>
                      <a:r>
                        <a:rPr b="1" i="0" strike="noStrike" dirty="0"/>
                        <a:t>ST_ID</a:t>
                      </a:r>
                      <a:endParaRPr b="0" i="0" strike="noStrike" dirty="0"/>
                    </a:p>
                    <a:p>
                      <a:pPr defTabSz="914400"/>
                      <a:r>
                        <a:rPr b="0" i="0" strike="noStrike" dirty="0"/>
                        <a:t> simple type, as specified in section 2.3.5.</a:t>
                      </a:r>
                      <a:endParaRPr b="0" i="0" strike="noStrike" dirty="0"/>
                    </a:p>
                  </a:txBody>
                  <a:tcPr horzOverflow="overflow"/>
                </a:tc>
              </a:tr>
            </a:tbl>
          </a:graphicData>
        </a:graphic>
      </p:graphicFrame>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457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4064000">
                <a:tc>
                  <a:txBody>
                    <a:bodyPr/>
                    <a:lstStyle/>
                    <a:p>
                      <a:pPr algn="l" defTabSz="914400"/>
                      <a:r>
                        <a:rPr b="1" i="0" strike="noStrike" dirty="0"/>
                        <a:t>insertBeforeQ</a:t>
                      </a:r>
                    </a:p>
                    <a:p>
                      <a:pPr defTabSz="914400"/>
                      <a:r>
                        <a:rPr b="0" i="0" strike="noStrike" dirty="0"/>
                        <a:t> (qualified identifier of control to insert before)</a:t>
                      </a:r>
                      <a:endParaRPr b="1" i="0" strike="noStrike" dirty="0"/>
                    </a:p>
                  </a:txBody>
                  <a:tcPr horzOverflow="overflow"/>
                </a:tc>
                <a:tc>
                  <a:txBody>
                    <a:bodyPr/>
                    <a:lstStyle/>
                    <a:p>
                      <a:pPr algn="l" defTabSz="914400"/>
                      <a:r>
                        <a:rPr b="0" i="0" strike="noStrike" dirty="0"/>
                        <a:t>Specifies the qualified identifier of a control that this control SHOULD be inserted before. If the value of this attribute is not understood, it SHOULD be ignored. The </a:t>
                      </a:r>
                    </a:p>
                    <a:p>
                      <a:pPr defTabSz="914400"/>
                      <a:r>
                        <a:rPr b="1" i="0" strike="noStrike" dirty="0"/>
                        <a:t>insertAfterMso</a:t>
                      </a:r>
                      <a:endParaRPr b="0" i="0" strike="noStrike" dirty="0"/>
                    </a:p>
                    <a:p>
                      <a:pPr defTabSz="914400"/>
                      <a:r>
                        <a:rPr b="0" i="0" strike="noStrike" dirty="0"/>
                        <a:t>, </a:t>
                      </a:r>
                      <a:endParaRPr b="0" i="0" strike="noStrike" dirty="0"/>
                    </a:p>
                    <a:p>
                      <a:pPr defTabSz="914400"/>
                      <a:r>
                        <a:rPr b="1" i="0" strike="noStrike" dirty="0"/>
                        <a:t>insertAfterQ</a:t>
                      </a:r>
                      <a:endParaRPr b="0" i="0" strike="noStrike" dirty="0"/>
                    </a:p>
                    <a:p>
                      <a:pPr defTabSz="914400"/>
                      <a:r>
                        <a:rPr b="0" i="0" strike="noStrike" dirty="0"/>
                        <a:t>, </a:t>
                      </a:r>
                      <a:endParaRPr b="0" i="0" strike="noStrike" dirty="0"/>
                    </a:p>
                    <a:p>
                      <a:pPr defTabSz="914400"/>
                      <a:r>
                        <a:rPr b="1" i="0" strike="noStrike" dirty="0"/>
                        <a:t>insertBeforeMso</a:t>
                      </a:r>
                      <a:endParaRPr b="0" i="0" strike="noStrike" dirty="0"/>
                    </a:p>
                    <a:p>
                      <a:pPr defTabSz="914400"/>
                      <a:r>
                        <a:rPr b="0" i="0" strike="noStrike" dirty="0"/>
                        <a:t>, and </a:t>
                      </a:r>
                      <a:endParaRPr b="0" i="0" strike="noStrike" dirty="0"/>
                    </a:p>
                    <a:p>
                      <a:pPr defTabSz="914400"/>
                      <a:r>
                        <a:rPr b="1" i="0" strike="noStrike" dirty="0"/>
                        <a:t>insertBeforeQ</a:t>
                      </a:r>
                      <a:endParaRPr b="0" i="0" strike="noStrike" dirty="0"/>
                    </a:p>
                    <a:p>
                      <a:pPr defTabSz="914400"/>
                      <a:r>
                        <a:rPr b="0" i="0" strike="noStrike" dirty="0"/>
                        <a:t> attributes are mutually exclusive. If none of these attributes are specified, the controls SHOULD be appended to the existing set of controls, in the order they are defined in the XML. For example, consider the following XML fragment: &lt;tab id="MyTab" insertBeforeQ="x:OtherTab" label="Custom Tab"&gt;   … &lt;/tab&gt; In this example, a new custom tab with an identifier of "MyTab" is to be inserted before the custom tab with a qualified identifier of "x:OtherTab". The possible values for this attribute are defined by the </a:t>
                      </a:r>
                      <a:endParaRPr b="0" i="0" strike="noStrike" dirty="0"/>
                    </a:p>
                    <a:p>
                      <a:pPr defTabSz="914400"/>
                      <a:r>
                        <a:rPr b="1" i="0" strike="noStrike" dirty="0"/>
                        <a:t>ST_QID</a:t>
                      </a:r>
                      <a:endParaRPr b="0" i="0" strike="noStrike" dirty="0"/>
                    </a:p>
                    <a:p>
                      <a:pPr defTabSz="914400"/>
                      <a:r>
                        <a:rPr b="0" i="0" strike="noStrike" dirty="0"/>
                        <a:t> simple type, as specified in section 2.3.9.</a:t>
                      </a:r>
                      <a:endParaRPr b="0" i="0" strike="noStrike" dirty="0"/>
                    </a:p>
                  </a:txBody>
                  <a:tcPr horzOverflow="overflow"/>
                </a:tc>
              </a:tr>
            </a:tbl>
          </a:graphicData>
        </a:graphic>
      </p:graphicFrame>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842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794000">
                <a:tc>
                  <a:txBody>
                    <a:bodyPr/>
                    <a:lstStyle/>
                    <a:p>
                      <a:pPr algn="l" defTabSz="914400"/>
                      <a:r>
                        <a:rPr b="1" i="0" strike="noStrike" dirty="0"/>
                        <a:t>keytip</a:t>
                      </a:r>
                    </a:p>
                    <a:p>
                      <a:pPr defTabSz="914400"/>
                      <a:r>
                        <a:rPr b="0" i="0" strike="noStrike" dirty="0"/>
                        <a:t> (keytip)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used as the suggested KeyTip for this control. The </a:t>
                      </a:r>
                      <a:endParaRPr b="0" i="0" strike="noStrike" dirty="0"/>
                    </a:p>
                    <a:p>
                      <a:pPr defTabSz="914400"/>
                      <a:r>
                        <a:rPr b="1" i="0" strike="noStrike" dirty="0"/>
                        <a:t>keytip</a:t>
                      </a:r>
                      <a:endParaRPr b="0" i="0" strike="noStrike" dirty="0"/>
                    </a:p>
                    <a:p>
                      <a:pPr defTabSz="914400"/>
                      <a:r>
                        <a:rPr b="0" i="0" strike="noStrike" dirty="0"/>
                        <a:t> and </a:t>
                      </a:r>
                      <a:endParaRPr b="0" i="0" strike="noStrike" dirty="0"/>
                    </a:p>
                    <a:p>
                      <a:pPr defTabSz="914400"/>
                      <a:r>
                        <a:rPr b="1" i="0" strike="noStrike" dirty="0"/>
                        <a:t>getKeytip</a:t>
                      </a:r>
                      <a:endParaRPr b="0" i="0" strike="noStrike" dirty="0"/>
                    </a:p>
                    <a:p>
                      <a:pPr defTabSz="914400"/>
                      <a:r>
                        <a:rPr b="0" i="0" strike="noStrike" dirty="0"/>
                        <a:t> attributes are mutually exclusive. If neither attribute is specified, the application SHOULD generate a KeyTip for the control automatically. For example, consider a button with KeyTip 'K', as follows: </a:t>
                      </a:r>
                      <a:endParaRPr b="0" i="0" strike="noStrike" dirty="0"/>
                    </a:p>
                    <a:p>
                      <a:pPr defTabSz="914400"/>
                      <a:r>
                        <a:rPr/>
                        <a:t>[Button with Key Tip K]</a:t>
                      </a:r>
                      <a:endParaRPr b="0" i="0" strike="noStrike" dirty="0"/>
                    </a:p>
                    <a:p>
                      <a:pPr defTabSz="914400"/>
                      <a:r>
                        <a:rPr b="0" i="0" strike="noStrike" dirty="0"/>
                        <a:t> This is specified using the following XML fragment: &lt;button id="button" imageMso="HappyFace" keytip="K" /&gt; The possible values for this attribute are defined by the </a:t>
                      </a:r>
                      <a:endParaRPr b="0" i="0" strike="noStrike" dirty="0"/>
                    </a:p>
                    <a:p>
                      <a:pPr defTabSz="914400"/>
                      <a:r>
                        <a:rPr b="1" i="0" strike="noStrike" dirty="0"/>
                        <a:t>ST_Keytip</a:t>
                      </a:r>
                      <a:endParaRPr b="0" i="0" strike="noStrike" dirty="0"/>
                    </a:p>
                    <a:p>
                      <a:pPr defTabSz="914400"/>
                      <a:r>
                        <a:rPr b="0" i="0" strike="noStrike" dirty="0"/>
                        <a:t> simple type, as specified in section </a:t>
                      </a:r>
                      <a:endParaRPr b="0" i="0" strike="noStrike" dirty="0"/>
                    </a:p>
                    <a:p>
                      <a:pPr defTabSz="914400"/>
                      <a:r>
                        <a:rPr/>
                        <a:t>2.3.7</a:t>
                      </a:r>
                      <a:endParaRPr b="0" i="0" strike="noStrike" dirty="0"/>
                    </a:p>
                    <a:p>
                      <a:pPr defTabSz="914400"/>
                      <a:r>
                        <a:rPr b="0" i="0" strike="noStrike" dirty="0"/>
                        <a:t>.</a:t>
                      </a:r>
                      <a:endParaRPr b="0" i="0" strike="noStrike" dirty="0"/>
                    </a:p>
                  </a:txBody>
                  <a:tcPr horzOverflow="overflow"/>
                </a:tc>
              </a:tr>
              <a:tr h="2540000">
                <a:tc>
                  <a:txBody>
                    <a:bodyPr/>
                    <a:lstStyle/>
                    <a:p>
                      <a:pPr algn="l" defTabSz="914400"/>
                      <a:r>
                        <a:rPr b="1" i="0" strike="noStrike" dirty="0"/>
                        <a:t>label</a:t>
                      </a:r>
                    </a:p>
                    <a:p>
                      <a:pPr defTabSz="914400"/>
                      <a:r>
                        <a:rPr b="0" i="0" strike="noStrike" dirty="0"/>
                        <a:t> (label)</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used as the label for this control. The </a:t>
                      </a:r>
                      <a:endParaRPr b="0" i="0" strike="noStrike" dirty="0"/>
                    </a:p>
                    <a:p>
                      <a:pPr defTabSz="914400"/>
                      <a:r>
                        <a:rPr b="1" i="0" strike="noStrike" dirty="0"/>
                        <a:t>label</a:t>
                      </a:r>
                      <a:endParaRPr b="0" i="0" strike="noStrike" dirty="0"/>
                    </a:p>
                    <a:p>
                      <a:pPr defTabSz="914400"/>
                      <a:r>
                        <a:rPr b="0" i="0" strike="noStrike" dirty="0"/>
                        <a:t> and </a:t>
                      </a:r>
                      <a:endParaRPr b="0" i="0" strike="noStrike" dirty="0"/>
                    </a:p>
                    <a:p>
                      <a:pPr defTabSz="914400"/>
                      <a:r>
                        <a:rPr b="1" i="0" strike="noStrike" dirty="0"/>
                        <a:t>getLabel</a:t>
                      </a:r>
                      <a:endParaRPr b="0" i="0" strike="noStrike" dirty="0"/>
                    </a:p>
                    <a:p>
                      <a:pPr defTabSz="914400"/>
                      <a:r>
                        <a:rPr b="0" i="0" strike="noStrike" dirty="0"/>
                        <a:t> attributes are mutually exclusive. If neither attribute is specified, no </a:t>
                      </a:r>
                      <a:endParaRPr b="0" i="0" strike="noStrike" dirty="0"/>
                    </a:p>
                    <a:p>
                      <a:pPr defTabSz="914400"/>
                      <a:r>
                        <a:rPr b="1" i="0" strike="noStrike" dirty="0"/>
                        <a:t>label</a:t>
                      </a:r>
                      <a:endParaRPr b="0" i="0" strike="noStrike" dirty="0"/>
                    </a:p>
                    <a:p>
                      <a:pPr defTabSz="914400"/>
                      <a:r>
                        <a:rPr b="0" i="0" strike="noStrike" dirty="0"/>
                        <a:t> SHOULD be displayed. For example, consider the following XML fragment: &lt;button id="button" label="Custom Button" /&gt; This specifies a custom </a:t>
                      </a:r>
                      <a:endParaRPr b="0" i="0" strike="noStrike" dirty="0"/>
                    </a:p>
                    <a:p>
                      <a:pPr defTabSz="914400"/>
                      <a:r>
                        <a:rPr b="1" i="0" strike="noStrike" dirty="0"/>
                        <a:t>button</a:t>
                      </a:r>
                      <a:endParaRPr b="0" i="0" strike="noStrike" dirty="0"/>
                    </a:p>
                    <a:p>
                      <a:pPr defTabSz="914400"/>
                      <a:r>
                        <a:rPr b="0" i="0" strike="noStrike" dirty="0"/>
                        <a:t> with a </a:t>
                      </a:r>
                      <a:endParaRPr b="0" i="0" strike="noStrike" dirty="0"/>
                    </a:p>
                    <a:p>
                      <a:pPr defTabSz="914400"/>
                      <a:r>
                        <a:rPr b="1" i="0" strike="noStrike" dirty="0"/>
                        <a:t>label</a:t>
                      </a:r>
                      <a:endParaRPr b="0" i="0" strike="noStrike" dirty="0"/>
                    </a:p>
                    <a:p>
                      <a:pPr defTabSz="914400"/>
                      <a:r>
                        <a:rPr b="0" i="0" strike="noStrike" dirty="0"/>
                        <a:t> of "Custom Button".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a:t>
                      </a:r>
                      <a:endParaRPr b="0" i="0" strike="noStrike" dirty="0"/>
                    </a:p>
                    <a:p>
                      <a:pPr defTabSz="914400"/>
                      <a:r>
                        <a:rPr/>
                        <a:t>2.3.11</a:t>
                      </a:r>
                      <a:endParaRPr b="0" i="0" strike="noStrike" dirty="0"/>
                    </a:p>
                    <a:p>
                      <a:pPr defTabSz="914400"/>
                      <a:r>
                        <a:rPr b="0" i="0" strike="noStrike" dirty="0"/>
                        <a:t>.</a:t>
                      </a:r>
                      <a:endParaRPr b="0" i="0" strike="noStrike" dirty="0"/>
                    </a:p>
                  </a:txBody>
                  <a:tcPr horzOverflow="overflow"/>
                </a:tc>
              </a:tr>
            </a:tbl>
          </a:graphicData>
        </a:graphic>
      </p:graphicFrame>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screentip</a:t>
                      </a:r>
                    </a:p>
                    <a:p>
                      <a:pPr defTabSz="914400"/>
                      <a:r>
                        <a:rPr b="0" i="0" strike="noStrike" dirty="0"/>
                        <a:t> (screentip)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shown as the screentip for this control. The </a:t>
                      </a:r>
                      <a:endParaRPr b="0" i="0" strike="noStrike" dirty="0"/>
                    </a:p>
                    <a:p>
                      <a:pPr defTabSz="914400"/>
                      <a:r>
                        <a:rPr b="1" i="0" strike="noStrike" dirty="0"/>
                        <a:t>screentip</a:t>
                      </a:r>
                      <a:endParaRPr b="0" i="0" strike="noStrike" dirty="0"/>
                    </a:p>
                    <a:p>
                      <a:pPr defTabSz="914400"/>
                      <a:r>
                        <a:rPr b="0" i="0" strike="noStrike" dirty="0"/>
                        <a:t> and </a:t>
                      </a:r>
                      <a:endParaRPr b="0" i="0" strike="noStrike" dirty="0"/>
                    </a:p>
                    <a:p>
                      <a:pPr defTabSz="914400"/>
                      <a:r>
                        <a:rPr b="1" i="0" strike="noStrike" dirty="0"/>
                        <a:t>getScreentip</a:t>
                      </a:r>
                      <a:endParaRPr b="0" i="0" strike="noStrike" dirty="0"/>
                    </a:p>
                    <a:p>
                      <a:pPr defTabSz="914400"/>
                      <a:r>
                        <a:rPr b="0" i="0" strike="noStrike" dirty="0"/>
                        <a:t> attributes are mutually exclusive. If neither attribute is specified, the application SHOULD display the label of the control as the screentip or display no screentip at all. For example, consider a button with a screentip, as follows: </a:t>
                      </a:r>
                      <a:endParaRPr b="0" i="0" strike="noStrike" dirty="0"/>
                    </a:p>
                    <a:p>
                      <a:pPr defTabSz="914400"/>
                      <a:r>
                        <a:rPr/>
                        <a:t>[Button with screen tip string]</a:t>
                      </a:r>
                      <a:endParaRPr b="0" i="0" strike="noStrike" dirty="0"/>
                    </a:p>
                    <a:p>
                      <a:pPr defTabSz="914400"/>
                      <a:r>
                        <a:rPr b="0" i="0" strike="noStrike" dirty="0"/>
                        <a:t> This is specified using the following XML fragment: &lt;button id="button" imageMso="HappyFace" label="Button"   size="large" screentip="This is the screentip" /&gt;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showImage</a:t>
                      </a:r>
                    </a:p>
                    <a:p>
                      <a:pPr defTabSz="914400"/>
                      <a:r>
                        <a:rPr b="0" i="0" strike="noStrike" dirty="0"/>
                        <a:t> (show image)</a:t>
                      </a:r>
                      <a:endParaRPr b="1" i="0" strike="noStrike" dirty="0"/>
                    </a:p>
                  </a:txBody>
                  <a:tcPr horzOverflow="overflow"/>
                </a:tc>
                <a:tc>
                  <a:txBody>
                    <a:bodyPr/>
                    <a:lstStyle/>
                    <a:p>
                      <a:pPr algn="l" defTabSz="914400"/>
                      <a:r>
                        <a:rPr b="0" i="0" strike="noStrike" dirty="0"/>
                        <a:t>Specifies whether this control displays an icon.  The </a:t>
                      </a:r>
                    </a:p>
                    <a:p>
                      <a:pPr defTabSz="914400"/>
                      <a:r>
                        <a:rPr b="1" i="0" strike="noStrike" dirty="0"/>
                        <a:t>showImage</a:t>
                      </a:r>
                      <a:endParaRPr b="0" i="0" strike="noStrike" dirty="0"/>
                    </a:p>
                    <a:p>
                      <a:pPr defTabSz="914400"/>
                      <a:r>
                        <a:rPr b="0" i="0" strike="noStrike" dirty="0"/>
                        <a:t> and </a:t>
                      </a:r>
                      <a:endParaRPr b="0" i="0" strike="noStrike" dirty="0"/>
                    </a:p>
                    <a:p>
                      <a:pPr defTabSz="914400"/>
                      <a:r>
                        <a:rPr b="1" i="0" strike="noStrike" dirty="0"/>
                        <a:t>getShowImage</a:t>
                      </a:r>
                      <a:endParaRPr b="0" i="0" strike="noStrike" dirty="0"/>
                    </a:p>
                    <a:p>
                      <a:pPr defTabSz="914400"/>
                      <a:r>
                        <a:rPr b="0" i="0" strike="noStrike" dirty="0"/>
                        <a:t> attributes are mutually exclusive. If neither attribute is specified, the control SHOULD display its icon. For example, consider a button that does not display an icon, as follows: </a:t>
                      </a:r>
                      <a:endParaRPr b="0" i="0" strike="noStrike" dirty="0"/>
                    </a:p>
                    <a:p>
                      <a:pPr defTabSz="914400"/>
                      <a:r>
                        <a:rPr/>
                        <a:t>[Button with no icon]</a:t>
                      </a:r>
                      <a:endParaRPr b="0" i="0" strike="noStrike" dirty="0"/>
                    </a:p>
                    <a:p>
                      <a:pPr defTabSz="914400"/>
                      <a:r>
                        <a:rPr b="0" i="0" strike="noStrike" dirty="0"/>
                        <a:t> This is specified using the following XML fragment: &lt;button id="button" showImage="false"    label="Button with no icon" /&gt;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showLabel</a:t>
                      </a:r>
                    </a:p>
                    <a:p>
                      <a:pPr defTabSz="914400"/>
                      <a:r>
                        <a:rPr b="0" i="0" strike="noStrike" dirty="0"/>
                        <a:t> (show label)</a:t>
                      </a:r>
                      <a:endParaRPr b="1" i="0" strike="noStrike" dirty="0"/>
                    </a:p>
                  </a:txBody>
                  <a:tcPr horzOverflow="overflow"/>
                </a:tc>
                <a:tc>
                  <a:txBody>
                    <a:bodyPr/>
                    <a:lstStyle/>
                    <a:p>
                      <a:pPr algn="l" defTabSz="914400"/>
                      <a:r>
                        <a:rPr b="0" i="0" strike="noStrike" dirty="0"/>
                        <a:t>Specifies whether this control SHOULD display its label.   The </a:t>
                      </a:r>
                    </a:p>
                    <a:p>
                      <a:pPr defTabSz="914400"/>
                      <a:r>
                        <a:rPr b="1" i="0" strike="noStrike" dirty="0"/>
                        <a:t>showLabel</a:t>
                      </a:r>
                      <a:endParaRPr b="0" i="0" strike="noStrike" dirty="0"/>
                    </a:p>
                    <a:p>
                      <a:pPr defTabSz="914400"/>
                      <a:r>
                        <a:rPr b="0" i="0" strike="noStrike" dirty="0"/>
                        <a:t> and </a:t>
                      </a:r>
                      <a:endParaRPr b="0" i="0" strike="noStrike" dirty="0"/>
                    </a:p>
                    <a:p>
                      <a:pPr defTabSz="914400"/>
                      <a:r>
                        <a:rPr b="1" i="0" strike="noStrike" dirty="0"/>
                        <a:t>getShowLabel</a:t>
                      </a:r>
                      <a:endParaRPr b="0" i="0" strike="noStrike" dirty="0"/>
                    </a:p>
                    <a:p>
                      <a:pPr defTabSz="914400"/>
                      <a:r>
                        <a:rPr b="0" i="0" strike="noStrike" dirty="0"/>
                        <a:t> attributes are mutually exclusive. If neither attribute is specified, the control SHOULD default to showing its label. For example, consider the following XML fragment: &lt;button id="button" label="Label" showLabel="false"    imageMso="HappyFace" /&gt; This specifies a </a:t>
                      </a:r>
                      <a:endParaRPr b="0" i="0" strike="noStrike" dirty="0"/>
                    </a:p>
                    <a:p>
                      <a:pPr defTabSz="914400"/>
                      <a:r>
                        <a:rPr b="1" i="0" strike="noStrike" dirty="0"/>
                        <a:t>button</a:t>
                      </a:r>
                      <a:endParaRPr b="0" i="0" strike="noStrike" dirty="0"/>
                    </a:p>
                    <a:p>
                      <a:pPr defTabSz="914400"/>
                      <a:r>
                        <a:rPr b="0" i="0" strike="noStrike" dirty="0"/>
                        <a:t> that has a </a:t>
                      </a:r>
                      <a:endParaRPr b="0" i="0" strike="noStrike" dirty="0"/>
                    </a:p>
                    <a:p>
                      <a:pPr defTabSz="914400"/>
                      <a:r>
                        <a:rPr b="1" i="0" strike="noStrike" dirty="0"/>
                        <a:t>label</a:t>
                      </a:r>
                      <a:endParaRPr b="0" i="0" strike="noStrike" dirty="0"/>
                    </a:p>
                    <a:p>
                      <a:pPr defTabSz="914400"/>
                      <a:r>
                        <a:rPr b="0" i="0" strike="noStrike" dirty="0"/>
                        <a:t>, but does not show it. Even though the </a:t>
                      </a:r>
                      <a:endParaRPr b="0" i="0" strike="noStrike" dirty="0"/>
                    </a:p>
                    <a:p>
                      <a:pPr defTabSz="914400"/>
                      <a:r>
                        <a:rPr b="1" i="0" strike="noStrike" dirty="0"/>
                        <a:t>label</a:t>
                      </a:r>
                      <a:endParaRPr b="0" i="0" strike="noStrike" dirty="0"/>
                    </a:p>
                    <a:p>
                      <a:pPr defTabSz="914400"/>
                      <a:r>
                        <a:rPr b="0" i="0" strike="noStrike" dirty="0"/>
                        <a:t> is hidden, it is provided to accessibility tools.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556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048000">
                <a:tc>
                  <a:txBody>
                    <a:bodyPr/>
                    <a:lstStyle/>
                    <a:p>
                      <a:pPr algn="l" defTabSz="914400"/>
                      <a:r>
                        <a:rPr b="1" i="0" strike="noStrike" dirty="0"/>
                        <a:t>supertip</a:t>
                      </a:r>
                    </a:p>
                    <a:p>
                      <a:pPr defTabSz="914400"/>
                      <a:r>
                        <a:rPr b="0" i="0" strike="noStrike" dirty="0"/>
                        <a:t> (supertip)</a:t>
                      </a:r>
                      <a:endParaRPr b="1" i="0" strike="noStrike" dirty="0"/>
                    </a:p>
                  </a:txBody>
                  <a:tcPr horzOverflow="overflow"/>
                </a:tc>
                <a:tc>
                  <a:txBody>
                    <a:bodyPr/>
                    <a:lstStyle/>
                    <a:p>
                      <a:pPr algn="l" defTabSz="914400"/>
                      <a:r>
                        <a:rPr b="0" i="0" strike="noStrike" dirty="0"/>
                        <a:t>Specifies a </a:t>
                      </a:r>
                    </a:p>
                    <a:p>
                      <a:pPr defTabSz="914400"/>
                      <a:r>
                        <a:rPr b="1" i="0" strike="noStrike" dirty="0"/>
                        <a:t>string</a:t>
                      </a:r>
                      <a:endParaRPr b="0" i="0" strike="noStrike" dirty="0"/>
                    </a:p>
                    <a:p>
                      <a:pPr defTabSz="914400"/>
                      <a:r>
                        <a:rPr b="0" i="0" strike="noStrike" dirty="0"/>
                        <a:t> to be shown as the supertip of the control. The </a:t>
                      </a:r>
                      <a:endParaRPr b="0" i="0" strike="noStrike" dirty="0"/>
                    </a:p>
                    <a:p>
                      <a:pPr defTabSz="914400"/>
                      <a:r>
                        <a:rPr b="1" i="0" strike="noStrike" dirty="0"/>
                        <a:t>supertip</a:t>
                      </a:r>
                      <a:endParaRPr b="0" i="0" strike="noStrike" dirty="0"/>
                    </a:p>
                    <a:p>
                      <a:pPr defTabSz="914400"/>
                      <a:r>
                        <a:rPr b="0" i="0" strike="noStrike" dirty="0"/>
                        <a:t> and </a:t>
                      </a:r>
                      <a:endParaRPr b="0" i="0" strike="noStrike" dirty="0"/>
                    </a:p>
                    <a:p>
                      <a:pPr defTabSz="914400"/>
                      <a:r>
                        <a:rPr b="1" i="0" strike="noStrike" dirty="0"/>
                        <a:t>getSupertip</a:t>
                      </a:r>
                      <a:endParaRPr b="0" i="0" strike="noStrike" dirty="0"/>
                    </a:p>
                    <a:p>
                      <a:pPr defTabSz="914400"/>
                      <a:r>
                        <a:rPr b="0" i="0" strike="noStrike" dirty="0"/>
                        <a:t> attributes are mutually exclusive. If neither attribute is specified no supertip for this control SHOULD be shown. For example, consider a control with a supertip, as follows: </a:t>
                      </a:r>
                      <a:endParaRPr b="0" i="0" strike="noStrike" dirty="0"/>
                    </a:p>
                    <a:p>
                      <a:pPr defTabSz="914400"/>
                      <a:r>
                        <a:rPr/>
                        <a:t>[Button with super tip string]</a:t>
                      </a:r>
                      <a:endParaRPr b="0" i="0" strike="noStrike" dirty="0"/>
                    </a:p>
                    <a:p>
                      <a:pPr defTabSz="914400"/>
                      <a:r>
                        <a:rPr b="0" i="0" strike="noStrike" dirty="0"/>
                        <a:t> This is specified using the following XML fragment: &lt;button id="button" imageMso="HappyFace" label="Button"   size="large" screentip="Screentip"   supertip="This is the supertip string" /&gt;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810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3302000">
                <a:tc>
                  <a:txBody>
                    <a:bodyPr/>
                    <a:lstStyle/>
                    <a:p>
                      <a:pPr algn="l" defTabSz="914400"/>
                      <a:r>
                        <a:rPr b="1" i="0" strike="noStrike" dirty="0"/>
                        <a:t>tag</a:t>
                      </a:r>
                    </a:p>
                    <a:p>
                      <a:pPr defTabSz="914400"/>
                      <a:r>
                        <a:rPr b="0" i="0" strike="noStrike" dirty="0"/>
                        <a:t> (tag)</a:t>
                      </a:r>
                      <a:endParaRPr b="1" i="0" strike="noStrike" dirty="0"/>
                    </a:p>
                  </a:txBody>
                  <a:tcPr horzOverflow="overflow"/>
                </a:tc>
                <a:tc>
                  <a:txBody>
                    <a:bodyPr/>
                    <a:lstStyle/>
                    <a:p>
                      <a:pPr algn="l" defTabSz="914400"/>
                      <a:r>
                        <a:rPr b="0" i="0" strike="noStrike" dirty="0"/>
                        <a:t>Specifies an arbitrary </a:t>
                      </a:r>
                    </a:p>
                    <a:p>
                      <a:pPr defTabSz="914400"/>
                      <a:r>
                        <a:rPr b="1" i="0" strike="noStrike" dirty="0"/>
                        <a:t>string</a:t>
                      </a:r>
                      <a:endParaRPr b="0" i="0" strike="noStrike" dirty="0"/>
                    </a:p>
                    <a:p>
                      <a:pPr defTabSz="914400"/>
                      <a:r>
                        <a:rPr b="0" i="0" strike="noStrike" dirty="0"/>
                        <a:t> that can be used to hold data or identify the control. The contents of this attribute SHOULD be passed to any callback functions specified on this control. If this attribute is omitted, the control's </a:t>
                      </a:r>
                      <a:endParaRPr b="0" i="0" strike="noStrike" dirty="0"/>
                    </a:p>
                    <a:p>
                      <a:pPr defTabSz="914400"/>
                      <a:r>
                        <a:rPr b="1" i="0" strike="noStrike" dirty="0"/>
                        <a:t>tag</a:t>
                      </a:r>
                      <a:endParaRPr b="0" i="0" strike="noStrike" dirty="0"/>
                    </a:p>
                    <a:p>
                      <a:pPr defTabSz="914400"/>
                      <a:r>
                        <a:rPr b="0" i="0" strike="noStrike" dirty="0"/>
                        <a:t> value SHOULD default to an empty </a:t>
                      </a:r>
                      <a:endParaRPr b="0" i="0" strike="noStrike" dirty="0"/>
                    </a:p>
                    <a:p>
                      <a:pPr defTabSz="914400"/>
                      <a:r>
                        <a:rPr b="1" i="0" strike="noStrike" dirty="0"/>
                        <a:t>string</a:t>
                      </a:r>
                      <a:endParaRPr b="0" i="0" strike="noStrike" dirty="0"/>
                    </a:p>
                    <a:p>
                      <a:pPr defTabSz="914400"/>
                      <a:r>
                        <a:rPr b="0" i="0" strike="noStrike" dirty="0"/>
                        <a:t>. For example, consider the following XML fragment: &lt;button id="button" label="Button" tag="123456"    onAction="ButtonClicked" /&gt; This specifies a </a:t>
                      </a:r>
                      <a:endParaRPr b="0" i="0" strike="noStrike" dirty="0"/>
                    </a:p>
                    <a:p>
                      <a:pPr defTabSz="914400"/>
                      <a:r>
                        <a:rPr b="1" i="0" strike="noStrike" dirty="0"/>
                        <a:t>button</a:t>
                      </a:r>
                      <a:endParaRPr b="0" i="0" strike="noStrike" dirty="0"/>
                    </a:p>
                    <a:p>
                      <a:pPr defTabSz="914400"/>
                      <a:r>
                        <a:rPr b="0" i="0" strike="noStrike" dirty="0"/>
                        <a:t> with a </a:t>
                      </a:r>
                      <a:endParaRPr b="0" i="0" strike="noStrike" dirty="0"/>
                    </a:p>
                    <a:p>
                      <a:pPr defTabSz="914400"/>
                      <a:r>
                        <a:rPr b="1" i="0" strike="noStrike" dirty="0"/>
                        <a:t>tag</a:t>
                      </a:r>
                      <a:endParaRPr b="0" i="0" strike="noStrike" dirty="0"/>
                    </a:p>
                    <a:p>
                      <a:pPr defTabSz="914400"/>
                      <a:r>
                        <a:rPr b="0" i="0" strike="noStrike" dirty="0"/>
                        <a:t> value of "123456", which is passed to the </a:t>
                      </a:r>
                      <a:endParaRPr b="0" i="0" strike="noStrike" dirty="0"/>
                    </a:p>
                    <a:p>
                      <a:pPr defTabSz="914400"/>
                      <a:r>
                        <a:rPr b="1" i="0" strike="noStrike" dirty="0"/>
                        <a:t>ButtonClicked</a:t>
                      </a:r>
                      <a:endParaRPr b="0" i="0" strike="noStrike" dirty="0"/>
                    </a:p>
                    <a:p>
                      <a:pPr defTabSz="914400"/>
                      <a:r>
                        <a:rPr b="0" i="0" strike="noStrike" dirty="0"/>
                        <a:t> callback function. The possible values for this attribute are defined by the </a:t>
                      </a:r>
                      <a:endParaRPr b="0" i="0" strike="noStrike" dirty="0"/>
                    </a:p>
                    <a:p>
                      <a:pPr defTabSz="914400"/>
                      <a:r>
                        <a:rPr b="1" i="0" strike="noStrike" dirty="0"/>
                        <a:t>ST_String</a:t>
                      </a:r>
                      <a:endParaRPr b="0" i="0" strike="noStrike" dirty="0"/>
                    </a:p>
                    <a:p>
                      <a:pPr defTabSz="914400"/>
                      <a:r>
                        <a:rPr b="0" i="0" strike="noStrike" dirty="0"/>
                        <a:t> simple type, as specified in section 2.3.11.</a:t>
                      </a:r>
                      <a:endParaRPr b="0" i="0" strike="noStrike" dirty="0"/>
                    </a:p>
                  </a:txBody>
                  <a:tcPr horzOverflow="overflow"/>
                </a:tc>
              </a:tr>
            </a:tbl>
          </a:graphicData>
        </a:graphic>
      </p:graphicFrame>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Attributes</a:t>
                      </a:r>
                    </a:p>
                  </a:txBody>
                  <a:tcPr horzOverflow="overflow"/>
                </a:tc>
                <a:tc>
                  <a:txBody>
                    <a:bodyPr/>
                    <a:lstStyle/>
                    <a:p>
                      <a:pPr algn="l" defTabSz="914400"/>
                      <a:r>
                        <a:rPr b="1" i="0" strike="noStrike" dirty="0"/>
                        <a:t>Description</a:t>
                      </a:r>
                    </a:p>
                  </a:txBody>
                  <a:tcPr horzOverflow="overflow"/>
                </a:tc>
              </a:tr>
              <a:tr h="2540000">
                <a:tc>
                  <a:txBody>
                    <a:bodyPr/>
                    <a:lstStyle/>
                    <a:p>
                      <a:pPr algn="l" defTabSz="914400"/>
                      <a:r>
                        <a:rPr b="1" i="0" strike="noStrike" dirty="0"/>
                        <a:t>visible</a:t>
                      </a:r>
                    </a:p>
                    <a:p>
                      <a:pPr defTabSz="914400"/>
                      <a:r>
                        <a:rPr b="0" i="0" strike="noStrike" dirty="0"/>
                        <a:t> (control visibility)</a:t>
                      </a:r>
                      <a:endParaRPr b="1" i="0" strike="noStrike" dirty="0"/>
                    </a:p>
                  </a:txBody>
                  <a:tcPr horzOverflow="overflow"/>
                </a:tc>
                <a:tc>
                  <a:txBody>
                    <a:bodyPr/>
                    <a:lstStyle/>
                    <a:p>
                      <a:pPr algn="l" defTabSz="914400"/>
                      <a:r>
                        <a:rPr b="0" i="0" strike="noStrike" dirty="0"/>
                        <a:t>Specifies the visibility state of the control. The </a:t>
                      </a:r>
                    </a:p>
                    <a:p>
                      <a:pPr defTabSz="914400"/>
                      <a:r>
                        <a:rPr b="1" i="0" strike="noStrike" dirty="0"/>
                        <a:t>getVisible</a:t>
                      </a:r>
                      <a:endParaRPr b="0" i="0" strike="noStrike" dirty="0"/>
                    </a:p>
                    <a:p>
                      <a:pPr defTabSz="914400"/>
                      <a:r>
                        <a:rPr b="0" i="0" strike="noStrike" dirty="0"/>
                        <a:t> and </a:t>
                      </a:r>
                      <a:endParaRPr b="0" i="0" strike="noStrike" dirty="0"/>
                    </a:p>
                    <a:p>
                      <a:pPr defTabSz="914400"/>
                      <a:r>
                        <a:rPr b="1" i="0" strike="noStrike" dirty="0"/>
                        <a:t>visible</a:t>
                      </a:r>
                      <a:endParaRPr b="0" i="0" strike="noStrike" dirty="0"/>
                    </a:p>
                    <a:p>
                      <a:pPr defTabSz="914400"/>
                      <a:r>
                        <a:rPr b="0" i="0" strike="noStrike" dirty="0"/>
                        <a:t> attributes are mutually exclusive. If these attributes are omitted, the control SHOULD default to being visible. For example, consider the following XML fragment: &lt;tab idMso="TabHome" visible="false" /&gt; In this example, the built-in tab with an identifier of "TabHome" is hidden. The possible values for this attribute are defined by the XML schema </a:t>
                      </a:r>
                      <a:endParaRPr b="0" i="0" strike="noStrike" dirty="0"/>
                    </a:p>
                    <a:p>
                      <a:pPr defTabSz="914400"/>
                      <a:r>
                        <a:rPr b="1" i="0" strike="noStrike" dirty="0"/>
                        <a:t>boolean</a:t>
                      </a:r>
                      <a:endParaRPr b="0" i="0" strike="noStrike" dirty="0"/>
                    </a:p>
                    <a:p>
                      <a:pPr defTabSz="914400"/>
                      <a:r>
                        <a:rPr b="0" i="0" strike="noStrike" dirty="0"/>
                        <a:t> datatype.</a:t>
                      </a:r>
                      <a:endParaRPr b="0" i="0" strike="noStrike" dirty="0"/>
                    </a:p>
                  </a:txBody>
                  <a:tcPr horzOverflow="overflow"/>
                </a:tc>
              </a:tr>
            </a:tbl>
          </a:graphicData>
        </a:graphic>
      </p:graphicFrame>
      <p:sp>
        <p:nvSpPr>
          <p:cNvPr id="3" name="TextBox3"/>
          <p:cNvSpPr txBox="1">
            <a:spLocks noChangeArrowheads="1"/>
          </p:cNvSpPr>
          <p:nvPr/>
        </p:nvSpPr>
        <p:spPr>
          <a:xfrm rot="0">
            <a:off x="508000" y="360680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4" name="TextBox4"/>
          <p:cNvSpPr txBox="1">
            <a:spLocks noChangeArrowheads="1"/>
          </p:cNvSpPr>
          <p:nvPr/>
        </p:nvSpPr>
        <p:spPr>
          <a:xfrm rot="0">
            <a:off x="508000" y="395224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name="CT_SplitButtonWithTitle"&gt;</a:t>
            </a:r>
          </a:p>
        </p:txBody>
      </p:sp>
      <p:sp>
        <p:nvSpPr>
          <p:cNvPr id="5" name="TextBox5"/>
          <p:cNvSpPr txBox="1">
            <a:spLocks noChangeArrowheads="1"/>
          </p:cNvSpPr>
          <p:nvPr/>
        </p:nvSpPr>
        <p:spPr>
          <a:xfrm rot="0">
            <a:off x="508000" y="429768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6" name="TextBox6"/>
          <p:cNvSpPr txBox="1">
            <a:spLocks noChangeArrowheads="1"/>
          </p:cNvSpPr>
          <p:nvPr/>
        </p:nvSpPr>
        <p:spPr>
          <a:xfrm rot="0">
            <a:off x="508000" y="464312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base="CT_SplitButtonRestricted"&gt;</a:t>
            </a:r>
          </a:p>
        </p:txBody>
      </p:sp>
      <p:sp>
        <p:nvSpPr>
          <p:cNvPr id="7" name="TextBox7"/>
          <p:cNvSpPr txBox="1">
            <a:spLocks noChangeArrowheads="1"/>
          </p:cNvSpPr>
          <p:nvPr/>
        </p:nvSpPr>
        <p:spPr>
          <a:xfrm rot="0">
            <a:off x="508000" y="4988560"/>
            <a:ext cx="11176000" cy="320040"/>
          </a:xfrm>
          <a:prstGeom prst="rect">
            <a:avLst/>
          </a:prstGeom>
          <a:ln>
            <a:headEnd type="none"/>
            <a:tailEnd type="none"/>
          </a:ln>
        </p:spPr>
        <p:txBody>
          <a:bodyPr wrap="square">
            <a:spAutoFit/>
          </a:bodyPr>
          <a:lstStyle/>
          <a:p>
            <a:pPr algn="l" defTabSz="914400"/>
            <a:r>
              <a:rPr b="0" i="0" strike="noStrike" dirty="0"/>
              <a:t>&lt;xsd:sequence </a:t>
            </a:r>
            <a:r>
              <a:rPr b="0" i="0" strike="noStrike" dirty="0"/>
              <a:t>minOccurs="0"&gt;</a:t>
            </a:r>
          </a:p>
        </p:txBody>
      </p:sp>
      <p:sp>
        <p:nvSpPr>
          <p:cNvPr id="8" name="TextBox8"/>
          <p:cNvSpPr txBox="1">
            <a:spLocks noChangeArrowheads="1"/>
          </p:cNvSpPr>
          <p:nvPr/>
        </p:nvSpPr>
        <p:spPr>
          <a:xfrm rot="0">
            <a:off x="508000" y="5334000"/>
            <a:ext cx="11176000" cy="320040"/>
          </a:xfrm>
          <a:prstGeom prst="rect">
            <a:avLst/>
          </a:prstGeom>
          <a:ln>
            <a:headEnd type="none"/>
            <a:tailEnd type="none"/>
          </a:ln>
        </p:spPr>
        <p:txBody>
          <a:bodyPr wrap="square">
            <a:spAutoFit/>
          </a:bodyPr>
          <a:lstStyle/>
          <a:p>
            <a:pPr algn="l" defTabSz="914400"/>
            <a:r>
              <a:rPr b="0" i="0" strike="noStrike" dirty="0"/>
              <a:t>&lt;xsd:choice </a:t>
            </a:r>
            <a:r>
              <a:rPr b="0" i="0" strike="noStrike" dirty="0"/>
              <a:t>minOccurs="0"&gt;</a:t>
            </a:r>
          </a:p>
        </p:txBody>
      </p:sp>
      <p:sp>
        <p:nvSpPr>
          <p:cNvPr id="9" name="TextBox9"/>
          <p:cNvSpPr txBox="1">
            <a:spLocks noChangeArrowheads="1"/>
          </p:cNvSpPr>
          <p:nvPr/>
        </p:nvSpPr>
        <p:spPr>
          <a:xfrm rot="0">
            <a:off x="508000" y="5679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name="button" </a:t>
            </a:r>
            <a:r>
              <a:rPr b="0" i="0" strike="noStrike" dirty="0"/>
              <a:t>type="CT_VisibleButton"/&gt;</a:t>
            </a:r>
          </a:p>
        </p:txBody>
      </p:sp>
      <p:sp>
        <p:nvSpPr>
          <p:cNvPr id="10" name="TextBox10"/>
          <p:cNvSpPr txBox="1">
            <a:spLocks noChangeArrowheads="1"/>
          </p:cNvSpPr>
          <p:nvPr/>
        </p:nvSpPr>
        <p:spPr>
          <a:xfrm rot="0">
            <a:off x="508000" y="602488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name="toggleButton" </a:t>
            </a:r>
            <a:r>
              <a:rPr b="0" i="0" strike="noStrike" dirty="0"/>
              <a:t>type="CT_VisibleToggleButton"/&gt;</a:t>
            </a:r>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0" i="0" strike="noStrike" dirty="0"/>
              <a:t>&lt;/xsd:choice&gt;</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b="0" i="0" strike="noStrike" dirty="0"/>
              <a:t>&lt;xsd:element </a:t>
            </a:r>
            <a:r>
              <a:rPr b="0" i="0" strike="noStrike" dirty="0"/>
              <a:t>name="menu" </a:t>
            </a:r>
            <a:r>
              <a:rPr b="0" i="0" strike="noStrike" dirty="0"/>
              <a:t>type="CT_MenuWithTitle"/&gt;</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b="0" i="0" strike="noStrike" dirty="0"/>
              <a:t>&lt;/xsd:sequence&gt;</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b="0" i="0" strike="noStrike" dirty="0"/>
              <a:t>&lt;/xsd:complexType&gt;</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0" i="0" strike="noStrike" dirty="0"/>
              <a:t>The </a:t>
            </a:r>
            <a:r>
              <a:rPr b="0" i="0" strike="noStrike" dirty="0"/>
              <a:t>following </a:t>
            </a:r>
            <a:r>
              <a:rPr b="0" i="0" strike="noStrike" dirty="0"/>
              <a:t>XML </a:t>
            </a:r>
            <a:r>
              <a:rPr b="0" i="0" strike="noStrike" dirty="0"/>
              <a:t>schema </a:t>
            </a:r>
            <a:r>
              <a:rPr b="0" i="0" strike="noStrike" dirty="0"/>
              <a:t>fragment </a:t>
            </a:r>
            <a:r>
              <a:rPr b="0" i="0" strike="noStrike" dirty="0"/>
              <a:t>defines </a:t>
            </a:r>
            <a:r>
              <a:rPr b="0" i="0" strike="noStrike" dirty="0"/>
              <a:t>the </a:t>
            </a:r>
            <a:r>
              <a:rPr b="0" i="0" strike="noStrike" dirty="0"/>
              <a:t>contents </a:t>
            </a:r>
            <a:r>
              <a:rPr b="0" i="0" strike="noStrike" dirty="0"/>
              <a:t>of </a:t>
            </a:r>
            <a:r>
              <a:rPr b="0" i="0" strike="noStrike" dirty="0"/>
              <a:t>this </a:t>
            </a:r>
            <a:r>
              <a:rPr b="0" i="0" strike="noStrike" dirty="0"/>
              <a:t>element:</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b="0" i="0" strike="noStrike" dirty="0"/>
              <a:t>&lt;xsd:complexType </a:t>
            </a:r>
            <a:r>
              <a:rPr b="0" i="0" strike="noStrike" dirty="0"/>
              <a:t>name="CT_ToggleButton"&gt;</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b="0" i="0" strike="noStrike" dirty="0"/>
              <a:t>&lt;xsd:extension </a:t>
            </a:r>
            <a:r>
              <a:rPr b="0" i="0" strike="noStrike" dirty="0"/>
              <a:t>base="CT_ToggleButtonRegular"&gt;</a:t>
            </a:r>
          </a:p>
        </p:txBody>
      </p:sp>
      <p:sp>
        <p:nvSpPr>
          <p:cNvPr id="12" name="TextBox12"/>
          <p:cNvSpPr txBox="1">
            <a:spLocks noChangeArrowheads="1"/>
          </p:cNvSpPr>
          <p:nvPr/>
        </p:nvSpPr>
        <p:spPr>
          <a:xfrm rot="0">
            <a:off x="508000" y="3962400"/>
            <a:ext cx="11176000" cy="320040"/>
          </a:xfrm>
          <a:prstGeom prst="rect">
            <a:avLst/>
          </a:prstGeom>
          <a:ln>
            <a:headEnd type="none"/>
            <a:tailEnd type="none"/>
          </a:ln>
        </p:spPr>
        <p:txBody>
          <a:bodyPr wrap="square">
            <a:spAutoFit/>
          </a:bodyPr>
          <a:lstStyle/>
          <a:p>
            <a:pPr algn="l" defTabSz="914400"/>
            <a:r>
              <a:rPr b="0" i="0" strike="noStrike" dirty="0"/>
              <a:t>&lt;xsd:attributeGroup </a:t>
            </a:r>
            <a:r>
              <a:rPr b="0" i="0" strike="noStrike" dirty="0"/>
              <a:t>ref="AG_SizeAttributes"/&gt;</a:t>
            </a:r>
          </a:p>
        </p:txBody>
      </p:sp>
      <p:sp>
        <p:nvSpPr>
          <p:cNvPr id="13" name="TextBox13"/>
          <p:cNvSpPr txBox="1">
            <a:spLocks noChangeArrowheads="1"/>
          </p:cNvSpPr>
          <p:nvPr/>
        </p:nvSpPr>
        <p:spPr>
          <a:xfrm rot="0">
            <a:off x="508000" y="4307840"/>
            <a:ext cx="11176000" cy="320040"/>
          </a:xfrm>
          <a:prstGeom prst="rect">
            <a:avLst/>
          </a:prstGeom>
          <a:ln>
            <a:headEnd type="none"/>
            <a:tailEnd type="none"/>
          </a:ln>
        </p:spPr>
        <p:txBody>
          <a:bodyPr wrap="square">
            <a:spAutoFit/>
          </a:bodyPr>
          <a:lstStyle/>
          <a:p>
            <a:pPr algn="l" defTabSz="914400"/>
            <a:r>
              <a:rPr b="0" i="0" strike="noStrike" dirty="0"/>
              <a:t>&lt;/xsd:extension&gt;</a:t>
            </a:r>
          </a:p>
        </p:txBody>
      </p:sp>
      <p:sp>
        <p:nvSpPr>
          <p:cNvPr id="14" name="TextBox14"/>
          <p:cNvSpPr txBox="1">
            <a:spLocks noChangeArrowheads="1"/>
          </p:cNvSpPr>
          <p:nvPr/>
        </p:nvSpPr>
        <p:spPr>
          <a:xfrm rot="0">
            <a:off x="508000" y="4653280"/>
            <a:ext cx="11176000" cy="320040"/>
          </a:xfrm>
          <a:prstGeom prst="rect">
            <a:avLst/>
          </a:prstGeom>
          <a:ln>
            <a:headEnd type="none"/>
            <a:tailEnd type="none"/>
          </a:ln>
        </p:spPr>
        <p:txBody>
          <a:bodyPr wrap="square">
            <a:spAutoFit/>
          </a:bodyPr>
          <a:lstStyle/>
          <a:p>
            <a:pPr algn="l" defTabSz="914400"/>
            <a:r>
              <a:rPr b="0" i="0" strike="noStrike" dirty="0"/>
              <a:t>&lt;/xsd:complexContent&gt;</a:t>
            </a:r>
          </a:p>
        </p:txBody>
      </p:sp>
      <p:sp>
        <p:nvSpPr>
          <p:cNvPr id="15" name="TextBox15"/>
          <p:cNvSpPr txBox="1">
            <a:spLocks noChangeArrowheads="1"/>
          </p:cNvSpPr>
          <p:nvPr/>
        </p:nvSpPr>
        <p:spPr>
          <a:xfrm rot="0">
            <a:off x="508000" y="4998720"/>
            <a:ext cx="11176000" cy="853440"/>
          </a:xfrm>
          <a:prstGeom prst="rect">
            <a:avLst/>
          </a:prstGeom>
          <a:ln>
            <a:headEnd type="none"/>
            <a:tailEnd type="none"/>
          </a:ln>
        </p:spPr>
        <p:txBody>
          <a:bodyPr wrap="square">
            <a:spAutoFit/>
          </a:bodyPr>
          <a:lstStyle/>
          <a:p>
            <a:pPr algn="l" defTabSz="914400">
              <a:defRPr sz="2400" b="1" dirty="0"/>
            </a:pPr>
            <a:r>
              <a:rPr b="1" i="0" strike="noStrike" dirty="0"/>
              <a:t>Excel </a:t>
            </a:r>
            <a:r>
              <a:rPr b="1" i="0" strike="noStrike" dirty="0"/>
              <a:t>2007 </a:t>
            </a:r>
            <a:r>
              <a:rPr b="1" i="0" strike="noStrike" dirty="0"/>
              <a:t>XE </a:t>
            </a:r>
            <a:r>
              <a:rPr b="1" i="0" strike="noStrike" dirty="0"/>
              <a:t>"idMso </a:t>
            </a:r>
            <a:r>
              <a:rPr b="1" i="0" strike="noStrike" dirty="0"/>
              <a:t>tables:Excel </a:t>
            </a:r>
            <a:r>
              <a:rPr b="1" i="0" strike="noStrike" dirty="0"/>
              <a:t>2007" </a:t>
            </a:r>
            <a:r>
              <a:rPr b="1" i="0" strike="noStrike" dirty="0"/>
              <a:t> </a:t>
            </a:r>
            <a:r>
              <a:rPr b="1" i="0" strike="noStrike" dirty="0"/>
              <a:t>XE </a:t>
            </a:r>
            <a:r>
              <a:rPr b="1" i="0" strike="noStrike" dirty="0"/>
              <a:t>"Tables:idMso </a:t>
            </a:r>
            <a:r>
              <a:rPr b="1" i="0" strike="noStrike" dirty="0"/>
              <a:t>table </a:t>
            </a:r>
            <a:r>
              <a:rPr b="1" i="0" strike="noStrike" dirty="0"/>
              <a:t>– </a:t>
            </a:r>
            <a:r>
              <a:rPr b="1" i="0" strike="noStrike" dirty="0"/>
              <a:t>Excel </a:t>
            </a:r>
            <a:r>
              <a:rPr b="1" i="0" strike="noStrike" dirty="0"/>
              <a:t>2007"</a:t>
            </a:r>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Spelling...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Print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Copy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Open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Zoom</a:t>
                      </a:r>
                    </a:p>
                  </a:txBody>
                  <a:tcPr horzOverflow="overflow"/>
                </a:tc>
              </a:tr>
            </a:tbl>
          </a:graphicData>
        </a:graphic>
      </p:graphicFrame>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Repeat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Double Underline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Format Painter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Print Preview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Bold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Italic</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Underline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Dark Shading</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Left</a:t>
                      </a:r>
                    </a:p>
                  </a:txBody>
                  <a:tcPr horzOverflow="overflow"/>
                </a:tc>
              </a:tr>
            </a:tbl>
          </a:graphicData>
        </a:graphic>
      </p:graphicFrame>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Right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Center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Undo</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Redo</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Top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Bottom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Left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 Border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Inside Borders</a:t>
                      </a:r>
                    </a:p>
                  </a:txBody>
                  <a:tcPr horzOverflow="overflow"/>
                </a:tc>
              </a:tr>
            </a:tbl>
          </a:graphicData>
        </a:graphic>
      </p:graphicFrame>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Outside Borders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No Border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Bring to Front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Send to Back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Bring Forward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Send Backward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Full Screen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Select Objects</a:t>
                      </a:r>
                    </a:p>
                  </a:txBody>
                  <a:tcPr horzOverflow="overflow"/>
                </a:tc>
              </a:tr>
            </a:tbl>
          </a:graphicData>
        </a:graphic>
      </p:graphicFrame>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Record Macro...</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Macros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Flip Horizontal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Flip Vertical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Rotate Right 90°</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Rotate Left 90°</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Freeform</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Edit Points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Box</a:t>
                      </a:r>
                    </a:p>
                  </a:txBody>
                  <a:tcPr horzOverflow="overflow"/>
                </a:tc>
              </a:tr>
            </a:tbl>
          </a:graphicData>
        </a:graphic>
      </p:graphicFrame>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Combo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Property Sheet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Lock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Sum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Cell Styles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Camera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Calculator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Strikethrough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Cells...</a:t>
                      </a:r>
                    </a:p>
                  </a:txBody>
                  <a:tcPr horzOverflow="overflow"/>
                </a:tc>
              </a:tr>
            </a:tbl>
          </a:graphicData>
        </a:graphic>
      </p:graphicFrame>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Arrange All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 Window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Accept/Reject Changes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Symbol...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Replace...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Previous Page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 Page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Vertical 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Regroup</a:t>
                      </a:r>
                    </a:p>
                  </a:txBody>
                  <a:tcPr horzOverflow="overflow"/>
                </a:tc>
              </a:tr>
            </a:tbl>
          </a:graphicData>
        </a:graphic>
      </p:graphicFrame>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Set Print Area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Formatting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Values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Down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Equal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Plus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Minus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Multiplication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Division Sign</a:t>
                      </a:r>
                    </a:p>
                  </a:txBody>
                  <a:tcPr horzOverflow="overflow"/>
                </a:tc>
              </a:tr>
            </a:tbl>
          </a:graphicData>
        </a:graphic>
      </p:graphicFrame>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Exponentiation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Left Parenthesis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Right Parenthesis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Colon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Comma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Percent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Dollar Sign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Function...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Constrain Numeric</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Light Shading</a:t>
                      </a:r>
                    </a:p>
                  </a:txBody>
                  <a:tcPr horzOverflow="overflow"/>
                </a:tc>
              </a:tr>
            </a:tbl>
          </a:graphicData>
        </a:graphic>
      </p:graphicFrame>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Accounting Number Format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Percent Style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Comma Style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Increase Decimal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Decrease Decimal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Merge &amp; Center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Increase Font Size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Decrease Font Size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Vertical Text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Rotate Text Up</a:t>
                      </a:r>
                    </a:p>
                  </a:txBody>
                  <a:tcPr horzOverflow="overflow"/>
                </a:tc>
              </a:tr>
            </a:tbl>
          </a:graphicData>
        </a:graphic>
      </p:graphicFrame>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Rotate Text Down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Horizontally</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Scribble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Show Outline Symbols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Select Visible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Select Current Region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Freeze Panes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Zoom In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Zoom Out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Option Button</a:t>
                      </a:r>
                    </a:p>
                  </a:txBody>
                  <a:tcPr horzOverflow="overflow"/>
                </a:tc>
              </a:tr>
            </a:tbl>
          </a:graphicData>
        </a:graphic>
      </p:graphicFrame>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Scroll Bar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List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Remove Dependent Arrows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Trace Dependents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Remove Precedent Arrows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Remove Arrows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Update File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Toggle Read Only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AutoFilter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Refresh</a:t>
                      </a:r>
                    </a:p>
                  </a:txBody>
                  <a:tcPr horzOverflow="overflow"/>
                </a:tc>
              </a:tr>
            </a:tbl>
          </a:graphicData>
        </a:graphic>
      </p:graphicFrame>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Field Settings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Show Report Filter Pages...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Show Detail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Trace Error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Hide Detail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Vertically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Group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Spinner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Tab 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Run Dialog</a:t>
                      </a:r>
                    </a:p>
                  </a:txBody>
                  <a:tcPr horzOverflow="overflow"/>
                </a:tc>
              </a:tr>
            </a:tbl>
          </a:graphicData>
        </a:graphic>
      </p:graphicFrame>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Combination List-Edit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Combination Drop-Down Edit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Trace Precedents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Page Break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Parameters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Row Height...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Column Width...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Object...</a:t>
                      </a:r>
                    </a:p>
                  </a:txBody>
                  <a:tcPr horzOverflow="overflow"/>
                </a:tc>
              </a:tr>
            </a:tbl>
          </a:graphicData>
        </a:graphic>
      </p:graphicFrame>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Snap to Grid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Right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Top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Bottom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Center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Middle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Clip 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Free Rotate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Yoko-Gumi</a:t>
                      </a:r>
                    </a:p>
                  </a:txBody>
                  <a:tcPr horzOverflow="overflow"/>
                </a:tc>
              </a:tr>
            </a:tbl>
          </a:graphicData>
        </a:graphic>
      </p:graphicFrame>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Normal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Page Break Preview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Crop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 All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As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View Document Properties...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Copy as Picture...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Special...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Select All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Go To...</a:t>
                      </a:r>
                    </a:p>
                  </a:txBody>
                  <a:tcPr horzOverflow="overflow"/>
                </a:tc>
              </a:tr>
            </a:tbl>
          </a:graphicData>
        </a:graphic>
      </p:graphicFrame>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Links to Files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Header &amp; Footer...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Bullets and Numbering...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AutoFormat...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Merge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Split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Convert Text to 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Office Clipboard...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Microsoft Office Outlook Task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Minimize</a:t>
                      </a:r>
                    </a:p>
                  </a:txBody>
                  <a:tcPr horzOverflow="overflow"/>
                </a:tc>
              </a:tr>
            </a:tbl>
          </a:graphicData>
        </a:graphic>
      </p:graphicFrame>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Restore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Workspace...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Sheet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Move or Copy Sheet...</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Formula Bar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Sheet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Format Cells...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Goal Seek...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Scenario Manager...</a:t>
                      </a:r>
                    </a:p>
                  </a:txBody>
                  <a:tcPr horzOverflow="overflow"/>
                </a:tc>
              </a:tr>
            </a:tbl>
          </a:graphicData>
        </a:graphic>
      </p:graphicFrame>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Form...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Subtotal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Data 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Consolidate...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Hide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Unhide...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Across Worksheets...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Series...</a:t>
                      </a:r>
                    </a:p>
                  </a:txBody>
                  <a:tcPr horzOverflow="overflow"/>
                </a:tc>
              </a:tr>
            </a:tbl>
          </a:graphicData>
        </a:graphic>
      </p:graphicFrame>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Formats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Contents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Comments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Names...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from Selection...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Apply Names...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AutoFit Row Height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Hide 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Unhide Rows</a:t>
                      </a:r>
                    </a:p>
                  </a:txBody>
                  <a:tcPr horzOverflow="overflow"/>
                </a:tc>
              </a:tr>
            </a:tbl>
          </a:graphicData>
        </a:graphic>
      </p:graphicFrame>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AutoFit Column Width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Hide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Unhide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Default Width...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Superscript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Subscript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Format Painter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Print Preview</a:t>
                      </a:r>
                    </a:p>
                  </a:txBody>
                  <a:tcPr horzOverflow="overflow"/>
                </a:tc>
              </a:tr>
            </a:tbl>
          </a:graphicData>
        </a:graphic>
      </p:graphicFrame>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Pick Up Style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Apply Style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Bold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Italic</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Underline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Left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Right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Center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Undo</a:t>
                      </a:r>
                    </a:p>
                  </a:txBody>
                  <a:tcPr horzOverflow="overflow"/>
                </a:tc>
              </a:tr>
            </a:tbl>
          </a:graphicData>
        </a:graphic>
      </p:graphicFrame>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Redo</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Promote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Demote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Move 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Move Down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Expand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Collapse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Find...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Top Border</a:t>
                      </a:r>
                    </a:p>
                  </a:txBody>
                  <a:tcPr horzOverflow="overflow"/>
                </a:tc>
              </a:tr>
            </a:tbl>
          </a:graphicData>
        </a:graphic>
      </p:graphicFrame>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Bottom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Left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Inside Borders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Outside Borders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No Border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Ungroup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Bring to Front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Send to Back</a:t>
                      </a:r>
                    </a:p>
                  </a:txBody>
                  <a:tcPr horzOverflow="overflow"/>
                </a:tc>
              </a:tr>
            </a:tbl>
          </a:graphicData>
        </a:graphic>
      </p:graphicFrame>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Bring Forward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Send Backward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Full Screen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Ruler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Select Objects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Macros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Flip Horizontal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Flip Vertical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Rotate Right 90°</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Rotate Left 90°</a:t>
                      </a:r>
                    </a:p>
                  </a:txBody>
                  <a:tcPr horzOverflow="overflow"/>
                </a:tc>
              </a:tr>
            </a:tbl>
          </a:graphicData>
        </a:graphic>
      </p:graphicFrame>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Drawing</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Edit Points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Grid Settings...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Property Sheet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Show Text Formatting</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Strikethrough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Arrange All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 Window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Symbol...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Replace...</a:t>
                      </a:r>
                    </a:p>
                  </a:txBody>
                  <a:tcPr horzOverflow="overflow"/>
                </a:tc>
              </a:tr>
            </a:tbl>
          </a:graphicData>
        </a:graphic>
      </p:graphicFrame>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Previous Page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 Page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Vertical 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Redo</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Regroup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Increase Font Size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Decrease Font Size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Object...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Snap to Grid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Find Next</a:t>
                      </a:r>
                    </a:p>
                  </a:txBody>
                  <a:tcPr horzOverflow="overflow"/>
                </a:tc>
              </a:tr>
            </a:tbl>
          </a:graphicData>
        </a:graphic>
      </p:graphicFrame>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Duplicate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 Slide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Clip 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Handouts in Microsoft Office Word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Shadow</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bl>
          </a:graphicData>
        </a:graphic>
      </p:graphicFrame>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p>
                  </a:txBody>
                  <a:tcPr horzOverflow="overflow"/>
                </a:tc>
                <a:tc>
                  <a:txBody>
                    <a:bodyPr/>
                    <a:lstStyle/>
                    <a:p>
                      <a:pPr algn="l" defTabSz="914400"/>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Tab</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Cascade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Inside Horizontal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Inside Vertical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Diagonal Down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Diagonal Up Border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Left-to-Right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Right-to-Left</a:t>
                      </a:r>
                    </a:p>
                  </a:txBody>
                  <a:tcPr horzOverflow="overflow"/>
                </a:tc>
              </a:tr>
            </a:tbl>
          </a:graphicData>
        </a:graphic>
      </p:graphicFrame>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Command 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Option 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List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Combo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Toggle 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Spin Button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Scroll Bar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Label</a:t>
                      </a:r>
                    </a:p>
                  </a:txBody>
                  <a:tcPr horzOverflow="overflow"/>
                </a:tc>
              </a:tr>
            </a:tbl>
          </a:graphicData>
        </a:graphic>
      </p:graphicFrame>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Convert...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Comment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Draw Table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Eraser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Top</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Center Vertically</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Bottom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Image</a:t>
                      </a:r>
                    </a:p>
                  </a:txBody>
                  <a:tcPr horzOverflow="overflow"/>
                </a:tc>
              </a:tr>
            </a:tbl>
          </a:graphicData>
        </a:graphic>
      </p:graphicFrame>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Rows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Shadow On/Off</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Set AutoShape Defaults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E-mail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Quick Print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Pen Weight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View Gridlines</a:t>
                      </a:r>
                    </a:p>
                  </a:txBody>
                  <a:tcPr horzOverflow="overflow"/>
                </a:tc>
              </a:tr>
            </a:tbl>
          </a:graphicData>
        </a:graphic>
      </p:graphicFrame>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Pen Color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Straight Arrow Connector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Elbow Arrow Connector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Handout Master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Notes Master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Reuse Slides...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Slides from Outline...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Movie from Organizer...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Movie from File...</a:t>
                      </a:r>
                    </a:p>
                  </a:txBody>
                  <a:tcPr horzOverflow="overflow"/>
                </a:tc>
              </a:tr>
            </a:tbl>
          </a:graphicData>
        </a:graphic>
      </p:graphicFrame>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Sound from Clip Organizer...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Sound from File...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Play CD Audio Track...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Replace Fonts...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Toggle Case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Automatic</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Black with Grayscale Fill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Black with White Fill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Don't Show</a:t>
                      </a:r>
                    </a:p>
                  </a:txBody>
                  <a:tcPr horzOverflow="overflow"/>
                </a:tc>
              </a:tr>
            </a:tbl>
          </a:graphicData>
        </a:graphic>
      </p:graphicFrame>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Gray with White Fill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Grayscale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Inverse Grayscale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White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 &amp; W Light Grayscale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Record Narration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Set Up Slide Show...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Paste as Hyperlink</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Distributed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Character Formatting</a:t>
                      </a:r>
                    </a:p>
                  </a:txBody>
                  <a:tcPr horzOverflow="overflow"/>
                </a:tc>
              </a:tr>
            </a:tbl>
          </a:graphicData>
        </a:graphic>
      </p:graphicFrame>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Set Transparent Color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Custom Slide Show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Fit to Page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Record Sound...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Duplicate Selected Slides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Action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Previous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Break Link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Change Link</a:t>
                      </a:r>
                    </a:p>
                  </a:txBody>
                  <a:tcPr horzOverflow="overflow"/>
                </a:tc>
              </a:tr>
            </a:tbl>
          </a:graphicData>
        </a:graphic>
      </p:graphicFrame>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Update Links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Lower Baseline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Raise Baseline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Slide Show in a Window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Hangul Hanja Conversion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2 Slides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3 Slides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6 Slides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Slide Outline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Go To...</a:t>
                      </a:r>
                    </a:p>
                  </a:txBody>
                  <a:tcPr horzOverflow="overflow"/>
                </a:tc>
              </a:tr>
            </a:tbl>
          </a:graphicData>
        </a:graphic>
      </p:graphicFrame>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Increase Indent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Decrease Indent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Preview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4 Slides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9 Slides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Macro Security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Web Page Preview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Above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Below</a:t>
                      </a:r>
                    </a:p>
                  </a:txBody>
                  <a:tcPr horzOverflow="overflow"/>
                </a:tc>
              </a:tr>
            </a:tbl>
          </a:graphicData>
        </a:graphic>
      </p:graphicFrame>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Right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 Add-Ins...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Normal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Web Options...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Left-to-Right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Right-to-Left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 Pane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Move Split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Set Left-to-Right Table</a:t>
                      </a:r>
                    </a:p>
                  </a:txBody>
                  <a:tcPr horzOverflow="overflow"/>
                </a:tc>
              </a:tr>
            </a:tbl>
          </a:graphicData>
        </a:graphic>
      </p:graphicFrame>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Set Right-to-Left 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Resume Slide Show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Select Multiple Objects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Resize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Back To Color View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Grayscale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High Contrast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Pure Black and White</a:t>
                      </a:r>
                    </a:p>
                  </a:txBody>
                  <a:tcPr horzOverflow="overflow"/>
                </a:tc>
              </a:tr>
            </a:tbl>
          </a:graphicData>
        </a:graphic>
      </p:graphicFrame>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Print What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Expand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1 Slide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Preserve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Rename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Show Outline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Bullets and Numbering...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Out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In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Landscape</a:t>
                      </a:r>
                    </a:p>
                  </a:txBody>
                  <a:tcPr horzOverflow="overflow"/>
                </a:tc>
              </a:tr>
            </a:tbl>
          </a:graphicData>
        </a:graphic>
      </p:graphicFrame>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Portrait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Compress Pictures...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Next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Previous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Show Markup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All Markup on the Current Slide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Translate...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View Gridlines</a:t>
                      </a:r>
                    </a:p>
                  </a:txBody>
                  <a:tcPr horzOverflow="overflow"/>
                </a:tc>
              </a:tr>
            </a:tbl>
          </a:graphicData>
        </a:graphic>
      </p:graphicFrame>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New Photo Album...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Photo Album...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Scale Drawing</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Research...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Internet Fax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Package for CD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View Version History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Ink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Contact Us...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Unrestricted Access</a:t>
                      </a:r>
                    </a:p>
                  </a:txBody>
                  <a:tcPr horzOverflow="overflow"/>
                </a:tc>
              </a:tr>
            </a:tbl>
          </a:graphicData>
        </a:graphic>
      </p:graphicFrame>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Restricted Access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View Permission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Thesaurus...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Start Inking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Check for Updates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Eraser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Manage Credentials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Browse for Themes...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Insert Layout</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View Signatures</a:t>
                      </a:r>
                    </a:p>
                  </a:txBody>
                  <a:tcPr horzOverflow="overflow"/>
                </a:tc>
              </a:tr>
            </a:tbl>
          </a:graphicData>
        </a:graphic>
      </p:graphicFrame>
    </p:spTree>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View Workflow Tasks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Workflows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Themes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Barcode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Layout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As Template</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Axis Titles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Axes</a:t>
                      </a:r>
                    </a:p>
                  </a:txBody>
                  <a:tcPr horzOverflow="overflow"/>
                </a:tc>
              </a:tr>
            </a:tbl>
          </a:graphicData>
        </a:graphic>
      </p:graphicFrame>
    </p:spTree>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Gridlines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Format Selection</a:t>
                      </a:r>
                    </a:p>
                  </a:txBody>
                  <a:tcPr horzOverflow="overflow"/>
                </a:tc>
              </a:tr>
              <a:tr h="508000">
                <a:tc>
                  <a:txBody>
                    <a:bodyPr/>
                    <a:lstStyle/>
                    <a:p>
                      <a:pPr algn="l" defTabSz="914400"/>
                      <a:r>
                        <a:rPr b="0" i="0" strike="noStrike" dirty="0"/>
                        <a:t>comboBox</a:t>
                      </a:r>
                    </a:p>
                  </a:txBody>
                  <a:tcPr horzOverflow="overflow"/>
                </a:tc>
                <a:tc>
                  <a:txBody>
                    <a:bodyPr/>
                    <a:lstStyle/>
                    <a:p>
                      <a:pPr algn="l" defTabSz="914400"/>
                      <a:r>
                        <a:rPr b="0" i="0" strike="noStrike" dirty="0"/>
                        <a:t>Chart Elements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From Current Slide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Bullets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Numbering</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Line Spacing</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New Slide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Layout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Format</a:t>
                      </a:r>
                    </a:p>
                  </a:txBody>
                  <a:tcPr horzOverflow="overflow"/>
                </a:tc>
              </a:tr>
            </a:tbl>
          </a:graphicData>
        </a:graphic>
      </p:graphicFrame>
    </p:spTree>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Format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Shapes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Shape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Texture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Orientation</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Server</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Send</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Insert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View</a:t>
                      </a:r>
                    </a:p>
                  </a:txBody>
                  <a:tcPr horzOverflow="overflow"/>
                </a:tc>
              </a:tr>
            </a:tbl>
          </a:graphicData>
        </a:graphic>
      </p:graphicFrame>
    </p:spTree>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Font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Paragraph</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Proofing</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Illustrations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Insert Shapes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Comments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Size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Draw Borders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Design</a:t>
                      </a:r>
                    </a:p>
                  </a:txBody>
                  <a:tcPr horzOverflow="overflow"/>
                </a:tc>
              </a:tr>
            </a:tbl>
          </a:graphicData>
        </a:graphic>
      </p:graphicFrame>
    </p:spTree>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Animations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Slide Show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Slides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Arrange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Media Clips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Themes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Background</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Preview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Animations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Transition to This Slide</a:t>
                      </a:r>
                    </a:p>
                  </a:txBody>
                  <a:tcPr horzOverflow="overflow"/>
                </a:tc>
              </a:tr>
            </a:tbl>
          </a:graphicData>
        </a:graphic>
      </p:graphicFrame>
    </p:spTree>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Start Slide Show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Set Up</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Shape Styles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Review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Chart Layouts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Chart Styles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Axes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Insert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Preset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Preset</a:t>
                      </a:r>
                    </a:p>
                  </a:txBody>
                  <a:tcPr horzOverflow="overflow"/>
                </a:tc>
              </a:tr>
            </a:tbl>
          </a:graphicData>
        </a:graphic>
      </p:graphicFrame>
    </p:spTree>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3-D Rotation</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Design</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Format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Design</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Layout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Format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Shape Fill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Picture Border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Inspect Document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Formatting</a:t>
                      </a:r>
                    </a:p>
                  </a:txBody>
                  <a:tcPr horzOverflow="overflow"/>
                </a:tc>
              </a:tr>
            </a:tbl>
          </a:graphicData>
        </a:graphic>
      </p:graphicFrame>
    </p:spTree>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Controls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Zoom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Publish Slides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Use Presenter View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Arrows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Dashes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Weight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Layout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Alignment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Adjust</a:t>
                      </a:r>
                    </a:p>
                  </a:txBody>
                  <a:tcPr horzOverflow="overflow"/>
                </a:tc>
              </a:tr>
            </a:tbl>
          </a:graphicData>
        </a:graphic>
      </p:graphicFrame>
    </p:spTree>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Size</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Slide Master</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 Styles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Rows &amp; Columns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Align</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Movie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Sound</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Rotate</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Select</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Animate:</a:t>
                      </a:r>
                    </a:p>
                  </a:txBody>
                  <a:tcPr horzOverflow="overflow"/>
                </a:tc>
              </a:tr>
            </a:tbl>
          </a:graphicData>
        </a:graphic>
      </p:graphicFrame>
    </p:spTree>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Transition Scheme</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Transition Speed:</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Font Color</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Columns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Home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Chart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Horizontal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Vertical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Depth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Legend</a:t>
                      </a:r>
                    </a:p>
                  </a:txBody>
                  <a:tcPr horzOverflow="overflow"/>
                </a:tc>
              </a:tr>
            </a:tbl>
          </a:graphicData>
        </a:graphic>
      </p:graphicFrame>
    </p:spTree>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Data Labels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Horizontal Gridlines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Vertical Gridlines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Depth Gridlines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Horizontal Axis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Primary Vertical Axis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Depth Axis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Data Table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Trendline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Error Bars</a:t>
                      </a:r>
                    </a:p>
                  </a:txBody>
                  <a:tcPr horzOverflow="overflow"/>
                </a:tc>
              </a:tr>
            </a:tbl>
          </a:graphicData>
        </a:graphic>
      </p:graphicFrame>
    </p:spTree>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Up/Down Bars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Plot Area</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Chart Wall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Chart Floor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Larger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Smaller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Graphic</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Text Pane</a:t>
                      </a:r>
                    </a:p>
                  </a:txBody>
                  <a:tcPr horzOverflow="overflow"/>
                </a:tc>
              </a:tr>
            </a:tbl>
          </a:graphicData>
        </a:graphic>
      </p:graphicFrame>
    </p:spTree>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Edit in 2-D</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Layout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Layouts...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Colors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Soft Edges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Glow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Gradient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Shadow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WordArt</a:t>
                      </a:r>
                    </a:p>
                  </a:txBody>
                  <a:tcPr horzOverflow="overflow"/>
                </a:tc>
              </a:tr>
            </a:tbl>
          </a:graphicData>
        </a:graphic>
      </p:graphicFrame>
    </p:spTree>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Transform</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Colors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Layouts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SmartArt Styles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Create Graphic</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Reset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Size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Themes on Microsoft Office Online...</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Add-Ins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Edit Shape</a:t>
                      </a:r>
                    </a:p>
                  </a:txBody>
                  <a:tcPr horzOverflow="overflow"/>
                </a:tc>
              </a:tr>
            </a:tbl>
          </a:graphicData>
        </a:graphic>
      </p:graphicFrame>
    </p:spTree>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Content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Text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Table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SmartArt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Media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Clip 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Text </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Title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Footers</a:t>
                      </a:r>
                    </a:p>
                  </a:txBody>
                  <a:tcPr horzOverflow="overflow"/>
                </a:tc>
              </a:tr>
            </a:tbl>
          </a:graphicData>
        </a:graphic>
      </p:graphicFrame>
    </p:spTree>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Table Styles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Publish as PDF or XPS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OpenDocument Presentation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Controls...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Code</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Developer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Apply To All</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On Mouse Click</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Preview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Editing</a:t>
                      </a:r>
                    </a:p>
                  </a:txBody>
                  <a:tcPr horzOverflow="overflow"/>
                </a:tc>
              </a:tr>
            </a:tbl>
          </a:graphicData>
        </a:graphic>
      </p:graphicFrame>
    </p:spTree>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Clipboard</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Links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Barcode</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Transition Sound: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From Beginning</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Switch Windows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New Theme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Create New Theme Fonts...</a:t>
                      </a:r>
                    </a:p>
                  </a:txBody>
                  <a:tcPr horzOverflow="overflow"/>
                </a:tc>
              </a:tr>
            </a:tbl>
          </a:graphicData>
        </a:graphic>
      </p:graphicFrame>
    </p:spTree>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Gradients...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Shadow Options...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Selected Objects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Align to Slide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Right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Top</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Bottom</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Center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Align Middle</a:t>
                      </a:r>
                    </a:p>
                  </a:txBody>
                  <a:tcPr horzOverflow="overflow"/>
                </a:tc>
              </a:tr>
            </a:tbl>
          </a:graphicData>
        </a:graphic>
      </p:graphicFrame>
    </p:spTree>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Horizontally</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Distribute Vertically</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Custom Slide Show</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Resolution: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Use Rehearsed Timings</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Show Presentation 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Monitors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Fonts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Effects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Properties</a:t>
                      </a:r>
                    </a:p>
                  </a:txBody>
                  <a:tcPr horzOverflow="overflow"/>
                </a:tc>
              </a:tr>
            </a:tbl>
          </a:graphicData>
        </a:graphic>
      </p:graphicFrame>
    </p:spTree>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Print Preview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Print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Preview</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Options</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Options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Play</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Movie Options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Sound Options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Hide During Show</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Loop Until Stopped</a:t>
                      </a:r>
                    </a:p>
                  </a:txBody>
                  <a:tcPr horzOverflow="overflow"/>
                </a:tc>
              </a:tr>
            </a:tbl>
          </a:graphicData>
        </a:graphic>
      </p:graphicFrame>
    </p:spTree>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Play Sound:</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Slide Show Volume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Play Full Screen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Rewind Movie After Playing</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Borders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Create Document Workspace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Document Management Server</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Document Management Information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Customize Quick Access Toolbar...</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Prepare</a:t>
                      </a:r>
                    </a:p>
                  </a:txBody>
                  <a:tcPr horzOverflow="overflow"/>
                </a:tc>
              </a:tr>
            </a:tbl>
          </a:graphicData>
        </a:graphic>
      </p:graphicFrame>
    </p:spTree>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Mark as Final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a Digital Signature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Hide Background Graphics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Case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Delete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Merge</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Text Box</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Horizontal Text Box</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Properties</a:t>
                      </a:r>
                    </a:p>
                  </a:txBody>
                  <a:tcPr horzOverflow="overflow"/>
                </a:tc>
              </a:tr>
            </a:tbl>
          </a:graphicData>
        </a:graphic>
      </p:graphicFrame>
    </p:spTree>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Handout Orientation</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Slides Per Page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Slide Image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Body</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Date</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Page Number</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Header</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Footer</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Handout Master</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Notes Master</a:t>
                      </a:r>
                    </a:p>
                  </a:txBody>
                  <a:tcPr horzOverflow="overflow"/>
                </a:tc>
              </a:tr>
            </a:tbl>
          </a:graphicData>
        </a:graphic>
      </p:graphicFrame>
    </p:spTree>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Placeholders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Edit Theme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Edit Master</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Master Layout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Grayscale</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Black And White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Change Selected Object</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Select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Brightness</a:t>
                      </a:r>
                    </a:p>
                  </a:txBody>
                  <a:tcPr horzOverflow="overflow"/>
                </a:tc>
              </a:tr>
            </a:tbl>
          </a:graphicData>
        </a:graphic>
      </p:graphicFrame>
    </p:spTree>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Contrast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Shading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 After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 Before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 Above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Shape Below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Assistant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Slide Theme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Switch Row/Column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Edit Data...</a:t>
                      </a:r>
                    </a:p>
                  </a:txBody>
                  <a:tcPr horzOverflow="overflow"/>
                </a:tc>
              </a:tr>
            </a:tbl>
          </a:graphicData>
        </a:graphic>
      </p:graphicFrame>
    </p:spTree>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Refresh Data</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Change Chart Type...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Data</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Type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 Size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Cell Margins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Content (Vertical)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Rotation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Background Styles</a:t>
                      </a:r>
                    </a:p>
                  </a:txBody>
                  <a:tcPr horzOverflow="overflow"/>
                </a:tc>
              </a:tr>
            </a:tbl>
          </a:graphicData>
        </a:graphic>
      </p:graphicFrame>
    </p:spTree>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 Direction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 Style Options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Header Row</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First Column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Total Row</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Last Column</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Banded Rows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Banded Columns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Selection Pane...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Left Hanging</a:t>
                      </a:r>
                    </a:p>
                  </a:txBody>
                  <a:tcPr horzOverflow="overflow"/>
                </a:tc>
              </a:tr>
            </a:tbl>
          </a:graphicData>
        </a:graphic>
      </p:graphicFrame>
    </p:spTree>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Right Hanging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Both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Standard</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Right to Left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Custom Margins...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Message Bar</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Other Theme Fills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Layout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Home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Table</a:t>
                      </a:r>
                    </a:p>
                  </a:txBody>
                  <a:tcPr horzOverflow="overflow"/>
                </a:tc>
              </a:tr>
            </a:tbl>
          </a:graphicData>
        </a:graphic>
      </p:graphicFrame>
    </p:spTree>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Justify</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Justify Low</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Distribute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Excel Spreadsheet</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Options</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Automatically After:</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Slide Orientation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Menu Commands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Toolbar Commands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Ink</a:t>
                      </a:r>
                    </a:p>
                  </a:txBody>
                  <a:tcPr horzOverflow="overflow"/>
                </a:tc>
              </a:tr>
            </a:tbl>
          </a:graphicData>
        </a:graphic>
      </p:graphicFrame>
    </p:spTree>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Pens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Pens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Ballpoint Pen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Felt Tip Pen</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Highlighter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Current Theme...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Align Text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Character Spacing</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to Match Style</a:t>
                      </a:r>
                    </a:p>
                  </a:txBody>
                  <a:tcPr horzOverflow="overflow"/>
                </a:tc>
              </a:tr>
            </a:tbl>
          </a:graphicData>
        </a:graphic>
      </p:graphicFrame>
    </p:spTree>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Rotation...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Size and Position...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Convert to Freeform</a:t>
                      </a:r>
                    </a:p>
                  </a:txBody>
                  <a:tcPr horzOverflow="overflow"/>
                </a:tc>
              </a:tr>
              <a:tr h="508000">
                <a:tc>
                  <a:txBody>
                    <a:bodyPr/>
                    <a:lstStyle/>
                    <a:p>
                      <a:pPr algn="l" defTabSz="914400"/>
                      <a:r>
                        <a:rPr b="0" i="0" strike="noStrike" dirty="0"/>
                        <a:t>tab</a:t>
                      </a:r>
                    </a:p>
                  </a:txBody>
                  <a:tcPr horzOverflow="overflow"/>
                </a:tc>
                <a:tc>
                  <a:txBody>
                    <a:bodyPr/>
                    <a:lstStyle/>
                    <a:p>
                      <a:pPr algn="l" defTabSz="914400"/>
                      <a:r>
                        <a:rPr b="0" i="0" strike="noStrike" dirty="0"/>
                        <a:t>Design</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Convert to SmartArt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SmartArt Graphics...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Reflection</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Recolor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Promote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Demote</a:t>
                      </a:r>
                    </a:p>
                  </a:txBody>
                  <a:tcPr horzOverflow="overflow"/>
                </a:tc>
              </a:tr>
            </a:tbl>
          </a:graphicData>
        </a:graphic>
      </p:graphicFrame>
    </p:spTree>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Cell Bevel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Table Background</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Legend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Data Label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Horizontal Axis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Vertical Axis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Horizontal Axis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Vertical Axis Title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Depth Axis Title Options...</a:t>
                      </a:r>
                    </a:p>
                  </a:txBody>
                  <a:tcPr horzOverflow="overflow"/>
                </a:tc>
              </a:tr>
            </a:tbl>
          </a:graphicData>
        </a:graphic>
      </p:graphicFrame>
    </p:spTree>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Horizontal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Vertical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Horizontal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Vertical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Depth Gridlines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Horizontal Axis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Primary Vertical Axis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Horizontal Axis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Secondary Vertical Axis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Depth Axis Options...</a:t>
                      </a:r>
                    </a:p>
                  </a:txBody>
                  <a:tcPr horzOverflow="overflow"/>
                </a:tc>
              </a:tr>
            </a:tbl>
          </a:graphicData>
        </a:graphic>
      </p:graphicFrame>
    </p:spTree>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Data Table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Trendline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Error Bars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Up/Down Bars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Plot Area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Walls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Floor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Horizontal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Vertical Axis Title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Horizontal Gridlines</a:t>
                      </a:r>
                    </a:p>
                  </a:txBody>
                  <a:tcPr horzOverflow="overflow"/>
                </a:tc>
              </a:tr>
            </a:tbl>
          </a:graphicData>
        </a:graphic>
      </p:graphicFrame>
    </p:spTree>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Vertical Gridlines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Horizontal Axis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Secondary Vertical Axis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Custom Toolbars</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Play Movie: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Bring to Front</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Send to Back</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Group</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Color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PowerPoint 97-2003 Presentation</a:t>
                      </a:r>
                    </a:p>
                  </a:txBody>
                  <a:tcPr horzOverflow="overflow"/>
                </a:tc>
              </a:tr>
            </a:tbl>
          </a:graphicData>
        </a:graphic>
      </p:graphicFrame>
    </p:spTree>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Save As Other Format</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Preview and Print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Restrict Permission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Document Panel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Modify</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Bevel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Bevel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Table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Table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Cell Size</a:t>
                      </a:r>
                    </a:p>
                  </a:txBody>
                  <a:tcPr horzOverflow="overflow"/>
                </a:tc>
              </a:tr>
            </a:tbl>
          </a:graphicData>
        </a:graphic>
      </p:graphicFrame>
    </p:spTree>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Effects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More Glow Colors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More Variations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Add Bullet</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Lock Aspect Ratio</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Insert Placeholder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Border Colors...</a:t>
                      </a:r>
                    </a:p>
                  </a:txBody>
                  <a:tcPr horzOverflow="overflow"/>
                </a:tc>
              </a:tr>
            </a:tbl>
          </a:graphicData>
        </a:graphic>
      </p:graphicFrame>
    </p:spTree>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Fill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Change Picture...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WordArt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 Fill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 Outline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Outline Colors...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Text Effects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Clear WordArt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bl>
          </a:graphicData>
        </a:graphic>
      </p:graphicFrame>
    </p:spTree>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Gradient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Gradients...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Texture</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Dashes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Lines...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Weight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Shadow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Shadow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3-D Rotation</a:t>
                      </a:r>
                    </a:p>
                  </a:txBody>
                  <a:tcPr horzOverflow="overflow"/>
                </a:tc>
              </a:tr>
            </a:tbl>
          </a:graphicData>
        </a:graphic>
      </p:graphicFrame>
    </p:spTree>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3-D Rotation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Glow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More Glow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Colors...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Reflection</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Shape Effects</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Loop Until Next Sound</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Current Selection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Labels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Bevel</a:t>
                      </a:r>
                    </a:p>
                  </a:txBody>
                  <a:tcPr horzOverflow="overflow"/>
                </a:tc>
              </a:tr>
            </a:tbl>
          </a:graphicData>
        </a:graphic>
      </p:graphicFrame>
    </p:spTree>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 Corrections Options...</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Add Shape Options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Notes Page Orientation</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Format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Color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Columns...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Reset Slide Background</a:t>
                      </a:r>
                    </a:p>
                  </a:txBody>
                  <a:tcPr horzOverflow="overflow"/>
                </a:tc>
              </a:tr>
              <a:tr h="508000">
                <a:tc>
                  <a:txBody>
                    <a:bodyPr/>
                    <a:lstStyle/>
                    <a:p>
                      <a:pPr algn="l" defTabSz="914400"/>
                      <a:r>
                        <a:rPr b="0" i="0" strike="noStrike" dirty="0"/>
                        <a:t>dropDown</a:t>
                      </a:r>
                    </a:p>
                  </a:txBody>
                  <a:tcPr horzOverflow="overflow"/>
                </a:tc>
                <a:tc>
                  <a:txBody>
                    <a:bodyPr/>
                    <a:lstStyle/>
                    <a:p>
                      <a:pPr algn="l" defTabSz="914400"/>
                      <a:r>
                        <a:rPr b="0" i="0" strike="noStrike" dirty="0"/>
                        <a:t>Play Track:</a:t>
                      </a:r>
                    </a:p>
                  </a:txBody>
                  <a:tcPr horzOverflow="overflow"/>
                </a:tc>
              </a:tr>
            </a:tbl>
          </a:graphicData>
        </a:graphic>
      </p:graphicFrame>
    </p:spTree>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Shapes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Text</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Picture Border</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Close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Placeholders</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Replace...</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Select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Delete</a:t>
                      </a:r>
                    </a:p>
                  </a:txBody>
                  <a:tcPr horzOverflow="overflow"/>
                </a:tc>
              </a:tr>
            </a:tbl>
          </a:graphicData>
        </a:graphic>
      </p:graphicFrame>
    </p:spTree>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Set Up</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Options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Delete All Markup in the Presentation</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Paste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Picture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Shadow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Glow</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Soft Edges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Reflection</a:t>
                      </a:r>
                    </a:p>
                  </a:txBody>
                  <a:tcPr horzOverflow="overflow"/>
                </a:tc>
              </a:tr>
            </a:tbl>
          </a:graphicData>
        </a:graphic>
      </p:graphicFrame>
    </p:spTree>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3-D Rotation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Close Ink Tools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Show/Hide</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Window</a:t>
                      </a:r>
                    </a:p>
                  </a:txBody>
                  <a:tcPr horzOverflow="overflow"/>
                </a:tc>
              </a:tr>
              <a:tr h="508000">
                <a:tc>
                  <a:txBody>
                    <a:bodyPr/>
                    <a:lstStyle/>
                    <a:p>
                      <a:pPr algn="l" defTabSz="914400"/>
                      <a:r>
                        <a:rPr b="0" i="0" strike="noStrike" dirty="0"/>
                        <a:t>checkBox</a:t>
                      </a:r>
                    </a:p>
                  </a:txBody>
                  <a:tcPr horzOverflow="overflow"/>
                </a:tc>
                <a:tc>
                  <a:txBody>
                    <a:bodyPr/>
                    <a:lstStyle/>
                    <a:p>
                      <a:pPr algn="l" defTabSz="914400"/>
                      <a:r>
                        <a:rPr b="0" i="0" strike="noStrike" dirty="0"/>
                        <a:t>View Gridlines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Presentation Views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Color/Grayscale</a:t>
                      </a:r>
                    </a:p>
                  </a:txBody>
                  <a:tcPr horzOverflow="overflow"/>
                </a:tc>
              </a:tr>
              <a:tr h="508000">
                <a:tc>
                  <a:txBody>
                    <a:bodyPr/>
                    <a:lstStyle/>
                    <a:p>
                      <a:pPr algn="l" defTabSz="914400"/>
                      <a:r>
                        <a:rPr b="0" i="0" strike="noStrike" dirty="0"/>
                        <a:t>toggleButton</a:t>
                      </a:r>
                    </a:p>
                  </a:txBody>
                  <a:tcPr horzOverflow="overflow"/>
                </a:tc>
                <a:tc>
                  <a:txBody>
                    <a:bodyPr/>
                    <a:lstStyle/>
                    <a:p>
                      <a:pPr algn="l" defTabSz="914400"/>
                      <a:r>
                        <a:rPr b="0" i="0" strike="noStrike" dirty="0"/>
                        <a:t>Encrypt Document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Format Text Effects...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Rotation Options...</a:t>
                      </a:r>
                    </a:p>
                  </a:txBody>
                  <a:tcPr horzOverflow="overflow"/>
                </a:tc>
              </a:tr>
            </a:tbl>
          </a:graphicData>
        </a:graphic>
      </p:graphicFrame>
    </p:spTree>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Textures...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Fill Colors...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Fit to Window</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View Direction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E-mail as PDF Attachment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E-mail as XPS Attachment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Picture Effects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Change Shape</a:t>
                      </a:r>
                    </a:p>
                  </a:txBody>
                  <a:tcPr horzOverflow="overflow"/>
                </a:tc>
              </a:tr>
              <a:tr h="508000">
                <a:tc>
                  <a:txBody>
                    <a:bodyPr/>
                    <a:lstStyle/>
                    <a:p>
                      <a:pPr algn="l" defTabSz="914400"/>
                      <a:r>
                        <a:rPr b="0" i="0" strike="noStrike" dirty="0"/>
                        <a:t>splitButton</a:t>
                      </a:r>
                    </a:p>
                  </a:txBody>
                  <a:tcPr horzOverflow="overflow"/>
                </a:tc>
                <a:tc>
                  <a:txBody>
                    <a:bodyPr/>
                    <a:lstStyle/>
                    <a:p>
                      <a:pPr algn="l" defTabSz="914400"/>
                      <a:r>
                        <a:rPr b="0" i="0" strike="noStrike" dirty="0"/>
                        <a:t>Photo Album...</a:t>
                      </a:r>
                    </a:p>
                  </a:txBody>
                  <a:tcPr horzOverflow="overflow"/>
                </a:tc>
              </a:tr>
            </a:tbl>
          </a:graphicData>
        </a:graphic>
      </p:graphicFrame>
    </p:spTree>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Background</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Analysis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Publish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Run Compatibility Checker</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Picture...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Convert</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Save As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PowerPoint Presentation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PowerPoint Show</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Font...</a:t>
                      </a:r>
                    </a:p>
                  </a:txBody>
                  <a:tcPr horzOverflow="overflow"/>
                </a:tc>
              </a:tr>
            </a:tbl>
          </a:graphicData>
        </a:graphic>
      </p:graphicFrame>
    </p:spTree>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Paragraph...</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Page Setup...</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Shapes</a:t>
                      </a:r>
                    </a:p>
                  </a:txBody>
                  <a:tcPr horzOverflow="overflow"/>
                </a:tc>
              </a:tr>
              <a:tr h="508000">
                <a:tc>
                  <a:txBody>
                    <a:bodyPr/>
                    <a:lstStyle/>
                    <a:p>
                      <a:pPr algn="l" defTabSz="914400"/>
                      <a:r>
                        <a:rPr b="0" i="0" strike="noStrike" dirty="0"/>
                        <a:t>gallery</a:t>
                      </a:r>
                    </a:p>
                  </a:txBody>
                  <a:tcPr horzOverflow="overflow"/>
                </a:tc>
                <a:tc>
                  <a:txBody>
                    <a:bodyPr/>
                    <a:lstStyle/>
                    <a:p>
                      <a:pPr algn="l" defTabSz="914400"/>
                      <a:r>
                        <a:rPr b="0" i="0" strike="noStrike" dirty="0"/>
                        <a:t>Quick Styles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WordArt Styles</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Arrange</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More Textures...</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Macros</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Find add-ins for other file formats</a:t>
                      </a:r>
                    </a:p>
                  </a:txBody>
                  <a:tcPr horzOverflow="overflow"/>
                </a:tc>
              </a:tr>
            </a:tbl>
          </a:graphicData>
        </a:graphic>
      </p:graphicFrame>
    </p:spTree>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3048000"/>
        </p:xfrm>
        <a:graphic>
          <a:graphicData uri="http://schemas.openxmlformats.org/drawingml/2006/table">
            <a:tbl>
              <a:tblPr firstRow="1" bandRow="1">
                <a:tableStyleId>{5C22544A-7EE6-4342-B048-85BDC9FD1C3A}</a:tableStyleId>
              </a:tblPr>
              <a:tblGrid>
                <a:gridCol w="5588000"/>
                <a:gridCol w="5588000"/>
              </a:tblGrid>
              <a:tr h="508000">
                <a:tc>
                  <a:txBody>
                    <a:bodyPr/>
                    <a:lstStyle/>
                    <a:p>
                      <a:pPr algn="l" defTabSz="914400"/>
                      <a:r>
                        <a:rPr b="1" i="0" strike="noStrike" dirty="0"/>
                        <a:t>Control Type</a:t>
                      </a:r>
                    </a:p>
                  </a:txBody>
                  <a:tcPr horzOverflow="overflow"/>
                </a:tc>
                <a:tc>
                  <a:txBody>
                    <a:bodyPr/>
                    <a:lstStyle/>
                    <a:p>
                      <a:pPr algn="l" defTabSz="914400"/>
                      <a:r>
                        <a:rPr b="1" i="0" strike="noStrike" dirty="0"/>
                        <a:t>Label</a:t>
                      </a:r>
                    </a:p>
                  </a:txBody>
                  <a:tcPr horzOverflow="overflow"/>
                </a:tc>
              </a:tr>
              <a:tr h="508000">
                <a:tc>
                  <a:txBody>
                    <a:bodyPr/>
                    <a:lstStyle/>
                    <a:p>
                      <a:pPr algn="l" defTabSz="914400"/>
                      <a:r>
                        <a:rPr b="0" i="0" strike="noStrike" dirty="0"/>
                        <a:t>group</a:t>
                      </a:r>
                    </a:p>
                  </a:txBody>
                  <a:tcPr horzOverflow="overflow"/>
                </a:tc>
                <a:tc>
                  <a:txBody>
                    <a:bodyPr/>
                    <a:lstStyle/>
                    <a:p>
                      <a:pPr algn="l" defTabSz="914400"/>
                      <a:r>
                        <a:rPr b="0" i="0" strike="noStrike" dirty="0"/>
                        <a:t>Protect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Protect Presentation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Size and Position...</a:t>
                      </a:r>
                    </a:p>
                  </a:txBody>
                  <a:tcPr horzOverflow="overflow"/>
                </a:tc>
              </a:tr>
              <a:tr h="508000">
                <a:tc>
                  <a:txBody>
                    <a:bodyPr/>
                    <a:lstStyle/>
                    <a:p>
                      <a:pPr algn="l" defTabSz="914400"/>
                      <a:r>
                        <a:rPr b="0" i="0" strike="noStrike" dirty="0"/>
                        <a:t>button</a:t>
                      </a:r>
                    </a:p>
                  </a:txBody>
                  <a:tcPr horzOverflow="overflow"/>
                </a:tc>
                <a:tc>
                  <a:txBody>
                    <a:bodyPr/>
                    <a:lstStyle/>
                    <a:p>
                      <a:pPr algn="l" defTabSz="914400"/>
                      <a:r>
                        <a:rPr b="0" i="0" strike="noStrike" dirty="0"/>
                        <a:t>Discard Check Out</a:t>
                      </a:r>
                    </a:p>
                  </a:txBody>
                  <a:tcPr horzOverflow="overflow"/>
                </a:tc>
              </a:tr>
              <a:tr h="508000">
                <a:tc>
                  <a:txBody>
                    <a:bodyPr/>
                    <a:lstStyle/>
                    <a:p>
                      <a:pPr algn="l" defTabSz="914400"/>
                      <a:r>
                        <a:rPr b="0" i="0" strike="noStrike" dirty="0"/>
                        <a:t>menu</a:t>
                      </a:r>
                    </a:p>
                  </a:txBody>
                  <a:tcPr horzOverflow="overflow"/>
                </a:tc>
                <a:tc>
                  <a:txBody>
                    <a:bodyPr/>
                    <a:lstStyle/>
                    <a:p>
                      <a:pPr algn="l" defTabSz="914400"/>
                      <a:r>
                        <a:rPr b="0" i="0" strike="noStrike" dirty="0"/>
                        <a:t>Document</a:t>
                      </a:r>
                    </a:p>
                  </a:txBody>
                  <a:tcPr horzOverflow="overflow"/>
                </a:tc>
              </a:tr>
            </a:tbl>
          </a:graphicData>
        </a:graphic>
      </p:graphicFrame>
      <p:sp>
        <p:nvSpPr>
          <p:cNvPr id="3" name="TextBox3"/>
          <p:cNvSpPr txBox="1">
            <a:spLocks noChangeArrowheads="1"/>
          </p:cNvSpPr>
          <p:nvPr/>
        </p:nvSpPr>
        <p:spPr>
          <a:xfrm rot="0">
            <a:off x="508000" y="3606800"/>
            <a:ext cx="11176000" cy="995680"/>
          </a:xfrm>
          <a:prstGeom prst="rect">
            <a:avLst/>
          </a:prstGeom>
          <a:ln>
            <a:headEnd type="none"/>
            <a:tailEnd type="none"/>
          </a:ln>
        </p:spPr>
        <p:txBody>
          <a:bodyPr wrap="square">
            <a:spAutoFit/>
          </a:bodyPr>
          <a:lstStyle/>
          <a:p>
            <a:pPr algn="l" defTabSz="914400">
              <a:defRPr sz="2800" b="1" dirty="0"/>
            </a:pPr>
            <a:r>
              <a:rPr b="1" i="1" strike="noStrike" dirty="0"/>
              <a:t>imageMso </a:t>
            </a:r>
            <a:r>
              <a:rPr b="1" i="1" strike="noStrike" dirty="0"/>
              <a:t>Table </a:t>
            </a:r>
            <a:r>
              <a:rPr b="1" i="1" strike="noStrike" dirty="0"/>
              <a:t>XE </a:t>
            </a:r>
            <a:r>
              <a:rPr b="1" i="1" strike="noStrike" dirty="0"/>
              <a:t>"Custom </a:t>
            </a:r>
            <a:r>
              <a:rPr b="1" i="1" strike="noStrike" dirty="0"/>
              <a:t>UI </a:t>
            </a:r>
            <a:r>
              <a:rPr b="1" i="1" strike="noStrike" dirty="0"/>
              <a:t>control </a:t>
            </a:r>
            <a:r>
              <a:rPr b="1" i="1" strike="noStrike" dirty="0"/>
              <a:t>id </a:t>
            </a:r>
            <a:r>
              <a:rPr b="1" i="1" strike="noStrike" dirty="0"/>
              <a:t>table:imageMso </a:t>
            </a:r>
            <a:r>
              <a:rPr b="1" i="1" strike="noStrike" dirty="0"/>
              <a:t>table" </a:t>
            </a:r>
            <a:r>
              <a:rPr b="1" i="1" strike="noStrike" dirty="0"/>
              <a:t> </a:t>
            </a:r>
            <a:r>
              <a:rPr b="1" i="1" strike="noStrike" dirty="0"/>
              <a:t>XE </a:t>
            </a:r>
            <a:r>
              <a:rPr b="1" i="1" strike="noStrike" dirty="0"/>
              <a:t>"Tables:imageMso </a:t>
            </a:r>
            <a:r>
              <a:rPr b="1" i="1" strike="noStrike" dirty="0"/>
              <a:t>table"</a:t>
            </a:r>
          </a:p>
        </p:txBody>
      </p:sp>
      <p:graphicFrame>
        <p:nvGraphicFramePr>
          <p:cNvPr id="4" name="Table 4"/>
          <p:cNvGraphicFramePr/>
          <p:nvPr/>
        </p:nvGraphicFramePr>
        <p:xfrm rot="0">
          <a:off x="508000" y="4627880"/>
          <a:ext cx="11176000" cy="1524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Spelling</a:t>
                      </a:r>
                    </a:p>
                  </a:txBody>
                  <a:tcPr horzOverflow="overflow"/>
                </a:tc>
              </a:tr>
              <a:tr h="508000">
                <a:tc>
                  <a:txBody>
                    <a:bodyPr/>
                    <a:lstStyle/>
                    <a:p>
                      <a:pPr algn="l" defTabSz="914400"/>
                      <a:r>
                        <a:rPr b="0" i="0" strike="noStrike" dirty="0"/>
                        <a:t>FileSave</a:t>
                      </a:r>
                    </a:p>
                  </a:txBody>
                  <a:tcPr horzOverflow="overflow"/>
                </a:tc>
              </a:tr>
            </a:tbl>
          </a:graphicData>
        </a:graphic>
      </p:graphicFrame>
    </p:spTree>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FilePrint</a:t>
                      </a:r>
                    </a:p>
                  </a:txBody>
                  <a:tcPr horzOverflow="overflow"/>
                </a:tc>
              </a:tr>
              <a:tr h="508000">
                <a:tc>
                  <a:txBody>
                    <a:bodyPr/>
                    <a:lstStyle/>
                    <a:p>
                      <a:pPr algn="l" defTabSz="914400"/>
                      <a:r>
                        <a:rPr b="0" i="0" strike="noStrike" dirty="0"/>
                        <a:t>ZoomOnePage</a:t>
                      </a:r>
                    </a:p>
                  </a:txBody>
                  <a:tcPr horzOverflow="overflow"/>
                </a:tc>
              </a:tr>
              <a:tr h="508000">
                <a:tc>
                  <a:txBody>
                    <a:bodyPr/>
                    <a:lstStyle/>
                    <a:p>
                      <a:pPr algn="l" defTabSz="914400"/>
                      <a:r>
                        <a:rPr b="0" i="0" strike="noStrike" dirty="0"/>
                        <a:t>ZoomPageWidth</a:t>
                      </a:r>
                    </a:p>
                  </a:txBody>
                  <a:tcPr horzOverflow="overflow"/>
                </a:tc>
              </a:tr>
              <a:tr h="508000">
                <a:tc>
                  <a:txBody>
                    <a:bodyPr/>
                    <a:lstStyle/>
                    <a:p>
                      <a:pPr algn="l" defTabSz="914400"/>
                      <a:r>
                        <a:rPr b="0" i="0" strike="noStrike" dirty="0"/>
                        <a:t>Zoom100</a:t>
                      </a:r>
                    </a:p>
                  </a:txBody>
                  <a:tcPr horzOverflow="overflow"/>
                </a:tc>
              </a:tr>
              <a:tr h="508000">
                <a:tc>
                  <a:txBody>
                    <a:bodyPr/>
                    <a:lstStyle/>
                    <a:p>
                      <a:pPr algn="l" defTabSz="914400"/>
                      <a:r>
                        <a:rPr b="0" i="0" strike="noStrike" dirty="0"/>
                        <a:t>TableInsert</a:t>
                      </a:r>
                    </a:p>
                  </a:txBody>
                  <a:tcPr horzOverflow="overflow"/>
                </a:tc>
              </a:tr>
              <a:tr h="508000">
                <a:tc>
                  <a:txBody>
                    <a:bodyPr/>
                    <a:lstStyle/>
                    <a:p>
                      <a:pPr algn="l" defTabSz="914400"/>
                      <a:r>
                        <a:rPr b="0" i="0" strike="noStrike" dirty="0"/>
                        <a:t>ColumnsDialog</a:t>
                      </a:r>
                    </a:p>
                  </a:txBody>
                  <a:tcPr horzOverflow="overflow"/>
                </a:tc>
              </a:tr>
              <a:tr h="508000">
                <a:tc>
                  <a:txBody>
                    <a:bodyPr/>
                    <a:lstStyle/>
                    <a:p>
                      <a:pPr algn="l" defTabSz="914400"/>
                      <a:r>
                        <a:rPr b="0" i="0" strike="noStrike" dirty="0"/>
                        <a:t>Numbering</a:t>
                      </a:r>
                    </a:p>
                  </a:txBody>
                  <a:tcPr horzOverflow="overflow"/>
                </a:tc>
              </a:tr>
              <a:tr h="508000">
                <a:tc>
                  <a:txBody>
                    <a:bodyPr/>
                    <a:lstStyle/>
                    <a:p>
                      <a:pPr algn="l" defTabSz="914400"/>
                      <a:r>
                        <a:rPr b="0" i="0" strike="noStrike" dirty="0"/>
                        <a:t>Bullets</a:t>
                      </a:r>
                    </a:p>
                  </a:txBody>
                  <a:tcPr horzOverflow="overflow"/>
                </a:tc>
              </a:tr>
              <a:tr h="508000">
                <a:tc>
                  <a:txBody>
                    <a:bodyPr/>
                    <a:lstStyle/>
                    <a:p>
                      <a:pPr algn="l" defTabSz="914400"/>
                      <a:r>
                        <a:rPr b="0" i="0" strike="noStrike" dirty="0"/>
                        <a:t>PageOrientationPortraitLandscape</a:t>
                      </a:r>
                    </a:p>
                  </a:txBody>
                  <a:tcPr horzOverflow="overflow"/>
                </a:tc>
              </a:tr>
              <a:tr h="508000">
                <a:tc>
                  <a:txBody>
                    <a:bodyPr/>
                    <a:lstStyle/>
                    <a:p>
                      <a:pPr algn="l" defTabSz="914400"/>
                      <a:r>
                        <a:rPr b="0" i="0" strike="noStrike" dirty="0"/>
                        <a:t>OutdentClassic</a:t>
                      </a:r>
                    </a:p>
                  </a:txBody>
                  <a:tcPr horzOverflow="overflow"/>
                </a:tc>
              </a:tr>
            </a:tbl>
          </a:graphicData>
        </a:graphic>
      </p:graphicFrame>
    </p:spTree>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IndentClassic</a:t>
                      </a:r>
                    </a:p>
                  </a:txBody>
                  <a:tcPr horzOverflow="overflow"/>
                </a:tc>
              </a:tr>
              <a:tr h="508000">
                <a:tc>
                  <a:txBody>
                    <a:bodyPr/>
                    <a:lstStyle/>
                    <a:p>
                      <a:pPr algn="l" defTabSz="914400"/>
                      <a:r>
                        <a:rPr b="0" i="0" strike="noStrike" dirty="0"/>
                        <a:t>DrawingInsert</a:t>
                      </a:r>
                    </a:p>
                  </a:txBody>
                  <a:tcPr horzOverflow="overflow"/>
                </a:tc>
              </a:tr>
              <a:tr h="508000">
                <a:tc>
                  <a:txBody>
                    <a:bodyPr/>
                    <a:lstStyle/>
                    <a:p>
                      <a:pPr algn="l" defTabSz="914400"/>
                      <a:r>
                        <a:rPr b="0" i="0" strike="noStrike" dirty="0"/>
                        <a:t>ChartInsert</a:t>
                      </a:r>
                    </a:p>
                  </a:txBody>
                  <a:tcPr horzOverflow="overflow"/>
                </a:tc>
              </a:tr>
              <a:tr h="508000">
                <a:tc>
                  <a:txBody>
                    <a:bodyPr/>
                    <a:lstStyle/>
                    <a:p>
                      <a:pPr algn="l" defTabSz="914400"/>
                      <a:r>
                        <a:rPr b="0" i="0" strike="noStrike" dirty="0"/>
                        <a:t>FileNew</a:t>
                      </a:r>
                    </a:p>
                  </a:txBody>
                  <a:tcPr horzOverflow="overflow"/>
                </a:tc>
              </a:tr>
              <a:tr h="508000">
                <a:tc>
                  <a:txBody>
                    <a:bodyPr/>
                    <a:lstStyle/>
                    <a:p>
                      <a:pPr algn="l" defTabSz="914400"/>
                      <a:r>
                        <a:rPr b="0" i="0" strike="noStrike" dirty="0"/>
                        <a:t>Copy</a:t>
                      </a:r>
                    </a:p>
                  </a:txBody>
                  <a:tcPr horzOverflow="overflow"/>
                </a:tc>
              </a:tr>
              <a:tr h="508000">
                <a:tc>
                  <a:txBody>
                    <a:bodyPr/>
                    <a:lstStyle/>
                    <a:p>
                      <a:pPr algn="l" defTabSz="914400"/>
                      <a:r>
                        <a:rPr b="0" i="0" strike="noStrike" dirty="0"/>
                        <a:t>Cut</a:t>
                      </a:r>
                    </a:p>
                  </a:txBody>
                  <a:tcPr horzOverflow="overflow"/>
                </a:tc>
              </a:tr>
              <a:tr h="508000">
                <a:tc>
                  <a:txBody>
                    <a:bodyPr/>
                    <a:lstStyle/>
                    <a:p>
                      <a:pPr algn="l" defTabSz="914400"/>
                      <a:r>
                        <a:rPr b="0" i="0" strike="noStrike" dirty="0"/>
                        <a:t>Paste</a:t>
                      </a:r>
                    </a:p>
                  </a:txBody>
                  <a:tcPr horzOverflow="overflow"/>
                </a:tc>
              </a:tr>
              <a:tr h="508000">
                <a:tc>
                  <a:txBody>
                    <a:bodyPr/>
                    <a:lstStyle/>
                    <a:p>
                      <a:pPr algn="l" defTabSz="914400"/>
                      <a:r>
                        <a:rPr b="0" i="0" strike="noStrike" dirty="0"/>
                        <a:t>FileOpen</a:t>
                      </a:r>
                    </a:p>
                  </a:txBody>
                  <a:tcPr horzOverflow="overflow"/>
                </a:tc>
              </a:tr>
              <a:tr h="508000">
                <a:tc>
                  <a:txBody>
                    <a:bodyPr/>
                    <a:lstStyle/>
                    <a:p>
                      <a:pPr algn="l" defTabSz="914400"/>
                      <a:r>
                        <a:rPr b="0" i="0" strike="noStrike" dirty="0"/>
                        <a:t>EnvelopesAndLabelsDialog</a:t>
                      </a:r>
                    </a:p>
                  </a:txBody>
                  <a:tcPr horzOverflow="overflow"/>
                </a:tc>
              </a:tr>
              <a:tr h="508000">
                <a:tc>
                  <a:txBody>
                    <a:bodyPr/>
                    <a:lstStyle/>
                    <a:p>
                      <a:pPr algn="l" defTabSz="914400"/>
                      <a:r>
                        <a:rPr b="0" i="0" strike="noStrike" dirty="0"/>
                        <a:t>ZoomPrintPreviewExcel</a:t>
                      </a:r>
                    </a:p>
                  </a:txBody>
                  <a:tcPr horzOverflow="overflow"/>
                </a:tc>
              </a:tr>
            </a:tbl>
          </a:graphicData>
        </a:graphic>
      </p:graphicFrame>
    </p:spTree>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PenComment</a:t>
                      </a:r>
                    </a:p>
                  </a:txBody>
                  <a:tcPr horzOverflow="overflow"/>
                </a:tc>
              </a:tr>
              <a:tr h="508000">
                <a:tc>
                  <a:txBody>
                    <a:bodyPr/>
                    <a:lstStyle/>
                    <a:p>
                      <a:pPr algn="l" defTabSz="914400"/>
                      <a:r>
                        <a:rPr b="0" i="0" strike="noStrike" dirty="0"/>
                        <a:t>Folder</a:t>
                      </a:r>
                    </a:p>
                  </a:txBody>
                  <a:tcPr horzOverflow="overflow"/>
                </a:tc>
              </a:tr>
              <a:tr h="508000">
                <a:tc>
                  <a:txBody>
                    <a:bodyPr/>
                    <a:lstStyle/>
                    <a:p>
                      <a:pPr algn="l" defTabSz="914400"/>
                      <a:r>
                        <a:rPr b="0" i="0" strike="noStrike" dirty="0"/>
                        <a:t>Repeat</a:t>
                      </a:r>
                    </a:p>
                  </a:txBody>
                  <a:tcPr horzOverflow="overflow"/>
                </a:tc>
              </a:tr>
              <a:tr h="508000">
                <a:tc>
                  <a:txBody>
                    <a:bodyPr/>
                    <a:lstStyle/>
                    <a:p>
                      <a:pPr algn="l" defTabSz="914400"/>
                      <a:r>
                        <a:rPr b="0" i="0" strike="noStrike" dirty="0"/>
                        <a:t>UpArrow2</a:t>
                      </a:r>
                    </a:p>
                  </a:txBody>
                  <a:tcPr horzOverflow="overflow"/>
                </a:tc>
              </a:tr>
              <a:tr h="508000">
                <a:tc>
                  <a:txBody>
                    <a:bodyPr/>
                    <a:lstStyle/>
                    <a:p>
                      <a:pPr algn="l" defTabSz="914400"/>
                      <a:r>
                        <a:rPr b="0" i="0" strike="noStrike" dirty="0"/>
                        <a:t>RightArrow2</a:t>
                      </a:r>
                    </a:p>
                  </a:txBody>
                  <a:tcPr horzOverflow="overflow"/>
                </a:tc>
              </a:tr>
              <a:tr h="508000">
                <a:tc>
                  <a:txBody>
                    <a:bodyPr/>
                    <a:lstStyle/>
                    <a:p>
                      <a:pPr algn="l" defTabSz="914400"/>
                      <a:r>
                        <a:rPr b="0" i="0" strike="noStrike" dirty="0"/>
                        <a:t>DownArrow2</a:t>
                      </a:r>
                    </a:p>
                  </a:txBody>
                  <a:tcPr horzOverflow="overflow"/>
                </a:tc>
              </a:tr>
              <a:tr h="508000">
                <a:tc>
                  <a:txBody>
                    <a:bodyPr/>
                    <a:lstStyle/>
                    <a:p>
                      <a:pPr algn="l" defTabSz="914400"/>
                      <a:r>
                        <a:rPr b="0" i="0" strike="noStrike" dirty="0"/>
                        <a:t>LeftArrow2</a:t>
                      </a:r>
                    </a:p>
                  </a:txBody>
                  <a:tcPr horzOverflow="overflow"/>
                </a:tc>
              </a:tr>
              <a:tr h="508000">
                <a:tc>
                  <a:txBody>
                    <a:bodyPr/>
                    <a:lstStyle/>
                    <a:p>
                      <a:pPr algn="l" defTabSz="914400"/>
                      <a:r>
                        <a:rPr b="0" i="0" strike="noStrike" dirty="0"/>
                        <a:t>Clear</a:t>
                      </a:r>
                    </a:p>
                  </a:txBody>
                  <a:tcPr horzOverflow="overflow"/>
                </a:tc>
              </a:tr>
              <a:tr h="508000">
                <a:tc>
                  <a:txBody>
                    <a:bodyPr/>
                    <a:lstStyle/>
                    <a:p>
                      <a:pPr algn="l" defTabSz="914400"/>
                      <a:r>
                        <a:rPr b="0" i="0" strike="noStrike" dirty="0"/>
                        <a:t>Breakpoint</a:t>
                      </a:r>
                    </a:p>
                  </a:txBody>
                  <a:tcPr horzOverflow="overflow"/>
                </a:tc>
              </a:tr>
              <a:tr h="508000">
                <a:tc>
                  <a:txBody>
                    <a:bodyPr/>
                    <a:lstStyle/>
                    <a:p>
                      <a:pPr algn="l" defTabSz="914400"/>
                      <a:r>
                        <a:rPr b="0" i="0" strike="noStrike" dirty="0"/>
                        <a:t>Piggy</a:t>
                      </a:r>
                    </a:p>
                  </a:txBody>
                  <a:tcPr horzOverflow="overflow"/>
                </a:tc>
              </a:tr>
            </a:tbl>
          </a:graphicData>
        </a:graphic>
      </p:graphicFrame>
    </p:spTree>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Superscript</a:t>
                      </a:r>
                    </a:p>
                  </a:txBody>
                  <a:tcPr horzOverflow="overflow"/>
                </a:tc>
              </a:tr>
              <a:tr h="508000">
                <a:tc>
                  <a:txBody>
                    <a:bodyPr/>
                    <a:lstStyle/>
                    <a:p>
                      <a:pPr algn="l" defTabSz="914400"/>
                      <a:r>
                        <a:rPr b="0" i="0" strike="noStrike" dirty="0"/>
                        <a:t>Subscript</a:t>
                      </a:r>
                    </a:p>
                  </a:txBody>
                  <a:tcPr horzOverflow="overflow"/>
                </a:tc>
              </a:tr>
              <a:tr h="508000">
                <a:tc>
                  <a:txBody>
                    <a:bodyPr/>
                    <a:lstStyle/>
                    <a:p>
                      <a:pPr algn="l" defTabSz="914400"/>
                      <a:r>
                        <a:rPr b="0" i="0" strike="noStrike" dirty="0"/>
                        <a:t>HappyFace</a:t>
                      </a:r>
                    </a:p>
                  </a:txBody>
                  <a:tcPr horzOverflow="overflow"/>
                </a:tc>
              </a:tr>
              <a:tr h="508000">
                <a:tc>
                  <a:txBody>
                    <a:bodyPr/>
                    <a:lstStyle/>
                    <a:p>
                      <a:pPr algn="l" defTabSz="914400"/>
                      <a:r>
                        <a:rPr b="0" i="0" strike="noStrike" dirty="0"/>
                        <a:t>UnderlineDouble</a:t>
                      </a:r>
                    </a:p>
                  </a:txBody>
                  <a:tcPr horzOverflow="overflow"/>
                </a:tc>
              </a:tr>
              <a:tr h="508000">
                <a:tc>
                  <a:txBody>
                    <a:bodyPr/>
                    <a:lstStyle/>
                    <a:p>
                      <a:pPr algn="l" defTabSz="914400"/>
                      <a:r>
                        <a:rPr b="0" i="0" strike="noStrike" dirty="0"/>
                        <a:t>UnderlineWords</a:t>
                      </a:r>
                    </a:p>
                  </a:txBody>
                  <a:tcPr horzOverflow="overflow"/>
                </a:tc>
              </a:tr>
              <a:tr h="508000">
                <a:tc>
                  <a:txBody>
                    <a:bodyPr/>
                    <a:lstStyle/>
                    <a:p>
                      <a:pPr algn="l" defTabSz="914400"/>
                      <a:r>
                        <a:rPr b="0" i="0" strike="noStrike" dirty="0"/>
                        <a:t>FontSizeIncreaseWord</a:t>
                      </a:r>
                    </a:p>
                  </a:txBody>
                  <a:tcPr horzOverflow="overflow"/>
                </a:tc>
              </a:tr>
              <a:tr h="508000">
                <a:tc>
                  <a:txBody>
                    <a:bodyPr/>
                    <a:lstStyle/>
                    <a:p>
                      <a:pPr algn="l" defTabSz="914400"/>
                      <a:r>
                        <a:rPr b="0" i="0" strike="noStrike" dirty="0"/>
                        <a:t>FontSizeDecreaseWord</a:t>
                      </a:r>
                    </a:p>
                  </a:txBody>
                  <a:tcPr horzOverflow="overflow"/>
                </a:tc>
              </a:tr>
              <a:tr h="508000">
                <a:tc>
                  <a:txBody>
                    <a:bodyPr/>
                    <a:lstStyle/>
                    <a:p>
                      <a:pPr algn="l" defTabSz="914400"/>
                      <a:r>
                        <a:rPr b="0" i="0" strike="noStrike" dirty="0"/>
                        <a:t>_0</a:t>
                      </a:r>
                    </a:p>
                  </a:txBody>
                  <a:tcPr horzOverflow="overflow"/>
                </a:tc>
              </a:tr>
              <a:tr h="508000">
                <a:tc>
                  <a:txBody>
                    <a:bodyPr/>
                    <a:lstStyle/>
                    <a:p>
                      <a:pPr algn="l" defTabSz="914400"/>
                      <a:r>
                        <a:rPr b="0" i="0" strike="noStrike" dirty="0"/>
                        <a:t>_1</a:t>
                      </a:r>
                    </a:p>
                  </a:txBody>
                  <a:tcPr horzOverflow="overflow"/>
                </a:tc>
              </a:tr>
              <a:tr h="508000">
                <a:tc>
                  <a:txBody>
                    <a:bodyPr/>
                    <a:lstStyle/>
                    <a:p>
                      <a:pPr algn="l" defTabSz="914400"/>
                      <a:r>
                        <a:rPr b="0" i="0" strike="noStrike" dirty="0"/>
                        <a:t>_2</a:t>
                      </a:r>
                    </a:p>
                  </a:txBody>
                  <a:tcPr horzOverflow="overflow"/>
                </a:tc>
              </a:tr>
            </a:tbl>
          </a:graphicData>
        </a:graphic>
      </p:graphicFrame>
    </p:spTree>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_3</a:t>
                      </a:r>
                    </a:p>
                  </a:txBody>
                  <a:tcPr horzOverflow="overflow"/>
                </a:tc>
              </a:tr>
              <a:tr h="508000">
                <a:tc>
                  <a:txBody>
                    <a:bodyPr/>
                    <a:lstStyle/>
                    <a:p>
                      <a:pPr algn="l" defTabSz="914400"/>
                      <a:r>
                        <a:rPr b="0" i="0" strike="noStrike" dirty="0"/>
                        <a:t>_4</a:t>
                      </a:r>
                    </a:p>
                  </a:txBody>
                  <a:tcPr horzOverflow="overflow"/>
                </a:tc>
              </a:tr>
              <a:tr h="508000">
                <a:tc>
                  <a:txBody>
                    <a:bodyPr/>
                    <a:lstStyle/>
                    <a:p>
                      <a:pPr algn="l" defTabSz="914400"/>
                      <a:r>
                        <a:rPr b="0" i="0" strike="noStrike" dirty="0"/>
                        <a:t>_5</a:t>
                      </a:r>
                    </a:p>
                  </a:txBody>
                  <a:tcPr horzOverflow="overflow"/>
                </a:tc>
              </a:tr>
              <a:tr h="508000">
                <a:tc>
                  <a:txBody>
                    <a:bodyPr/>
                    <a:lstStyle/>
                    <a:p>
                      <a:pPr algn="l" defTabSz="914400"/>
                      <a:r>
                        <a:rPr b="0" i="0" strike="noStrike" dirty="0"/>
                        <a:t>_6</a:t>
                      </a:r>
                    </a:p>
                  </a:txBody>
                  <a:tcPr horzOverflow="overflow"/>
                </a:tc>
              </a:tr>
              <a:tr h="508000">
                <a:tc>
                  <a:txBody>
                    <a:bodyPr/>
                    <a:lstStyle/>
                    <a:p>
                      <a:pPr algn="l" defTabSz="914400"/>
                      <a:r>
                        <a:rPr b="0" i="0" strike="noStrike" dirty="0"/>
                        <a:t>_7</a:t>
                      </a:r>
                    </a:p>
                  </a:txBody>
                  <a:tcPr horzOverflow="overflow"/>
                </a:tc>
              </a:tr>
              <a:tr h="508000">
                <a:tc>
                  <a:txBody>
                    <a:bodyPr/>
                    <a:lstStyle/>
                    <a:p>
                      <a:pPr algn="l" defTabSz="914400"/>
                      <a:r>
                        <a:rPr b="0" i="0" strike="noStrike" dirty="0"/>
                        <a:t>_8</a:t>
                      </a:r>
                    </a:p>
                  </a:txBody>
                  <a:tcPr horzOverflow="overflow"/>
                </a:tc>
              </a:tr>
              <a:tr h="508000">
                <a:tc>
                  <a:txBody>
                    <a:bodyPr/>
                    <a:lstStyle/>
                    <a:p>
                      <a:pPr algn="l" defTabSz="914400"/>
                      <a:r>
                        <a:rPr b="0" i="0" strike="noStrike" dirty="0"/>
                        <a:t>_9</a:t>
                      </a:r>
                    </a:p>
                  </a:txBody>
                  <a:tcPr horzOverflow="overflow"/>
                </a:tc>
              </a:tr>
              <a:tr h="508000">
                <a:tc>
                  <a:txBody>
                    <a:bodyPr/>
                    <a:lstStyle/>
                    <a:p>
                      <a:pPr algn="l" defTabSz="914400"/>
                      <a:r>
                        <a:rPr b="0" i="0" strike="noStrike" dirty="0"/>
                        <a:t>A</a:t>
                      </a:r>
                    </a:p>
                  </a:txBody>
                  <a:tcPr horzOverflow="overflow"/>
                </a:tc>
              </a:tr>
              <a:tr h="508000">
                <a:tc>
                  <a:txBody>
                    <a:bodyPr/>
                    <a:lstStyle/>
                    <a:p>
                      <a:pPr algn="l" defTabSz="914400"/>
                      <a:r>
                        <a:rPr b="0" i="0" strike="noStrike" dirty="0"/>
                        <a:t>B</a:t>
                      </a:r>
                    </a:p>
                  </a:txBody>
                  <a:tcPr horzOverflow="overflow"/>
                </a:tc>
              </a:tr>
              <a:tr h="508000">
                <a:tc>
                  <a:txBody>
                    <a:bodyPr/>
                    <a:lstStyle/>
                    <a:p>
                      <a:pPr algn="l" defTabSz="914400"/>
                      <a:r>
                        <a:rPr b="0" i="0" strike="noStrike" dirty="0"/>
                        <a:t>C</a:t>
                      </a:r>
                    </a:p>
                  </a:txBody>
                  <a:tcPr horzOverflow="overflow"/>
                </a:tc>
              </a:tr>
            </a:tbl>
          </a:graphicData>
        </a:graphic>
      </p:graphicFrame>
    </p:spTree>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a:t>
                      </a:r>
                    </a:p>
                  </a:txBody>
                  <a:tcPr horzOverflow="overflow"/>
                </a:tc>
              </a:tr>
              <a:tr h="508000">
                <a:tc>
                  <a:txBody>
                    <a:bodyPr/>
                    <a:lstStyle/>
                    <a:p>
                      <a:pPr algn="l" defTabSz="914400"/>
                      <a:r>
                        <a:rPr b="0" i="0" strike="noStrike" dirty="0"/>
                        <a:t>E</a:t>
                      </a:r>
                    </a:p>
                  </a:txBody>
                  <a:tcPr horzOverflow="overflow"/>
                </a:tc>
              </a:tr>
              <a:tr h="508000">
                <a:tc>
                  <a:txBody>
                    <a:bodyPr/>
                    <a:lstStyle/>
                    <a:p>
                      <a:pPr algn="l" defTabSz="914400"/>
                      <a:r>
                        <a:rPr b="0" i="0" strike="noStrike" dirty="0"/>
                        <a:t>F</a:t>
                      </a:r>
                    </a:p>
                  </a:txBody>
                  <a:tcPr horzOverflow="overflow"/>
                </a:tc>
              </a:tr>
              <a:tr h="508000">
                <a:tc>
                  <a:txBody>
                    <a:bodyPr/>
                    <a:lstStyle/>
                    <a:p>
                      <a:pPr algn="l" defTabSz="914400"/>
                      <a:r>
                        <a:rPr b="0" i="0" strike="noStrike" dirty="0"/>
                        <a:t>G</a:t>
                      </a:r>
                    </a:p>
                  </a:txBody>
                  <a:tcPr horzOverflow="overflow"/>
                </a:tc>
              </a:tr>
              <a:tr h="508000">
                <a:tc>
                  <a:txBody>
                    <a:bodyPr/>
                    <a:lstStyle/>
                    <a:p>
                      <a:pPr algn="l" defTabSz="914400"/>
                      <a:r>
                        <a:rPr b="0" i="0" strike="noStrike" dirty="0"/>
                        <a:t>H</a:t>
                      </a:r>
                    </a:p>
                  </a:txBody>
                  <a:tcPr horzOverflow="overflow"/>
                </a:tc>
              </a:tr>
              <a:tr h="508000">
                <a:tc>
                  <a:txBody>
                    <a:bodyPr/>
                    <a:lstStyle/>
                    <a:p>
                      <a:pPr algn="l" defTabSz="914400"/>
                      <a:r>
                        <a:rPr b="0" i="0" strike="noStrike" dirty="0"/>
                        <a:t>I</a:t>
                      </a:r>
                    </a:p>
                  </a:txBody>
                  <a:tcPr horzOverflow="overflow"/>
                </a:tc>
              </a:tr>
              <a:tr h="508000">
                <a:tc>
                  <a:txBody>
                    <a:bodyPr/>
                    <a:lstStyle/>
                    <a:p>
                      <a:pPr algn="l" defTabSz="914400"/>
                      <a:r>
                        <a:rPr b="0" i="0" strike="noStrike" dirty="0"/>
                        <a:t>J</a:t>
                      </a:r>
                    </a:p>
                  </a:txBody>
                  <a:tcPr horzOverflow="overflow"/>
                </a:tc>
              </a:tr>
              <a:tr h="508000">
                <a:tc>
                  <a:txBody>
                    <a:bodyPr/>
                    <a:lstStyle/>
                    <a:p>
                      <a:pPr algn="l" defTabSz="914400"/>
                      <a:r>
                        <a:rPr b="0" i="0" strike="noStrike" dirty="0"/>
                        <a:t>K</a:t>
                      </a:r>
                    </a:p>
                  </a:txBody>
                  <a:tcPr horzOverflow="overflow"/>
                </a:tc>
              </a:tr>
              <a:tr h="508000">
                <a:tc>
                  <a:txBody>
                    <a:bodyPr/>
                    <a:lstStyle/>
                    <a:p>
                      <a:pPr algn="l" defTabSz="914400"/>
                      <a:r>
                        <a:rPr b="0" i="0" strike="noStrike" dirty="0"/>
                        <a:t>L</a:t>
                      </a:r>
                    </a:p>
                  </a:txBody>
                  <a:tcPr horzOverflow="overflow"/>
                </a:tc>
              </a:tr>
              <a:tr h="508000">
                <a:tc>
                  <a:txBody>
                    <a:bodyPr/>
                    <a:lstStyle/>
                    <a:p>
                      <a:pPr algn="l" defTabSz="914400"/>
                      <a:r>
                        <a:rPr b="0" i="0" strike="noStrike" dirty="0"/>
                        <a:t>M</a:t>
                      </a:r>
                    </a:p>
                  </a:txBody>
                  <a:tcPr horzOverflow="overflow"/>
                </a:tc>
              </a:tr>
            </a:tbl>
          </a:graphicData>
        </a:graphic>
      </p:graphicFrame>
    </p:spTree>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N</a:t>
                      </a:r>
                    </a:p>
                  </a:txBody>
                  <a:tcPr horzOverflow="overflow"/>
                </a:tc>
              </a:tr>
              <a:tr h="508000">
                <a:tc>
                  <a:txBody>
                    <a:bodyPr/>
                    <a:lstStyle/>
                    <a:p>
                      <a:pPr algn="l" defTabSz="914400"/>
                      <a:r>
                        <a:rPr b="0" i="0" strike="noStrike" dirty="0"/>
                        <a:t>O</a:t>
                      </a:r>
                    </a:p>
                  </a:txBody>
                  <a:tcPr horzOverflow="overflow"/>
                </a:tc>
              </a:tr>
              <a:tr h="508000">
                <a:tc>
                  <a:txBody>
                    <a:bodyPr/>
                    <a:lstStyle/>
                    <a:p>
                      <a:pPr algn="l" defTabSz="914400"/>
                      <a:r>
                        <a:rPr b="0" i="0" strike="noStrike" dirty="0"/>
                        <a:t>P</a:t>
                      </a:r>
                    </a:p>
                  </a:txBody>
                  <a:tcPr horzOverflow="overflow"/>
                </a:tc>
              </a:tr>
              <a:tr h="508000">
                <a:tc>
                  <a:txBody>
                    <a:bodyPr/>
                    <a:lstStyle/>
                    <a:p>
                      <a:pPr algn="l" defTabSz="914400"/>
                      <a:r>
                        <a:rPr b="0" i="0" strike="noStrike" dirty="0"/>
                        <a:t>Q</a:t>
                      </a:r>
                    </a:p>
                  </a:txBody>
                  <a:tcPr horzOverflow="overflow"/>
                </a:tc>
              </a:tr>
              <a:tr h="508000">
                <a:tc>
                  <a:txBody>
                    <a:bodyPr/>
                    <a:lstStyle/>
                    <a:p>
                      <a:pPr algn="l" defTabSz="914400"/>
                      <a:r>
                        <a:rPr b="0" i="0" strike="noStrike" dirty="0"/>
                        <a:t>R</a:t>
                      </a:r>
                    </a:p>
                  </a:txBody>
                  <a:tcPr horzOverflow="overflow"/>
                </a:tc>
              </a:tr>
              <a:tr h="508000">
                <a:tc>
                  <a:txBody>
                    <a:bodyPr/>
                    <a:lstStyle/>
                    <a:p>
                      <a:pPr algn="l" defTabSz="914400"/>
                      <a:r>
                        <a:rPr b="0" i="0" strike="noStrike" dirty="0"/>
                        <a:t>S</a:t>
                      </a:r>
                    </a:p>
                  </a:txBody>
                  <a:tcPr horzOverflow="overflow"/>
                </a:tc>
              </a:tr>
              <a:tr h="508000">
                <a:tc>
                  <a:txBody>
                    <a:bodyPr/>
                    <a:lstStyle/>
                    <a:p>
                      <a:pPr algn="l" defTabSz="914400"/>
                      <a:r>
                        <a:rPr b="0" i="0" strike="noStrike" dirty="0"/>
                        <a:t>T</a:t>
                      </a:r>
                    </a:p>
                  </a:txBody>
                  <a:tcPr horzOverflow="overflow"/>
                </a:tc>
              </a:tr>
              <a:tr h="508000">
                <a:tc>
                  <a:txBody>
                    <a:bodyPr/>
                    <a:lstStyle/>
                    <a:p>
                      <a:pPr algn="l" defTabSz="914400"/>
                      <a:r>
                        <a:rPr b="0" i="0" strike="noStrike" dirty="0"/>
                        <a:t>U</a:t>
                      </a:r>
                    </a:p>
                  </a:txBody>
                  <a:tcPr horzOverflow="overflow"/>
                </a:tc>
              </a:tr>
              <a:tr h="508000">
                <a:tc>
                  <a:txBody>
                    <a:bodyPr/>
                    <a:lstStyle/>
                    <a:p>
                      <a:pPr algn="l" defTabSz="914400"/>
                      <a:r>
                        <a:rPr b="0" i="0" strike="noStrike" dirty="0"/>
                        <a:t>V</a:t>
                      </a:r>
                    </a:p>
                  </a:txBody>
                  <a:tcPr horzOverflow="overflow"/>
                </a:tc>
              </a:tr>
              <a:tr h="508000">
                <a:tc>
                  <a:txBody>
                    <a:bodyPr/>
                    <a:lstStyle/>
                    <a:p>
                      <a:pPr algn="l" defTabSz="914400"/>
                      <a:r>
                        <a:rPr b="0" i="0" strike="noStrike" dirty="0"/>
                        <a:t>W</a:t>
                      </a:r>
                    </a:p>
                  </a:txBody>
                  <a:tcPr horzOverflow="overflow"/>
                </a:tc>
              </a:tr>
            </a:tbl>
          </a:graphicData>
        </a:graphic>
      </p:graphicFrame>
    </p:spTree>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X</a:t>
                      </a:r>
                    </a:p>
                  </a:txBody>
                  <a:tcPr horzOverflow="overflow"/>
                </a:tc>
              </a:tr>
              <a:tr h="508000">
                <a:tc>
                  <a:txBody>
                    <a:bodyPr/>
                    <a:lstStyle/>
                    <a:p>
                      <a:pPr algn="l" defTabSz="914400"/>
                      <a:r>
                        <a:rPr b="0" i="0" strike="noStrike" dirty="0"/>
                        <a:t>Y</a:t>
                      </a:r>
                    </a:p>
                  </a:txBody>
                  <a:tcPr horzOverflow="overflow"/>
                </a:tc>
              </a:tr>
              <a:tr h="508000">
                <a:tc>
                  <a:txBody>
                    <a:bodyPr/>
                    <a:lstStyle/>
                    <a:p>
                      <a:pPr algn="l" defTabSz="914400"/>
                      <a:r>
                        <a:rPr b="0" i="0" strike="noStrike" dirty="0"/>
                        <a:t>Z</a:t>
                      </a:r>
                    </a:p>
                  </a:txBody>
                  <a:tcPr horzOverflow="overflow"/>
                </a:tc>
              </a:tr>
              <a:tr h="508000">
                <a:tc>
                  <a:txBody>
                    <a:bodyPr/>
                    <a:lstStyle/>
                    <a:p>
                      <a:pPr algn="l" defTabSz="914400"/>
                      <a:r>
                        <a:rPr b="0" i="0" strike="noStrike" dirty="0"/>
                        <a:t>FileClose</a:t>
                      </a:r>
                    </a:p>
                  </a:txBody>
                  <a:tcPr horzOverflow="overflow"/>
                </a:tc>
              </a:tr>
              <a:tr h="508000">
                <a:tc>
                  <a:txBody>
                    <a:bodyPr/>
                    <a:lstStyle/>
                    <a:p>
                      <a:pPr algn="l" defTabSz="914400"/>
                      <a:r>
                        <a:rPr b="0" i="0" strike="noStrike" dirty="0"/>
                        <a:t>TableAutoFormat</a:t>
                      </a:r>
                    </a:p>
                  </a:txBody>
                  <a:tcPr horzOverflow="overflow"/>
                </a:tc>
              </a:tr>
              <a:tr h="508000">
                <a:tc>
                  <a:txBody>
                    <a:bodyPr/>
                    <a:lstStyle/>
                    <a:p>
                      <a:pPr algn="l" defTabSz="914400"/>
                      <a:r>
                        <a:rPr b="0" i="0" strike="noStrike" dirty="0"/>
                        <a:t>FormatPainter</a:t>
                      </a:r>
                    </a:p>
                  </a:txBody>
                  <a:tcPr horzOverflow="overflow"/>
                </a:tc>
              </a:tr>
              <a:tr h="508000">
                <a:tc>
                  <a:txBody>
                    <a:bodyPr/>
                    <a:lstStyle/>
                    <a:p>
                      <a:pPr algn="l" defTabSz="914400"/>
                      <a:r>
                        <a:rPr b="0" i="0" strike="noStrike" dirty="0"/>
                        <a:t>FilePrintPreview</a:t>
                      </a:r>
                    </a:p>
                  </a:txBody>
                  <a:tcPr horzOverflow="overflow"/>
                </a:tc>
              </a:tr>
              <a:tr h="508000">
                <a:tc>
                  <a:txBody>
                    <a:bodyPr/>
                    <a:lstStyle/>
                    <a:p>
                      <a:pPr algn="l" defTabSz="914400"/>
                      <a:r>
                        <a:rPr b="0" i="0" strike="noStrike" dirty="0"/>
                        <a:t>PickUpStyle</a:t>
                      </a:r>
                    </a:p>
                  </a:txBody>
                  <a:tcPr horzOverflow="overflow"/>
                </a:tc>
              </a:tr>
              <a:tr h="508000">
                <a:tc>
                  <a:txBody>
                    <a:bodyPr/>
                    <a:lstStyle/>
                    <a:p>
                      <a:pPr algn="l" defTabSz="914400"/>
                      <a:r>
                        <a:rPr b="0" i="0" strike="noStrike" dirty="0"/>
                        <a:t>PasteApplyStyle</a:t>
                      </a:r>
                    </a:p>
                  </a:txBody>
                  <a:tcPr horzOverflow="overflow"/>
                </a:tc>
              </a:tr>
              <a:tr h="508000">
                <a:tc>
                  <a:txBody>
                    <a:bodyPr/>
                    <a:lstStyle/>
                    <a:p>
                      <a:pPr algn="l" defTabSz="914400"/>
                      <a:r>
                        <a:rPr b="0" i="0" strike="noStrike" dirty="0"/>
                        <a:t>Bold</a:t>
                      </a:r>
                    </a:p>
                  </a:txBody>
                  <a:tcPr horzOverflow="overflow"/>
                </a:tc>
              </a:tr>
            </a:tbl>
          </a:graphicData>
        </a:graphic>
      </p:graphicFrame>
    </p:spTree>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Italic</a:t>
                      </a:r>
                    </a:p>
                  </a:txBody>
                  <a:tcPr horzOverflow="overflow"/>
                </a:tc>
              </a:tr>
              <a:tr h="508000">
                <a:tc>
                  <a:txBody>
                    <a:bodyPr/>
                    <a:lstStyle/>
                    <a:p>
                      <a:pPr algn="l" defTabSz="914400"/>
                      <a:r>
                        <a:rPr b="0" i="0" strike="noStrike" dirty="0"/>
                        <a:t>Underline</a:t>
                      </a:r>
                    </a:p>
                  </a:txBody>
                  <a:tcPr horzOverflow="overflow"/>
                </a:tc>
              </a:tr>
              <a:tr h="508000">
                <a:tc>
                  <a:txBody>
                    <a:bodyPr/>
                    <a:lstStyle/>
                    <a:p>
                      <a:pPr algn="l" defTabSz="914400"/>
                      <a:r>
                        <a:rPr b="0" i="0" strike="noStrike" dirty="0"/>
                        <a:t>DarkShading</a:t>
                      </a:r>
                    </a:p>
                  </a:txBody>
                  <a:tcPr horzOverflow="overflow"/>
                </a:tc>
              </a:tr>
              <a:tr h="508000">
                <a:tc>
                  <a:txBody>
                    <a:bodyPr/>
                    <a:lstStyle/>
                    <a:p>
                      <a:pPr algn="l" defTabSz="914400"/>
                      <a:r>
                        <a:rPr b="0" i="0" strike="noStrike" dirty="0"/>
                        <a:t>ParagraphMarks</a:t>
                      </a:r>
                    </a:p>
                  </a:txBody>
                  <a:tcPr horzOverflow="overflow"/>
                </a:tc>
              </a:tr>
              <a:tr h="508000">
                <a:tc>
                  <a:txBody>
                    <a:bodyPr/>
                    <a:lstStyle/>
                    <a:p>
                      <a:pPr algn="l" defTabSz="914400"/>
                      <a:r>
                        <a:rPr b="0" i="0" strike="noStrike" dirty="0"/>
                        <a:t>AlignLeft</a:t>
                      </a:r>
                    </a:p>
                  </a:txBody>
                  <a:tcPr horzOverflow="overflow"/>
                </a:tc>
              </a:tr>
              <a:tr h="508000">
                <a:tc>
                  <a:txBody>
                    <a:bodyPr/>
                    <a:lstStyle/>
                    <a:p>
                      <a:pPr algn="l" defTabSz="914400"/>
                      <a:r>
                        <a:rPr b="0" i="0" strike="noStrike" dirty="0"/>
                        <a:t>AlignRight</a:t>
                      </a:r>
                    </a:p>
                  </a:txBody>
                  <a:tcPr horzOverflow="overflow"/>
                </a:tc>
              </a:tr>
              <a:tr h="508000">
                <a:tc>
                  <a:txBody>
                    <a:bodyPr/>
                    <a:lstStyle/>
                    <a:p>
                      <a:pPr algn="l" defTabSz="914400"/>
                      <a:r>
                        <a:rPr b="0" i="0" strike="noStrike" dirty="0"/>
                        <a:t>AlignCenter</a:t>
                      </a:r>
                    </a:p>
                  </a:txBody>
                  <a:tcPr horzOverflow="overflow"/>
                </a:tc>
              </a:tr>
              <a:tr h="508000">
                <a:tc>
                  <a:txBody>
                    <a:bodyPr/>
                    <a:lstStyle/>
                    <a:p>
                      <a:pPr algn="l" defTabSz="914400"/>
                      <a:r>
                        <a:rPr b="0" i="0" strike="noStrike" dirty="0"/>
                        <a:t>AlignJustify</a:t>
                      </a:r>
                    </a:p>
                  </a:txBody>
                  <a:tcPr horzOverflow="overflow"/>
                </a:tc>
              </a:tr>
              <a:tr h="508000">
                <a:tc>
                  <a:txBody>
                    <a:bodyPr/>
                    <a:lstStyle/>
                    <a:p>
                      <a:pPr algn="l" defTabSz="914400"/>
                      <a:r>
                        <a:rPr b="0" i="0" strike="noStrike" dirty="0"/>
                        <a:t>ContextHelp</a:t>
                      </a:r>
                    </a:p>
                  </a:txBody>
                  <a:tcPr horzOverflow="overflow"/>
                </a:tc>
              </a:tr>
              <a:tr h="508000">
                <a:tc>
                  <a:txBody>
                    <a:bodyPr/>
                    <a:lstStyle/>
                    <a:p>
                      <a:pPr algn="l" defTabSz="914400"/>
                      <a:r>
                        <a:rPr b="0" i="0" strike="noStrike" dirty="0"/>
                        <a:t>HeaderFooterPageNumberInsert</a:t>
                      </a:r>
                    </a:p>
                  </a:txBody>
                  <a:tcPr horzOverflow="overflow"/>
                </a:tc>
              </a:tr>
            </a:tbl>
          </a:graphicData>
        </a:graphic>
      </p:graphicFrame>
    </p:spTree>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Undo</a:t>
                      </a:r>
                    </a:p>
                  </a:txBody>
                  <a:tcPr horzOverflow="overflow"/>
                </a:tc>
              </a:tr>
              <a:tr h="508000">
                <a:tc>
                  <a:txBody>
                    <a:bodyPr/>
                    <a:lstStyle/>
                    <a:p>
                      <a:pPr algn="l" defTabSz="914400"/>
                      <a:r>
                        <a:rPr b="0" i="0" strike="noStrike" dirty="0"/>
                        <a:t>Redo</a:t>
                      </a:r>
                    </a:p>
                  </a:txBody>
                  <a:tcPr horzOverflow="overflow"/>
                </a:tc>
              </a:tr>
              <a:tr h="508000">
                <a:tc>
                  <a:txBody>
                    <a:bodyPr/>
                    <a:lstStyle/>
                    <a:p>
                      <a:pPr algn="l" defTabSz="914400"/>
                      <a:r>
                        <a:rPr b="0" i="0" strike="noStrike" dirty="0"/>
                        <a:t>ControlLine</a:t>
                      </a:r>
                    </a:p>
                  </a:txBody>
                  <a:tcPr horzOverflow="overflow"/>
                </a:tc>
              </a:tr>
              <a:tr h="508000">
                <a:tc>
                  <a:txBody>
                    <a:bodyPr/>
                    <a:lstStyle/>
                    <a:p>
                      <a:pPr algn="l" defTabSz="914400"/>
                      <a:r>
                        <a:rPr b="0" i="0" strike="noStrike" dirty="0"/>
                        <a:t>ControlRectangle</a:t>
                      </a:r>
                    </a:p>
                  </a:txBody>
                  <a:tcPr horzOverflow="overflow"/>
                </a:tc>
              </a:tr>
              <a:tr h="508000">
                <a:tc>
                  <a:txBody>
                    <a:bodyPr/>
                    <a:lstStyle/>
                    <a:p>
                      <a:pPr algn="l" defTabSz="914400"/>
                      <a:r>
                        <a:rPr b="0" i="0" strike="noStrike" dirty="0"/>
                        <a:t>OutlinePromote</a:t>
                      </a:r>
                    </a:p>
                  </a:txBody>
                  <a:tcPr horzOverflow="overflow"/>
                </a:tc>
              </a:tr>
              <a:tr h="508000">
                <a:tc>
                  <a:txBody>
                    <a:bodyPr/>
                    <a:lstStyle/>
                    <a:p>
                      <a:pPr algn="l" defTabSz="914400"/>
                      <a:r>
                        <a:rPr b="0" i="0" strike="noStrike" dirty="0"/>
                        <a:t>OutlineDemote</a:t>
                      </a:r>
                    </a:p>
                  </a:txBody>
                  <a:tcPr horzOverflow="overflow"/>
                </a:tc>
              </a:tr>
              <a:tr h="508000">
                <a:tc>
                  <a:txBody>
                    <a:bodyPr/>
                    <a:lstStyle/>
                    <a:p>
                      <a:pPr algn="l" defTabSz="914400"/>
                      <a:r>
                        <a:rPr b="0" i="0" strike="noStrike" dirty="0"/>
                        <a:t>OutlineMoveUp</a:t>
                      </a:r>
                    </a:p>
                  </a:txBody>
                  <a:tcPr horzOverflow="overflow"/>
                </a:tc>
              </a:tr>
              <a:tr h="508000">
                <a:tc>
                  <a:txBody>
                    <a:bodyPr/>
                    <a:lstStyle/>
                    <a:p>
                      <a:pPr algn="l" defTabSz="914400"/>
                      <a:r>
                        <a:rPr b="0" i="0" strike="noStrike" dirty="0"/>
                        <a:t>OutlineMoveDown</a:t>
                      </a:r>
                    </a:p>
                  </a:txBody>
                  <a:tcPr horzOverflow="overflow"/>
                </a:tc>
              </a:tr>
              <a:tr h="508000">
                <a:tc>
                  <a:txBody>
                    <a:bodyPr/>
                    <a:lstStyle/>
                    <a:p>
                      <a:pPr algn="l" defTabSz="914400"/>
                      <a:r>
                        <a:rPr b="0" i="0" strike="noStrike" dirty="0"/>
                        <a:t>OutlineDemoteToBodyText</a:t>
                      </a:r>
                    </a:p>
                  </a:txBody>
                  <a:tcPr horzOverflow="overflow"/>
                </a:tc>
              </a:tr>
              <a:tr h="508000">
                <a:tc>
                  <a:txBody>
                    <a:bodyPr/>
                    <a:lstStyle/>
                    <a:p>
                      <a:pPr algn="l" defTabSz="914400"/>
                      <a:r>
                        <a:rPr b="0" i="0" strike="noStrike" dirty="0"/>
                        <a:t>OutlineExpand</a:t>
                      </a:r>
                    </a:p>
                  </a:txBody>
                  <a:tcPr horzOverflow="overflow"/>
                </a:tc>
              </a:tr>
            </a:tbl>
          </a:graphicData>
        </a:graphic>
      </p:graphicFrame>
    </p:spTree>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OutlineCollapse</a:t>
                      </a:r>
                    </a:p>
                  </a:txBody>
                  <a:tcPr horzOverflow="overflow"/>
                </a:tc>
              </a:tr>
              <a:tr h="508000">
                <a:tc>
                  <a:txBody>
                    <a:bodyPr/>
                    <a:lstStyle/>
                    <a:p>
                      <a:pPr algn="l" defTabSz="914400"/>
                      <a:r>
                        <a:rPr b="0" i="0" strike="noStrike" dirty="0"/>
                        <a:t>TextBoxInsert</a:t>
                      </a:r>
                    </a:p>
                  </a:txBody>
                  <a:tcPr horzOverflow="overflow"/>
                </a:tc>
              </a:tr>
              <a:tr h="508000">
                <a:tc>
                  <a:txBody>
                    <a:bodyPr/>
                    <a:lstStyle/>
                    <a:p>
                      <a:pPr algn="l" defTabSz="914400"/>
                      <a:r>
                        <a:rPr b="0" i="0" strike="noStrike" dirty="0"/>
                        <a:t>FileFind</a:t>
                      </a:r>
                    </a:p>
                  </a:txBody>
                  <a:tcPr horzOverflow="overflow"/>
                </a:tc>
              </a:tr>
              <a:tr h="508000">
                <a:tc>
                  <a:txBody>
                    <a:bodyPr/>
                    <a:lstStyle/>
                    <a:p>
                      <a:pPr algn="l" defTabSz="914400"/>
                      <a:r>
                        <a:rPr b="0" i="0" strike="noStrike" dirty="0"/>
                        <a:t>FindDialog</a:t>
                      </a:r>
                    </a:p>
                  </a:txBody>
                  <a:tcPr horzOverflow="overflow"/>
                </a:tc>
              </a:tr>
              <a:tr h="508000">
                <a:tc>
                  <a:txBody>
                    <a:bodyPr/>
                    <a:lstStyle/>
                    <a:p>
                      <a:pPr algn="l" defTabSz="914400"/>
                      <a:r>
                        <a:rPr b="0" i="0" strike="noStrike" dirty="0"/>
                        <a:t>TableExcelSpreadsheetInsert</a:t>
                      </a:r>
                    </a:p>
                  </a:txBody>
                  <a:tcPr horzOverflow="overflow"/>
                </a:tc>
              </a:tr>
              <a:tr h="508000">
                <a:tc>
                  <a:txBody>
                    <a:bodyPr/>
                    <a:lstStyle/>
                    <a:p>
                      <a:pPr algn="l" defTabSz="914400"/>
                      <a:r>
                        <a:rPr b="0" i="0" strike="noStrike" dirty="0"/>
                        <a:t>AutoFormat</a:t>
                      </a:r>
                    </a:p>
                  </a:txBody>
                  <a:tcPr horzOverflow="overflow"/>
                </a:tc>
              </a:tr>
              <a:tr h="508000">
                <a:tc>
                  <a:txBody>
                    <a:bodyPr/>
                    <a:lstStyle/>
                    <a:p>
                      <a:pPr algn="l" defTabSz="914400"/>
                      <a:r>
                        <a:rPr b="0" i="0" strike="noStrike" dirty="0"/>
                        <a:t>BorderTop</a:t>
                      </a:r>
                    </a:p>
                  </a:txBody>
                  <a:tcPr horzOverflow="overflow"/>
                </a:tc>
              </a:tr>
              <a:tr h="508000">
                <a:tc>
                  <a:txBody>
                    <a:bodyPr/>
                    <a:lstStyle/>
                    <a:p>
                      <a:pPr algn="l" defTabSz="914400"/>
                      <a:r>
                        <a:rPr b="0" i="0" strike="noStrike" dirty="0"/>
                        <a:t>BorderBottom</a:t>
                      </a:r>
                    </a:p>
                  </a:txBody>
                  <a:tcPr horzOverflow="overflow"/>
                </a:tc>
              </a:tr>
              <a:tr h="508000">
                <a:tc>
                  <a:txBody>
                    <a:bodyPr/>
                    <a:lstStyle/>
                    <a:p>
                      <a:pPr algn="l" defTabSz="914400"/>
                      <a:r>
                        <a:rPr b="0" i="0" strike="noStrike" dirty="0"/>
                        <a:t>BorderLeft</a:t>
                      </a:r>
                    </a:p>
                  </a:txBody>
                  <a:tcPr horzOverflow="overflow"/>
                </a:tc>
              </a:tr>
              <a:tr h="508000">
                <a:tc>
                  <a:txBody>
                    <a:bodyPr/>
                    <a:lstStyle/>
                    <a:p>
                      <a:pPr algn="l" defTabSz="914400"/>
                      <a:r>
                        <a:rPr b="0" i="0" strike="noStrike" dirty="0"/>
                        <a:t>BorderRight</a:t>
                      </a:r>
                    </a:p>
                  </a:txBody>
                  <a:tcPr horzOverflow="overflow"/>
                </a:tc>
              </a:tr>
            </a:tbl>
          </a:graphicData>
        </a:graphic>
      </p:graphicFrame>
    </p:spTree>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BorderInside</a:t>
                      </a:r>
                    </a:p>
                  </a:txBody>
                  <a:tcPr horzOverflow="overflow"/>
                </a:tc>
              </a:tr>
              <a:tr h="508000">
                <a:tc>
                  <a:txBody>
                    <a:bodyPr/>
                    <a:lstStyle/>
                    <a:p>
                      <a:pPr algn="l" defTabSz="914400"/>
                      <a:r>
                        <a:rPr b="0" i="0" strike="noStrike" dirty="0"/>
                        <a:t>BorderOutside</a:t>
                      </a:r>
                    </a:p>
                  </a:txBody>
                  <a:tcPr horzOverflow="overflow"/>
                </a:tc>
              </a:tr>
              <a:tr h="508000">
                <a:tc>
                  <a:txBody>
                    <a:bodyPr/>
                    <a:lstStyle/>
                    <a:p>
                      <a:pPr algn="l" defTabSz="914400"/>
                      <a:r>
                        <a:rPr b="0" i="0" strike="noStrike" dirty="0"/>
                        <a:t>BorderNone</a:t>
                      </a:r>
                    </a:p>
                  </a:txBody>
                  <a:tcPr horzOverflow="overflow"/>
                </a:tc>
              </a:tr>
              <a:tr h="508000">
                <a:tc>
                  <a:txBody>
                    <a:bodyPr/>
                    <a:lstStyle/>
                    <a:p>
                      <a:pPr algn="l" defTabSz="914400"/>
                      <a:r>
                        <a:rPr b="0" i="0" strike="noStrike" dirty="0"/>
                        <a:t>MailMergeGoToFirstRecord</a:t>
                      </a:r>
                    </a:p>
                  </a:txBody>
                  <a:tcPr horzOverflow="overflow"/>
                </a:tc>
              </a:tr>
              <a:tr h="508000">
                <a:tc>
                  <a:txBody>
                    <a:bodyPr/>
                    <a:lstStyle/>
                    <a:p>
                      <a:pPr algn="l" defTabSz="914400"/>
                      <a:r>
                        <a:rPr b="0" i="0" strike="noStrike" dirty="0"/>
                        <a:t>MailMergeGoToPreviousRecord</a:t>
                      </a:r>
                    </a:p>
                  </a:txBody>
                  <a:tcPr horzOverflow="overflow"/>
                </a:tc>
              </a:tr>
              <a:tr h="508000">
                <a:tc>
                  <a:txBody>
                    <a:bodyPr/>
                    <a:lstStyle/>
                    <a:p>
                      <a:pPr algn="l" defTabSz="914400"/>
                      <a:r>
                        <a:rPr b="0" i="0" strike="noStrike" dirty="0"/>
                        <a:t>MailMergeGoToNextRecord</a:t>
                      </a:r>
                    </a:p>
                  </a:txBody>
                  <a:tcPr horzOverflow="overflow"/>
                </a:tc>
              </a:tr>
              <a:tr h="508000">
                <a:tc>
                  <a:txBody>
                    <a:bodyPr/>
                    <a:lstStyle/>
                    <a:p>
                      <a:pPr algn="l" defTabSz="914400"/>
                      <a:r>
                        <a:rPr b="0" i="0" strike="noStrike" dirty="0"/>
                        <a:t>MailMergeGotToLastRecord</a:t>
                      </a:r>
                    </a:p>
                  </a:txBody>
                  <a:tcPr horzOverflow="overflow"/>
                </a:tc>
              </a:tr>
              <a:tr h="508000">
                <a:tc>
                  <a:txBody>
                    <a:bodyPr/>
                    <a:lstStyle/>
                    <a:p>
                      <a:pPr algn="l" defTabSz="914400"/>
                      <a:r>
                        <a:rPr b="0" i="0" strike="noStrike" dirty="0"/>
                        <a:t>MailMergeMergeToDocument</a:t>
                      </a:r>
                    </a:p>
                  </a:txBody>
                  <a:tcPr horzOverflow="overflow"/>
                </a:tc>
              </a:tr>
              <a:tr h="508000">
                <a:tc>
                  <a:txBody>
                    <a:bodyPr/>
                    <a:lstStyle/>
                    <a:p>
                      <a:pPr algn="l" defTabSz="914400"/>
                      <a:r>
                        <a:rPr b="0" i="0" strike="noStrike" dirty="0"/>
                        <a:t>MailMergeMergeToPrinter</a:t>
                      </a:r>
                    </a:p>
                  </a:txBody>
                  <a:tcPr horzOverflow="overflow"/>
                </a:tc>
              </a:tr>
              <a:tr h="508000">
                <a:tc>
                  <a:txBody>
                    <a:bodyPr/>
                    <a:lstStyle/>
                    <a:p>
                      <a:pPr algn="l" defTabSz="914400"/>
                      <a:r>
                        <a:rPr b="0" i="0" strike="noStrike" dirty="0"/>
                        <a:t>MailMergeAutoCheckForErrors</a:t>
                      </a:r>
                    </a:p>
                  </a:txBody>
                  <a:tcPr horzOverflow="overflow"/>
                </a:tc>
              </a:tr>
            </a:tbl>
          </a:graphicData>
        </a:graphic>
      </p:graphicFrame>
    </p:spTree>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DataFormSource</a:t>
                      </a:r>
                    </a:p>
                  </a:txBody>
                  <a:tcPr horzOverflow="overflow"/>
                </a:tc>
              </a:tr>
              <a:tr h="508000">
                <a:tc>
                  <a:txBody>
                    <a:bodyPr/>
                    <a:lstStyle/>
                    <a:p>
                      <a:pPr algn="l" defTabSz="914400"/>
                      <a:r>
                        <a:rPr b="0" i="0" strike="noStrike" dirty="0"/>
                        <a:t>MailMergeResultsPreview</a:t>
                      </a:r>
                    </a:p>
                  </a:txBody>
                  <a:tcPr horzOverflow="overflow"/>
                </a:tc>
              </a:tr>
              <a:tr h="508000">
                <a:tc>
                  <a:txBody>
                    <a:bodyPr/>
                    <a:lstStyle/>
                    <a:p>
                      <a:pPr algn="l" defTabSz="914400"/>
                      <a:r>
                        <a:rPr b="0" i="0" strike="noStrike" dirty="0"/>
                        <a:t>ObjectsGroup</a:t>
                      </a:r>
                    </a:p>
                  </a:txBody>
                  <a:tcPr horzOverflow="overflow"/>
                </a:tc>
              </a:tr>
              <a:tr h="508000">
                <a:tc>
                  <a:txBody>
                    <a:bodyPr/>
                    <a:lstStyle/>
                    <a:p>
                      <a:pPr algn="l" defTabSz="914400"/>
                      <a:r>
                        <a:rPr b="0" i="0" strike="noStrike" dirty="0"/>
                        <a:t>ObjectsUngroup</a:t>
                      </a:r>
                    </a:p>
                  </a:txBody>
                  <a:tcPr horzOverflow="overflow"/>
                </a:tc>
              </a:tr>
              <a:tr h="508000">
                <a:tc>
                  <a:txBody>
                    <a:bodyPr/>
                    <a:lstStyle/>
                    <a:p>
                      <a:pPr algn="l" defTabSz="914400"/>
                      <a:r>
                        <a:rPr b="0" i="0" strike="noStrike" dirty="0"/>
                        <a:t>ObjectBringToFront</a:t>
                      </a:r>
                    </a:p>
                  </a:txBody>
                  <a:tcPr horzOverflow="overflow"/>
                </a:tc>
              </a:tr>
              <a:tr h="508000">
                <a:tc>
                  <a:txBody>
                    <a:bodyPr/>
                    <a:lstStyle/>
                    <a:p>
                      <a:pPr algn="l" defTabSz="914400"/>
                      <a:r>
                        <a:rPr b="0" i="0" strike="noStrike" dirty="0"/>
                        <a:t>ObjectSendToBack</a:t>
                      </a:r>
                    </a:p>
                  </a:txBody>
                  <a:tcPr horzOverflow="overflow"/>
                </a:tc>
              </a:tr>
              <a:tr h="508000">
                <a:tc>
                  <a:txBody>
                    <a:bodyPr/>
                    <a:lstStyle/>
                    <a:p>
                      <a:pPr algn="l" defTabSz="914400"/>
                      <a:r>
                        <a:rPr b="0" i="0" strike="noStrike" dirty="0"/>
                        <a:t>AboveText</a:t>
                      </a:r>
                    </a:p>
                  </a:txBody>
                  <a:tcPr horzOverflow="overflow"/>
                </a:tc>
              </a:tr>
              <a:tr h="508000">
                <a:tc>
                  <a:txBody>
                    <a:bodyPr/>
                    <a:lstStyle/>
                    <a:p>
                      <a:pPr algn="l" defTabSz="914400"/>
                      <a:r>
                        <a:rPr b="0" i="0" strike="noStrike" dirty="0"/>
                        <a:t>BehindText</a:t>
                      </a:r>
                    </a:p>
                  </a:txBody>
                  <a:tcPr horzOverflow="overflow"/>
                </a:tc>
              </a:tr>
              <a:tr h="508000">
                <a:tc>
                  <a:txBody>
                    <a:bodyPr/>
                    <a:lstStyle/>
                    <a:p>
                      <a:pPr algn="l" defTabSz="914400"/>
                      <a:r>
                        <a:rPr b="0" i="0" strike="noStrike" dirty="0"/>
                        <a:t>ObjectBringForward</a:t>
                      </a:r>
                    </a:p>
                  </a:txBody>
                  <a:tcPr horzOverflow="overflow"/>
                </a:tc>
              </a:tr>
              <a:tr h="508000">
                <a:tc>
                  <a:txBody>
                    <a:bodyPr/>
                    <a:lstStyle/>
                    <a:p>
                      <a:pPr algn="l" defTabSz="914400"/>
                      <a:r>
                        <a:rPr b="0" i="0" strike="noStrike" dirty="0"/>
                        <a:t>ObjectSendBackward</a:t>
                      </a:r>
                    </a:p>
                  </a:txBody>
                  <a:tcPr horzOverflow="overflow"/>
                </a:tc>
              </a:tr>
            </a:tbl>
          </a:graphicData>
        </a:graphic>
      </p:graphicFrame>
    </p:spTree>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Magnifier</a:t>
                      </a:r>
                    </a:p>
                  </a:txBody>
                  <a:tcPr horzOverflow="overflow"/>
                </a:tc>
              </a:tr>
              <a:tr h="508000">
                <a:tc>
                  <a:txBody>
                    <a:bodyPr/>
                    <a:lstStyle/>
                    <a:p>
                      <a:pPr algn="l" defTabSz="914400"/>
                      <a:r>
                        <a:rPr b="0" i="0" strike="noStrike" dirty="0"/>
                        <a:t>PrintPreviewShrinkOnePage</a:t>
                      </a:r>
                    </a:p>
                  </a:txBody>
                  <a:tcPr horzOverflow="overflow"/>
                </a:tc>
              </a:tr>
              <a:tr h="508000">
                <a:tc>
                  <a:txBody>
                    <a:bodyPr/>
                    <a:lstStyle/>
                    <a:p>
                      <a:pPr algn="l" defTabSz="914400"/>
                      <a:r>
                        <a:rPr b="0" i="0" strike="noStrike" dirty="0"/>
                        <a:t>MultiplePages</a:t>
                      </a:r>
                    </a:p>
                  </a:txBody>
                  <a:tcPr horzOverflow="overflow"/>
                </a:tc>
              </a:tr>
              <a:tr h="508000">
                <a:tc>
                  <a:txBody>
                    <a:bodyPr/>
                    <a:lstStyle/>
                    <a:p>
                      <a:pPr algn="l" defTabSz="914400"/>
                      <a:r>
                        <a:rPr b="0" i="0" strike="noStrike" dirty="0"/>
                        <a:t>ViewFullScreenView</a:t>
                      </a:r>
                    </a:p>
                  </a:txBody>
                  <a:tcPr horzOverflow="overflow"/>
                </a:tc>
              </a:tr>
              <a:tr h="508000">
                <a:tc>
                  <a:txBody>
                    <a:bodyPr/>
                    <a:lstStyle/>
                    <a:p>
                      <a:pPr algn="l" defTabSz="914400"/>
                      <a:r>
                        <a:rPr b="0" i="0" strike="noStrike" dirty="0"/>
                        <a:t>ViewRulerPowerPoint</a:t>
                      </a:r>
                    </a:p>
                  </a:txBody>
                  <a:tcPr horzOverflow="overflow"/>
                </a:tc>
              </a:tr>
              <a:tr h="508000">
                <a:tc>
                  <a:txBody>
                    <a:bodyPr/>
                    <a:lstStyle/>
                    <a:p>
                      <a:pPr algn="l" defTabSz="914400"/>
                      <a:r>
                        <a:rPr b="0" i="0" strike="noStrike" dirty="0"/>
                        <a:t>VoiceInsert</a:t>
                      </a:r>
                    </a:p>
                  </a:txBody>
                  <a:tcPr horzOverflow="overflow"/>
                </a:tc>
              </a:tr>
              <a:tr h="508000">
                <a:tc>
                  <a:txBody>
                    <a:bodyPr/>
                    <a:lstStyle/>
                    <a:p>
                      <a:pPr algn="l" defTabSz="914400"/>
                      <a:r>
                        <a:rPr b="0" i="0" strike="noStrike" dirty="0"/>
                        <a:t>ObjectsSelect</a:t>
                      </a:r>
                    </a:p>
                  </a:txBody>
                  <a:tcPr horzOverflow="overflow"/>
                </a:tc>
              </a:tr>
              <a:tr h="508000">
                <a:tc>
                  <a:txBody>
                    <a:bodyPr/>
                    <a:lstStyle/>
                    <a:p>
                      <a:pPr algn="l" defTabSz="914400"/>
                      <a:r>
                        <a:rPr b="0" i="0" strike="noStrike" dirty="0"/>
                        <a:t>TableFind</a:t>
                      </a:r>
                    </a:p>
                  </a:txBody>
                  <a:tcPr horzOverflow="overflow"/>
                </a:tc>
              </a:tr>
              <a:tr h="508000">
                <a:tc>
                  <a:txBody>
                    <a:bodyPr/>
                    <a:lstStyle/>
                    <a:p>
                      <a:pPr algn="l" defTabSz="914400"/>
                      <a:r>
                        <a:rPr b="0" i="0" strike="noStrike" dirty="0"/>
                        <a:t>MacroRecord</a:t>
                      </a:r>
                    </a:p>
                  </a:txBody>
                  <a:tcPr horzOverflow="overflow"/>
                </a:tc>
              </a:tr>
              <a:tr h="508000">
                <a:tc>
                  <a:txBody>
                    <a:bodyPr/>
                    <a:lstStyle/>
                    <a:p>
                      <a:pPr algn="l" defTabSz="914400"/>
                      <a:r>
                        <a:rPr b="0" i="0" strike="noStrike" dirty="0"/>
                        <a:t>MacroRecorderPause</a:t>
                      </a:r>
                    </a:p>
                  </a:txBody>
                  <a:tcPr horzOverflow="overflow"/>
                </a:tc>
              </a:tr>
            </a:tbl>
          </a:graphicData>
        </a:graphic>
      </p:graphicFrame>
    </p:spTree>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MacroPlay</a:t>
                      </a:r>
                    </a:p>
                  </a:txBody>
                  <a:tcPr horzOverflow="overflow"/>
                </a:tc>
              </a:tr>
              <a:tr h="508000">
                <a:tc>
                  <a:txBody>
                    <a:bodyPr/>
                    <a:lstStyle/>
                    <a:p>
                      <a:pPr algn="l" defTabSz="914400"/>
                      <a:r>
                        <a:rPr b="0" i="0" strike="noStrike" dirty="0"/>
                        <a:t>ObjectFlipHorizontal</a:t>
                      </a:r>
                    </a:p>
                  </a:txBody>
                  <a:tcPr horzOverflow="overflow"/>
                </a:tc>
              </a:tr>
              <a:tr h="508000">
                <a:tc>
                  <a:txBody>
                    <a:bodyPr/>
                    <a:lstStyle/>
                    <a:p>
                      <a:pPr algn="l" defTabSz="914400"/>
                      <a:r>
                        <a:rPr b="0" i="0" strike="noStrike" dirty="0"/>
                        <a:t>ObjectFlipVertical</a:t>
                      </a:r>
                    </a:p>
                  </a:txBody>
                  <a:tcPr horzOverflow="overflow"/>
                </a:tc>
              </a:tr>
              <a:tr h="508000">
                <a:tc>
                  <a:txBody>
                    <a:bodyPr/>
                    <a:lstStyle/>
                    <a:p>
                      <a:pPr algn="l" defTabSz="914400"/>
                      <a:r>
                        <a:rPr b="0" i="0" strike="noStrike" dirty="0"/>
                        <a:t>ObjectRotateRight90</a:t>
                      </a:r>
                    </a:p>
                  </a:txBody>
                  <a:tcPr horzOverflow="overflow"/>
                </a:tc>
              </a:tr>
              <a:tr h="508000">
                <a:tc>
                  <a:txBody>
                    <a:bodyPr/>
                    <a:lstStyle/>
                    <a:p>
                      <a:pPr algn="l" defTabSz="914400"/>
                      <a:r>
                        <a:rPr b="0" i="0" strike="noStrike" dirty="0"/>
                        <a:t>ObjectRotateLeft90</a:t>
                      </a:r>
                    </a:p>
                  </a:txBody>
                  <a:tcPr horzOverflow="overflow"/>
                </a:tc>
              </a:tr>
              <a:tr h="508000">
                <a:tc>
                  <a:txBody>
                    <a:bodyPr/>
                    <a:lstStyle/>
                    <a:p>
                      <a:pPr algn="l" defTabSz="914400"/>
                      <a:r>
                        <a:rPr b="0" i="0" strike="noStrike" dirty="0"/>
                        <a:t>ShapeFreeform</a:t>
                      </a:r>
                    </a:p>
                  </a:txBody>
                  <a:tcPr horzOverflow="overflow"/>
                </a:tc>
              </a:tr>
              <a:tr h="508000">
                <a:tc>
                  <a:txBody>
                    <a:bodyPr/>
                    <a:lstStyle/>
                    <a:p>
                      <a:pPr algn="l" defTabSz="914400"/>
                      <a:r>
                        <a:rPr b="0" i="0" strike="noStrike" dirty="0"/>
                        <a:t>GroupDrawing</a:t>
                      </a:r>
                    </a:p>
                  </a:txBody>
                  <a:tcPr horzOverflow="overflow"/>
                </a:tc>
              </a:tr>
              <a:tr h="508000">
                <a:tc>
                  <a:txBody>
                    <a:bodyPr/>
                    <a:lstStyle/>
                    <a:p>
                      <a:pPr algn="l" defTabSz="914400"/>
                      <a:r>
                        <a:rPr b="0" i="0" strike="noStrike" dirty="0"/>
                        <a:t>ObjectEditPoints</a:t>
                      </a:r>
                    </a:p>
                  </a:txBody>
                  <a:tcPr horzOverflow="overflow"/>
                </a:tc>
              </a:tr>
              <a:tr h="508000">
                <a:tc>
                  <a:txBody>
                    <a:bodyPr/>
                    <a:lstStyle/>
                    <a:p>
                      <a:pPr algn="l" defTabSz="914400"/>
                      <a:r>
                        <a:rPr b="0" i="0" strike="noStrike" dirty="0"/>
                        <a:t>CalloutOptions</a:t>
                      </a:r>
                    </a:p>
                  </a:txBody>
                  <a:tcPr horzOverflow="overflow"/>
                </a:tc>
              </a:tr>
              <a:tr h="508000">
                <a:tc>
                  <a:txBody>
                    <a:bodyPr/>
                    <a:lstStyle/>
                    <a:p>
                      <a:pPr algn="l" defTabSz="914400"/>
                      <a:r>
                        <a:rPr b="0" i="0" strike="noStrike" dirty="0"/>
                        <a:t>SortUp</a:t>
                      </a:r>
                    </a:p>
                  </a:txBody>
                  <a:tcPr horzOverflow="overflow"/>
                </a:tc>
              </a:tr>
            </a:tbl>
          </a:graphicData>
        </a:graphic>
      </p:graphicFrame>
    </p:spTree>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SortDown</a:t>
                      </a:r>
                    </a:p>
                  </a:txBody>
                  <a:tcPr horzOverflow="overflow"/>
                </a:tc>
              </a:tr>
              <a:tr h="508000">
                <a:tc>
                  <a:txBody>
                    <a:bodyPr/>
                    <a:lstStyle/>
                    <a:p>
                      <a:pPr algn="l" defTabSz="914400"/>
                      <a:r>
                        <a:rPr b="0" i="0" strike="noStrike" dirty="0"/>
                        <a:t>TableDesign</a:t>
                      </a:r>
                    </a:p>
                  </a:txBody>
                  <a:tcPr horzOverflow="overflow"/>
                </a:tc>
              </a:tr>
              <a:tr h="508000">
                <a:tc>
                  <a:txBody>
                    <a:bodyPr/>
                    <a:lstStyle/>
                    <a:p>
                      <a:pPr algn="l" defTabSz="914400"/>
                      <a:r>
                        <a:rPr b="0" i="0" strike="noStrike" dirty="0"/>
                        <a:t>DataFormAddRecord</a:t>
                      </a:r>
                    </a:p>
                  </a:txBody>
                  <a:tcPr horzOverflow="overflow"/>
                </a:tc>
              </a:tr>
              <a:tr h="508000">
                <a:tc>
                  <a:txBody>
                    <a:bodyPr/>
                    <a:lstStyle/>
                    <a:p>
                      <a:pPr algn="l" defTabSz="914400"/>
                      <a:r>
                        <a:rPr b="0" i="0" strike="noStrike" dirty="0"/>
                        <a:t>DataFormDeleteRecord</a:t>
                      </a:r>
                    </a:p>
                  </a:txBody>
                  <a:tcPr horzOverflow="overflow"/>
                </a:tc>
              </a:tr>
              <a:tr h="508000">
                <a:tc>
                  <a:txBody>
                    <a:bodyPr/>
                    <a:lstStyle/>
                    <a:p>
                      <a:pPr algn="l" defTabSz="914400"/>
                      <a:r>
                        <a:rPr b="0" i="0" strike="noStrike" dirty="0"/>
                        <a:t>FieldsUpdate</a:t>
                      </a:r>
                    </a:p>
                  </a:txBody>
                  <a:tcPr horzOverflow="overflow"/>
                </a:tc>
              </a:tr>
              <a:tr h="508000">
                <a:tc>
                  <a:txBody>
                    <a:bodyPr/>
                    <a:lstStyle/>
                    <a:p>
                      <a:pPr algn="l" defTabSz="914400"/>
                      <a:r>
                        <a:rPr b="0" i="0" strike="noStrike" dirty="0"/>
                        <a:t>DatabaseInsert</a:t>
                      </a:r>
                    </a:p>
                  </a:txBody>
                  <a:tcPr horzOverflow="overflow"/>
                </a:tc>
              </a:tr>
              <a:tr h="508000">
                <a:tc>
                  <a:txBody>
                    <a:bodyPr/>
                    <a:lstStyle/>
                    <a:p>
                      <a:pPr algn="l" defTabSz="914400"/>
                      <a:r>
                        <a:rPr b="0" i="0" strike="noStrike" dirty="0"/>
                        <a:t>GridSettings</a:t>
                      </a:r>
                    </a:p>
                  </a:txBody>
                  <a:tcPr horzOverflow="overflow"/>
                </a:tc>
              </a:tr>
              <a:tr h="508000">
                <a:tc>
                  <a:txBody>
                    <a:bodyPr/>
                    <a:lstStyle/>
                    <a:p>
                      <a:pPr algn="l" defTabSz="914400"/>
                      <a:r>
                        <a:rPr b="0" i="0" strike="noStrike" dirty="0"/>
                        <a:t>WordPicture</a:t>
                      </a:r>
                    </a:p>
                  </a:txBody>
                  <a:tcPr horzOverflow="overflow"/>
                </a:tc>
              </a:tr>
              <a:tr h="508000">
                <a:tc>
                  <a:txBody>
                    <a:bodyPr/>
                    <a:lstStyle/>
                    <a:p>
                      <a:pPr algn="l" defTabSz="914400"/>
                      <a:r>
                        <a:rPr b="0" i="0" strike="noStrike" dirty="0"/>
                        <a:t>FormControlEditBox</a:t>
                      </a:r>
                    </a:p>
                  </a:txBody>
                  <a:tcPr horzOverflow="overflow"/>
                </a:tc>
              </a:tr>
              <a:tr h="508000">
                <a:tc>
                  <a:txBody>
                    <a:bodyPr/>
                    <a:lstStyle/>
                    <a:p>
                      <a:pPr algn="l" defTabSz="914400"/>
                      <a:r>
                        <a:rPr b="0" i="0" strike="noStrike" dirty="0"/>
                        <a:t>FormControlCheckBox</a:t>
                      </a:r>
                    </a:p>
                  </a:txBody>
                  <a:tcPr horzOverflow="overflow"/>
                </a:tc>
              </a:tr>
            </a:tbl>
          </a:graphicData>
        </a:graphic>
      </p:graphicFrame>
    </p:spTree>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FormControlComboBox</a:t>
                      </a:r>
                    </a:p>
                  </a:txBody>
                  <a:tcPr horzOverflow="overflow"/>
                </a:tc>
              </a:tr>
              <a:tr h="508000">
                <a:tc>
                  <a:txBody>
                    <a:bodyPr/>
                    <a:lstStyle/>
                    <a:p>
                      <a:pPr algn="l" defTabSz="914400"/>
                      <a:r>
                        <a:rPr b="0" i="0" strike="noStrike" dirty="0"/>
                        <a:t>PropertySheet</a:t>
                      </a:r>
                    </a:p>
                  </a:txBody>
                  <a:tcPr horzOverflow="overflow"/>
                </a:tc>
              </a:tr>
              <a:tr h="508000">
                <a:tc>
                  <a:txBody>
                    <a:bodyPr/>
                    <a:lstStyle/>
                    <a:p>
                      <a:pPr algn="l" defTabSz="914400"/>
                      <a:r>
                        <a:rPr b="0" i="0" strike="noStrike" dirty="0"/>
                        <a:t>FieldShading</a:t>
                      </a:r>
                    </a:p>
                  </a:txBody>
                  <a:tcPr horzOverflow="overflow"/>
                </a:tc>
              </a:tr>
              <a:tr h="508000">
                <a:tc>
                  <a:txBody>
                    <a:bodyPr/>
                    <a:lstStyle/>
                    <a:p>
                      <a:pPr algn="l" defTabSz="914400"/>
                      <a:r>
                        <a:rPr b="0" i="0" strike="noStrike" dirty="0"/>
                        <a:t>ViewDraftView</a:t>
                      </a:r>
                    </a:p>
                  </a:txBody>
                  <a:tcPr horzOverflow="overflow"/>
                </a:tc>
              </a:tr>
              <a:tr h="508000">
                <a:tc>
                  <a:txBody>
                    <a:bodyPr/>
                    <a:lstStyle/>
                    <a:p>
                      <a:pPr algn="l" defTabSz="914400"/>
                      <a:r>
                        <a:rPr b="0" i="0" strike="noStrike" dirty="0"/>
                        <a:t>Lock</a:t>
                      </a:r>
                    </a:p>
                  </a:txBody>
                  <a:tcPr horzOverflow="overflow"/>
                </a:tc>
              </a:tr>
              <a:tr h="508000">
                <a:tc>
                  <a:txBody>
                    <a:bodyPr/>
                    <a:lstStyle/>
                    <a:p>
                      <a:pPr algn="l" defTabSz="914400"/>
                      <a:r>
                        <a:rPr b="0" i="0" strike="noStrike" dirty="0"/>
                        <a:t>AutoSum</a:t>
                      </a:r>
                    </a:p>
                  </a:txBody>
                  <a:tcPr horzOverflow="overflow"/>
                </a:tc>
              </a:tr>
              <a:tr h="508000">
                <a:tc>
                  <a:txBody>
                    <a:bodyPr/>
                    <a:lstStyle/>
                    <a:p>
                      <a:pPr algn="l" defTabSz="914400"/>
                      <a:r>
                        <a:rPr b="0" i="0" strike="noStrike" dirty="0"/>
                        <a:t>MasterDocumentShow</a:t>
                      </a:r>
                    </a:p>
                  </a:txBody>
                  <a:tcPr horzOverflow="overflow"/>
                </a:tc>
              </a:tr>
              <a:tr h="508000">
                <a:tc>
                  <a:txBody>
                    <a:bodyPr/>
                    <a:lstStyle/>
                    <a:p>
                      <a:pPr algn="l" defTabSz="914400"/>
                      <a:r>
                        <a:rPr b="0" i="0" strike="noStrike" dirty="0"/>
                        <a:t>MasterDocumentCreateSubdocument</a:t>
                      </a:r>
                    </a:p>
                  </a:txBody>
                  <a:tcPr horzOverflow="overflow"/>
                </a:tc>
              </a:tr>
              <a:tr h="508000">
                <a:tc>
                  <a:txBody>
                    <a:bodyPr/>
                    <a:lstStyle/>
                    <a:p>
                      <a:pPr algn="l" defTabSz="914400"/>
                      <a:r>
                        <a:rPr b="0" i="0" strike="noStrike" dirty="0"/>
                        <a:t>MasterDocumentUnlinkSubdocument</a:t>
                      </a:r>
                    </a:p>
                  </a:txBody>
                  <a:tcPr horzOverflow="overflow"/>
                </a:tc>
              </a:tr>
              <a:tr h="508000">
                <a:tc>
                  <a:txBody>
                    <a:bodyPr/>
                    <a:lstStyle/>
                    <a:p>
                      <a:pPr algn="l" defTabSz="914400"/>
                      <a:r>
                        <a:rPr b="0" i="0" strike="noStrike" dirty="0"/>
                        <a:t>MasterDocumentInsertSubdocument</a:t>
                      </a:r>
                    </a:p>
                  </a:txBody>
                  <a:tcPr horzOverflow="overflow"/>
                </a:tc>
              </a:tr>
            </a:tbl>
          </a:graphicData>
        </a:graphic>
      </p:graphicFrame>
    </p:spTree>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MasterDocumentSplitSubdocuments</a:t>
                      </a:r>
                    </a:p>
                  </a:txBody>
                  <a:tcPr horzOverflow="overflow"/>
                </a:tc>
              </a:tr>
              <a:tr h="508000">
                <a:tc>
                  <a:txBody>
                    <a:bodyPr/>
                    <a:lstStyle/>
                    <a:p>
                      <a:pPr algn="l" defTabSz="914400"/>
                      <a:r>
                        <a:rPr b="0" i="0" strike="noStrike" dirty="0"/>
                        <a:t>MasterDocumentMergeSubdocuments</a:t>
                      </a:r>
                    </a:p>
                  </a:txBody>
                  <a:tcPr horzOverflow="overflow"/>
                </a:tc>
              </a:tr>
              <a:tr h="508000">
                <a:tc>
                  <a:txBody>
                    <a:bodyPr/>
                    <a:lstStyle/>
                    <a:p>
                      <a:pPr algn="l" defTabSz="914400"/>
                      <a:r>
                        <a:rPr b="0" i="0" strike="noStrike" dirty="0"/>
                        <a:t>MasterDocumentLockSubdocument</a:t>
                      </a:r>
                    </a:p>
                  </a:txBody>
                  <a:tcPr horzOverflow="overflow"/>
                </a:tc>
              </a:tr>
              <a:tr h="508000">
                <a:tc>
                  <a:txBody>
                    <a:bodyPr/>
                    <a:lstStyle/>
                    <a:p>
                      <a:pPr algn="l" defTabSz="914400"/>
                      <a:r>
                        <a:rPr b="0" i="0" strike="noStrike" dirty="0"/>
                        <a:t>HeaderOrFooterShow</a:t>
                      </a:r>
                    </a:p>
                  </a:txBody>
                  <a:tcPr horzOverflow="overflow"/>
                </a:tc>
              </a:tr>
              <a:tr h="508000">
                <a:tc>
                  <a:txBody>
                    <a:bodyPr/>
                    <a:lstStyle/>
                    <a:p>
                      <a:pPr algn="l" defTabSz="914400"/>
                      <a:r>
                        <a:rPr b="0" i="0" strike="noStrike" dirty="0"/>
                        <a:t>HeaderFooterPreviousSection</a:t>
                      </a:r>
                    </a:p>
                  </a:txBody>
                  <a:tcPr horzOverflow="overflow"/>
                </a:tc>
              </a:tr>
              <a:tr h="508000">
                <a:tc>
                  <a:txBody>
                    <a:bodyPr/>
                    <a:lstStyle/>
                    <a:p>
                      <a:pPr algn="l" defTabSz="914400"/>
                      <a:r>
                        <a:rPr b="0" i="0" strike="noStrike" dirty="0"/>
                        <a:t>HeaderFooterNextSection</a:t>
                      </a:r>
                    </a:p>
                  </a:txBody>
                  <a:tcPr horzOverflow="overflow"/>
                </a:tc>
              </a:tr>
              <a:tr h="508000">
                <a:tc>
                  <a:txBody>
                    <a:bodyPr/>
                    <a:lstStyle/>
                    <a:p>
                      <a:pPr algn="l" defTabSz="914400"/>
                      <a:r>
                        <a:rPr b="0" i="0" strike="noStrike" dirty="0"/>
                        <a:t>AlignDialog</a:t>
                      </a:r>
                    </a:p>
                  </a:txBody>
                  <a:tcPr horzOverflow="overflow"/>
                </a:tc>
              </a:tr>
              <a:tr h="508000">
                <a:tc>
                  <a:txBody>
                    <a:bodyPr/>
                    <a:lstStyle/>
                    <a:p>
                      <a:pPr algn="l" defTabSz="914400"/>
                      <a:r>
                        <a:rPr b="0" i="0" strike="noStrike" dirty="0"/>
                        <a:t>MailMergeDocument</a:t>
                      </a:r>
                    </a:p>
                  </a:txBody>
                  <a:tcPr horzOverflow="overflow"/>
                </a:tc>
              </a:tr>
              <a:tr h="508000">
                <a:tc>
                  <a:txBody>
                    <a:bodyPr/>
                    <a:lstStyle/>
                    <a:p>
                      <a:pPr algn="l" defTabSz="914400"/>
                      <a:r>
                        <a:rPr b="0" i="0" strike="noStrike" dirty="0"/>
                        <a:t>MergeOptions</a:t>
                      </a:r>
                    </a:p>
                  </a:txBody>
                  <a:tcPr horzOverflow="overflow"/>
                </a:tc>
              </a:tr>
              <a:tr h="508000">
                <a:tc>
                  <a:txBody>
                    <a:bodyPr/>
                    <a:lstStyle/>
                    <a:p>
                      <a:pPr algn="l" defTabSz="914400"/>
                      <a:r>
                        <a:rPr b="0" i="0" strike="noStrike" dirty="0"/>
                        <a:t>MailMergeHelper</a:t>
                      </a:r>
                    </a:p>
                  </a:txBody>
                  <a:tcPr horzOverflow="overflow"/>
                </a:tc>
              </a:tr>
            </a:tbl>
          </a:graphicData>
        </a:graphic>
      </p:graphicFrame>
    </p:spTree>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PageSetupDialog</a:t>
                      </a:r>
                    </a:p>
                  </a:txBody>
                  <a:tcPr horzOverflow="overflow"/>
                </a:tc>
              </a:tr>
              <a:tr h="508000">
                <a:tc>
                  <a:txBody>
                    <a:bodyPr/>
                    <a:lstStyle/>
                    <a:p>
                      <a:pPr algn="l" defTabSz="914400"/>
                      <a:r>
                        <a:rPr b="0" i="0" strike="noStrike" dirty="0"/>
                        <a:t>BodyTextHide</a:t>
                      </a:r>
                    </a:p>
                  </a:txBody>
                  <a:tcPr horzOverflow="overflow"/>
                </a:tc>
              </a:tr>
              <a:tr h="508000">
                <a:tc>
                  <a:txBody>
                    <a:bodyPr/>
                    <a:lstStyle/>
                    <a:p>
                      <a:pPr algn="l" defTabSz="914400"/>
                      <a:r>
                        <a:rPr b="0" i="0" strike="noStrike" dirty="0"/>
                        <a:t>HeaderFooterLinkToPrevious</a:t>
                      </a:r>
                    </a:p>
                  </a:txBody>
                  <a:tcPr horzOverflow="overflow"/>
                </a:tc>
              </a:tr>
              <a:tr h="508000">
                <a:tc>
                  <a:txBody>
                    <a:bodyPr/>
                    <a:lstStyle/>
                    <a:p>
                      <a:pPr algn="l" defTabSz="914400"/>
                      <a:r>
                        <a:rPr b="0" i="0" strike="noStrike" dirty="0"/>
                        <a:t>OutlineShowFirstLineOnly</a:t>
                      </a:r>
                    </a:p>
                  </a:txBody>
                  <a:tcPr horzOverflow="overflow"/>
                </a:tc>
              </a:tr>
              <a:tr h="508000">
                <a:tc>
                  <a:txBody>
                    <a:bodyPr/>
                    <a:lstStyle/>
                    <a:p>
                      <a:pPr algn="l" defTabSz="914400"/>
                      <a:r>
                        <a:rPr b="0" i="0" strike="noStrike" dirty="0"/>
                        <a:t>OutlineShowTextFormatting</a:t>
                      </a:r>
                    </a:p>
                  </a:txBody>
                  <a:tcPr horzOverflow="overflow"/>
                </a:tc>
              </a:tr>
              <a:tr h="508000">
                <a:tc>
                  <a:txBody>
                    <a:bodyPr/>
                    <a:lstStyle/>
                    <a:p>
                      <a:pPr algn="l" defTabSz="914400"/>
                      <a:r>
                        <a:rPr b="0" i="0" strike="noStrike" dirty="0"/>
                        <a:t>FontDialog</a:t>
                      </a:r>
                    </a:p>
                  </a:txBody>
                  <a:tcPr horzOverflow="overflow"/>
                </a:tc>
              </a:tr>
              <a:tr h="508000">
                <a:tc>
                  <a:txBody>
                    <a:bodyPr/>
                    <a:lstStyle/>
                    <a:p>
                      <a:pPr algn="l" defTabSz="914400"/>
                      <a:r>
                        <a:rPr b="0" i="0" strike="noStrike" dirty="0"/>
                        <a:t>StylesDialogClassic</a:t>
                      </a:r>
                    </a:p>
                  </a:txBody>
                  <a:tcPr horzOverflow="overflow"/>
                </a:tc>
              </a:tr>
              <a:tr h="508000">
                <a:tc>
                  <a:txBody>
                    <a:bodyPr/>
                    <a:lstStyle/>
                    <a:p>
                      <a:pPr algn="l" defTabSz="914400"/>
                      <a:r>
                        <a:rPr b="0" i="0" strike="noStrike" dirty="0"/>
                        <a:t>RoutingSlip</a:t>
                      </a:r>
                    </a:p>
                  </a:txBody>
                  <a:tcPr horzOverflow="overflow"/>
                </a:tc>
              </a:tr>
              <a:tr h="508000">
                <a:tc>
                  <a:txBody>
                    <a:bodyPr/>
                    <a:lstStyle/>
                    <a:p>
                      <a:pPr algn="l" defTabSz="914400"/>
                      <a:r>
                        <a:rPr b="0" i="0" strike="noStrike" dirty="0"/>
                        <a:t>FootnoteInsert</a:t>
                      </a:r>
                    </a:p>
                  </a:txBody>
                  <a:tcPr horzOverflow="overflow"/>
                </a:tc>
              </a:tr>
              <a:tr h="508000">
                <a:tc>
                  <a:txBody>
                    <a:bodyPr/>
                    <a:lstStyle/>
                    <a:p>
                      <a:pPr algn="l" defTabSz="914400"/>
                      <a:r>
                        <a:rPr b="0" i="0" strike="noStrike" dirty="0"/>
                        <a:t>MicrosoftExcel</a:t>
                      </a:r>
                    </a:p>
                  </a:txBody>
                  <a:tcPr horzOverflow="overflow"/>
                </a:tc>
              </a:tr>
            </a:tbl>
          </a:graphicData>
        </a:graphic>
      </p:graphicFrame>
    </p:spTree>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MicrosoftAccess</a:t>
                      </a:r>
                    </a:p>
                  </a:txBody>
                  <a:tcPr horzOverflow="overflow"/>
                </a:tc>
              </a:tr>
              <a:tr h="508000">
                <a:tc>
                  <a:txBody>
                    <a:bodyPr/>
                    <a:lstStyle/>
                    <a:p>
                      <a:pPr algn="l" defTabSz="914400"/>
                      <a:r>
                        <a:rPr b="0" i="0" strike="noStrike" dirty="0"/>
                        <a:t>Schedule</a:t>
                      </a:r>
                    </a:p>
                  </a:txBody>
                  <a:tcPr horzOverflow="overflow"/>
                </a:tc>
              </a:tr>
              <a:tr h="508000">
                <a:tc>
                  <a:txBody>
                    <a:bodyPr/>
                    <a:lstStyle/>
                    <a:p>
                      <a:pPr algn="l" defTabSz="914400"/>
                      <a:r>
                        <a:rPr b="0" i="0" strike="noStrike" dirty="0"/>
                        <a:t>MicrosoftVisualFoxPro</a:t>
                      </a:r>
                    </a:p>
                  </a:txBody>
                  <a:tcPr horzOverflow="overflow"/>
                </a:tc>
              </a:tr>
              <a:tr h="508000">
                <a:tc>
                  <a:txBody>
                    <a:bodyPr/>
                    <a:lstStyle/>
                    <a:p>
                      <a:pPr algn="l" defTabSz="914400"/>
                      <a:r>
                        <a:rPr b="0" i="0" strike="noStrike" dirty="0"/>
                        <a:t>MicrosoftPowerPoint</a:t>
                      </a:r>
                    </a:p>
                  </a:txBody>
                  <a:tcPr horzOverflow="overflow"/>
                </a:tc>
              </a:tr>
              <a:tr h="508000">
                <a:tc>
                  <a:txBody>
                    <a:bodyPr/>
                    <a:lstStyle/>
                    <a:p>
                      <a:pPr algn="l" defTabSz="914400"/>
                      <a:r>
                        <a:rPr b="0" i="0" strike="noStrike" dirty="0"/>
                        <a:t>MicrosoftPublisher</a:t>
                      </a:r>
                    </a:p>
                  </a:txBody>
                  <a:tcPr horzOverflow="overflow"/>
                </a:tc>
              </a:tr>
              <a:tr h="508000">
                <a:tc>
                  <a:txBody>
                    <a:bodyPr/>
                    <a:lstStyle/>
                    <a:p>
                      <a:pPr algn="l" defTabSz="914400"/>
                      <a:r>
                        <a:rPr b="0" i="0" strike="noStrike" dirty="0"/>
                        <a:t>MicrosoftProject</a:t>
                      </a:r>
                    </a:p>
                  </a:txBody>
                  <a:tcPr horzOverflow="overflow"/>
                </a:tc>
              </a:tr>
              <a:tr h="508000">
                <a:tc>
                  <a:txBody>
                    <a:bodyPr/>
                    <a:lstStyle/>
                    <a:p>
                      <a:pPr algn="l" defTabSz="914400"/>
                      <a:r>
                        <a:rPr b="0" i="0" strike="noStrike" dirty="0"/>
                        <a:t>SadFace</a:t>
                      </a:r>
                    </a:p>
                  </a:txBody>
                  <a:tcPr horzOverflow="overflow"/>
                </a:tc>
              </a:tr>
              <a:tr h="508000">
                <a:tc>
                  <a:txBody>
                    <a:bodyPr/>
                    <a:lstStyle/>
                    <a:p>
                      <a:pPr algn="l" defTabSz="914400"/>
                      <a:r>
                        <a:rPr b="0" i="0" strike="noStrike" dirty="0"/>
                        <a:t>Pushpin</a:t>
                      </a:r>
                    </a:p>
                  </a:txBody>
                  <a:tcPr horzOverflow="overflow"/>
                </a:tc>
              </a:tr>
              <a:tr h="508000">
                <a:tc>
                  <a:txBody>
                    <a:bodyPr/>
                    <a:lstStyle/>
                    <a:p>
                      <a:pPr algn="l" defTabSz="914400"/>
                      <a:r>
                        <a:rPr b="0" i="0" strike="noStrike" dirty="0"/>
                        <a:t>Camera</a:t>
                      </a:r>
                    </a:p>
                  </a:txBody>
                  <a:tcPr horzOverflow="overflow"/>
                </a:tc>
              </a:tr>
              <a:tr h="508000">
                <a:tc>
                  <a:txBody>
                    <a:bodyPr/>
                    <a:lstStyle/>
                    <a:p>
                      <a:pPr algn="l" defTabSz="914400"/>
                      <a:r>
                        <a:rPr b="0" i="0" strike="noStrike" dirty="0"/>
                        <a:t>FormControlButton</a:t>
                      </a:r>
                    </a:p>
                  </a:txBody>
                  <a:tcPr horzOverflow="overflow"/>
                </a:tc>
              </a:tr>
            </a:tbl>
          </a:graphicData>
        </a:graphic>
      </p:graphicFrame>
    </p:spTree>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Calculator</a:t>
                      </a:r>
                    </a:p>
                  </a:txBody>
                  <a:tcPr horzOverflow="overflow"/>
                </a:tc>
              </a:tr>
              <a:tr h="508000">
                <a:tc>
                  <a:txBody>
                    <a:bodyPr/>
                    <a:lstStyle/>
                    <a:p>
                      <a:pPr algn="l" defTabSz="914400"/>
                      <a:r>
                        <a:rPr b="0" i="0" strike="noStrike" dirty="0"/>
                        <a:t>ViewPrintLayoutView</a:t>
                      </a:r>
                    </a:p>
                  </a:txBody>
                  <a:tcPr horzOverflow="overflow"/>
                </a:tc>
              </a:tr>
              <a:tr h="508000">
                <a:tc>
                  <a:txBody>
                    <a:bodyPr/>
                    <a:lstStyle/>
                    <a:p>
                      <a:pPr algn="l" defTabSz="914400"/>
                      <a:r>
                        <a:rPr b="0" i="0" strike="noStrike" dirty="0"/>
                        <a:t>FieldCodes</a:t>
                      </a:r>
                    </a:p>
                  </a:txBody>
                  <a:tcPr horzOverflow="overflow"/>
                </a:tc>
              </a:tr>
              <a:tr h="508000">
                <a:tc>
                  <a:txBody>
                    <a:bodyPr/>
                    <a:lstStyle/>
                    <a:p>
                      <a:pPr algn="l" defTabSz="914400"/>
                      <a:r>
                        <a:rPr b="0" i="0" strike="noStrike" dirty="0"/>
                        <a:t>DropCapOptionsDialog</a:t>
                      </a:r>
                    </a:p>
                  </a:txBody>
                  <a:tcPr horzOverflow="overflow"/>
                </a:tc>
              </a:tr>
              <a:tr h="508000">
                <a:tc>
                  <a:txBody>
                    <a:bodyPr/>
                    <a:lstStyle/>
                    <a:p>
                      <a:pPr algn="l" defTabSz="914400"/>
                      <a:r>
                        <a:rPr b="0" i="0" strike="noStrike" dirty="0"/>
                        <a:t>Strikethrough</a:t>
                      </a:r>
                    </a:p>
                  </a:txBody>
                  <a:tcPr horzOverflow="overflow"/>
                </a:tc>
              </a:tr>
              <a:tr h="508000">
                <a:tc>
                  <a:txBody>
                    <a:bodyPr/>
                    <a:lstStyle/>
                    <a:p>
                      <a:pPr algn="l" defTabSz="914400"/>
                      <a:r>
                        <a:rPr b="0" i="0" strike="noStrike" dirty="0"/>
                        <a:t>TextSmallCaps</a:t>
                      </a:r>
                    </a:p>
                  </a:txBody>
                  <a:tcPr horzOverflow="overflow"/>
                </a:tc>
              </a:tr>
              <a:tr h="508000">
                <a:tc>
                  <a:txBody>
                    <a:bodyPr/>
                    <a:lstStyle/>
                    <a:p>
                      <a:pPr algn="l" defTabSz="914400"/>
                      <a:r>
                        <a:rPr b="0" i="0" strike="noStrike" dirty="0"/>
                        <a:t>CellsDelete</a:t>
                      </a:r>
                    </a:p>
                  </a:txBody>
                  <a:tcPr horzOverflow="overflow"/>
                </a:tc>
              </a:tr>
              <a:tr h="508000">
                <a:tc>
                  <a:txBody>
                    <a:bodyPr/>
                    <a:lstStyle/>
                    <a:p>
                      <a:pPr algn="l" defTabSz="914400"/>
                      <a:r>
                        <a:rPr b="0" i="0" strike="noStrike" dirty="0"/>
                        <a:t>TableRowsDelete</a:t>
                      </a:r>
                    </a:p>
                  </a:txBody>
                  <a:tcPr horzOverflow="overflow"/>
                </a:tc>
              </a:tr>
              <a:tr h="508000">
                <a:tc>
                  <a:txBody>
                    <a:bodyPr/>
                    <a:lstStyle/>
                    <a:p>
                      <a:pPr algn="l" defTabSz="914400"/>
                      <a:r>
                        <a:rPr b="0" i="0" strike="noStrike" dirty="0"/>
                        <a:t>TableColumnsDelete</a:t>
                      </a:r>
                    </a:p>
                  </a:txBody>
                  <a:tcPr horzOverflow="overflow"/>
                </a:tc>
              </a:tr>
              <a:tr h="508000">
                <a:tc>
                  <a:txBody>
                    <a:bodyPr/>
                    <a:lstStyle/>
                    <a:p>
                      <a:pPr algn="l" defTabSz="914400"/>
                      <a:r>
                        <a:rPr b="0" i="0" strike="noStrike" dirty="0"/>
                        <a:t>CellsInsertDialog</a:t>
                      </a:r>
                    </a:p>
                  </a:txBody>
                  <a:tcPr horzOverflow="overflow"/>
                </a:tc>
              </a:tr>
            </a:tbl>
          </a:graphicData>
        </a:graphic>
      </p:graphicFrame>
    </p:spTree>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TableRowsInsertWord</a:t>
                      </a:r>
                    </a:p>
                  </a:txBody>
                  <a:tcPr horzOverflow="overflow"/>
                </a:tc>
              </a:tr>
              <a:tr h="508000">
                <a:tc>
                  <a:txBody>
                    <a:bodyPr/>
                    <a:lstStyle/>
                    <a:p>
                      <a:pPr algn="l" defTabSz="914400"/>
                      <a:r>
                        <a:rPr b="0" i="0" strike="noStrike" dirty="0"/>
                        <a:t>QueryInsertColumns</a:t>
                      </a:r>
                    </a:p>
                  </a:txBody>
                  <a:tcPr horzOverflow="overflow"/>
                </a:tc>
              </a:tr>
              <a:tr h="508000">
                <a:tc>
                  <a:txBody>
                    <a:bodyPr/>
                    <a:lstStyle/>
                    <a:p>
                      <a:pPr algn="l" defTabSz="914400"/>
                      <a:r>
                        <a:rPr b="0" i="0" strike="noStrike" dirty="0"/>
                        <a:t>WindowsArrangeAll</a:t>
                      </a:r>
                    </a:p>
                  </a:txBody>
                  <a:tcPr horzOverflow="overflow"/>
                </a:tc>
              </a:tr>
              <a:tr h="508000">
                <a:tc>
                  <a:txBody>
                    <a:bodyPr/>
                    <a:lstStyle/>
                    <a:p>
                      <a:pPr algn="l" defTabSz="914400"/>
                      <a:r>
                        <a:rPr b="0" i="0" strike="noStrike" dirty="0"/>
                        <a:t>MarginsAdjust</a:t>
                      </a:r>
                    </a:p>
                  </a:txBody>
                  <a:tcPr horzOverflow="overflow"/>
                </a:tc>
              </a:tr>
              <a:tr h="508000">
                <a:tc>
                  <a:txBody>
                    <a:bodyPr/>
                    <a:lstStyle/>
                    <a:p>
                      <a:pPr algn="l" defTabSz="914400"/>
                      <a:r>
                        <a:rPr b="0" i="0" strike="noStrike" dirty="0"/>
                        <a:t>ViewGridlinesWord</a:t>
                      </a:r>
                    </a:p>
                  </a:txBody>
                  <a:tcPr horzOverflow="overflow"/>
                </a:tc>
              </a:tr>
              <a:tr h="508000">
                <a:tc>
                  <a:txBody>
                    <a:bodyPr/>
                    <a:lstStyle/>
                    <a:p>
                      <a:pPr algn="l" defTabSz="914400"/>
                      <a:r>
                        <a:rPr b="0" i="0" strike="noStrike" dirty="0"/>
                        <a:t>SubdocumentOpen</a:t>
                      </a:r>
                    </a:p>
                  </a:txBody>
                  <a:tcPr horzOverflow="overflow"/>
                </a:tc>
              </a:tr>
              <a:tr h="508000">
                <a:tc>
                  <a:txBody>
                    <a:bodyPr/>
                    <a:lstStyle/>
                    <a:p>
                      <a:pPr algn="l" defTabSz="914400"/>
                      <a:r>
                        <a:rPr b="0" i="0" strike="noStrike" dirty="0"/>
                        <a:t>WindowSplit</a:t>
                      </a:r>
                    </a:p>
                  </a:txBody>
                  <a:tcPr horzOverflow="overflow"/>
                </a:tc>
              </a:tr>
              <a:tr h="508000">
                <a:tc>
                  <a:txBody>
                    <a:bodyPr/>
                    <a:lstStyle/>
                    <a:p>
                      <a:pPr algn="l" defTabSz="914400"/>
                      <a:r>
                        <a:rPr b="0" i="0" strike="noStrike" dirty="0"/>
                        <a:t>WindowNew</a:t>
                      </a:r>
                    </a:p>
                  </a:txBody>
                  <a:tcPr horzOverflow="overflow"/>
                </a:tc>
              </a:tr>
              <a:tr h="508000">
                <a:tc>
                  <a:txBody>
                    <a:bodyPr/>
                    <a:lstStyle/>
                    <a:p>
                      <a:pPr algn="l" defTabSz="914400"/>
                      <a:r>
                        <a:rPr b="0" i="0" strike="noStrike" dirty="0"/>
                        <a:t>LegalBlackline</a:t>
                      </a:r>
                    </a:p>
                  </a:txBody>
                  <a:tcPr horzOverflow="overflow"/>
                </a:tc>
              </a:tr>
              <a:tr h="508000">
                <a:tc>
                  <a:txBody>
                    <a:bodyPr/>
                    <a:lstStyle/>
                    <a:p>
                      <a:pPr algn="l" defTabSz="914400"/>
                      <a:r>
                        <a:rPr b="0" i="0" strike="noStrike" dirty="0"/>
                        <a:t>ReviewAcceptOrRejectChangeDialog</a:t>
                      </a:r>
                    </a:p>
                  </a:txBody>
                  <a:tcPr horzOverflow="overflow"/>
                </a:tc>
              </a:tr>
            </a:tbl>
          </a:graphicData>
        </a:graphic>
      </p:graphicFrame>
    </p:spTree>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TextAllCaps</a:t>
                      </a:r>
                    </a:p>
                  </a:txBody>
                  <a:tcPr horzOverflow="overflow"/>
                </a:tc>
              </a:tr>
              <a:tr h="508000">
                <a:tc>
                  <a:txBody>
                    <a:bodyPr/>
                    <a:lstStyle/>
                    <a:p>
                      <a:pPr algn="l" defTabSz="914400"/>
                      <a:r>
                        <a:rPr b="0" i="0" strike="noStrike" dirty="0"/>
                        <a:t>PictureDisassemble</a:t>
                      </a:r>
                    </a:p>
                  </a:txBody>
                  <a:tcPr horzOverflow="overflow"/>
                </a:tc>
              </a:tr>
              <a:tr h="508000">
                <a:tc>
                  <a:txBody>
                    <a:bodyPr/>
                    <a:lstStyle/>
                    <a:p>
                      <a:pPr algn="l" defTabSz="914400"/>
                      <a:r>
                        <a:rPr b="0" i="0" strike="noStrike" dirty="0"/>
                        <a:t>SymbolInsert</a:t>
                      </a:r>
                    </a:p>
                  </a:txBody>
                  <a:tcPr horzOverflow="overflow"/>
                </a:tc>
              </a:tr>
              <a:tr h="508000">
                <a:tc>
                  <a:txBody>
                    <a:bodyPr/>
                    <a:lstStyle/>
                    <a:p>
                      <a:pPr algn="l" defTabSz="914400"/>
                      <a:r>
                        <a:rPr b="0" i="0" strike="noStrike" dirty="0"/>
                        <a:t>ChangeCaseDialogClassic</a:t>
                      </a:r>
                    </a:p>
                  </a:txBody>
                  <a:tcPr horzOverflow="overflow"/>
                </a:tc>
              </a:tr>
              <a:tr h="508000">
                <a:tc>
                  <a:txBody>
                    <a:bodyPr/>
                    <a:lstStyle/>
                    <a:p>
                      <a:pPr algn="l" defTabSz="914400"/>
                      <a:r>
                        <a:rPr b="0" i="0" strike="noStrike" dirty="0"/>
                        <a:t>FontSizeDecrease1Point</a:t>
                      </a:r>
                    </a:p>
                  </a:txBody>
                  <a:tcPr horzOverflow="overflow"/>
                </a:tc>
              </a:tr>
              <a:tr h="508000">
                <a:tc>
                  <a:txBody>
                    <a:bodyPr/>
                    <a:lstStyle/>
                    <a:p>
                      <a:pPr algn="l" defTabSz="914400"/>
                      <a:r>
                        <a:rPr b="0" i="0" strike="noStrike" dirty="0"/>
                        <a:t>FontSizeIncrease1Point</a:t>
                      </a:r>
                    </a:p>
                  </a:txBody>
                  <a:tcPr horzOverflow="overflow"/>
                </a:tc>
              </a:tr>
              <a:tr h="508000">
                <a:tc>
                  <a:txBody>
                    <a:bodyPr/>
                    <a:lstStyle/>
                    <a:p>
                      <a:pPr algn="l" defTabSz="914400"/>
                      <a:r>
                        <a:rPr b="0" i="0" strike="noStrike" dirty="0"/>
                        <a:t>Repaginate</a:t>
                      </a:r>
                    </a:p>
                  </a:txBody>
                  <a:tcPr horzOverflow="overflow"/>
                </a:tc>
              </a:tr>
              <a:tr h="508000">
                <a:tc>
                  <a:txBody>
                    <a:bodyPr/>
                    <a:lstStyle/>
                    <a:p>
                      <a:pPr algn="l" defTabSz="914400"/>
                      <a:r>
                        <a:rPr b="0" i="0" strike="noStrike" dirty="0"/>
                        <a:t>ReplaceDialog</a:t>
                      </a:r>
                    </a:p>
                  </a:txBody>
                  <a:tcPr horzOverflow="overflow"/>
                </a:tc>
              </a:tr>
              <a:tr h="508000">
                <a:tc>
                  <a:txBody>
                    <a:bodyPr/>
                    <a:lstStyle/>
                    <a:p>
                      <a:pPr algn="l" defTabSz="914400"/>
                      <a:r>
                        <a:rPr b="0" i="0" strike="noStrike" dirty="0"/>
                        <a:t>StartOfLine</a:t>
                      </a:r>
                    </a:p>
                  </a:txBody>
                  <a:tcPr horzOverflow="overflow"/>
                </a:tc>
              </a:tr>
              <a:tr h="508000">
                <a:tc>
                  <a:txBody>
                    <a:bodyPr/>
                    <a:lstStyle/>
                    <a:p>
                      <a:pPr algn="l" defTabSz="914400"/>
                      <a:r>
                        <a:rPr b="0" i="0" strike="noStrike" dirty="0"/>
                        <a:t>EndOfLine</a:t>
                      </a:r>
                    </a:p>
                  </a:txBody>
                  <a:tcPr horzOverflow="overflow"/>
                </a:tc>
              </a:tr>
            </a:tbl>
          </a:graphicData>
        </a:graphic>
      </p:graphicFrame>
    </p:spTree>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PagePrevious</a:t>
                      </a:r>
                    </a:p>
                  </a:txBody>
                  <a:tcPr horzOverflow="overflow"/>
                </a:tc>
              </a:tr>
              <a:tr h="508000">
                <a:tc>
                  <a:txBody>
                    <a:bodyPr/>
                    <a:lstStyle/>
                    <a:p>
                      <a:pPr algn="l" defTabSz="914400"/>
                      <a:r>
                        <a:rPr b="0" i="0" strike="noStrike" dirty="0"/>
                        <a:t>PageNext</a:t>
                      </a:r>
                    </a:p>
                  </a:txBody>
                  <a:tcPr horzOverflow="overflow"/>
                </a:tc>
              </a:tr>
              <a:tr h="508000">
                <a:tc>
                  <a:txBody>
                    <a:bodyPr/>
                    <a:lstStyle/>
                    <a:p>
                      <a:pPr algn="l" defTabSz="914400"/>
                      <a:r>
                        <a:rPr b="0" i="0" strike="noStrike" dirty="0"/>
                        <a:t>TextBoxInsertVertical</a:t>
                      </a:r>
                    </a:p>
                  </a:txBody>
                  <a:tcPr horzOverflow="overflow"/>
                </a:tc>
              </a:tr>
              <a:tr h="508000">
                <a:tc>
                  <a:txBody>
                    <a:bodyPr/>
                    <a:lstStyle/>
                    <a:p>
                      <a:pPr algn="l" defTabSz="914400"/>
                      <a:r>
                        <a:rPr b="0" i="0" strike="noStrike" dirty="0"/>
                        <a:t>StartOfDocument</a:t>
                      </a:r>
                    </a:p>
                  </a:txBody>
                  <a:tcPr horzOverflow="overflow"/>
                </a:tc>
              </a:tr>
              <a:tr h="508000">
                <a:tc>
                  <a:txBody>
                    <a:bodyPr/>
                    <a:lstStyle/>
                    <a:p>
                      <a:pPr algn="l" defTabSz="914400"/>
                      <a:r>
                        <a:rPr b="0" i="0" strike="noStrike" dirty="0"/>
                        <a:t>EndOfDocument</a:t>
                      </a:r>
                    </a:p>
                  </a:txBody>
                  <a:tcPr horzOverflow="overflow"/>
                </a:tc>
              </a:tr>
              <a:tr h="508000">
                <a:tc>
                  <a:txBody>
                    <a:bodyPr/>
                    <a:lstStyle/>
                    <a:p>
                      <a:pPr algn="l" defTabSz="914400"/>
                      <a:r>
                        <a:rPr b="0" i="0" strike="noStrike" dirty="0"/>
                        <a:t>Grammar</a:t>
                      </a:r>
                    </a:p>
                  </a:txBody>
                  <a:tcPr horzOverflow="overflow"/>
                </a:tc>
              </a:tr>
              <a:tr h="508000">
                <a:tc>
                  <a:txBody>
                    <a:bodyPr/>
                    <a:lstStyle/>
                    <a:p>
                      <a:pPr algn="l" defTabSz="914400"/>
                      <a:r>
                        <a:rPr b="0" i="0" strike="noStrike" dirty="0"/>
                        <a:t>FileCloseOrCloseAll</a:t>
                      </a:r>
                    </a:p>
                  </a:txBody>
                  <a:tcPr horzOverflow="overflow"/>
                </a:tc>
              </a:tr>
              <a:tr h="508000">
                <a:tc>
                  <a:txBody>
                    <a:bodyPr/>
                    <a:lstStyle/>
                    <a:p>
                      <a:pPr algn="l" defTabSz="914400"/>
                      <a:r>
                        <a:rPr b="0" i="0" strike="noStrike" dirty="0"/>
                        <a:t>TextToOrFromTable</a:t>
                      </a:r>
                    </a:p>
                  </a:txBody>
                  <a:tcPr horzOverflow="overflow"/>
                </a:tc>
              </a:tr>
              <a:tr h="508000">
                <a:tc>
                  <a:txBody>
                    <a:bodyPr/>
                    <a:lstStyle/>
                    <a:p>
                      <a:pPr algn="l" defTabSz="914400"/>
                      <a:r>
                        <a:rPr b="0" i="0" strike="noStrike" dirty="0"/>
                        <a:t>TableRowsOrColumnsOrCellsInsert</a:t>
                      </a:r>
                    </a:p>
                  </a:txBody>
                  <a:tcPr horzOverflow="overflow"/>
                </a:tc>
              </a:tr>
              <a:tr h="508000">
                <a:tc>
                  <a:txBody>
                    <a:bodyPr/>
                    <a:lstStyle/>
                    <a:p>
                      <a:pPr algn="l" defTabSz="914400"/>
                      <a:r>
                        <a:rPr b="0" i="0" strike="noStrike" dirty="0"/>
                        <a:t>TableRowsOrColumnsOrCellsDelete</a:t>
                      </a:r>
                    </a:p>
                  </a:txBody>
                  <a:tcPr horzOverflow="overflow"/>
                </a:tc>
              </a:tr>
            </a:tbl>
          </a:graphicData>
        </a:graphic>
      </p:graphicFrame>
    </p:spTree>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RedoOrRepeat</a:t>
                      </a:r>
                    </a:p>
                  </a:txBody>
                  <a:tcPr horzOverflow="overflow"/>
                </a:tc>
              </a:tr>
              <a:tr h="508000">
                <a:tc>
                  <a:txBody>
                    <a:bodyPr/>
                    <a:lstStyle/>
                    <a:p>
                      <a:pPr algn="l" defTabSz="914400"/>
                      <a:r>
                        <a:rPr b="0" i="0" strike="noStrike" dirty="0"/>
                        <a:t>ObjectsRegroup</a:t>
                      </a:r>
                    </a:p>
                  </a:txBody>
                  <a:tcPr horzOverflow="overflow"/>
                </a:tc>
              </a:tr>
              <a:tr h="508000">
                <a:tc>
                  <a:txBody>
                    <a:bodyPr/>
                    <a:lstStyle/>
                    <a:p>
                      <a:pPr algn="l" defTabSz="914400"/>
                      <a:r>
                        <a:rPr b="0" i="0" strike="noStrike" dirty="0"/>
                        <a:t>_3DStyle</a:t>
                      </a:r>
                    </a:p>
                  </a:txBody>
                  <a:tcPr horzOverflow="overflow"/>
                </a:tc>
              </a:tr>
              <a:tr h="508000">
                <a:tc>
                  <a:txBody>
                    <a:bodyPr/>
                    <a:lstStyle/>
                    <a:p>
                      <a:pPr algn="l" defTabSz="914400"/>
                      <a:r>
                        <a:rPr b="0" i="0" strike="noStrike" dirty="0"/>
                        <a:t>TipWizardHelp</a:t>
                      </a:r>
                    </a:p>
                  </a:txBody>
                  <a:tcPr horzOverflow="overflow"/>
                </a:tc>
              </a:tr>
              <a:tr h="508000">
                <a:tc>
                  <a:txBody>
                    <a:bodyPr/>
                    <a:lstStyle/>
                    <a:p>
                      <a:pPr algn="l" defTabSz="914400"/>
                      <a:r>
                        <a:rPr b="0" i="0" strike="noStrike" dirty="0"/>
                        <a:t>AutoFormatChange</a:t>
                      </a:r>
                    </a:p>
                  </a:txBody>
                  <a:tcPr horzOverflow="overflow"/>
                </a:tc>
              </a:tr>
              <a:tr h="508000">
                <a:tc>
                  <a:txBody>
                    <a:bodyPr/>
                    <a:lstStyle/>
                    <a:p>
                      <a:pPr algn="l" defTabSz="914400"/>
                      <a:r>
                        <a:rPr b="0" i="0" strike="noStrike" dirty="0"/>
                        <a:t>AddressBook</a:t>
                      </a:r>
                    </a:p>
                  </a:txBody>
                  <a:tcPr horzOverflow="overflow"/>
                </a:tc>
              </a:tr>
              <a:tr h="508000">
                <a:tc>
                  <a:txBody>
                    <a:bodyPr/>
                    <a:lstStyle/>
                    <a:p>
                      <a:pPr algn="l" defTabSz="914400"/>
                      <a:r>
                        <a:rPr b="0" i="0" strike="noStrike" dirty="0"/>
                        <a:t>Reply</a:t>
                      </a:r>
                    </a:p>
                  </a:txBody>
                  <a:tcPr horzOverflow="overflow"/>
                </a:tc>
              </a:tr>
              <a:tr h="508000">
                <a:tc>
                  <a:txBody>
                    <a:bodyPr/>
                    <a:lstStyle/>
                    <a:p>
                      <a:pPr algn="l" defTabSz="914400"/>
                      <a:r>
                        <a:rPr b="0" i="0" strike="noStrike" dirty="0"/>
                        <a:t>ReplyAll</a:t>
                      </a:r>
                    </a:p>
                  </a:txBody>
                  <a:tcPr horzOverflow="overflow"/>
                </a:tc>
              </a:tr>
              <a:tr h="508000">
                <a:tc>
                  <a:txBody>
                    <a:bodyPr/>
                    <a:lstStyle/>
                    <a:p>
                      <a:pPr algn="l" defTabSz="914400"/>
                      <a:r>
                        <a:rPr b="0" i="0" strike="noStrike" dirty="0"/>
                        <a:t>Forward</a:t>
                      </a:r>
                    </a:p>
                  </a:txBody>
                  <a:tcPr horzOverflow="overflow"/>
                </a:tc>
              </a:tr>
              <a:tr h="508000">
                <a:tc>
                  <a:txBody>
                    <a:bodyPr/>
                    <a:lstStyle/>
                    <a:p>
                      <a:pPr algn="l" defTabSz="914400"/>
                      <a:r>
                        <a:rPr b="0" i="0" strike="noStrike" dirty="0"/>
                        <a:t>MailMove</a:t>
                      </a:r>
                    </a:p>
                  </a:txBody>
                  <a:tcPr horzOverflow="overflow"/>
                </a:tc>
              </a:tr>
            </a:tbl>
          </a:graphicData>
        </a:graphic>
      </p:graphicFrame>
    </p:spTree>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MailDelete</a:t>
                      </a:r>
                    </a:p>
                  </a:txBody>
                  <a:tcPr horzOverflow="overflow"/>
                </a:tc>
              </a:tr>
              <a:tr h="508000">
                <a:tc>
                  <a:txBody>
                    <a:bodyPr/>
                    <a:lstStyle/>
                    <a:p>
                      <a:pPr algn="l" defTabSz="914400"/>
                      <a:r>
                        <a:rPr b="0" i="0" strike="noStrike" dirty="0"/>
                        <a:t>MessagePrevious</a:t>
                      </a:r>
                    </a:p>
                  </a:txBody>
                  <a:tcPr horzOverflow="overflow"/>
                </a:tc>
              </a:tr>
              <a:tr h="508000">
                <a:tc>
                  <a:txBody>
                    <a:bodyPr/>
                    <a:lstStyle/>
                    <a:p>
                      <a:pPr algn="l" defTabSz="914400"/>
                      <a:r>
                        <a:rPr b="0" i="0" strike="noStrike" dirty="0"/>
                        <a:t>MessageNext</a:t>
                      </a:r>
                    </a:p>
                  </a:txBody>
                  <a:tcPr horzOverflow="overflow"/>
                </a:tc>
              </a:tr>
              <a:tr h="508000">
                <a:tc>
                  <a:txBody>
                    <a:bodyPr/>
                    <a:lstStyle/>
                    <a:p>
                      <a:pPr algn="l" defTabSz="914400"/>
                      <a:r>
                        <a:rPr b="0" i="0" strike="noStrike" dirty="0"/>
                        <a:t>CheckNames</a:t>
                      </a:r>
                    </a:p>
                  </a:txBody>
                  <a:tcPr horzOverflow="overflow"/>
                </a:tc>
              </a:tr>
              <a:tr h="508000">
                <a:tc>
                  <a:txBody>
                    <a:bodyPr/>
                    <a:lstStyle/>
                    <a:p>
                      <a:pPr algn="l" defTabSz="914400"/>
                      <a:r>
                        <a:rPr b="0" i="0" strike="noStrike" dirty="0"/>
                        <a:t>MailSelectNames</a:t>
                      </a:r>
                    </a:p>
                  </a:txBody>
                  <a:tcPr horzOverflow="overflow"/>
                </a:tc>
              </a:tr>
              <a:tr h="508000">
                <a:tc>
                  <a:txBody>
                    <a:bodyPr/>
                    <a:lstStyle/>
                    <a:p>
                      <a:pPr algn="l" defTabSz="914400"/>
                      <a:r>
                        <a:rPr b="0" i="0" strike="noStrike" dirty="0"/>
                        <a:t>PrintAreaSetPrintArea</a:t>
                      </a:r>
                    </a:p>
                  </a:txBody>
                  <a:tcPr horzOverflow="overflow"/>
                </a:tc>
              </a:tr>
              <a:tr h="508000">
                <a:tc>
                  <a:txBody>
                    <a:bodyPr/>
                    <a:lstStyle/>
                    <a:p>
                      <a:pPr algn="l" defTabSz="914400"/>
                      <a:r>
                        <a:rPr b="0" i="0" strike="noStrike" dirty="0"/>
                        <a:t>PasteFormatting</a:t>
                      </a:r>
                    </a:p>
                  </a:txBody>
                  <a:tcPr horzOverflow="overflow"/>
                </a:tc>
              </a:tr>
              <a:tr h="508000">
                <a:tc>
                  <a:txBody>
                    <a:bodyPr/>
                    <a:lstStyle/>
                    <a:p>
                      <a:pPr algn="l" defTabSz="914400"/>
                      <a:r>
                        <a:rPr b="0" i="0" strike="noStrike" dirty="0"/>
                        <a:t>FillRight</a:t>
                      </a:r>
                    </a:p>
                  </a:txBody>
                  <a:tcPr horzOverflow="overflow"/>
                </a:tc>
              </a:tr>
              <a:tr h="508000">
                <a:tc>
                  <a:txBody>
                    <a:bodyPr/>
                    <a:lstStyle/>
                    <a:p>
                      <a:pPr algn="l" defTabSz="914400"/>
                      <a:r>
                        <a:rPr b="0" i="0" strike="noStrike" dirty="0"/>
                        <a:t>FillDown</a:t>
                      </a:r>
                    </a:p>
                  </a:txBody>
                  <a:tcPr horzOverflow="overflow"/>
                </a:tc>
              </a:tr>
              <a:tr h="508000">
                <a:tc>
                  <a:txBody>
                    <a:bodyPr/>
                    <a:lstStyle/>
                    <a:p>
                      <a:pPr algn="l" defTabSz="914400"/>
                      <a:r>
                        <a:rPr b="0" i="0" strike="noStrike" dirty="0"/>
                        <a:t>EqualSign</a:t>
                      </a:r>
                    </a:p>
                  </a:txBody>
                  <a:tcPr horzOverflow="overflow"/>
                </a:tc>
              </a:tr>
            </a:tbl>
          </a:graphicData>
        </a:graphic>
      </p:graphicFrame>
    </p:spTree>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PlusSign</a:t>
                      </a:r>
                    </a:p>
                  </a:txBody>
                  <a:tcPr horzOverflow="overflow"/>
                </a:tc>
              </a:tr>
              <a:tr h="508000">
                <a:tc>
                  <a:txBody>
                    <a:bodyPr/>
                    <a:lstStyle/>
                    <a:p>
                      <a:pPr algn="l" defTabSz="914400"/>
                      <a:r>
                        <a:rPr b="0" i="0" strike="noStrike" dirty="0"/>
                        <a:t>MinusSign</a:t>
                      </a:r>
                    </a:p>
                  </a:txBody>
                  <a:tcPr horzOverflow="overflow"/>
                </a:tc>
              </a:tr>
              <a:tr h="508000">
                <a:tc>
                  <a:txBody>
                    <a:bodyPr/>
                    <a:lstStyle/>
                    <a:p>
                      <a:pPr algn="l" defTabSz="914400"/>
                      <a:r>
                        <a:rPr b="0" i="0" strike="noStrike" dirty="0"/>
                        <a:t>MultiplicationSign</a:t>
                      </a:r>
                    </a:p>
                  </a:txBody>
                  <a:tcPr horzOverflow="overflow"/>
                </a:tc>
              </a:tr>
              <a:tr h="508000">
                <a:tc>
                  <a:txBody>
                    <a:bodyPr/>
                    <a:lstStyle/>
                    <a:p>
                      <a:pPr algn="l" defTabSz="914400"/>
                      <a:r>
                        <a:rPr b="0" i="0" strike="noStrike" dirty="0"/>
                        <a:t>DivisionSign</a:t>
                      </a:r>
                    </a:p>
                  </a:txBody>
                  <a:tcPr horzOverflow="overflow"/>
                </a:tc>
              </a:tr>
              <a:tr h="508000">
                <a:tc>
                  <a:txBody>
                    <a:bodyPr/>
                    <a:lstStyle/>
                    <a:p>
                      <a:pPr algn="l" defTabSz="914400"/>
                      <a:r>
                        <a:rPr b="0" i="0" strike="noStrike" dirty="0"/>
                        <a:t>ExponentiationSign</a:t>
                      </a:r>
                    </a:p>
                  </a:txBody>
                  <a:tcPr horzOverflow="overflow"/>
                </a:tc>
              </a:tr>
              <a:tr h="508000">
                <a:tc>
                  <a:txBody>
                    <a:bodyPr/>
                    <a:lstStyle/>
                    <a:p>
                      <a:pPr algn="l" defTabSz="914400"/>
                      <a:r>
                        <a:rPr b="0" i="0" strike="noStrike" dirty="0"/>
                        <a:t>ParenthesisLeft</a:t>
                      </a:r>
                    </a:p>
                  </a:txBody>
                  <a:tcPr horzOverflow="overflow"/>
                </a:tc>
              </a:tr>
              <a:tr h="508000">
                <a:tc>
                  <a:txBody>
                    <a:bodyPr/>
                    <a:lstStyle/>
                    <a:p>
                      <a:pPr algn="l" defTabSz="914400"/>
                      <a:r>
                        <a:rPr b="0" i="0" strike="noStrike" dirty="0"/>
                        <a:t>ParenthesisRight</a:t>
                      </a:r>
                    </a:p>
                  </a:txBody>
                  <a:tcPr horzOverflow="overflow"/>
                </a:tc>
              </a:tr>
              <a:tr h="508000">
                <a:tc>
                  <a:txBody>
                    <a:bodyPr/>
                    <a:lstStyle/>
                    <a:p>
                      <a:pPr algn="l" defTabSz="914400"/>
                      <a:r>
                        <a:rPr b="0" i="0" strike="noStrike" dirty="0"/>
                        <a:t>ColonSign</a:t>
                      </a:r>
                    </a:p>
                  </a:txBody>
                  <a:tcPr horzOverflow="overflow"/>
                </a:tc>
              </a:tr>
              <a:tr h="508000">
                <a:tc>
                  <a:txBody>
                    <a:bodyPr/>
                    <a:lstStyle/>
                    <a:p>
                      <a:pPr algn="l" defTabSz="914400"/>
                      <a:r>
                        <a:rPr b="0" i="0" strike="noStrike" dirty="0"/>
                        <a:t>CommaSign</a:t>
                      </a:r>
                    </a:p>
                  </a:txBody>
                  <a:tcPr horzOverflow="overflow"/>
                </a:tc>
              </a:tr>
              <a:tr h="508000">
                <a:tc>
                  <a:txBody>
                    <a:bodyPr/>
                    <a:lstStyle/>
                    <a:p>
                      <a:pPr algn="l" defTabSz="914400"/>
                      <a:r>
                        <a:rPr b="0" i="0" strike="noStrike" dirty="0"/>
                        <a:t>PercentSign</a:t>
                      </a:r>
                    </a:p>
                  </a:txBody>
                  <a:tcPr horzOverflow="overflow"/>
                </a:tc>
              </a:tr>
            </a:tbl>
          </a:graphicData>
        </a:graphic>
      </p:graphicFrame>
    </p:spTree>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DollarSign</a:t>
                      </a:r>
                    </a:p>
                  </a:txBody>
                  <a:tcPr horzOverflow="overflow"/>
                </a:tc>
              </a:tr>
              <a:tr h="508000">
                <a:tc>
                  <a:txBody>
                    <a:bodyPr/>
                    <a:lstStyle/>
                    <a:p>
                      <a:pPr algn="l" defTabSz="914400"/>
                      <a:r>
                        <a:rPr b="0" i="0" strike="noStrike" dirty="0"/>
                        <a:t>FunctionWizard</a:t>
                      </a:r>
                    </a:p>
                  </a:txBody>
                  <a:tcPr horzOverflow="overflow"/>
                </a:tc>
              </a:tr>
              <a:tr h="508000">
                <a:tc>
                  <a:txBody>
                    <a:bodyPr/>
                    <a:lstStyle/>
                    <a:p>
                      <a:pPr algn="l" defTabSz="914400"/>
                      <a:r>
                        <a:rPr b="0" i="0" strike="noStrike" dirty="0"/>
                        <a:t>AsianLayoutCharacterScaling</a:t>
                      </a:r>
                    </a:p>
                  </a:txBody>
                  <a:tcPr horzOverflow="overflow"/>
                </a:tc>
              </a:tr>
              <a:tr h="508000">
                <a:tc>
                  <a:txBody>
                    <a:bodyPr/>
                    <a:lstStyle/>
                    <a:p>
                      <a:pPr algn="l" defTabSz="914400"/>
                      <a:r>
                        <a:rPr b="0" i="0" strike="noStrike" dirty="0"/>
                        <a:t>ConstrainNumeric</a:t>
                      </a:r>
                    </a:p>
                  </a:txBody>
                  <a:tcPr horzOverflow="overflow"/>
                </a:tc>
              </a:tr>
              <a:tr h="508000">
                <a:tc>
                  <a:txBody>
                    <a:bodyPr/>
                    <a:lstStyle/>
                    <a:p>
                      <a:pPr algn="l" defTabSz="914400"/>
                      <a:r>
                        <a:rPr b="0" i="0" strike="noStrike" dirty="0"/>
                        <a:t>LightShading</a:t>
                      </a:r>
                    </a:p>
                  </a:txBody>
                  <a:tcPr horzOverflow="overflow"/>
                </a:tc>
              </a:tr>
              <a:tr h="508000">
                <a:tc>
                  <a:txBody>
                    <a:bodyPr/>
                    <a:lstStyle/>
                    <a:p>
                      <a:pPr algn="l" defTabSz="914400"/>
                      <a:r>
                        <a:rPr b="0" i="0" strike="noStrike" dirty="0"/>
                        <a:t>AccountingFormat</a:t>
                      </a:r>
                    </a:p>
                  </a:txBody>
                  <a:tcPr horzOverflow="overflow"/>
                </a:tc>
              </a:tr>
              <a:tr h="508000">
                <a:tc>
                  <a:txBody>
                    <a:bodyPr/>
                    <a:lstStyle/>
                    <a:p>
                      <a:pPr algn="l" defTabSz="914400"/>
                      <a:r>
                        <a:rPr b="0" i="0" strike="noStrike" dirty="0"/>
                        <a:t>PercentStyle</a:t>
                      </a:r>
                    </a:p>
                  </a:txBody>
                  <a:tcPr horzOverflow="overflow"/>
                </a:tc>
              </a:tr>
              <a:tr h="508000">
                <a:tc>
                  <a:txBody>
                    <a:bodyPr/>
                    <a:lstStyle/>
                    <a:p>
                      <a:pPr algn="l" defTabSz="914400"/>
                      <a:r>
                        <a:rPr b="0" i="0" strike="noStrike" dirty="0"/>
                        <a:t>CommaStyle</a:t>
                      </a:r>
                    </a:p>
                  </a:txBody>
                  <a:tcPr horzOverflow="overflow"/>
                </a:tc>
              </a:tr>
              <a:tr h="508000">
                <a:tc>
                  <a:txBody>
                    <a:bodyPr/>
                    <a:lstStyle/>
                    <a:p>
                      <a:pPr algn="l" defTabSz="914400"/>
                      <a:r>
                        <a:rPr b="0" i="0" strike="noStrike" dirty="0"/>
                        <a:t>DecimalsIncrease</a:t>
                      </a:r>
                    </a:p>
                  </a:txBody>
                  <a:tcPr horzOverflow="overflow"/>
                </a:tc>
              </a:tr>
              <a:tr h="508000">
                <a:tc>
                  <a:txBody>
                    <a:bodyPr/>
                    <a:lstStyle/>
                    <a:p>
                      <a:pPr algn="l" defTabSz="914400"/>
                      <a:r>
                        <a:rPr b="0" i="0" strike="noStrike" dirty="0"/>
                        <a:t>DecimalsDecrease</a:t>
                      </a:r>
                    </a:p>
                  </a:txBody>
                  <a:tcPr horzOverflow="overflow"/>
                </a:tc>
              </a:tr>
            </a:tbl>
          </a:graphicData>
        </a:graphic>
      </p:graphicFrame>
    </p:spTree>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MergeCenter</a:t>
                      </a:r>
                    </a:p>
                  </a:txBody>
                  <a:tcPr horzOverflow="overflow"/>
                </a:tc>
              </a:tr>
              <a:tr h="508000">
                <a:tc>
                  <a:txBody>
                    <a:bodyPr/>
                    <a:lstStyle/>
                    <a:p>
                      <a:pPr algn="l" defTabSz="914400"/>
                      <a:r>
                        <a:rPr b="0" i="0" strike="noStrike" dirty="0"/>
                        <a:t>FontSizeIncrease</a:t>
                      </a:r>
                    </a:p>
                  </a:txBody>
                  <a:tcPr horzOverflow="overflow"/>
                </a:tc>
              </a:tr>
              <a:tr h="508000">
                <a:tc>
                  <a:txBody>
                    <a:bodyPr/>
                    <a:lstStyle/>
                    <a:p>
                      <a:pPr algn="l" defTabSz="914400"/>
                      <a:r>
                        <a:rPr b="0" i="0" strike="noStrike" dirty="0"/>
                        <a:t>FontSizeDecrease</a:t>
                      </a:r>
                    </a:p>
                  </a:txBody>
                  <a:tcPr horzOverflow="overflow"/>
                </a:tc>
              </a:tr>
              <a:tr h="508000">
                <a:tc>
                  <a:txBody>
                    <a:bodyPr/>
                    <a:lstStyle/>
                    <a:p>
                      <a:pPr algn="l" defTabSz="914400"/>
                      <a:r>
                        <a:rPr b="0" i="0" strike="noStrike" dirty="0"/>
                        <a:t>TextOrientationVertical</a:t>
                      </a:r>
                    </a:p>
                  </a:txBody>
                  <a:tcPr horzOverflow="overflow"/>
                </a:tc>
              </a:tr>
              <a:tr h="508000">
                <a:tc>
                  <a:txBody>
                    <a:bodyPr/>
                    <a:lstStyle/>
                    <a:p>
                      <a:pPr algn="l" defTabSz="914400"/>
                      <a:r>
                        <a:rPr b="0" i="0" strike="noStrike" dirty="0"/>
                        <a:t>TextOrientationRotateUp</a:t>
                      </a:r>
                    </a:p>
                  </a:txBody>
                  <a:tcPr horzOverflow="overflow"/>
                </a:tc>
              </a:tr>
              <a:tr h="508000">
                <a:tc>
                  <a:txBody>
                    <a:bodyPr/>
                    <a:lstStyle/>
                    <a:p>
                      <a:pPr algn="l" defTabSz="914400"/>
                      <a:r>
                        <a:rPr b="0" i="0" strike="noStrike" dirty="0"/>
                        <a:t>TextOrientationRotateDown</a:t>
                      </a:r>
                    </a:p>
                  </a:txBody>
                  <a:tcPr horzOverflow="overflow"/>
                </a:tc>
              </a:tr>
              <a:tr h="508000">
                <a:tc>
                  <a:txBody>
                    <a:bodyPr/>
                    <a:lstStyle/>
                    <a:p>
                      <a:pPr algn="l" defTabSz="914400"/>
                      <a:r>
                        <a:rPr b="0" i="0" strike="noStrike" dirty="0"/>
                        <a:t>AlignDistributeHorizontallyClassic</a:t>
                      </a:r>
                    </a:p>
                  </a:txBody>
                  <a:tcPr horzOverflow="overflow"/>
                </a:tc>
              </a:tr>
              <a:tr h="508000">
                <a:tc>
                  <a:txBody>
                    <a:bodyPr/>
                    <a:lstStyle/>
                    <a:p>
                      <a:pPr algn="l" defTabSz="914400"/>
                      <a:r>
                        <a:rPr b="0" i="0" strike="noStrike" dirty="0"/>
                        <a:t>ShapeScribble</a:t>
                      </a:r>
                    </a:p>
                  </a:txBody>
                  <a:tcPr horzOverflow="overflow"/>
                </a:tc>
              </a:tr>
              <a:tr h="508000">
                <a:tc>
                  <a:txBody>
                    <a:bodyPr/>
                    <a:lstStyle/>
                    <a:p>
                      <a:pPr algn="l" defTabSz="914400"/>
                      <a:r>
                        <a:rPr b="0" i="0" strike="noStrike" dirty="0"/>
                        <a:t>ChartAreaChart</a:t>
                      </a:r>
                    </a:p>
                  </a:txBody>
                  <a:tcPr horzOverflow="overflow"/>
                </a:tc>
              </a:tr>
              <a:tr h="508000">
                <a:tc>
                  <a:txBody>
                    <a:bodyPr/>
                    <a:lstStyle/>
                    <a:p>
                      <a:pPr algn="l" defTabSz="914400"/>
                      <a:r>
                        <a:rPr b="0" i="0" strike="noStrike" dirty="0"/>
                        <a:t>Chart3DBarChart</a:t>
                      </a:r>
                    </a:p>
                  </a:txBody>
                  <a:tcPr horzOverflow="overflow"/>
                </a:tc>
              </a:tr>
            </a:tbl>
          </a:graphicData>
        </a:graphic>
      </p:graphicFrame>
    </p:spTree>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Chart3DColumnChart</a:t>
                      </a:r>
                    </a:p>
                  </a:txBody>
                  <a:tcPr horzOverflow="overflow"/>
                </a:tc>
              </a:tr>
              <a:tr h="508000">
                <a:tc>
                  <a:txBody>
                    <a:bodyPr/>
                    <a:lstStyle/>
                    <a:p>
                      <a:pPr algn="l" defTabSz="914400"/>
                      <a:r>
                        <a:rPr b="0" i="0" strike="noStrike" dirty="0"/>
                        <a:t>Chart3DPieChart</a:t>
                      </a:r>
                    </a:p>
                  </a:txBody>
                  <a:tcPr horzOverflow="overflow"/>
                </a:tc>
              </a:tr>
              <a:tr h="508000">
                <a:tc>
                  <a:txBody>
                    <a:bodyPr/>
                    <a:lstStyle/>
                    <a:p>
                      <a:pPr algn="l" defTabSz="914400"/>
                      <a:r>
                        <a:rPr b="0" i="0" strike="noStrike" dirty="0"/>
                        <a:t>ChartRadarChart</a:t>
                      </a:r>
                    </a:p>
                  </a:txBody>
                  <a:tcPr horzOverflow="overflow"/>
                </a:tc>
              </a:tr>
              <a:tr h="508000">
                <a:tc>
                  <a:txBody>
                    <a:bodyPr/>
                    <a:lstStyle/>
                    <a:p>
                      <a:pPr algn="l" defTabSz="914400"/>
                      <a:r>
                        <a:rPr b="0" i="0" strike="noStrike" dirty="0"/>
                        <a:t>OutlineSymbolsShowHide</a:t>
                      </a:r>
                    </a:p>
                  </a:txBody>
                  <a:tcPr horzOverflow="overflow"/>
                </a:tc>
              </a:tr>
              <a:tr h="508000">
                <a:tc>
                  <a:txBody>
                    <a:bodyPr/>
                    <a:lstStyle/>
                    <a:p>
                      <a:pPr algn="l" defTabSz="914400"/>
                      <a:r>
                        <a:rPr b="0" i="0" strike="noStrike" dirty="0"/>
                        <a:t>TableSelectVisibleCells</a:t>
                      </a:r>
                    </a:p>
                  </a:txBody>
                  <a:tcPr horzOverflow="overflow"/>
                </a:tc>
              </a:tr>
              <a:tr h="508000">
                <a:tc>
                  <a:txBody>
                    <a:bodyPr/>
                    <a:lstStyle/>
                    <a:p>
                      <a:pPr algn="l" defTabSz="914400"/>
                      <a:r>
                        <a:rPr b="0" i="0" strike="noStrike" dirty="0"/>
                        <a:t>SelectCurrentRegion</a:t>
                      </a:r>
                    </a:p>
                  </a:txBody>
                  <a:tcPr horzOverflow="overflow"/>
                </a:tc>
              </a:tr>
              <a:tr h="508000">
                <a:tc>
                  <a:txBody>
                    <a:bodyPr/>
                    <a:lstStyle/>
                    <a:p>
                      <a:pPr algn="l" defTabSz="914400"/>
                      <a:r>
                        <a:rPr b="0" i="0" strike="noStrike" dirty="0"/>
                        <a:t>FreezePanes</a:t>
                      </a:r>
                    </a:p>
                  </a:txBody>
                  <a:tcPr horzOverflow="overflow"/>
                </a:tc>
              </a:tr>
              <a:tr h="508000">
                <a:tc>
                  <a:txBody>
                    <a:bodyPr/>
                    <a:lstStyle/>
                    <a:p>
                      <a:pPr algn="l" defTabSz="914400"/>
                      <a:r>
                        <a:rPr b="0" i="0" strike="noStrike" dirty="0"/>
                        <a:t>ZoomIn</a:t>
                      </a:r>
                    </a:p>
                  </a:txBody>
                  <a:tcPr horzOverflow="overflow"/>
                </a:tc>
              </a:tr>
              <a:tr h="508000">
                <a:tc>
                  <a:txBody>
                    <a:bodyPr/>
                    <a:lstStyle/>
                    <a:p>
                      <a:pPr algn="l" defTabSz="914400"/>
                      <a:r>
                        <a:rPr b="0" i="0" strike="noStrike" dirty="0"/>
                        <a:t>ZoomOut</a:t>
                      </a:r>
                    </a:p>
                  </a:txBody>
                  <a:tcPr horzOverflow="overflow"/>
                </a:tc>
              </a:tr>
              <a:tr h="508000">
                <a:tc>
                  <a:txBody>
                    <a:bodyPr/>
                    <a:lstStyle/>
                    <a:p>
                      <a:pPr algn="l" defTabSz="914400"/>
                      <a:r>
                        <a:rPr b="0" i="0" strike="noStrike" dirty="0"/>
                        <a:t>FormControlRadioButton</a:t>
                      </a:r>
                    </a:p>
                  </a:txBody>
                  <a:tcPr horzOverflow="overflow"/>
                </a:tc>
              </a:tr>
            </a:tbl>
          </a:graphicData>
        </a:graphic>
      </p:graphicFrame>
    </p:spTree>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FormControlScrollBar</a:t>
                      </a:r>
                    </a:p>
                  </a:txBody>
                  <a:tcPr horzOverflow="overflow"/>
                </a:tc>
              </a:tr>
              <a:tr h="508000">
                <a:tc>
                  <a:txBody>
                    <a:bodyPr/>
                    <a:lstStyle/>
                    <a:p>
                      <a:pPr algn="l" defTabSz="914400"/>
                      <a:r>
                        <a:rPr b="0" i="0" strike="noStrike" dirty="0"/>
                        <a:t>FormControlListBox</a:t>
                      </a:r>
                    </a:p>
                  </a:txBody>
                  <a:tcPr horzOverflow="overflow"/>
                </a:tc>
              </a:tr>
              <a:tr h="508000">
                <a:tc>
                  <a:txBody>
                    <a:bodyPr/>
                    <a:lstStyle/>
                    <a:p>
                      <a:pPr algn="l" defTabSz="914400"/>
                      <a:r>
                        <a:rPr b="0" i="0" strike="noStrike" dirty="0"/>
                        <a:t>TraceDependentRemoveArrows</a:t>
                      </a:r>
                    </a:p>
                  </a:txBody>
                  <a:tcPr horzOverflow="overflow"/>
                </a:tc>
              </a:tr>
              <a:tr h="508000">
                <a:tc>
                  <a:txBody>
                    <a:bodyPr/>
                    <a:lstStyle/>
                    <a:p>
                      <a:pPr algn="l" defTabSz="914400"/>
                      <a:r>
                        <a:rPr b="0" i="0" strike="noStrike" dirty="0"/>
                        <a:t>TraceDependents</a:t>
                      </a:r>
                    </a:p>
                  </a:txBody>
                  <a:tcPr horzOverflow="overflow"/>
                </a:tc>
              </a:tr>
              <a:tr h="508000">
                <a:tc>
                  <a:txBody>
                    <a:bodyPr/>
                    <a:lstStyle/>
                    <a:p>
                      <a:pPr algn="l" defTabSz="914400"/>
                      <a:r>
                        <a:rPr b="0" i="0" strike="noStrike" dirty="0"/>
                        <a:t>TracePrecedentsRemoveArrows</a:t>
                      </a:r>
                    </a:p>
                  </a:txBody>
                  <a:tcPr horzOverflow="overflow"/>
                </a:tc>
              </a:tr>
              <a:tr h="508000">
                <a:tc>
                  <a:txBody>
                    <a:bodyPr/>
                    <a:lstStyle/>
                    <a:p>
                      <a:pPr algn="l" defTabSz="914400"/>
                      <a:r>
                        <a:rPr b="0" i="0" strike="noStrike" dirty="0"/>
                        <a:t>TraceRemoveAllArrows</a:t>
                      </a:r>
                    </a:p>
                  </a:txBody>
                  <a:tcPr horzOverflow="overflow"/>
                </a:tc>
              </a:tr>
              <a:tr h="508000">
                <a:tc>
                  <a:txBody>
                    <a:bodyPr/>
                    <a:lstStyle/>
                    <a:p>
                      <a:pPr algn="l" defTabSz="914400"/>
                      <a:r>
                        <a:rPr b="0" i="0" strike="noStrike" dirty="0"/>
                        <a:t>FileUpdate</a:t>
                      </a:r>
                    </a:p>
                  </a:txBody>
                  <a:tcPr horzOverflow="overflow"/>
                </a:tc>
              </a:tr>
              <a:tr h="508000">
                <a:tc>
                  <a:txBody>
                    <a:bodyPr/>
                    <a:lstStyle/>
                    <a:p>
                      <a:pPr algn="l" defTabSz="914400"/>
                      <a:r>
                        <a:rPr b="0" i="0" strike="noStrike" dirty="0"/>
                        <a:t>ReadOnly</a:t>
                      </a:r>
                    </a:p>
                  </a:txBody>
                  <a:tcPr horzOverflow="overflow"/>
                </a:tc>
              </a:tr>
              <a:tr h="508000">
                <a:tc>
                  <a:txBody>
                    <a:bodyPr/>
                    <a:lstStyle/>
                    <a:p>
                      <a:pPr algn="l" defTabSz="914400"/>
                      <a:r>
                        <a:rPr b="0" i="0" strike="noStrike" dirty="0"/>
                        <a:t>AutoFilterClassic</a:t>
                      </a:r>
                    </a:p>
                  </a:txBody>
                  <a:tcPr horzOverflow="overflow"/>
                </a:tc>
              </a:tr>
              <a:tr h="508000">
                <a:tc>
                  <a:txBody>
                    <a:bodyPr/>
                    <a:lstStyle/>
                    <a:p>
                      <a:pPr algn="l" defTabSz="914400"/>
                      <a:r>
                        <a:rPr b="0" i="0" strike="noStrike" dirty="0"/>
                        <a:t>Refresh</a:t>
                      </a:r>
                    </a:p>
                  </a:txBody>
                  <a:tcPr horzOverflow="overflow"/>
                </a:tc>
              </a:tr>
            </a:tbl>
          </a:graphicData>
        </a:graphic>
      </p:graphicFrame>
    </p:spTree>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PivotTableFieldSettings</a:t>
                      </a:r>
                    </a:p>
                  </a:txBody>
                  <a:tcPr horzOverflow="overflow"/>
                </a:tc>
              </a:tr>
              <a:tr h="508000">
                <a:tc>
                  <a:txBody>
                    <a:bodyPr/>
                    <a:lstStyle/>
                    <a:p>
                      <a:pPr algn="l" defTabSz="914400"/>
                      <a:r>
                        <a:rPr b="0" i="0" strike="noStrike" dirty="0"/>
                        <a:t>PivotTableShowPages</a:t>
                      </a:r>
                    </a:p>
                  </a:txBody>
                  <a:tcPr horzOverflow="overflow"/>
                </a:tc>
              </a:tr>
              <a:tr h="508000">
                <a:tc>
                  <a:txBody>
                    <a:bodyPr/>
                    <a:lstStyle/>
                    <a:p>
                      <a:pPr algn="l" defTabSz="914400"/>
                      <a:r>
                        <a:rPr b="0" i="0" strike="noStrike" dirty="0"/>
                        <a:t>OutlineShowDetail</a:t>
                      </a:r>
                    </a:p>
                  </a:txBody>
                  <a:tcPr horzOverflow="overflow"/>
                </a:tc>
              </a:tr>
              <a:tr h="508000">
                <a:tc>
                  <a:txBody>
                    <a:bodyPr/>
                    <a:lstStyle/>
                    <a:p>
                      <a:pPr algn="l" defTabSz="914400"/>
                      <a:r>
                        <a:rPr b="0" i="0" strike="noStrike" dirty="0"/>
                        <a:t>TraceError</a:t>
                      </a:r>
                    </a:p>
                  </a:txBody>
                  <a:tcPr horzOverflow="overflow"/>
                </a:tc>
              </a:tr>
              <a:tr h="508000">
                <a:tc>
                  <a:txBody>
                    <a:bodyPr/>
                    <a:lstStyle/>
                    <a:p>
                      <a:pPr algn="l" defTabSz="914400"/>
                      <a:r>
                        <a:rPr b="0" i="0" strike="noStrike" dirty="0"/>
                        <a:t>OutlineHideDetail</a:t>
                      </a:r>
                    </a:p>
                  </a:txBody>
                  <a:tcPr horzOverflow="overflow"/>
                </a:tc>
              </a:tr>
              <a:tr h="508000">
                <a:tc>
                  <a:txBody>
                    <a:bodyPr/>
                    <a:lstStyle/>
                    <a:p>
                      <a:pPr algn="l" defTabSz="914400"/>
                      <a:r>
                        <a:rPr b="0" i="0" strike="noStrike" dirty="0"/>
                        <a:t>AlignDistributeVerticallyClassic</a:t>
                      </a:r>
                    </a:p>
                  </a:txBody>
                  <a:tcPr horzOverflow="overflow"/>
                </a:tc>
              </a:tr>
              <a:tr h="508000">
                <a:tc>
                  <a:txBody>
                    <a:bodyPr/>
                    <a:lstStyle/>
                    <a:p>
                      <a:pPr algn="l" defTabSz="914400"/>
                      <a:r>
                        <a:rPr b="0" i="0" strike="noStrike" dirty="0"/>
                        <a:t>FormControlGroupBox</a:t>
                      </a:r>
                    </a:p>
                  </a:txBody>
                  <a:tcPr horzOverflow="overflow"/>
                </a:tc>
              </a:tr>
              <a:tr h="508000">
                <a:tc>
                  <a:txBody>
                    <a:bodyPr/>
                    <a:lstStyle/>
                    <a:p>
                      <a:pPr algn="l" defTabSz="914400"/>
                      <a:r>
                        <a:rPr b="0" i="0" strike="noStrike" dirty="0"/>
                        <a:t>FormControlSpinner</a:t>
                      </a:r>
                    </a:p>
                  </a:txBody>
                  <a:tcPr horzOverflow="overflow"/>
                </a:tc>
              </a:tr>
              <a:tr h="508000">
                <a:tc>
                  <a:txBody>
                    <a:bodyPr/>
                    <a:lstStyle/>
                    <a:p>
                      <a:pPr algn="l" defTabSz="914400"/>
                      <a:r>
                        <a:rPr b="0" i="0" strike="noStrike" dirty="0"/>
                        <a:t>TabOrder</a:t>
                      </a:r>
                    </a:p>
                  </a:txBody>
                  <a:tcPr horzOverflow="overflow"/>
                </a:tc>
              </a:tr>
              <a:tr h="508000">
                <a:tc>
                  <a:txBody>
                    <a:bodyPr/>
                    <a:lstStyle/>
                    <a:p>
                      <a:pPr algn="l" defTabSz="914400"/>
                      <a:r>
                        <a:rPr b="0" i="0" strike="noStrike" dirty="0"/>
                        <a:t>RunDialog</a:t>
                      </a:r>
                    </a:p>
                  </a:txBody>
                  <a:tcPr horzOverflow="overflow"/>
                </a:tc>
              </a:tr>
            </a:tbl>
          </a:graphicData>
        </a:graphic>
      </p:graphicFrame>
    </p:spTree>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FormControlCombinationListEdit</a:t>
                      </a:r>
                    </a:p>
                  </a:txBody>
                  <a:tcPr horzOverflow="overflow"/>
                </a:tc>
              </a:tr>
              <a:tr h="508000">
                <a:tc>
                  <a:txBody>
                    <a:bodyPr/>
                    <a:lstStyle/>
                    <a:p>
                      <a:pPr algn="l" defTabSz="914400"/>
                      <a:r>
                        <a:rPr b="0" i="0" strike="noStrike" dirty="0"/>
                        <a:t>FormControlCombinationDropDownEdit</a:t>
                      </a:r>
                    </a:p>
                  </a:txBody>
                  <a:tcPr horzOverflow="overflow"/>
                </a:tc>
              </a:tr>
              <a:tr h="508000">
                <a:tc>
                  <a:txBody>
                    <a:bodyPr/>
                    <a:lstStyle/>
                    <a:p>
                      <a:pPr algn="l" defTabSz="914400"/>
                      <a:r>
                        <a:rPr b="0" i="0" strike="noStrike" dirty="0"/>
                        <a:t>FormControlLabel</a:t>
                      </a:r>
                    </a:p>
                  </a:txBody>
                  <a:tcPr horzOverflow="overflow"/>
                </a:tc>
              </a:tr>
              <a:tr h="508000">
                <a:tc>
                  <a:txBody>
                    <a:bodyPr/>
                    <a:lstStyle/>
                    <a:p>
                      <a:pPr algn="l" defTabSz="914400"/>
                      <a:r>
                        <a:rPr b="0" i="0" strike="noStrike" dirty="0"/>
                        <a:t>Delete</a:t>
                      </a:r>
                    </a:p>
                  </a:txBody>
                  <a:tcPr horzOverflow="overflow"/>
                </a:tc>
              </a:tr>
              <a:tr h="508000">
                <a:tc>
                  <a:txBody>
                    <a:bodyPr/>
                    <a:lstStyle/>
                    <a:p>
                      <a:pPr algn="l" defTabSz="914400"/>
                      <a:r>
                        <a:rPr b="0" i="0" strike="noStrike" dirty="0"/>
                        <a:t>Fish</a:t>
                      </a:r>
                    </a:p>
                  </a:txBody>
                  <a:tcPr horzOverflow="overflow"/>
                </a:tc>
              </a:tr>
              <a:tr h="508000">
                <a:tc>
                  <a:txBody>
                    <a:bodyPr/>
                    <a:lstStyle/>
                    <a:p>
                      <a:pPr algn="l" defTabSz="914400"/>
                      <a:r>
                        <a:rPr b="0" i="0" strike="noStrike" dirty="0"/>
                        <a:t>Coffee</a:t>
                      </a:r>
                    </a:p>
                  </a:txBody>
                  <a:tcPr horzOverflow="overflow"/>
                </a:tc>
              </a:tr>
              <a:tr h="508000">
                <a:tc>
                  <a:txBody>
                    <a:bodyPr/>
                    <a:lstStyle/>
                    <a:p>
                      <a:pPr algn="l" defTabSz="914400"/>
                      <a:r>
                        <a:rPr b="0" i="0" strike="noStrike" dirty="0"/>
                        <a:t>Heart</a:t>
                      </a:r>
                    </a:p>
                  </a:txBody>
                  <a:tcPr horzOverflow="overflow"/>
                </a:tc>
              </a:tr>
              <a:tr h="508000">
                <a:tc>
                  <a:txBody>
                    <a:bodyPr/>
                    <a:lstStyle/>
                    <a:p>
                      <a:pPr algn="l" defTabSz="914400"/>
                      <a:r>
                        <a:rPr b="0" i="0" strike="noStrike" dirty="0"/>
                        <a:t>Diamond</a:t>
                      </a:r>
                    </a:p>
                  </a:txBody>
                  <a:tcPr horzOverflow="overflow"/>
                </a:tc>
              </a:tr>
              <a:tr h="508000">
                <a:tc>
                  <a:txBody>
                    <a:bodyPr/>
                    <a:lstStyle/>
                    <a:p>
                      <a:pPr algn="l" defTabSz="914400"/>
                      <a:r>
                        <a:rPr b="0" i="0" strike="noStrike" dirty="0"/>
                        <a:t>Spade</a:t>
                      </a:r>
                    </a:p>
                  </a:txBody>
                  <a:tcPr horzOverflow="overflow"/>
                </a:tc>
              </a:tr>
              <a:tr h="508000">
                <a:tc>
                  <a:txBody>
                    <a:bodyPr/>
                    <a:lstStyle/>
                    <a:p>
                      <a:pPr algn="l" defTabSz="914400"/>
                      <a:r>
                        <a:rPr b="0" i="0" strike="noStrike" dirty="0"/>
                        <a:t>Club</a:t>
                      </a:r>
                    </a:p>
                  </a:txBody>
                  <a:tcPr horzOverflow="overflow"/>
                </a:tc>
              </a:tr>
            </a:tbl>
          </a:graphicData>
        </a:graphic>
      </p:graphicFrame>
    </p:spTree>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ViewSheetGridlines</a:t>
                      </a:r>
                    </a:p>
                  </a:txBody>
                  <a:tcPr horzOverflow="overflow"/>
                </a:tc>
              </a:tr>
              <a:tr h="508000">
                <a:tc>
                  <a:txBody>
                    <a:bodyPr/>
                    <a:lstStyle/>
                    <a:p>
                      <a:pPr algn="l" defTabSz="914400"/>
                      <a:r>
                        <a:rPr b="0" i="0" strike="noStrike" dirty="0"/>
                        <a:t>TracePrecedents</a:t>
                      </a:r>
                    </a:p>
                  </a:txBody>
                  <a:tcPr horzOverflow="overflow"/>
                </a:tc>
              </a:tr>
              <a:tr h="508000">
                <a:tc>
                  <a:txBody>
                    <a:bodyPr/>
                    <a:lstStyle/>
                    <a:p>
                      <a:pPr algn="l" defTabSz="914400"/>
                      <a:r>
                        <a:rPr b="0" i="0" strike="noStrike" dirty="0"/>
                        <a:t>Info</a:t>
                      </a:r>
                    </a:p>
                  </a:txBody>
                  <a:tcPr horzOverflow="overflow"/>
                </a:tc>
              </a:tr>
              <a:tr h="508000">
                <a:tc>
                  <a:txBody>
                    <a:bodyPr/>
                    <a:lstStyle/>
                    <a:p>
                      <a:pPr algn="l" defTabSz="914400"/>
                      <a:r>
                        <a:rPr b="0" i="0" strike="noStrike" dirty="0"/>
                        <a:t>CodeEdit</a:t>
                      </a:r>
                    </a:p>
                  </a:txBody>
                  <a:tcPr horzOverflow="overflow"/>
                </a:tc>
              </a:tr>
              <a:tr h="508000">
                <a:tc>
                  <a:txBody>
                    <a:bodyPr/>
                    <a:lstStyle/>
                    <a:p>
                      <a:pPr algn="l" defTabSz="914400"/>
                      <a:r>
                        <a:rPr b="0" i="0" strike="noStrike" dirty="0"/>
                        <a:t>InsertDialog</a:t>
                      </a:r>
                    </a:p>
                  </a:txBody>
                  <a:tcPr horzOverflow="overflow"/>
                </a:tc>
              </a:tr>
              <a:tr h="508000">
                <a:tc>
                  <a:txBody>
                    <a:bodyPr/>
                    <a:lstStyle/>
                    <a:p>
                      <a:pPr algn="l" defTabSz="914400"/>
                      <a:r>
                        <a:rPr b="0" i="0" strike="noStrike" dirty="0"/>
                        <a:t>ApplyFilter</a:t>
                      </a:r>
                    </a:p>
                  </a:txBody>
                  <a:tcPr horzOverflow="overflow"/>
                </a:tc>
              </a:tr>
              <a:tr h="508000">
                <a:tc>
                  <a:txBody>
                    <a:bodyPr/>
                    <a:lstStyle/>
                    <a:p>
                      <a:pPr algn="l" defTabSz="914400"/>
                      <a:r>
                        <a:rPr b="0" i="0" strike="noStrike" dirty="0"/>
                        <a:t>DatasheetView</a:t>
                      </a:r>
                    </a:p>
                  </a:txBody>
                  <a:tcPr horzOverflow="overflow"/>
                </a:tc>
              </a:tr>
              <a:tr h="508000">
                <a:tc>
                  <a:txBody>
                    <a:bodyPr/>
                    <a:lstStyle/>
                    <a:p>
                      <a:pPr algn="l" defTabSz="914400"/>
                      <a:r>
                        <a:rPr b="0" i="0" strike="noStrike" dirty="0"/>
                        <a:t>SortAndFilterAdvanced</a:t>
                      </a:r>
                    </a:p>
                  </a:txBody>
                  <a:tcPr horzOverflow="overflow"/>
                </a:tc>
              </a:tr>
              <a:tr h="508000">
                <a:tc>
                  <a:txBody>
                    <a:bodyPr/>
                    <a:lstStyle/>
                    <a:p>
                      <a:pPr algn="l" defTabSz="914400"/>
                      <a:r>
                        <a:rPr b="0" i="0" strike="noStrike" dirty="0"/>
                        <a:t>ControlSubFormReport</a:t>
                      </a:r>
                    </a:p>
                  </a:txBody>
                  <a:tcPr horzOverflow="overflow"/>
                </a:tc>
              </a:tr>
              <a:tr h="508000">
                <a:tc>
                  <a:txBody>
                    <a:bodyPr/>
                    <a:lstStyle/>
                    <a:p>
                      <a:pPr algn="l" defTabSz="914400"/>
                      <a:r>
                        <a:rPr b="0" i="0" strike="noStrike" dirty="0"/>
                        <a:t>FieldList</a:t>
                      </a:r>
                    </a:p>
                  </a:txBody>
                  <a:tcPr horzOverflow="overflow"/>
                </a:tc>
              </a:tr>
            </a:tbl>
          </a:graphicData>
        </a:graphic>
      </p:graphicFrame>
    </p:spTree>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ViewsFormView</a:t>
                      </a:r>
                    </a:p>
                  </a:txBody>
                  <a:tcPr horzOverflow="overflow"/>
                </a:tc>
              </a:tr>
              <a:tr h="508000">
                <a:tc>
                  <a:txBody>
                    <a:bodyPr/>
                    <a:lstStyle/>
                    <a:p>
                      <a:pPr algn="l" defTabSz="914400"/>
                      <a:r>
                        <a:rPr b="0" i="0" strike="noStrike" dirty="0"/>
                        <a:t>Grouping</a:t>
                      </a:r>
                    </a:p>
                  </a:txBody>
                  <a:tcPr horzOverflow="overflow"/>
                </a:tc>
              </a:tr>
              <a:tr h="508000">
                <a:tc>
                  <a:txBody>
                    <a:bodyPr/>
                    <a:lstStyle/>
                    <a:p>
                      <a:pPr algn="l" defTabSz="914400"/>
                      <a:r>
                        <a:rPr b="0" i="0" strike="noStrike" dirty="0"/>
                        <a:t>AdpPrimaryKey</a:t>
                      </a:r>
                    </a:p>
                  </a:txBody>
                  <a:tcPr horzOverflow="overflow"/>
                </a:tc>
              </a:tr>
              <a:tr h="508000">
                <a:tc>
                  <a:txBody>
                    <a:bodyPr/>
                    <a:lstStyle/>
                    <a:p>
                      <a:pPr algn="l" defTabSz="914400"/>
                      <a:r>
                        <a:rPr b="0" i="0" strike="noStrike" dirty="0"/>
                        <a:t>ControlBoundObjectFrame</a:t>
                      </a:r>
                    </a:p>
                  </a:txBody>
                  <a:tcPr horzOverflow="overflow"/>
                </a:tc>
              </a:tr>
              <a:tr h="508000">
                <a:tc>
                  <a:txBody>
                    <a:bodyPr/>
                    <a:lstStyle/>
                    <a:p>
                      <a:pPr algn="l" defTabSz="914400"/>
                      <a:r>
                        <a:rPr b="0" i="0" strike="noStrike" dirty="0"/>
                        <a:t>ControlUnboundObjectFrame</a:t>
                      </a:r>
                    </a:p>
                  </a:txBody>
                  <a:tcPr horzOverflow="overflow"/>
                </a:tc>
              </a:tr>
              <a:tr h="508000">
                <a:tc>
                  <a:txBody>
                    <a:bodyPr/>
                    <a:lstStyle/>
                    <a:p>
                      <a:pPr algn="l" defTabSz="914400"/>
                      <a:r>
                        <a:rPr b="0" i="0" strike="noStrike" dirty="0"/>
                        <a:t>PageBreakInsertOrRemove</a:t>
                      </a:r>
                    </a:p>
                  </a:txBody>
                  <a:tcPr horzOverflow="overflow"/>
                </a:tc>
              </a:tr>
              <a:tr h="508000">
                <a:tc>
                  <a:txBody>
                    <a:bodyPr/>
                    <a:lstStyle/>
                    <a:p>
                      <a:pPr algn="l" defTabSz="914400"/>
                      <a:r>
                        <a:rPr b="0" i="0" strike="noStrike" dirty="0"/>
                        <a:t>PrintSetupDialog</a:t>
                      </a:r>
                    </a:p>
                  </a:txBody>
                  <a:tcPr horzOverflow="overflow"/>
                </a:tc>
              </a:tr>
              <a:tr h="508000">
                <a:tc>
                  <a:txBody>
                    <a:bodyPr/>
                    <a:lstStyle/>
                    <a:p>
                      <a:pPr algn="l" defTabSz="914400"/>
                      <a:r>
                        <a:rPr b="0" i="0" strike="noStrike" dirty="0"/>
                        <a:t>CreateFormInDesignView</a:t>
                      </a:r>
                    </a:p>
                  </a:txBody>
                  <a:tcPr horzOverflow="overflow"/>
                </a:tc>
              </a:tr>
              <a:tr h="508000">
                <a:tc>
                  <a:txBody>
                    <a:bodyPr/>
                    <a:lstStyle/>
                    <a:p>
                      <a:pPr algn="l" defTabSz="914400"/>
                      <a:r>
                        <a:rPr b="0" i="0" strike="noStrike" dirty="0"/>
                        <a:t>CreateQueryFromWizard</a:t>
                      </a:r>
                    </a:p>
                  </a:txBody>
                  <a:tcPr horzOverflow="overflow"/>
                </a:tc>
              </a:tr>
              <a:tr h="508000">
                <a:tc>
                  <a:txBody>
                    <a:bodyPr/>
                    <a:lstStyle/>
                    <a:p>
                      <a:pPr algn="l" defTabSz="914400"/>
                      <a:r>
                        <a:rPr b="0" i="0" strike="noStrike" dirty="0"/>
                        <a:t>CreateReportInDesignView</a:t>
                      </a:r>
                    </a:p>
                  </a:txBody>
                  <a:tcPr horzOverflow="overflow"/>
                </a:tc>
              </a:tr>
            </a:tbl>
          </a:graphicData>
        </a:graphic>
      </p:graphicFrame>
    </p:spTree>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MacroConditions</a:t>
                      </a:r>
                    </a:p>
                  </a:txBody>
                  <a:tcPr horzOverflow="overflow"/>
                </a:tc>
              </a:tr>
              <a:tr h="508000">
                <a:tc>
                  <a:txBody>
                    <a:bodyPr/>
                    <a:lstStyle/>
                    <a:p>
                      <a:pPr algn="l" defTabSz="914400"/>
                      <a:r>
                        <a:rPr b="0" i="0" strike="noStrike" dirty="0"/>
                        <a:t>MacroNames</a:t>
                      </a:r>
                    </a:p>
                  </a:txBody>
                  <a:tcPr horzOverflow="overflow"/>
                </a:tc>
              </a:tr>
              <a:tr h="508000">
                <a:tc>
                  <a:txBody>
                    <a:bodyPr/>
                    <a:lstStyle/>
                    <a:p>
                      <a:pPr algn="l" defTabSz="914400"/>
                      <a:r>
                        <a:rPr b="0" i="0" strike="noStrike" dirty="0"/>
                        <a:t>ControlToggleButton</a:t>
                      </a:r>
                    </a:p>
                  </a:txBody>
                  <a:tcPr horzOverflow="overflow"/>
                </a:tc>
              </a:tr>
              <a:tr h="508000">
                <a:tc>
                  <a:txBody>
                    <a:bodyPr/>
                    <a:lstStyle/>
                    <a:p>
                      <a:pPr algn="l" defTabSz="914400"/>
                      <a:r>
                        <a:rPr b="0" i="0" strike="noStrike" dirty="0"/>
                        <a:t>DatabaseRelationships</a:t>
                      </a:r>
                    </a:p>
                  </a:txBody>
                  <a:tcPr horzOverflow="overflow"/>
                </a:tc>
              </a:tr>
              <a:tr h="508000">
                <a:tc>
                  <a:txBody>
                    <a:bodyPr/>
                    <a:lstStyle/>
                    <a:p>
                      <a:pPr algn="l" defTabSz="914400"/>
                      <a:r>
                        <a:rPr b="0" i="0" strike="noStrike" dirty="0"/>
                        <a:t>TableIndexes</a:t>
                      </a:r>
                    </a:p>
                  </a:txBody>
                  <a:tcPr horzOverflow="overflow"/>
                </a:tc>
              </a:tr>
              <a:tr h="508000">
                <a:tc>
                  <a:txBody>
                    <a:bodyPr/>
                    <a:lstStyle/>
                    <a:p>
                      <a:pPr algn="l" defTabSz="914400"/>
                      <a:r>
                        <a:rPr b="0" i="0" strike="noStrike" dirty="0"/>
                        <a:t>ViewsAdpDiagramSqlView</a:t>
                      </a:r>
                    </a:p>
                  </a:txBody>
                  <a:tcPr horzOverflow="overflow"/>
                </a:tc>
              </a:tr>
              <a:tr h="508000">
                <a:tc>
                  <a:txBody>
                    <a:bodyPr/>
                    <a:lstStyle/>
                    <a:p>
                      <a:pPr algn="l" defTabSz="914400"/>
                      <a:r>
                        <a:rPr b="0" i="0" strike="noStrike" dirty="0"/>
                        <a:t>QueryTableNamesShowHide</a:t>
                      </a:r>
                    </a:p>
                  </a:txBody>
                  <a:tcPr horzOverflow="overflow"/>
                </a:tc>
              </a:tr>
              <a:tr h="508000">
                <a:tc>
                  <a:txBody>
                    <a:bodyPr/>
                    <a:lstStyle/>
                    <a:p>
                      <a:pPr algn="l" defTabSz="914400"/>
                      <a:r>
                        <a:rPr b="0" i="0" strike="noStrike" dirty="0"/>
                        <a:t>QueryShowTable</a:t>
                      </a:r>
                    </a:p>
                  </a:txBody>
                  <a:tcPr horzOverflow="overflow"/>
                </a:tc>
              </a:tr>
              <a:tr h="508000">
                <a:tc>
                  <a:txBody>
                    <a:bodyPr/>
                    <a:lstStyle/>
                    <a:p>
                      <a:pPr algn="l" defTabSz="914400"/>
                      <a:r>
                        <a:rPr b="0" i="0" strike="noStrike" dirty="0"/>
                        <a:t>QuerySelectQueryType</a:t>
                      </a:r>
                    </a:p>
                  </a:txBody>
                  <a:tcPr horzOverflow="overflow"/>
                </a:tc>
              </a:tr>
              <a:tr h="508000">
                <a:tc>
                  <a:txBody>
                    <a:bodyPr/>
                    <a:lstStyle/>
                    <a:p>
                      <a:pPr algn="l" defTabSz="914400"/>
                      <a:r>
                        <a:rPr b="0" i="0" strike="noStrike" dirty="0"/>
                        <a:t>QueryCrosstab</a:t>
                      </a:r>
                    </a:p>
                  </a:txBody>
                  <a:tcPr horzOverflow="overflow"/>
                </a:tc>
              </a:tr>
            </a:tbl>
          </a:graphicData>
        </a:graphic>
      </p:graphicFrame>
    </p:spTree>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QueryMakeTable</a:t>
                      </a:r>
                    </a:p>
                  </a:txBody>
                  <a:tcPr horzOverflow="overflow"/>
                </a:tc>
              </a:tr>
              <a:tr h="508000">
                <a:tc>
                  <a:txBody>
                    <a:bodyPr/>
                    <a:lstStyle/>
                    <a:p>
                      <a:pPr algn="l" defTabSz="914400"/>
                      <a:r>
                        <a:rPr b="0" i="0" strike="noStrike" dirty="0"/>
                        <a:t>QueryUpdate</a:t>
                      </a:r>
                    </a:p>
                  </a:txBody>
                  <a:tcPr horzOverflow="overflow"/>
                </a:tc>
              </a:tr>
              <a:tr h="508000">
                <a:tc>
                  <a:txBody>
                    <a:bodyPr/>
                    <a:lstStyle/>
                    <a:p>
                      <a:pPr algn="l" defTabSz="914400"/>
                      <a:r>
                        <a:rPr b="0" i="0" strike="noStrike" dirty="0"/>
                        <a:t>QueryAppend</a:t>
                      </a:r>
                    </a:p>
                  </a:txBody>
                  <a:tcPr horzOverflow="overflow"/>
                </a:tc>
              </a:tr>
              <a:tr h="508000">
                <a:tc>
                  <a:txBody>
                    <a:bodyPr/>
                    <a:lstStyle/>
                    <a:p>
                      <a:pPr algn="l" defTabSz="914400"/>
                      <a:r>
                        <a:rPr b="0" i="0" strike="noStrike" dirty="0"/>
                        <a:t>QueryDelete</a:t>
                      </a:r>
                    </a:p>
                  </a:txBody>
                  <a:tcPr horzOverflow="overflow"/>
                </a:tc>
              </a:tr>
              <a:tr h="508000">
                <a:tc>
                  <a:txBody>
                    <a:bodyPr/>
                    <a:lstStyle/>
                    <a:p>
                      <a:pPr algn="l" defTabSz="914400"/>
                      <a:r>
                        <a:rPr b="0" i="0" strike="noStrike" dirty="0"/>
                        <a:t>QueryParameters</a:t>
                      </a:r>
                    </a:p>
                  </a:txBody>
                  <a:tcPr horzOverflow="overflow"/>
                </a:tc>
              </a:tr>
              <a:tr h="508000">
                <a:tc>
                  <a:txBody>
                    <a:bodyPr/>
                    <a:lstStyle/>
                    <a:p>
                      <a:pPr algn="l" defTabSz="914400"/>
                      <a:r>
                        <a:rPr b="0" i="0" strike="noStrike" dirty="0"/>
                        <a:t>RecordsSaveRecord</a:t>
                      </a:r>
                    </a:p>
                  </a:txBody>
                  <a:tcPr horzOverflow="overflow"/>
                </a:tc>
              </a:tr>
              <a:tr h="508000">
                <a:tc>
                  <a:txBody>
                    <a:bodyPr/>
                    <a:lstStyle/>
                    <a:p>
                      <a:pPr algn="l" defTabSz="914400"/>
                      <a:r>
                        <a:rPr b="0" i="0" strike="noStrike" dirty="0"/>
                        <a:t>GoToNewRecord</a:t>
                      </a:r>
                    </a:p>
                  </a:txBody>
                  <a:tcPr horzOverflow="overflow"/>
                </a:tc>
              </a:tr>
              <a:tr h="508000">
                <a:tc>
                  <a:txBody>
                    <a:bodyPr/>
                    <a:lstStyle/>
                    <a:p>
                      <a:pPr algn="l" defTabSz="914400"/>
                      <a:r>
                        <a:rPr b="0" i="0" strike="noStrike" dirty="0"/>
                        <a:t>RowHeight</a:t>
                      </a:r>
                    </a:p>
                  </a:txBody>
                  <a:tcPr horzOverflow="overflow"/>
                </a:tc>
              </a:tr>
              <a:tr h="508000">
                <a:tc>
                  <a:txBody>
                    <a:bodyPr/>
                    <a:lstStyle/>
                    <a:p>
                      <a:pPr algn="l" defTabSz="914400"/>
                      <a:r>
                        <a:rPr b="0" i="0" strike="noStrike" dirty="0"/>
                        <a:t>ColumnWidth</a:t>
                      </a:r>
                    </a:p>
                  </a:txBody>
                  <a:tcPr horzOverflow="overflow"/>
                </a:tc>
              </a:tr>
              <a:tr h="508000">
                <a:tc>
                  <a:txBody>
                    <a:bodyPr/>
                    <a:lstStyle/>
                    <a:p>
                      <a:pPr algn="l" defTabSz="914400"/>
                      <a:r>
                        <a:rPr b="0" i="0" strike="noStrike" dirty="0"/>
                        <a:t>RecordsFreezeColumns</a:t>
                      </a:r>
                    </a:p>
                  </a:txBody>
                  <a:tcPr horzOverflow="overflow"/>
                </a:tc>
              </a:tr>
            </a:tbl>
          </a:graphicData>
        </a:graphic>
      </p:graphicFrame>
    </p:spTree>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GridlinesGallery</a:t>
                      </a:r>
                    </a:p>
                  </a:txBody>
                  <a:tcPr horzOverflow="overflow"/>
                </a:tc>
              </a:tr>
              <a:tr h="508000">
                <a:tc>
                  <a:txBody>
                    <a:bodyPr/>
                    <a:lstStyle/>
                    <a:p>
                      <a:pPr algn="l" defTabSz="914400"/>
                      <a:r>
                        <a:rPr b="0" i="0" strike="noStrike" dirty="0"/>
                        <a:t>OleObjectctInsert</a:t>
                      </a:r>
                    </a:p>
                  </a:txBody>
                  <a:tcPr horzOverflow="overflow"/>
                </a:tc>
              </a:tr>
              <a:tr h="508000">
                <a:tc>
                  <a:txBody>
                    <a:bodyPr/>
                    <a:lstStyle/>
                    <a:p>
                      <a:pPr algn="l" defTabSz="914400"/>
                      <a:r>
                        <a:rPr b="0" i="0" strike="noStrike" dirty="0"/>
                        <a:t>ControlToolboxOutlook</a:t>
                      </a:r>
                    </a:p>
                  </a:txBody>
                  <a:tcPr horzOverflow="overflow"/>
                </a:tc>
              </a:tr>
              <a:tr h="508000">
                <a:tc>
                  <a:txBody>
                    <a:bodyPr/>
                    <a:lstStyle/>
                    <a:p>
                      <a:pPr algn="l" defTabSz="914400"/>
                      <a:r>
                        <a:rPr b="0" i="0" strike="noStrike" dirty="0"/>
                        <a:t>SnapToGrid</a:t>
                      </a:r>
                    </a:p>
                  </a:txBody>
                  <a:tcPr horzOverflow="overflow"/>
                </a:tc>
              </a:tr>
              <a:tr h="508000">
                <a:tc>
                  <a:txBody>
                    <a:bodyPr/>
                    <a:lstStyle/>
                    <a:p>
                      <a:pPr algn="l" defTabSz="914400"/>
                      <a:r>
                        <a:rPr b="0" i="0" strike="noStrike" dirty="0"/>
                        <a:t>SizeToFit</a:t>
                      </a:r>
                    </a:p>
                  </a:txBody>
                  <a:tcPr horzOverflow="overflow"/>
                </a:tc>
              </a:tr>
              <a:tr h="508000">
                <a:tc>
                  <a:txBody>
                    <a:bodyPr/>
                    <a:lstStyle/>
                    <a:p>
                      <a:pPr algn="l" defTabSz="914400"/>
                      <a:r>
                        <a:rPr b="0" i="0" strike="noStrike" dirty="0"/>
                        <a:t>PageHeaderOrFooterShowHide</a:t>
                      </a:r>
                    </a:p>
                  </a:txBody>
                  <a:tcPr horzOverflow="overflow"/>
                </a:tc>
              </a:tr>
              <a:tr h="508000">
                <a:tc>
                  <a:txBody>
                    <a:bodyPr/>
                    <a:lstStyle/>
                    <a:p>
                      <a:pPr algn="l" defTabSz="914400"/>
                      <a:r>
                        <a:rPr b="0" i="0" strike="noStrike" dirty="0"/>
                        <a:t>FormHeaderOrFooterShowHide</a:t>
                      </a:r>
                    </a:p>
                  </a:txBody>
                  <a:tcPr horzOverflow="overflow"/>
                </a:tc>
              </a:tr>
              <a:tr h="508000">
                <a:tc>
                  <a:txBody>
                    <a:bodyPr/>
                    <a:lstStyle/>
                    <a:p>
                      <a:pPr algn="l" defTabSz="914400"/>
                      <a:r>
                        <a:rPr b="0" i="0" strike="noStrike" dirty="0"/>
                        <a:t>First10RecordsPreview</a:t>
                      </a:r>
                    </a:p>
                  </a:txBody>
                  <a:tcPr horzOverflow="overflow"/>
                </a:tc>
              </a:tr>
              <a:tr h="508000">
                <a:tc>
                  <a:txBody>
                    <a:bodyPr/>
                    <a:lstStyle/>
                    <a:p>
                      <a:pPr algn="l" defTabSz="914400"/>
                      <a:r>
                        <a:rPr b="0" i="0" strike="noStrike" dirty="0"/>
                        <a:t>ControlSpecialEffectRaised</a:t>
                      </a:r>
                    </a:p>
                  </a:txBody>
                  <a:tcPr horzOverflow="overflow"/>
                </a:tc>
              </a:tr>
              <a:tr h="508000">
                <a:tc>
                  <a:txBody>
                    <a:bodyPr/>
                    <a:lstStyle/>
                    <a:p>
                      <a:pPr algn="l" defTabSz="914400"/>
                      <a:r>
                        <a:rPr b="0" i="0" strike="noStrike" dirty="0"/>
                        <a:t>ControlSpecialEffectSunken</a:t>
                      </a:r>
                    </a:p>
                  </a:txBody>
                  <a:tcPr horzOverflow="overflow"/>
                </a:tc>
              </a:tr>
            </a:tbl>
          </a:graphicData>
        </a:graphic>
      </p:graphicFrame>
    </p:spTree>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AutoDial</a:t>
                      </a:r>
                    </a:p>
                  </a:txBody>
                  <a:tcPr horzOverflow="overflow"/>
                </a:tc>
              </a:tr>
              <a:tr h="508000">
                <a:tc>
                  <a:txBody>
                    <a:bodyPr/>
                    <a:lstStyle/>
                    <a:p>
                      <a:pPr algn="l" defTabSz="914400"/>
                      <a:r>
                        <a:rPr b="0" i="0" strike="noStrike" dirty="0"/>
                        <a:t>FindNext</a:t>
                      </a:r>
                    </a:p>
                  </a:txBody>
                  <a:tcPr horzOverflow="overflow"/>
                </a:tc>
              </a:tr>
              <a:tr h="508000">
                <a:tc>
                  <a:txBody>
                    <a:bodyPr/>
                    <a:lstStyle/>
                    <a:p>
                      <a:pPr algn="l" defTabSz="914400"/>
                      <a:r>
                        <a:rPr b="0" i="0" strike="noStrike" dirty="0"/>
                        <a:t>PasteDuplicate</a:t>
                      </a:r>
                    </a:p>
                  </a:txBody>
                  <a:tcPr horzOverflow="overflow"/>
                </a:tc>
              </a:tr>
              <a:tr h="508000">
                <a:tc>
                  <a:txBody>
                    <a:bodyPr/>
                    <a:lstStyle/>
                    <a:p>
                      <a:pPr algn="l" defTabSz="914400"/>
                      <a:r>
                        <a:rPr b="0" i="0" strike="noStrike" dirty="0"/>
                        <a:t>DatabasePermissions</a:t>
                      </a:r>
                    </a:p>
                  </a:txBody>
                  <a:tcPr horzOverflow="overflow"/>
                </a:tc>
              </a:tr>
              <a:tr h="508000">
                <a:tc>
                  <a:txBody>
                    <a:bodyPr/>
                    <a:lstStyle/>
                    <a:p>
                      <a:pPr algn="l" defTabSz="914400"/>
                      <a:r>
                        <a:rPr b="0" i="0" strike="noStrike" dirty="0"/>
                        <a:t>ControlAlignToGrid</a:t>
                      </a:r>
                    </a:p>
                  </a:txBody>
                  <a:tcPr horzOverflow="overflow"/>
                </a:tc>
              </a:tr>
              <a:tr h="508000">
                <a:tc>
                  <a:txBody>
                    <a:bodyPr/>
                    <a:lstStyle/>
                    <a:p>
                      <a:pPr algn="l" defTabSz="914400"/>
                      <a:r>
                        <a:rPr b="0" i="0" strike="noStrike" dirty="0"/>
                        <a:t>ControlSpecialEffectFlat</a:t>
                      </a:r>
                    </a:p>
                  </a:txBody>
                  <a:tcPr horzOverflow="overflow"/>
                </a:tc>
              </a:tr>
              <a:tr h="508000">
                <a:tc>
                  <a:txBody>
                    <a:bodyPr/>
                    <a:lstStyle/>
                    <a:p>
                      <a:pPr algn="l" defTabSz="914400"/>
                      <a:r>
                        <a:rPr b="0" i="0" strike="noStrike" dirty="0"/>
                        <a:t>CreateTableInDesignView</a:t>
                      </a:r>
                    </a:p>
                  </a:txBody>
                  <a:tcPr horzOverflow="overflow"/>
                </a:tc>
              </a:tr>
              <a:tr h="508000">
                <a:tc>
                  <a:txBody>
                    <a:bodyPr/>
                    <a:lstStyle/>
                    <a:p>
                      <a:pPr algn="l" defTabSz="914400"/>
                      <a:r>
                        <a:rPr b="0" i="0" strike="noStrike" dirty="0"/>
                        <a:t>MacroDefault</a:t>
                      </a:r>
                    </a:p>
                  </a:txBody>
                  <a:tcPr horzOverflow="overflow"/>
                </a:tc>
              </a:tr>
              <a:tr h="508000">
                <a:tc>
                  <a:txBody>
                    <a:bodyPr/>
                    <a:lstStyle/>
                    <a:p>
                      <a:pPr algn="l" defTabSz="914400"/>
                      <a:r>
                        <a:rPr b="0" i="0" strike="noStrike" dirty="0"/>
                        <a:t>ModuleInsert</a:t>
                      </a:r>
                    </a:p>
                  </a:txBody>
                  <a:tcPr horzOverflow="overflow"/>
                </a:tc>
              </a:tr>
              <a:tr h="508000">
                <a:tc>
                  <a:txBody>
                    <a:bodyPr/>
                    <a:lstStyle/>
                    <a:p>
                      <a:pPr algn="l" defTabSz="914400"/>
                      <a:r>
                        <a:rPr b="0" i="0" strike="noStrike" dirty="0"/>
                        <a:t>FilterToggleFilter</a:t>
                      </a:r>
                    </a:p>
                  </a:txBody>
                  <a:tcPr horzOverflow="overflow"/>
                </a:tc>
              </a:tr>
            </a:tbl>
          </a:graphicData>
        </a:graphic>
      </p:graphicFrame>
    </p:spTree>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FilterClearAllFilters</a:t>
                      </a:r>
                    </a:p>
                  </a:txBody>
                  <a:tcPr horzOverflow="overflow"/>
                </a:tc>
              </a:tr>
              <a:tr h="508000">
                <a:tc>
                  <a:txBody>
                    <a:bodyPr/>
                    <a:lstStyle/>
                    <a:p>
                      <a:pPr algn="l" defTabSz="914400"/>
                      <a:r>
                        <a:rPr b="0" i="0" strike="noStrike" dirty="0"/>
                        <a:t>Head</a:t>
                      </a:r>
                    </a:p>
                  </a:txBody>
                  <a:tcPr horzOverflow="overflow"/>
                </a:tc>
              </a:tr>
              <a:tr h="508000">
                <a:tc>
                  <a:txBody>
                    <a:bodyPr/>
                    <a:lstStyle/>
                    <a:p>
                      <a:pPr algn="l" defTabSz="914400"/>
                      <a:r>
                        <a:rPr b="0" i="0" strike="noStrike" dirty="0"/>
                        <a:t>ReminderSound</a:t>
                      </a:r>
                    </a:p>
                  </a:txBody>
                  <a:tcPr horzOverflow="overflow"/>
                </a:tc>
              </a:tr>
              <a:tr h="508000">
                <a:tc>
                  <a:txBody>
                    <a:bodyPr/>
                    <a:lstStyle/>
                    <a:p>
                      <a:pPr algn="l" defTabSz="914400"/>
                      <a:r>
                        <a:rPr b="0" i="0" strike="noStrike" dirty="0"/>
                        <a:t>CreateModule</a:t>
                      </a:r>
                    </a:p>
                  </a:txBody>
                  <a:tcPr horzOverflow="overflow"/>
                </a:tc>
              </a:tr>
              <a:tr h="508000">
                <a:tc>
                  <a:txBody>
                    <a:bodyPr/>
                    <a:lstStyle/>
                    <a:p>
                      <a:pPr algn="l" defTabSz="914400"/>
                      <a:r>
                        <a:rPr b="0" i="0" strike="noStrike" dirty="0"/>
                        <a:t>RelationshipsDirectRelationships</a:t>
                      </a:r>
                    </a:p>
                  </a:txBody>
                  <a:tcPr horzOverflow="overflow"/>
                </a:tc>
              </a:tr>
              <a:tr h="508000">
                <a:tc>
                  <a:txBody>
                    <a:bodyPr/>
                    <a:lstStyle/>
                    <a:p>
                      <a:pPr algn="l" defTabSz="914400"/>
                      <a:r>
                        <a:rPr b="0" i="0" strike="noStrike" dirty="0"/>
                        <a:t>RelationshipDesignAllRelationships</a:t>
                      </a:r>
                    </a:p>
                  </a:txBody>
                  <a:tcPr horzOverflow="overflow"/>
                </a:tc>
              </a:tr>
              <a:tr h="508000">
                <a:tc>
                  <a:txBody>
                    <a:bodyPr/>
                    <a:lstStyle/>
                    <a:p>
                      <a:pPr algn="l" defTabSz="914400"/>
                      <a:r>
                        <a:rPr b="0" i="0" strike="noStrike" dirty="0"/>
                        <a:t>ControlWizards</a:t>
                      </a:r>
                    </a:p>
                  </a:txBody>
                  <a:tcPr horzOverflow="overflow"/>
                </a:tc>
              </a:tr>
              <a:tr h="508000">
                <a:tc>
                  <a:txBody>
                    <a:bodyPr/>
                    <a:lstStyle/>
                    <a:p>
                      <a:pPr algn="l" defTabSz="914400"/>
                      <a:r>
                        <a:rPr b="0" i="0" strike="noStrike" dirty="0"/>
                        <a:t>MergeToWord</a:t>
                      </a:r>
                    </a:p>
                  </a:txBody>
                  <a:tcPr horzOverflow="overflow"/>
                </a:tc>
              </a:tr>
              <a:tr h="508000">
                <a:tc>
                  <a:txBody>
                    <a:bodyPr/>
                    <a:lstStyle/>
                    <a:p>
                      <a:pPr algn="l" defTabSz="914400"/>
                      <a:r>
                        <a:rPr b="0" i="0" strike="noStrike" dirty="0"/>
                        <a:t>FilterAdvancedByForm</a:t>
                      </a:r>
                    </a:p>
                  </a:txBody>
                  <a:tcPr horzOverflow="overflow"/>
                </a:tc>
              </a:tr>
              <a:tr h="508000">
                <a:tc>
                  <a:txBody>
                    <a:bodyPr/>
                    <a:lstStyle/>
                    <a:p>
                      <a:pPr algn="l" defTabSz="914400"/>
                      <a:r>
                        <a:rPr b="0" i="0" strike="noStrike" dirty="0"/>
                        <a:t>CreateMacro</a:t>
                      </a:r>
                    </a:p>
                  </a:txBody>
                  <a:tcPr horzOverflow="overflow"/>
                </a:tc>
              </a:tr>
            </a:tbl>
          </a:graphicData>
        </a:graphic>
      </p:graphicFrame>
    </p:spTree>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AutoFormatWizard</a:t>
                      </a:r>
                    </a:p>
                  </a:txBody>
                  <a:tcPr horzOverflow="overflow"/>
                </a:tc>
              </a:tr>
              <a:tr h="508000">
                <a:tc>
                  <a:txBody>
                    <a:bodyPr/>
                    <a:lstStyle/>
                    <a:p>
                      <a:pPr algn="l" defTabSz="914400"/>
                      <a:r>
                        <a:rPr b="0" i="0" strike="noStrike" dirty="0"/>
                        <a:t>PrintPreviewZoomTwoPages</a:t>
                      </a:r>
                    </a:p>
                  </a:txBody>
                  <a:tcPr horzOverflow="overflow"/>
                </a:tc>
              </a:tr>
              <a:tr h="508000">
                <a:tc>
                  <a:txBody>
                    <a:bodyPr/>
                    <a:lstStyle/>
                    <a:p>
                      <a:pPr algn="l" defTabSz="914400"/>
                      <a:r>
                        <a:rPr b="0" i="0" strike="noStrike" dirty="0"/>
                        <a:t>FilterBySelection</a:t>
                      </a:r>
                    </a:p>
                  </a:txBody>
                  <a:tcPr horzOverflow="overflow"/>
                </a:tc>
              </a:tr>
              <a:tr h="508000">
                <a:tc>
                  <a:txBody>
                    <a:bodyPr/>
                    <a:lstStyle/>
                    <a:p>
                      <a:pPr algn="l" defTabSz="914400"/>
                      <a:r>
                        <a:rPr b="0" i="0" strike="noStrike" dirty="0"/>
                        <a:t>RecordsDeleteRecord</a:t>
                      </a:r>
                    </a:p>
                  </a:txBody>
                  <a:tcPr horzOverflow="overflow"/>
                </a:tc>
              </a:tr>
              <a:tr h="508000">
                <a:tc>
                  <a:txBody>
                    <a:bodyPr/>
                    <a:lstStyle/>
                    <a:p>
                      <a:pPr algn="l" defTabSz="914400"/>
                      <a:r>
                        <a:rPr b="0" i="0" strike="noStrike" dirty="0"/>
                        <a:t>QueryBuilder</a:t>
                      </a:r>
                    </a:p>
                  </a:txBody>
                  <a:tcPr horzOverflow="overflow"/>
                </a:tc>
              </a:tr>
              <a:tr h="508000">
                <a:tc>
                  <a:txBody>
                    <a:bodyPr/>
                    <a:lstStyle/>
                    <a:p>
                      <a:pPr algn="l" defTabSz="914400"/>
                      <a:r>
                        <a:rPr b="0" i="0" strike="noStrike" dirty="0"/>
                        <a:t>DatabaseDocumenter</a:t>
                      </a:r>
                    </a:p>
                  </a:txBody>
                  <a:tcPr horzOverflow="overflow"/>
                </a:tc>
              </a:tr>
              <a:tr h="508000">
                <a:tc>
                  <a:txBody>
                    <a:bodyPr/>
                    <a:lstStyle/>
                    <a:p>
                      <a:pPr algn="l" defTabSz="914400"/>
                      <a:r>
                        <a:rPr b="0" i="0" strike="noStrike" dirty="0"/>
                        <a:t>DatabaseAnalyzePerformance</a:t>
                      </a:r>
                    </a:p>
                  </a:txBody>
                  <a:tcPr horzOverflow="overflow"/>
                </a:tc>
              </a:tr>
              <a:tr h="508000">
                <a:tc>
                  <a:txBody>
                    <a:bodyPr/>
                    <a:lstStyle/>
                    <a:p>
                      <a:pPr algn="l" defTabSz="914400"/>
                      <a:r>
                        <a:rPr b="0" i="0" strike="noStrike" dirty="0"/>
                        <a:t>DatabaseAnalyzeTable</a:t>
                      </a:r>
                    </a:p>
                  </a:txBody>
                  <a:tcPr horzOverflow="overflow"/>
                </a:tc>
              </a:tr>
              <a:tr h="508000">
                <a:tc>
                  <a:txBody>
                    <a:bodyPr/>
                    <a:lstStyle/>
                    <a:p>
                      <a:pPr algn="l" defTabSz="914400"/>
                      <a:r>
                        <a:rPr b="0" i="0" strike="noStrike" dirty="0"/>
                        <a:t>ObjectsAlignLeft</a:t>
                      </a:r>
                    </a:p>
                  </a:txBody>
                  <a:tcPr horzOverflow="overflow"/>
                </a:tc>
              </a:tr>
              <a:tr h="508000">
                <a:tc>
                  <a:txBody>
                    <a:bodyPr/>
                    <a:lstStyle/>
                    <a:p>
                      <a:pPr algn="l" defTabSz="914400"/>
                      <a:r>
                        <a:rPr b="0" i="0" strike="noStrike" dirty="0"/>
                        <a:t>ObjectsAlignRight</a:t>
                      </a:r>
                    </a:p>
                  </a:txBody>
                  <a:tcPr horzOverflow="overflow"/>
                </a:tc>
              </a:tr>
            </a:tbl>
          </a:graphicData>
        </a:graphic>
      </p:graphicFrame>
    </p:spTree>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ObjectsAlignTop</a:t>
                      </a:r>
                    </a:p>
                  </a:txBody>
                  <a:tcPr horzOverflow="overflow"/>
                </a:tc>
              </a:tr>
              <a:tr h="508000">
                <a:tc>
                  <a:txBody>
                    <a:bodyPr/>
                    <a:lstStyle/>
                    <a:p>
                      <a:pPr algn="l" defTabSz="914400"/>
                      <a:r>
                        <a:rPr b="0" i="0" strike="noStrike" dirty="0"/>
                        <a:t>ObjectsAlignBottom</a:t>
                      </a:r>
                    </a:p>
                  </a:txBody>
                  <a:tcPr horzOverflow="overflow"/>
                </a:tc>
              </a:tr>
              <a:tr h="508000">
                <a:tc>
                  <a:txBody>
                    <a:bodyPr/>
                    <a:lstStyle/>
                    <a:p>
                      <a:pPr algn="l" defTabSz="914400"/>
                      <a:r>
                        <a:rPr b="0" i="0" strike="noStrike" dirty="0"/>
                        <a:t>ObjectsAlignCenterHorizontal</a:t>
                      </a:r>
                    </a:p>
                  </a:txBody>
                  <a:tcPr horzOverflow="overflow"/>
                </a:tc>
              </a:tr>
              <a:tr h="508000">
                <a:tc>
                  <a:txBody>
                    <a:bodyPr/>
                    <a:lstStyle/>
                    <a:p>
                      <a:pPr algn="l" defTabSz="914400"/>
                      <a:r>
                        <a:rPr b="0" i="0" strike="noStrike" dirty="0"/>
                        <a:t>ObjectsAlignMiddleVertical</a:t>
                      </a:r>
                    </a:p>
                  </a:txBody>
                  <a:tcPr horzOverflow="overflow"/>
                </a:tc>
              </a:tr>
              <a:tr h="508000">
                <a:tc>
                  <a:txBody>
                    <a:bodyPr/>
                    <a:lstStyle/>
                    <a:p>
                      <a:pPr algn="l" defTabSz="914400"/>
                      <a:r>
                        <a:rPr b="0" i="0" strike="noStrike" dirty="0"/>
                        <a:t>SlideNew</a:t>
                      </a:r>
                    </a:p>
                  </a:txBody>
                  <a:tcPr horzOverflow="overflow"/>
                </a:tc>
              </a:tr>
              <a:tr h="508000">
                <a:tc>
                  <a:txBody>
                    <a:bodyPr/>
                    <a:lstStyle/>
                    <a:p>
                      <a:pPr algn="l" defTabSz="914400"/>
                      <a:r>
                        <a:rPr b="0" i="0" strike="noStrike" dirty="0"/>
                        <a:t>ClipArtInsert</a:t>
                      </a:r>
                    </a:p>
                  </a:txBody>
                  <a:tcPr horzOverflow="overflow"/>
                </a:tc>
              </a:tr>
              <a:tr h="508000">
                <a:tc>
                  <a:txBody>
                    <a:bodyPr/>
                    <a:lstStyle/>
                    <a:p>
                      <a:pPr algn="l" defTabSz="914400"/>
                      <a:r>
                        <a:rPr b="0" i="0" strike="noStrike" dirty="0"/>
                        <a:t>CreateHandoutsInWord</a:t>
                      </a:r>
                    </a:p>
                  </a:txBody>
                  <a:tcPr horzOverflow="overflow"/>
                </a:tc>
              </a:tr>
              <a:tr h="508000">
                <a:tc>
                  <a:txBody>
                    <a:bodyPr/>
                    <a:lstStyle/>
                    <a:p>
                      <a:pPr algn="l" defTabSz="914400"/>
                      <a:r>
                        <a:rPr b="0" i="0" strike="noStrike" dirty="0"/>
                        <a:t>Shadow</a:t>
                      </a:r>
                    </a:p>
                  </a:txBody>
                  <a:tcPr horzOverflow="overflow"/>
                </a:tc>
              </a:tr>
              <a:tr h="508000">
                <a:tc>
                  <a:txBody>
                    <a:bodyPr/>
                    <a:lstStyle/>
                    <a:p>
                      <a:pPr algn="l" defTabSz="914400"/>
                      <a:r>
                        <a:rPr b="0" i="0" strike="noStrike" dirty="0"/>
                        <a:t>ObjectRotateFree</a:t>
                      </a:r>
                    </a:p>
                  </a:txBody>
                  <a:tcPr horzOverflow="overflow"/>
                </a:tc>
              </a:tr>
              <a:tr h="508000">
                <a:tc>
                  <a:txBody>
                    <a:bodyPr/>
                    <a:lstStyle/>
                    <a:p>
                      <a:pPr algn="l" defTabSz="914400"/>
                      <a:r>
                        <a:rPr b="0" i="0" strike="noStrike" dirty="0"/>
                        <a:t>ShapesMoreShapes</a:t>
                      </a:r>
                    </a:p>
                  </a:txBody>
                  <a:tcPr horzOverflow="overflow"/>
                </a:tc>
              </a:tr>
            </a:tbl>
          </a:graphicData>
        </a:graphic>
      </p:graphicFrame>
    </p:spTree>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CopyToPersonalContacts</a:t>
                      </a:r>
                    </a:p>
                  </a:txBody>
                  <a:tcPr horzOverflow="overflow"/>
                </a:tc>
              </a:tr>
              <a:tr h="508000">
                <a:tc>
                  <a:txBody>
                    <a:bodyPr/>
                    <a:lstStyle/>
                    <a:p>
                      <a:pPr algn="l" defTabSz="914400"/>
                      <a:r>
                        <a:rPr b="0" i="0" strike="noStrike" dirty="0"/>
                        <a:t>ParagraphSpacingIncrease</a:t>
                      </a:r>
                    </a:p>
                  </a:txBody>
                  <a:tcPr horzOverflow="overflow"/>
                </a:tc>
              </a:tr>
              <a:tr h="508000">
                <a:tc>
                  <a:txBody>
                    <a:bodyPr/>
                    <a:lstStyle/>
                    <a:p>
                      <a:pPr algn="l" defTabSz="914400"/>
                      <a:r>
                        <a:rPr b="0" i="0" strike="noStrike" dirty="0"/>
                        <a:t>ParagraphSpacingDecrease</a:t>
                      </a:r>
                    </a:p>
                  </a:txBody>
                  <a:tcPr horzOverflow="overflow"/>
                </a:tc>
              </a:tr>
              <a:tr h="508000">
                <a:tc>
                  <a:txBody>
                    <a:bodyPr/>
                    <a:lstStyle/>
                    <a:p>
                      <a:pPr algn="l" defTabSz="914400"/>
                      <a:r>
                        <a:rPr b="0" i="0" strike="noStrike" dirty="0"/>
                        <a:t>SlideMasterMasterLayout</a:t>
                      </a:r>
                    </a:p>
                  </a:txBody>
                  <a:tcPr horzOverflow="overflow"/>
                </a:tc>
              </a:tr>
              <a:tr h="508000">
                <a:tc>
                  <a:txBody>
                    <a:bodyPr/>
                    <a:lstStyle/>
                    <a:p>
                      <a:pPr algn="l" defTabSz="914400"/>
                      <a:r>
                        <a:rPr b="0" i="0" strike="noStrike" dirty="0"/>
                        <a:t>OrganizationChartInsert</a:t>
                      </a:r>
                    </a:p>
                  </a:txBody>
                  <a:tcPr horzOverflow="overflow"/>
                </a:tc>
              </a:tr>
              <a:tr h="508000">
                <a:tc>
                  <a:txBody>
                    <a:bodyPr/>
                    <a:lstStyle/>
                    <a:p>
                      <a:pPr algn="l" defTabSz="914400"/>
                      <a:r>
                        <a:rPr b="0" i="0" strike="noStrike" dirty="0"/>
                        <a:t>CollapseAll</a:t>
                      </a:r>
                    </a:p>
                  </a:txBody>
                  <a:tcPr horzOverflow="overflow"/>
                </a:tc>
              </a:tr>
              <a:tr h="508000">
                <a:tc>
                  <a:txBody>
                    <a:bodyPr/>
                    <a:lstStyle/>
                    <a:p>
                      <a:pPr algn="l" defTabSz="914400"/>
                      <a:r>
                        <a:rPr b="0" i="0" strike="noStrike" dirty="0"/>
                        <a:t>OutlineExpandAll</a:t>
                      </a:r>
                    </a:p>
                  </a:txBody>
                  <a:tcPr horzOverflow="overflow"/>
                </a:tc>
              </a:tr>
              <a:tr h="508000">
                <a:tc>
                  <a:txBody>
                    <a:bodyPr/>
                    <a:lstStyle/>
                    <a:p>
                      <a:pPr algn="l" defTabSz="914400"/>
                      <a:r>
                        <a:rPr b="0" i="0" strike="noStrike" dirty="0"/>
                        <a:t>CombineCharacters</a:t>
                      </a:r>
                    </a:p>
                  </a:txBody>
                  <a:tcPr horzOverflow="overflow"/>
                </a:tc>
              </a:tr>
              <a:tr h="508000">
                <a:tc>
                  <a:txBody>
                    <a:bodyPr/>
                    <a:lstStyle/>
                    <a:p>
                      <a:pPr algn="l" defTabSz="914400"/>
                      <a:r>
                        <a:rPr b="0" i="0" strike="noStrike" dirty="0"/>
                        <a:t>DoubleStrikethrough</a:t>
                      </a:r>
                    </a:p>
                  </a:txBody>
                  <a:tcPr horzOverflow="overflow"/>
                </a:tc>
              </a:tr>
              <a:tr h="508000">
                <a:tc>
                  <a:txBody>
                    <a:bodyPr/>
                    <a:lstStyle/>
                    <a:p>
                      <a:pPr algn="l" defTabSz="914400"/>
                      <a:r>
                        <a:rPr b="0" i="0" strike="noStrike" dirty="0"/>
                        <a:t>QueryInsertColumn</a:t>
                      </a:r>
                    </a:p>
                  </a:txBody>
                  <a:tcPr horzOverflow="overflow"/>
                </a:tc>
              </a:tr>
            </a:tbl>
          </a:graphicData>
        </a:graphic>
      </p:graphicFrame>
    </p:spTree>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EncryptMessage</a:t>
                      </a:r>
                    </a:p>
                  </a:txBody>
                  <a:tcPr horzOverflow="overflow"/>
                </a:tc>
              </a:tr>
              <a:tr h="508000">
                <a:tc>
                  <a:txBody>
                    <a:bodyPr/>
                    <a:lstStyle/>
                    <a:p>
                      <a:pPr algn="l" defTabSz="914400"/>
                      <a:r>
                        <a:rPr b="0" i="0" strike="noStrike" dirty="0"/>
                        <a:t>DigitallySignMessage</a:t>
                      </a:r>
                    </a:p>
                  </a:txBody>
                  <a:tcPr horzOverflow="overflow"/>
                </a:tc>
              </a:tr>
              <a:tr h="508000">
                <a:tc>
                  <a:txBody>
                    <a:bodyPr/>
                    <a:lstStyle/>
                    <a:p>
                      <a:pPr algn="l" defTabSz="914400"/>
                      <a:r>
                        <a:rPr b="0" i="0" strike="noStrike" dirty="0"/>
                        <a:t>CreateMailRule</a:t>
                      </a:r>
                    </a:p>
                  </a:txBody>
                  <a:tcPr horzOverflow="overflow"/>
                </a:tc>
              </a:tr>
              <a:tr h="508000">
                <a:tc>
                  <a:txBody>
                    <a:bodyPr/>
                    <a:lstStyle/>
                    <a:p>
                      <a:pPr algn="l" defTabSz="914400"/>
                      <a:r>
                        <a:rPr b="0" i="0" strike="noStrike" dirty="0"/>
                        <a:t>ViewNormalViewExcel</a:t>
                      </a:r>
                    </a:p>
                  </a:txBody>
                  <a:tcPr horzOverflow="overflow"/>
                </a:tc>
              </a:tr>
              <a:tr h="508000">
                <a:tc>
                  <a:txBody>
                    <a:bodyPr/>
                    <a:lstStyle/>
                    <a:p>
                      <a:pPr algn="l" defTabSz="914400"/>
                      <a:r>
                        <a:rPr b="0" i="0" strike="noStrike" dirty="0"/>
                        <a:t>ViewPageBreakPreviewView</a:t>
                      </a:r>
                    </a:p>
                  </a:txBody>
                  <a:tcPr horzOverflow="overflow"/>
                </a:tc>
              </a:tr>
              <a:tr h="508000">
                <a:tc>
                  <a:txBody>
                    <a:bodyPr/>
                    <a:lstStyle/>
                    <a:p>
                      <a:pPr algn="l" defTabSz="914400"/>
                      <a:r>
                        <a:rPr b="0" i="0" strike="noStrike" dirty="0"/>
                        <a:t>SlideHide</a:t>
                      </a:r>
                    </a:p>
                  </a:txBody>
                  <a:tcPr horzOverflow="overflow"/>
                </a:tc>
              </a:tr>
              <a:tr h="508000">
                <a:tc>
                  <a:txBody>
                    <a:bodyPr/>
                    <a:lstStyle/>
                    <a:p>
                      <a:pPr algn="l" defTabSz="914400"/>
                      <a:r>
                        <a:rPr b="0" i="0" strike="noStrike" dirty="0"/>
                        <a:t>AnimationCustom</a:t>
                      </a:r>
                    </a:p>
                  </a:txBody>
                  <a:tcPr horzOverflow="overflow"/>
                </a:tc>
              </a:tr>
              <a:tr h="508000">
                <a:tc>
                  <a:txBody>
                    <a:bodyPr/>
                    <a:lstStyle/>
                    <a:p>
                      <a:pPr algn="l" defTabSz="914400"/>
                      <a:r>
                        <a:rPr b="0" i="0" strike="noStrike" dirty="0"/>
                        <a:t>PictureCrop</a:t>
                      </a:r>
                    </a:p>
                  </a:txBody>
                  <a:tcPr horzOverflow="overflow"/>
                </a:tc>
              </a:tr>
              <a:tr h="508000">
                <a:tc>
                  <a:txBody>
                    <a:bodyPr/>
                    <a:lstStyle/>
                    <a:p>
                      <a:pPr algn="l" defTabSz="914400"/>
                      <a:r>
                        <a:rPr b="0" i="0" strike="noStrike" dirty="0"/>
                        <a:t>SlideShowRehearseTimings</a:t>
                      </a:r>
                    </a:p>
                  </a:txBody>
                  <a:tcPr horzOverflow="overflow"/>
                </a:tc>
              </a:tr>
              <a:tr h="508000">
                <a:tc>
                  <a:txBody>
                    <a:bodyPr/>
                    <a:lstStyle/>
                    <a:p>
                      <a:pPr algn="l" defTabSz="914400"/>
                      <a:r>
                        <a:rPr b="0" i="0" strike="noStrike" dirty="0"/>
                        <a:t>ViewSlideView</a:t>
                      </a:r>
                    </a:p>
                  </a:txBody>
                  <a:tcPr horzOverflow="overflow"/>
                </a:tc>
              </a:tr>
            </a:tbl>
          </a:graphicData>
        </a:graphic>
      </p:graphicFrame>
    </p:spTree>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ViewOutlineView</a:t>
                      </a:r>
                    </a:p>
                  </a:txBody>
                  <a:tcPr horzOverflow="overflow"/>
                </a:tc>
              </a:tr>
              <a:tr h="508000">
                <a:tc>
                  <a:txBody>
                    <a:bodyPr/>
                    <a:lstStyle/>
                    <a:p>
                      <a:pPr algn="l" defTabSz="914400"/>
                      <a:r>
                        <a:rPr b="0" i="0" strike="noStrike" dirty="0"/>
                        <a:t>ViewSlideSorterView</a:t>
                      </a:r>
                    </a:p>
                  </a:txBody>
                  <a:tcPr horzOverflow="overflow"/>
                </a:tc>
              </a:tr>
              <a:tr h="508000">
                <a:tc>
                  <a:txBody>
                    <a:bodyPr/>
                    <a:lstStyle/>
                    <a:p>
                      <a:pPr algn="l" defTabSz="914400"/>
                      <a:r>
                        <a:rPr b="0" i="0" strike="noStrike" dirty="0"/>
                        <a:t>ViewNotesPageView</a:t>
                      </a:r>
                    </a:p>
                  </a:txBody>
                  <a:tcPr horzOverflow="overflow"/>
                </a:tc>
              </a:tr>
              <a:tr h="508000">
                <a:tc>
                  <a:txBody>
                    <a:bodyPr/>
                    <a:lstStyle/>
                    <a:p>
                      <a:pPr algn="l" defTabSz="914400"/>
                      <a:r>
                        <a:rPr b="0" i="0" strike="noStrike" dirty="0"/>
                        <a:t>ViewSlideShowView</a:t>
                      </a:r>
                    </a:p>
                  </a:txBody>
                  <a:tcPr horzOverflow="overflow"/>
                </a:tc>
              </a:tr>
              <a:tr h="508000">
                <a:tc>
                  <a:txBody>
                    <a:bodyPr/>
                    <a:lstStyle/>
                    <a:p>
                      <a:pPr algn="l" defTabSz="914400"/>
                      <a:r>
                        <a:rPr b="0" i="0" strike="noStrike" dirty="0"/>
                        <a:t>ViewSlideMasterView</a:t>
                      </a:r>
                    </a:p>
                  </a:txBody>
                  <a:tcPr horzOverflow="overflow"/>
                </a:tc>
              </a:tr>
              <a:tr h="508000">
                <a:tc>
                  <a:txBody>
                    <a:bodyPr/>
                    <a:lstStyle/>
                    <a:p>
                      <a:pPr algn="l" defTabSz="914400"/>
                      <a:r>
                        <a:rPr b="0" i="0" strike="noStrike" dirty="0"/>
                        <a:t>FileCloseAll</a:t>
                      </a:r>
                    </a:p>
                  </a:txBody>
                  <a:tcPr horzOverflow="overflow"/>
                </a:tc>
              </a:tr>
              <a:tr h="508000">
                <a:tc>
                  <a:txBody>
                    <a:bodyPr/>
                    <a:lstStyle/>
                    <a:p>
                      <a:pPr algn="l" defTabSz="914400"/>
                      <a:r>
                        <a:rPr b="0" i="0" strike="noStrike" dirty="0"/>
                        <a:t>FileSaveAs</a:t>
                      </a:r>
                    </a:p>
                  </a:txBody>
                  <a:tcPr horzOverflow="overflow"/>
                </a:tc>
              </a:tr>
              <a:tr h="508000">
                <a:tc>
                  <a:txBody>
                    <a:bodyPr/>
                    <a:lstStyle/>
                    <a:p>
                      <a:pPr algn="l" defTabSz="914400"/>
                      <a:r>
                        <a:rPr b="0" i="0" strike="noStrike" dirty="0"/>
                        <a:t>SaveAll</a:t>
                      </a:r>
                    </a:p>
                  </a:txBody>
                  <a:tcPr horzOverflow="overflow"/>
                </a:tc>
              </a:tr>
              <a:tr h="508000">
                <a:tc>
                  <a:txBody>
                    <a:bodyPr/>
                    <a:lstStyle/>
                    <a:p>
                      <a:pPr algn="l" defTabSz="914400"/>
                      <a:r>
                        <a:rPr b="0" i="0" strike="noStrike" dirty="0"/>
                        <a:t>AdvancedFileProperties</a:t>
                      </a:r>
                    </a:p>
                  </a:txBody>
                  <a:tcPr horzOverflow="overflow"/>
                </a:tc>
              </a:tr>
              <a:tr h="508000">
                <a:tc>
                  <a:txBody>
                    <a:bodyPr/>
                    <a:lstStyle/>
                    <a:p>
                      <a:pPr algn="l" defTabSz="914400"/>
                      <a:r>
                        <a:rPr b="0" i="0" strike="noStrike" dirty="0"/>
                        <a:t>DocumentTemplate</a:t>
                      </a:r>
                    </a:p>
                  </a:txBody>
                  <a:tcPr horzOverflow="overflow"/>
                </a:tc>
              </a:tr>
            </a:tbl>
          </a:graphicData>
        </a:graphic>
      </p:graphicFrame>
    </p:spTree>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FileExit</a:t>
                      </a:r>
                    </a:p>
                  </a:txBody>
                  <a:tcPr horzOverflow="overflow"/>
                </a:tc>
              </a:tr>
              <a:tr h="508000">
                <a:tc>
                  <a:txBody>
                    <a:bodyPr/>
                    <a:lstStyle/>
                    <a:p>
                      <a:pPr algn="l" defTabSz="914400"/>
                      <a:r>
                        <a:rPr b="0" i="0" strike="noStrike" dirty="0"/>
                        <a:t>PasteSpecialDialog</a:t>
                      </a:r>
                    </a:p>
                  </a:txBody>
                  <a:tcPr horzOverflow="overflow"/>
                </a:tc>
              </a:tr>
              <a:tr h="508000">
                <a:tc>
                  <a:txBody>
                    <a:bodyPr/>
                    <a:lstStyle/>
                    <a:p>
                      <a:pPr algn="l" defTabSz="914400"/>
                      <a:r>
                        <a:rPr b="0" i="0" strike="noStrike" dirty="0"/>
                        <a:t>SelectAll</a:t>
                      </a:r>
                    </a:p>
                  </a:txBody>
                  <a:tcPr horzOverflow="overflow"/>
                </a:tc>
              </a:tr>
              <a:tr h="508000">
                <a:tc>
                  <a:txBody>
                    <a:bodyPr/>
                    <a:lstStyle/>
                    <a:p>
                      <a:pPr algn="l" defTabSz="914400"/>
                      <a:r>
                        <a:rPr b="0" i="0" strike="noStrike" dirty="0"/>
                        <a:t>GoTo</a:t>
                      </a:r>
                    </a:p>
                  </a:txBody>
                  <a:tcPr horzOverflow="overflow"/>
                </a:tc>
              </a:tr>
              <a:tr h="508000">
                <a:tc>
                  <a:txBody>
                    <a:bodyPr/>
                    <a:lstStyle/>
                    <a:p>
                      <a:pPr algn="l" defTabSz="914400"/>
                      <a:r>
                        <a:rPr b="0" i="0" strike="noStrike" dirty="0"/>
                        <a:t>BookmarkInsert</a:t>
                      </a:r>
                    </a:p>
                  </a:txBody>
                  <a:tcPr horzOverflow="overflow"/>
                </a:tc>
              </a:tr>
              <a:tr h="508000">
                <a:tc>
                  <a:txBody>
                    <a:bodyPr/>
                    <a:lstStyle/>
                    <a:p>
                      <a:pPr algn="l" defTabSz="914400"/>
                      <a:r>
                        <a:rPr b="0" i="0" strike="noStrike" dirty="0"/>
                        <a:t>FileLinksToFiles</a:t>
                      </a:r>
                    </a:p>
                  </a:txBody>
                  <a:tcPr horzOverflow="overflow"/>
                </a:tc>
              </a:tr>
              <a:tr h="508000">
                <a:tc>
                  <a:txBody>
                    <a:bodyPr/>
                    <a:lstStyle/>
                    <a:p>
                      <a:pPr algn="l" defTabSz="914400"/>
                      <a:r>
                        <a:rPr b="0" i="0" strike="noStrike" dirty="0"/>
                        <a:t>ViewOnlineLayoutViewClassic</a:t>
                      </a:r>
                    </a:p>
                  </a:txBody>
                  <a:tcPr horzOverflow="overflow"/>
                </a:tc>
              </a:tr>
              <a:tr h="508000">
                <a:tc>
                  <a:txBody>
                    <a:bodyPr/>
                    <a:lstStyle/>
                    <a:p>
                      <a:pPr algn="l" defTabSz="914400"/>
                      <a:r>
                        <a:rPr b="0" i="0" strike="noStrike" dirty="0"/>
                        <a:t>HeaderFooterInsert</a:t>
                      </a:r>
                    </a:p>
                  </a:txBody>
                  <a:tcPr horzOverflow="overflow"/>
                </a:tc>
              </a:tr>
              <a:tr h="508000">
                <a:tc>
                  <a:txBody>
                    <a:bodyPr/>
                    <a:lstStyle/>
                    <a:p>
                      <a:pPr algn="l" defTabSz="914400"/>
                      <a:r>
                        <a:rPr b="0" i="0" strike="noStrike" dirty="0"/>
                        <a:t>FootnotesEndnotesShow</a:t>
                      </a:r>
                    </a:p>
                  </a:txBody>
                  <a:tcPr horzOverflow="overflow"/>
                </a:tc>
              </a:tr>
              <a:tr h="508000">
                <a:tc>
                  <a:txBody>
                    <a:bodyPr/>
                    <a:lstStyle/>
                    <a:p>
                      <a:pPr algn="l" defTabSz="914400"/>
                      <a:r>
                        <a:rPr b="0" i="0" strike="noStrike" dirty="0"/>
                        <a:t>BreakInsertDialog</a:t>
                      </a:r>
                    </a:p>
                  </a:txBody>
                  <a:tcPr horzOverflow="overflow"/>
                </a:tc>
              </a:tr>
            </a:tbl>
          </a:graphicData>
        </a:graphic>
      </p:graphicFrame>
    </p:spTree>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DateAndTimeInsert</a:t>
                      </a:r>
                    </a:p>
                  </a:txBody>
                  <a:tcPr horzOverflow="overflow"/>
                </a:tc>
              </a:tr>
              <a:tr h="508000">
                <a:tc>
                  <a:txBody>
                    <a:bodyPr/>
                    <a:lstStyle/>
                    <a:p>
                      <a:pPr algn="l" defTabSz="914400"/>
                      <a:r>
                        <a:rPr b="0" i="0" strike="noStrike" dirty="0"/>
                        <a:t>NumberInsert</a:t>
                      </a:r>
                    </a:p>
                  </a:txBody>
                  <a:tcPr horzOverflow="overflow"/>
                </a:tc>
              </a:tr>
              <a:tr h="508000">
                <a:tc>
                  <a:txBody>
                    <a:bodyPr/>
                    <a:lstStyle/>
                    <a:p>
                      <a:pPr algn="l" defTabSz="914400"/>
                      <a:r>
                        <a:rPr b="0" i="0" strike="noStrike" dirty="0"/>
                        <a:t>FieldInsert</a:t>
                      </a:r>
                    </a:p>
                  </a:txBody>
                  <a:tcPr horzOverflow="overflow"/>
                </a:tc>
              </a:tr>
              <a:tr h="508000">
                <a:tc>
                  <a:txBody>
                    <a:bodyPr/>
                    <a:lstStyle/>
                    <a:p>
                      <a:pPr algn="l" defTabSz="914400"/>
                      <a:r>
                        <a:rPr b="0" i="0" strike="noStrike" dirty="0"/>
                        <a:t>CaptionInsert</a:t>
                      </a:r>
                    </a:p>
                  </a:txBody>
                  <a:tcPr horzOverflow="overflow"/>
                </a:tc>
              </a:tr>
              <a:tr h="508000">
                <a:tc>
                  <a:txBody>
                    <a:bodyPr/>
                    <a:lstStyle/>
                    <a:p>
                      <a:pPr algn="l" defTabSz="914400"/>
                      <a:r>
                        <a:rPr b="0" i="0" strike="noStrike" dirty="0"/>
                        <a:t>CrossReferenceInsert</a:t>
                      </a:r>
                    </a:p>
                  </a:txBody>
                  <a:tcPr horzOverflow="overflow"/>
                </a:tc>
              </a:tr>
              <a:tr h="508000">
                <a:tc>
                  <a:txBody>
                    <a:bodyPr/>
                    <a:lstStyle/>
                    <a:p>
                      <a:pPr algn="l" defTabSz="914400"/>
                      <a:r>
                        <a:rPr b="0" i="0" strike="noStrike" dirty="0"/>
                        <a:t>TextFromFileInsert</a:t>
                      </a:r>
                    </a:p>
                  </a:txBody>
                  <a:tcPr horzOverflow="overflow"/>
                </a:tc>
              </a:tr>
              <a:tr h="508000">
                <a:tc>
                  <a:txBody>
                    <a:bodyPr/>
                    <a:lstStyle/>
                    <a:p>
                      <a:pPr algn="l" defTabSz="914400"/>
                      <a:r>
                        <a:rPr b="0" i="0" strike="noStrike" dirty="0"/>
                        <a:t>ParagraphDialog</a:t>
                      </a:r>
                    </a:p>
                  </a:txBody>
                  <a:tcPr horzOverflow="overflow"/>
                </a:tc>
              </a:tr>
              <a:tr h="508000">
                <a:tc>
                  <a:txBody>
                    <a:bodyPr/>
                    <a:lstStyle/>
                    <a:p>
                      <a:pPr algn="l" defTabSz="914400"/>
                      <a:r>
                        <a:rPr b="0" i="0" strike="noStrike" dirty="0"/>
                        <a:t>BordersShadingDialog</a:t>
                      </a:r>
                    </a:p>
                  </a:txBody>
                  <a:tcPr horzOverflow="overflow"/>
                </a:tc>
              </a:tr>
              <a:tr h="508000">
                <a:tc>
                  <a:txBody>
                    <a:bodyPr/>
                    <a:lstStyle/>
                    <a:p>
                      <a:pPr algn="l" defTabSz="914400"/>
                      <a:r>
                        <a:rPr b="0" i="0" strike="noStrike" dirty="0"/>
                        <a:t>TextDirectionOptionsDialog</a:t>
                      </a:r>
                    </a:p>
                  </a:txBody>
                  <a:tcPr horzOverflow="overflow"/>
                </a:tc>
              </a:tr>
              <a:tr h="508000">
                <a:tc>
                  <a:txBody>
                    <a:bodyPr/>
                    <a:lstStyle/>
                    <a:p>
                      <a:pPr algn="l" defTabSz="914400"/>
                      <a:r>
                        <a:rPr b="0" i="0" strike="noStrike" dirty="0"/>
                        <a:t>BulletsAndNumberingBulletsDialog</a:t>
                      </a:r>
                    </a:p>
                  </a:txBody>
                  <a:tcPr horzOverflow="overflow"/>
                </a:tc>
              </a:tr>
            </a:tbl>
          </a:graphicData>
        </a:graphic>
      </p:graphicFrame>
    </p:spTree>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AutoFormatDialog</a:t>
                      </a:r>
                    </a:p>
                  </a:txBody>
                  <a:tcPr horzOverflow="overflow"/>
                </a:tc>
              </a:tr>
              <a:tr h="508000">
                <a:tc>
                  <a:txBody>
                    <a:bodyPr/>
                    <a:lstStyle/>
                    <a:p>
                      <a:pPr algn="l" defTabSz="914400"/>
                      <a:r>
                        <a:rPr b="0" i="0" strike="noStrike" dirty="0"/>
                        <a:t>SetLanguage</a:t>
                      </a:r>
                    </a:p>
                  </a:txBody>
                  <a:tcPr horzOverflow="overflow"/>
                </a:tc>
              </a:tr>
              <a:tr h="508000">
                <a:tc>
                  <a:txBody>
                    <a:bodyPr/>
                    <a:lstStyle/>
                    <a:p>
                      <a:pPr algn="l" defTabSz="914400"/>
                      <a:r>
                        <a:rPr b="0" i="0" strike="noStrike" dirty="0"/>
                        <a:t>WordCount</a:t>
                      </a:r>
                    </a:p>
                  </a:txBody>
                  <a:tcPr horzOverflow="overflow"/>
                </a:tc>
              </a:tr>
              <a:tr h="508000">
                <a:tc>
                  <a:txBody>
                    <a:bodyPr/>
                    <a:lstStyle/>
                    <a:p>
                      <a:pPr algn="l" defTabSz="914400"/>
                      <a:r>
                        <a:rPr b="0" i="0" strike="noStrike" dirty="0"/>
                        <a:t>AutoCorrect</a:t>
                      </a:r>
                    </a:p>
                  </a:txBody>
                  <a:tcPr horzOverflow="overflow"/>
                </a:tc>
              </a:tr>
              <a:tr h="508000">
                <a:tc>
                  <a:txBody>
                    <a:bodyPr/>
                    <a:lstStyle/>
                    <a:p>
                      <a:pPr algn="l" defTabSz="914400"/>
                      <a:r>
                        <a:rPr b="0" i="0" strike="noStrike" dirty="0"/>
                        <a:t>EnvelopesAndLabels</a:t>
                      </a:r>
                    </a:p>
                  </a:txBody>
                  <a:tcPr horzOverflow="overflow"/>
                </a:tc>
              </a:tr>
              <a:tr h="508000">
                <a:tc>
                  <a:txBody>
                    <a:bodyPr/>
                    <a:lstStyle/>
                    <a:p>
                      <a:pPr algn="l" defTabSz="914400"/>
                      <a:r>
                        <a:rPr b="0" i="0" strike="noStrike" dirty="0"/>
                        <a:t>LabelsDialog</a:t>
                      </a:r>
                    </a:p>
                  </a:txBody>
                  <a:tcPr horzOverflow="overflow"/>
                </a:tc>
              </a:tr>
              <a:tr h="508000">
                <a:tc>
                  <a:txBody>
                    <a:bodyPr/>
                    <a:lstStyle/>
                    <a:p>
                      <a:pPr algn="l" defTabSz="914400"/>
                      <a:r>
                        <a:rPr b="0" i="0" strike="noStrike" dirty="0"/>
                        <a:t>MergeCells</a:t>
                      </a:r>
                    </a:p>
                  </a:txBody>
                  <a:tcPr horzOverflow="overflow"/>
                </a:tc>
              </a:tr>
              <a:tr h="508000">
                <a:tc>
                  <a:txBody>
                    <a:bodyPr/>
                    <a:lstStyle/>
                    <a:p>
                      <a:pPr algn="l" defTabSz="914400"/>
                      <a:r>
                        <a:rPr b="0" i="0" strike="noStrike" dirty="0"/>
                        <a:t>SplitCells</a:t>
                      </a:r>
                    </a:p>
                  </a:txBody>
                  <a:tcPr horzOverflow="overflow"/>
                </a:tc>
              </a:tr>
              <a:tr h="508000">
                <a:tc>
                  <a:txBody>
                    <a:bodyPr/>
                    <a:lstStyle/>
                    <a:p>
                      <a:pPr algn="l" defTabSz="914400"/>
                      <a:r>
                        <a:rPr b="0" i="0" strike="noStrike" dirty="0"/>
                        <a:t>TableRowSelect</a:t>
                      </a:r>
                    </a:p>
                  </a:txBody>
                  <a:tcPr horzOverflow="overflow"/>
                </a:tc>
              </a:tr>
              <a:tr h="508000">
                <a:tc>
                  <a:txBody>
                    <a:bodyPr/>
                    <a:lstStyle/>
                    <a:p>
                      <a:pPr algn="l" defTabSz="914400"/>
                      <a:r>
                        <a:rPr b="0" i="0" strike="noStrike" dirty="0"/>
                        <a:t>TableColumnSelect</a:t>
                      </a:r>
                    </a:p>
                  </a:txBody>
                  <a:tcPr horzOverflow="overflow"/>
                </a:tc>
              </a:tr>
            </a:tbl>
          </a:graphicData>
        </a:graphic>
      </p:graphicFrame>
    </p:spTree>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TableSelect</a:t>
                      </a:r>
                    </a:p>
                  </a:txBody>
                  <a:tcPr horzOverflow="overflow"/>
                </a:tc>
              </a:tr>
              <a:tr h="508000">
                <a:tc>
                  <a:txBody>
                    <a:bodyPr/>
                    <a:lstStyle/>
                    <a:p>
                      <a:pPr algn="l" defTabSz="914400"/>
                      <a:r>
                        <a:rPr b="0" i="0" strike="noStrike" dirty="0"/>
                        <a:t>TableRepeatHeaderRows</a:t>
                      </a:r>
                    </a:p>
                  </a:txBody>
                  <a:tcPr horzOverflow="overflow"/>
                </a:tc>
              </a:tr>
              <a:tr h="508000">
                <a:tc>
                  <a:txBody>
                    <a:bodyPr/>
                    <a:lstStyle/>
                    <a:p>
                      <a:pPr algn="l" defTabSz="914400"/>
                      <a:r>
                        <a:rPr b="0" i="0" strike="noStrike" dirty="0"/>
                        <a:t>ConvertTextToTable</a:t>
                      </a:r>
                    </a:p>
                  </a:txBody>
                  <a:tcPr horzOverflow="overflow"/>
                </a:tc>
              </a:tr>
              <a:tr h="508000">
                <a:tc>
                  <a:txBody>
                    <a:bodyPr/>
                    <a:lstStyle/>
                    <a:p>
                      <a:pPr algn="l" defTabSz="914400"/>
                      <a:r>
                        <a:rPr b="0" i="0" strike="noStrike" dirty="0"/>
                        <a:t>TableFormulaDialog</a:t>
                      </a:r>
                    </a:p>
                  </a:txBody>
                  <a:tcPr horzOverflow="overflow"/>
                </a:tc>
              </a:tr>
              <a:tr h="508000">
                <a:tc>
                  <a:txBody>
                    <a:bodyPr/>
                    <a:lstStyle/>
                    <a:p>
                      <a:pPr algn="l" defTabSz="914400"/>
                      <a:r>
                        <a:rPr b="0" i="0" strike="noStrike" dirty="0"/>
                        <a:t>TableSplitTable</a:t>
                      </a:r>
                    </a:p>
                  </a:txBody>
                  <a:tcPr horzOverflow="overflow"/>
                </a:tc>
              </a:tr>
              <a:tr h="508000">
                <a:tc>
                  <a:txBody>
                    <a:bodyPr/>
                    <a:lstStyle/>
                    <a:p>
                      <a:pPr algn="l" defTabSz="914400"/>
                      <a:r>
                        <a:rPr b="0" i="0" strike="noStrike" dirty="0"/>
                        <a:t>ShowClipboard</a:t>
                      </a:r>
                    </a:p>
                  </a:txBody>
                  <a:tcPr horzOverflow="overflow"/>
                </a:tc>
              </a:tr>
              <a:tr h="508000">
                <a:tc>
                  <a:txBody>
                    <a:bodyPr/>
                    <a:lstStyle/>
                    <a:p>
                      <a:pPr algn="l" defTabSz="914400"/>
                      <a:r>
                        <a:rPr b="0" i="0" strike="noStrike" dirty="0"/>
                        <a:t>TechnicalSupport</a:t>
                      </a:r>
                    </a:p>
                  </a:txBody>
                  <a:tcPr horzOverflow="overflow"/>
                </a:tc>
              </a:tr>
              <a:tr h="508000">
                <a:tc>
                  <a:txBody>
                    <a:bodyPr/>
                    <a:lstStyle/>
                    <a:p>
                      <a:pPr algn="l" defTabSz="914400"/>
                      <a:r>
                        <a:rPr b="0" i="0" strike="noStrike" dirty="0"/>
                        <a:t>ImeDictionaryUpdate</a:t>
                      </a:r>
                    </a:p>
                  </a:txBody>
                  <a:tcPr horzOverflow="overflow"/>
                </a:tc>
              </a:tr>
              <a:tr h="508000">
                <a:tc>
                  <a:txBody>
                    <a:bodyPr/>
                    <a:lstStyle/>
                    <a:p>
                      <a:pPr algn="l" defTabSz="914400"/>
                      <a:r>
                        <a:rPr b="0" i="0" strike="noStrike" dirty="0"/>
                        <a:t>OutlookTaskCreate</a:t>
                      </a:r>
                    </a:p>
                  </a:txBody>
                  <a:tcPr horzOverflow="overflow"/>
                </a:tc>
              </a:tr>
              <a:tr h="508000">
                <a:tc>
                  <a:txBody>
                    <a:bodyPr/>
                    <a:lstStyle/>
                    <a:p>
                      <a:pPr algn="l" defTabSz="914400"/>
                      <a:r>
                        <a:rPr b="0" i="0" strike="noStrike" dirty="0"/>
                        <a:t>WindowMinimize</a:t>
                      </a:r>
                    </a:p>
                  </a:txBody>
                  <a:tcPr horzOverflow="overflow"/>
                </a:tc>
              </a:tr>
            </a:tbl>
          </a:graphicData>
        </a:graphic>
      </p:graphicFrame>
    </p:spTree>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WindowRestore</a:t>
                      </a:r>
                    </a:p>
                  </a:txBody>
                  <a:tcPr horzOverflow="overflow"/>
                </a:tc>
              </a:tr>
              <a:tr h="508000">
                <a:tc>
                  <a:txBody>
                    <a:bodyPr/>
                    <a:lstStyle/>
                    <a:p>
                      <a:pPr algn="l" defTabSz="914400"/>
                      <a:r>
                        <a:rPr b="0" i="0" strike="noStrike" dirty="0"/>
                        <a:t>WindowClose</a:t>
                      </a:r>
                    </a:p>
                  </a:txBody>
                  <a:tcPr horzOverflow="overflow"/>
                </a:tc>
              </a:tr>
              <a:tr h="508000">
                <a:tc>
                  <a:txBody>
                    <a:bodyPr/>
                    <a:lstStyle/>
                    <a:p>
                      <a:pPr algn="l" defTabSz="914400"/>
                      <a:r>
                        <a:rPr b="0" i="0" strike="noStrike" dirty="0"/>
                        <a:t>WindowSaveWorkspace</a:t>
                      </a:r>
                    </a:p>
                  </a:txBody>
                  <a:tcPr horzOverflow="overflow"/>
                </a:tc>
              </a:tr>
              <a:tr h="508000">
                <a:tc>
                  <a:txBody>
                    <a:bodyPr/>
                    <a:lstStyle/>
                    <a:p>
                      <a:pPr algn="l" defTabSz="914400"/>
                      <a:r>
                        <a:rPr b="0" i="0" strike="noStrike" dirty="0"/>
                        <a:t>SheetDelete</a:t>
                      </a:r>
                    </a:p>
                  </a:txBody>
                  <a:tcPr horzOverflow="overflow"/>
                </a:tc>
              </a:tr>
              <a:tr h="508000">
                <a:tc>
                  <a:txBody>
                    <a:bodyPr/>
                    <a:lstStyle/>
                    <a:p>
                      <a:pPr algn="l" defTabSz="914400"/>
                      <a:r>
                        <a:rPr b="0" i="0" strike="noStrike" dirty="0"/>
                        <a:t>ViewFormulaBar</a:t>
                      </a:r>
                    </a:p>
                  </a:txBody>
                  <a:tcPr horzOverflow="overflow"/>
                </a:tc>
              </a:tr>
              <a:tr h="508000">
                <a:tc>
                  <a:txBody>
                    <a:bodyPr/>
                    <a:lstStyle/>
                    <a:p>
                      <a:pPr algn="l" defTabSz="914400"/>
                      <a:r>
                        <a:rPr b="0" i="0" strike="noStrike" dirty="0"/>
                        <a:t>SheetInsert</a:t>
                      </a:r>
                    </a:p>
                  </a:txBody>
                  <a:tcPr horzOverflow="overflow"/>
                </a:tc>
              </a:tr>
              <a:tr h="508000">
                <a:tc>
                  <a:txBody>
                    <a:bodyPr/>
                    <a:lstStyle/>
                    <a:p>
                      <a:pPr algn="l" defTabSz="914400"/>
                      <a:r>
                        <a:rPr b="0" i="0" strike="noStrike" dirty="0"/>
                        <a:t>FormatCellsDialog</a:t>
                      </a:r>
                    </a:p>
                  </a:txBody>
                  <a:tcPr horzOverflow="overflow"/>
                </a:tc>
              </a:tr>
              <a:tr h="508000">
                <a:tc>
                  <a:txBody>
                    <a:bodyPr/>
                    <a:lstStyle/>
                    <a:p>
                      <a:pPr algn="l" defTabSz="914400"/>
                      <a:r>
                        <a:rPr b="0" i="0" strike="noStrike" dirty="0"/>
                        <a:t>DataFormExcel</a:t>
                      </a:r>
                    </a:p>
                  </a:txBody>
                  <a:tcPr horzOverflow="overflow"/>
                </a:tc>
              </a:tr>
              <a:tr h="508000">
                <a:tc>
                  <a:txBody>
                    <a:bodyPr/>
                    <a:lstStyle/>
                    <a:p>
                      <a:pPr algn="l" defTabSz="914400"/>
                      <a:r>
                        <a:rPr b="0" i="0" strike="noStrike" dirty="0"/>
                        <a:t>OutlineSubtotals</a:t>
                      </a:r>
                    </a:p>
                  </a:txBody>
                  <a:tcPr horzOverflow="overflow"/>
                </a:tc>
              </a:tr>
              <a:tr h="508000">
                <a:tc>
                  <a:txBody>
                    <a:bodyPr/>
                    <a:lstStyle/>
                    <a:p>
                      <a:pPr algn="l" defTabSz="914400"/>
                      <a:r>
                        <a:rPr b="0" i="0" strike="noStrike" dirty="0"/>
                        <a:t>Consolidate</a:t>
                      </a:r>
                    </a:p>
                  </a:txBody>
                  <a:tcPr horzOverflow="overflow"/>
                </a:tc>
              </a:tr>
            </a:tbl>
          </a:graphicData>
        </a:graphic>
      </p:graphicFrame>
    </p:spTree>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WindowHide</a:t>
                      </a:r>
                    </a:p>
                  </a:txBody>
                  <a:tcPr horzOverflow="overflow"/>
                </a:tc>
              </a:tr>
              <a:tr h="508000">
                <a:tc>
                  <a:txBody>
                    <a:bodyPr/>
                    <a:lstStyle/>
                    <a:p>
                      <a:pPr algn="l" defTabSz="914400"/>
                      <a:r>
                        <a:rPr b="0" i="0" strike="noStrike" dirty="0"/>
                        <a:t>WindowUnhide</a:t>
                      </a:r>
                    </a:p>
                  </a:txBody>
                  <a:tcPr horzOverflow="overflow"/>
                </a:tc>
              </a:tr>
              <a:tr h="508000">
                <a:tc>
                  <a:txBody>
                    <a:bodyPr/>
                    <a:lstStyle/>
                    <a:p>
                      <a:pPr algn="l" defTabSz="914400"/>
                      <a:r>
                        <a:rPr b="0" i="0" strike="noStrike" dirty="0"/>
                        <a:t>FillUp</a:t>
                      </a:r>
                    </a:p>
                  </a:txBody>
                  <a:tcPr horzOverflow="overflow"/>
                </a:tc>
              </a:tr>
              <a:tr h="508000">
                <a:tc>
                  <a:txBody>
                    <a:bodyPr/>
                    <a:lstStyle/>
                    <a:p>
                      <a:pPr algn="l" defTabSz="914400"/>
                      <a:r>
                        <a:rPr b="0" i="0" strike="noStrike" dirty="0"/>
                        <a:t>FillLeft</a:t>
                      </a:r>
                    </a:p>
                  </a:txBody>
                  <a:tcPr horzOverflow="overflow"/>
                </a:tc>
              </a:tr>
              <a:tr h="508000">
                <a:tc>
                  <a:txBody>
                    <a:bodyPr/>
                    <a:lstStyle/>
                    <a:p>
                      <a:pPr algn="l" defTabSz="914400"/>
                      <a:r>
                        <a:rPr b="0" i="0" strike="noStrike" dirty="0"/>
                        <a:t>ClearFormats</a:t>
                      </a:r>
                    </a:p>
                  </a:txBody>
                  <a:tcPr horzOverflow="overflow"/>
                </a:tc>
              </a:tr>
              <a:tr h="508000">
                <a:tc>
                  <a:txBody>
                    <a:bodyPr/>
                    <a:lstStyle/>
                    <a:p>
                      <a:pPr algn="l" defTabSz="914400"/>
                      <a:r>
                        <a:rPr b="0" i="0" strike="noStrike" dirty="0"/>
                        <a:t>NameCreateFromSelection</a:t>
                      </a:r>
                    </a:p>
                  </a:txBody>
                  <a:tcPr horzOverflow="overflow"/>
                </a:tc>
              </a:tr>
              <a:tr h="508000">
                <a:tc>
                  <a:txBody>
                    <a:bodyPr/>
                    <a:lstStyle/>
                    <a:p>
                      <a:pPr algn="l" defTabSz="914400"/>
                      <a:r>
                        <a:rPr b="0" i="0" strike="noStrike" dirty="0"/>
                        <a:t>SheetProtect</a:t>
                      </a:r>
                    </a:p>
                  </a:txBody>
                  <a:tcPr horzOverflow="overflow"/>
                </a:tc>
              </a:tr>
              <a:tr h="508000">
                <a:tc>
                  <a:txBody>
                    <a:bodyPr/>
                    <a:lstStyle/>
                    <a:p>
                      <a:pPr algn="l" defTabSz="914400"/>
                      <a:r>
                        <a:rPr b="0" i="0" strike="noStrike" dirty="0"/>
                        <a:t>ReviewProtectWorkbook</a:t>
                      </a:r>
                    </a:p>
                  </a:txBody>
                  <a:tcPr horzOverflow="overflow"/>
                </a:tc>
              </a:tr>
              <a:tr h="508000">
                <a:tc>
                  <a:txBody>
                    <a:bodyPr/>
                    <a:lstStyle/>
                    <a:p>
                      <a:pPr algn="l" defTabSz="914400"/>
                      <a:r>
                        <a:rPr b="0" i="0" strike="noStrike" dirty="0"/>
                        <a:t>MacroRelativeReferences</a:t>
                      </a:r>
                    </a:p>
                  </a:txBody>
                  <a:tcPr horzOverflow="overflow"/>
                </a:tc>
              </a:tr>
              <a:tr h="508000">
                <a:tc>
                  <a:txBody>
                    <a:bodyPr/>
                    <a:lstStyle/>
                    <a:p>
                      <a:pPr algn="l" defTabSz="914400"/>
                      <a:r>
                        <a:rPr b="0" i="0" strike="noStrike" dirty="0"/>
                        <a:t>Filter</a:t>
                      </a:r>
                    </a:p>
                  </a:txBody>
                  <a:tcPr horzOverflow="overflow"/>
                </a:tc>
              </a:tr>
            </a:tbl>
          </a:graphicData>
        </a:graphic>
      </p:graphicFrame>
    </p:spTree>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SortClear</a:t>
                      </a:r>
                    </a:p>
                  </a:txBody>
                  <a:tcPr horzOverflow="overflow"/>
                </a:tc>
              </a:tr>
              <a:tr h="508000">
                <a:tc>
                  <a:txBody>
                    <a:bodyPr/>
                    <a:lstStyle/>
                    <a:p>
                      <a:pPr algn="l" defTabSz="914400"/>
                      <a:r>
                        <a:rPr b="0" i="0" strike="noStrike" dirty="0"/>
                        <a:t>AdvancedFilterDialog</a:t>
                      </a:r>
                    </a:p>
                  </a:txBody>
                  <a:tcPr horzOverflow="overflow"/>
                </a:tc>
              </a:tr>
              <a:tr h="508000">
                <a:tc>
                  <a:txBody>
                    <a:bodyPr/>
                    <a:lstStyle/>
                    <a:p>
                      <a:pPr algn="l" defTabSz="914400"/>
                      <a:r>
                        <a:rPr b="0" i="0" strike="noStrike" dirty="0"/>
                        <a:t>OutlineSettings</a:t>
                      </a:r>
                    </a:p>
                  </a:txBody>
                  <a:tcPr horzOverflow="overflow"/>
                </a:tc>
              </a:tr>
              <a:tr h="508000">
                <a:tc>
                  <a:txBody>
                    <a:bodyPr/>
                    <a:lstStyle/>
                    <a:p>
                      <a:pPr algn="l" defTabSz="914400"/>
                      <a:r>
                        <a:rPr b="0" i="0" strike="noStrike" dirty="0"/>
                        <a:t>PrintPreviewClose</a:t>
                      </a:r>
                    </a:p>
                  </a:txBody>
                  <a:tcPr horzOverflow="overflow"/>
                </a:tc>
              </a:tr>
              <a:tr h="508000">
                <a:tc>
                  <a:txBody>
                    <a:bodyPr/>
                    <a:lstStyle/>
                    <a:p>
                      <a:pPr algn="l" defTabSz="914400"/>
                      <a:r>
                        <a:rPr b="0" i="0" strike="noStrike" dirty="0"/>
                        <a:t>HeaderFooterClose</a:t>
                      </a:r>
                    </a:p>
                  </a:txBody>
                  <a:tcPr horzOverflow="overflow"/>
                </a:tc>
              </a:tr>
              <a:tr h="508000">
                <a:tc>
                  <a:txBody>
                    <a:bodyPr/>
                    <a:lstStyle/>
                    <a:p>
                      <a:pPr algn="l" defTabSz="914400"/>
                      <a:r>
                        <a:rPr b="0" i="0" strike="noStrike" dirty="0"/>
                        <a:t>ZoomDialog</a:t>
                      </a:r>
                    </a:p>
                  </a:txBody>
                  <a:tcPr horzOverflow="overflow"/>
                </a:tc>
              </a:tr>
              <a:tr h="508000">
                <a:tc>
                  <a:txBody>
                    <a:bodyPr/>
                    <a:lstStyle/>
                    <a:p>
                      <a:pPr algn="l" defTabSz="914400"/>
                      <a:r>
                        <a:rPr b="0" i="0" strike="noStrike" dirty="0"/>
                        <a:t>SortDialogClassic</a:t>
                      </a:r>
                    </a:p>
                  </a:txBody>
                  <a:tcPr horzOverflow="overflow"/>
                </a:tc>
              </a:tr>
              <a:tr h="508000">
                <a:tc>
                  <a:txBody>
                    <a:bodyPr/>
                    <a:lstStyle/>
                    <a:p>
                      <a:pPr algn="l" defTabSz="914400"/>
                      <a:r>
                        <a:rPr b="0" i="0" strike="noStrike" dirty="0"/>
                        <a:t>ConvertTableToText</a:t>
                      </a:r>
                    </a:p>
                  </a:txBody>
                  <a:tcPr horzOverflow="overflow"/>
                </a:tc>
              </a:tr>
              <a:tr h="508000">
                <a:tc>
                  <a:txBody>
                    <a:bodyPr/>
                    <a:lstStyle/>
                    <a:p>
                      <a:pPr algn="l" defTabSz="914400"/>
                      <a:r>
                        <a:rPr b="0" i="0" strike="noStrike" dirty="0"/>
                        <a:t>PictureInsertFromFilePowerPoint</a:t>
                      </a:r>
                    </a:p>
                  </a:txBody>
                  <a:tcPr horzOverflow="overflow"/>
                </a:tc>
              </a:tr>
              <a:tr h="508000">
                <a:tc>
                  <a:txBody>
                    <a:bodyPr/>
                    <a:lstStyle/>
                    <a:p>
                      <a:pPr algn="l" defTabSz="914400"/>
                      <a:r>
                        <a:rPr b="0" i="0" strike="noStrike" dirty="0"/>
                        <a:t>ExchangeFolder</a:t>
                      </a:r>
                    </a:p>
                  </a:txBody>
                  <a:tcPr horzOverflow="overflow"/>
                </a:tc>
              </a:tr>
            </a:tbl>
          </a:graphicData>
        </a:graphic>
      </p:graphicFrame>
    </p:spTree>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VisualBasicReferences</a:t>
                      </a:r>
                    </a:p>
                  </a:txBody>
                  <a:tcPr horzOverflow="overflow"/>
                </a:tc>
              </a:tr>
              <a:tr h="508000">
                <a:tc>
                  <a:txBody>
                    <a:bodyPr/>
                    <a:lstStyle/>
                    <a:p>
                      <a:pPr algn="l" defTabSz="914400"/>
                      <a:r>
                        <a:rPr b="0" i="0" strike="noStrike" dirty="0"/>
                        <a:t>ViewCustomViews</a:t>
                      </a:r>
                    </a:p>
                  </a:txBody>
                  <a:tcPr horzOverflow="overflow"/>
                </a:tc>
              </a:tr>
              <a:tr h="508000">
                <a:tc>
                  <a:txBody>
                    <a:bodyPr/>
                    <a:lstStyle/>
                    <a:p>
                      <a:pPr algn="l" defTabSz="914400"/>
                      <a:r>
                        <a:rPr b="0" i="0" strike="noStrike" dirty="0"/>
                        <a:t>SheetBackground</a:t>
                      </a:r>
                    </a:p>
                  </a:txBody>
                  <a:tcPr horzOverflow="overflow"/>
                </a:tc>
              </a:tr>
              <a:tr h="508000">
                <a:tc>
                  <a:txBody>
                    <a:bodyPr/>
                    <a:lstStyle/>
                    <a:p>
                      <a:pPr algn="l" defTabSz="914400"/>
                      <a:r>
                        <a:rPr b="0" i="0" strike="noStrike" dirty="0"/>
                        <a:t>ChartEditDataSource</a:t>
                      </a:r>
                    </a:p>
                  </a:txBody>
                  <a:tcPr horzOverflow="overflow"/>
                </a:tc>
              </a:tr>
              <a:tr h="508000">
                <a:tc>
                  <a:txBody>
                    <a:bodyPr/>
                    <a:lstStyle/>
                    <a:p>
                      <a:pPr algn="l" defTabSz="914400"/>
                      <a:r>
                        <a:rPr b="0" i="0" strike="noStrike" dirty="0"/>
                        <a:t>ChartPlacement</a:t>
                      </a:r>
                    </a:p>
                  </a:txBody>
                  <a:tcPr horzOverflow="overflow"/>
                </a:tc>
              </a:tr>
              <a:tr h="508000">
                <a:tc>
                  <a:txBody>
                    <a:bodyPr/>
                    <a:lstStyle/>
                    <a:p>
                      <a:pPr algn="l" defTabSz="914400"/>
                      <a:r>
                        <a:rPr b="0" i="0" strike="noStrike" dirty="0"/>
                        <a:t>CalculateNow</a:t>
                      </a:r>
                    </a:p>
                  </a:txBody>
                  <a:tcPr horzOverflow="overflow"/>
                </a:tc>
              </a:tr>
              <a:tr h="508000">
                <a:tc>
                  <a:txBody>
                    <a:bodyPr/>
                    <a:lstStyle/>
                    <a:p>
                      <a:pPr algn="l" defTabSz="914400"/>
                      <a:r>
                        <a:rPr b="0" i="0" strike="noStrike" dirty="0"/>
                        <a:t>ObjectEditDialog</a:t>
                      </a:r>
                    </a:p>
                  </a:txBody>
                  <a:tcPr horzOverflow="overflow"/>
                </a:tc>
              </a:tr>
              <a:tr h="508000">
                <a:tc>
                  <a:txBody>
                    <a:bodyPr/>
                    <a:lstStyle/>
                    <a:p>
                      <a:pPr algn="l" defTabSz="914400"/>
                      <a:r>
                        <a:rPr b="0" i="0" strike="noStrike" dirty="0"/>
                        <a:t>ObjectFormatDialog</a:t>
                      </a:r>
                    </a:p>
                  </a:txBody>
                  <a:tcPr horzOverflow="overflow"/>
                </a:tc>
              </a:tr>
              <a:tr h="508000">
                <a:tc>
                  <a:txBody>
                    <a:bodyPr/>
                    <a:lstStyle/>
                    <a:p>
                      <a:pPr algn="l" defTabSz="914400"/>
                      <a:r>
                        <a:rPr b="0" i="0" strike="noStrike" dirty="0"/>
                        <a:t>QueryRunQuery</a:t>
                      </a:r>
                    </a:p>
                  </a:txBody>
                  <a:tcPr horzOverflow="overflow"/>
                </a:tc>
              </a:tr>
              <a:tr h="508000">
                <a:tc>
                  <a:txBody>
                    <a:bodyPr/>
                    <a:lstStyle/>
                    <a:p>
                      <a:pPr algn="l" defTabSz="914400"/>
                      <a:r>
                        <a:rPr b="0" i="0" strike="noStrike" dirty="0"/>
                        <a:t>ControlImage</a:t>
                      </a:r>
                    </a:p>
                  </a:txBody>
                  <a:tcPr horzOverflow="overflow"/>
                </a:tc>
              </a:tr>
            </a:tbl>
          </a:graphicData>
        </a:graphic>
      </p:graphicFrame>
    </p:spTree>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RulerShowHide</a:t>
                      </a:r>
                    </a:p>
                  </a:txBody>
                  <a:tcPr horzOverflow="overflow"/>
                </a:tc>
              </a:tr>
              <a:tr h="508000">
                <a:tc>
                  <a:txBody>
                    <a:bodyPr/>
                    <a:lstStyle/>
                    <a:p>
                      <a:pPr algn="l" defTabSz="914400"/>
                      <a:r>
                        <a:rPr b="0" i="0" strike="noStrike" dirty="0"/>
                        <a:t>GridShowHide</a:t>
                      </a:r>
                    </a:p>
                  </a:txBody>
                  <a:tcPr horzOverflow="overflow"/>
                </a:tc>
              </a:tr>
              <a:tr h="508000">
                <a:tc>
                  <a:txBody>
                    <a:bodyPr/>
                    <a:lstStyle/>
                    <a:p>
                      <a:pPr algn="l" defTabSz="914400"/>
                      <a:r>
                        <a:rPr b="0" i="0" strike="noStrike" dirty="0"/>
                        <a:t>ContentsAndIndex</a:t>
                      </a:r>
                    </a:p>
                  </a:txBody>
                  <a:tcPr horzOverflow="overflow"/>
                </a:tc>
              </a:tr>
              <a:tr h="508000">
                <a:tc>
                  <a:txBody>
                    <a:bodyPr/>
                    <a:lstStyle/>
                    <a:p>
                      <a:pPr algn="l" defTabSz="914400"/>
                      <a:r>
                        <a:rPr b="0" i="0" strike="noStrike" dirty="0"/>
                        <a:t>Help</a:t>
                      </a:r>
                    </a:p>
                  </a:txBody>
                  <a:tcPr horzOverflow="overflow"/>
                </a:tc>
              </a:tr>
              <a:tr h="508000">
                <a:tc>
                  <a:txBody>
                    <a:bodyPr/>
                    <a:lstStyle/>
                    <a:p>
                      <a:pPr algn="l" defTabSz="914400"/>
                      <a:r>
                        <a:rPr b="0" i="0" strike="noStrike" dirty="0"/>
                        <a:t>PivotTableEnableSelection</a:t>
                      </a:r>
                    </a:p>
                  </a:txBody>
                  <a:tcPr horzOverflow="overflow"/>
                </a:tc>
              </a:tr>
              <a:tr h="508000">
                <a:tc>
                  <a:txBody>
                    <a:bodyPr/>
                    <a:lstStyle/>
                    <a:p>
                      <a:pPr algn="l" defTabSz="914400"/>
                      <a:r>
                        <a:rPr b="0" i="0" strike="noStrike" dirty="0"/>
                        <a:t>PivotTableListFormulas</a:t>
                      </a:r>
                    </a:p>
                  </a:txBody>
                  <a:tcPr horzOverflow="overflow"/>
                </a:tc>
              </a:tr>
              <a:tr h="508000">
                <a:tc>
                  <a:txBody>
                    <a:bodyPr/>
                    <a:lstStyle/>
                    <a:p>
                      <a:pPr algn="l" defTabSz="914400"/>
                      <a:r>
                        <a:rPr b="0" i="0" strike="noStrike" dirty="0"/>
                        <a:t>PivotTableSelectData</a:t>
                      </a:r>
                    </a:p>
                  </a:txBody>
                  <a:tcPr horzOverflow="overflow"/>
                </a:tc>
              </a:tr>
              <a:tr h="508000">
                <a:tc>
                  <a:txBody>
                    <a:bodyPr/>
                    <a:lstStyle/>
                    <a:p>
                      <a:pPr algn="l" defTabSz="914400"/>
                      <a:r>
                        <a:rPr b="0" i="0" strike="noStrike" dirty="0"/>
                        <a:t>PivotTableSelectLabelAndData</a:t>
                      </a:r>
                    </a:p>
                  </a:txBody>
                  <a:tcPr horzOverflow="overflow"/>
                </a:tc>
              </a:tr>
              <a:tr h="508000">
                <a:tc>
                  <a:txBody>
                    <a:bodyPr/>
                    <a:lstStyle/>
                    <a:p>
                      <a:pPr algn="l" defTabSz="914400"/>
                      <a:r>
                        <a:rPr b="0" i="0" strike="noStrike" dirty="0"/>
                        <a:t>PivotTableSelectLabel</a:t>
                      </a:r>
                    </a:p>
                  </a:txBody>
                  <a:tcPr horzOverflow="overflow"/>
                </a:tc>
              </a:tr>
              <a:tr h="508000">
                <a:tc>
                  <a:txBody>
                    <a:bodyPr/>
                    <a:lstStyle/>
                    <a:p>
                      <a:pPr algn="l" defTabSz="914400"/>
                      <a:r>
                        <a:rPr b="0" i="0" strike="noStrike" dirty="0"/>
                        <a:t>CalculateSheet</a:t>
                      </a:r>
                    </a:p>
                  </a:txBody>
                  <a:tcPr horzOverflow="overflow"/>
                </a:tc>
              </a:tr>
            </a:tbl>
          </a:graphicData>
        </a:graphic>
      </p:graphicFrame>
    </p:spTree>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FontColorMoreColorsDialog</a:t>
                      </a:r>
                    </a:p>
                  </a:txBody>
                  <a:tcPr horzOverflow="overflow"/>
                </a:tc>
              </a:tr>
              <a:tr h="508000">
                <a:tc>
                  <a:txBody>
                    <a:bodyPr/>
                    <a:lstStyle/>
                    <a:p>
                      <a:pPr algn="l" defTabSz="914400"/>
                      <a:r>
                        <a:rPr b="0" i="0" strike="noStrike" dirty="0"/>
                        <a:t>FillEffects</a:t>
                      </a:r>
                    </a:p>
                  </a:txBody>
                  <a:tcPr horzOverflow="overflow"/>
                </a:tc>
              </a:tr>
              <a:tr h="508000">
                <a:tc>
                  <a:txBody>
                    <a:bodyPr/>
                    <a:lstStyle/>
                    <a:p>
                      <a:pPr algn="l" defTabSz="914400"/>
                      <a:r>
                        <a:rPr b="0" i="0" strike="noStrike" dirty="0"/>
                        <a:t>TextOrientationAngleCounterclockwise</a:t>
                      </a:r>
                    </a:p>
                  </a:txBody>
                  <a:tcPr horzOverflow="overflow"/>
                </a:tc>
              </a:tr>
              <a:tr h="508000">
                <a:tc>
                  <a:txBody>
                    <a:bodyPr/>
                    <a:lstStyle/>
                    <a:p>
                      <a:pPr algn="l" defTabSz="914400"/>
                      <a:r>
                        <a:rPr b="0" i="0" strike="noStrike" dirty="0"/>
                        <a:t>TextOrientationAngleClockwise</a:t>
                      </a:r>
                    </a:p>
                  </a:txBody>
                  <a:tcPr horzOverflow="overflow"/>
                </a:tc>
              </a:tr>
              <a:tr h="508000">
                <a:tc>
                  <a:txBody>
                    <a:bodyPr/>
                    <a:lstStyle/>
                    <a:p>
                      <a:pPr algn="l" defTabSz="914400"/>
                      <a:r>
                        <a:rPr b="0" i="0" strike="noStrike" dirty="0"/>
                        <a:t>HyperlinkOpenExcel</a:t>
                      </a:r>
                    </a:p>
                  </a:txBody>
                  <a:tcPr horzOverflow="overflow"/>
                </a:tc>
              </a:tr>
              <a:tr h="508000">
                <a:tc>
                  <a:txBody>
                    <a:bodyPr/>
                    <a:lstStyle/>
                    <a:p>
                      <a:pPr algn="l" defTabSz="914400"/>
                      <a:r>
                        <a:rPr b="0" i="0" strike="noStrike" dirty="0"/>
                        <a:t>OpenStartPage</a:t>
                      </a:r>
                    </a:p>
                  </a:txBody>
                  <a:tcPr horzOverflow="overflow"/>
                </a:tc>
              </a:tr>
              <a:tr h="508000">
                <a:tc>
                  <a:txBody>
                    <a:bodyPr/>
                    <a:lstStyle/>
                    <a:p>
                      <a:pPr algn="l" defTabSz="914400"/>
                      <a:r>
                        <a:rPr b="0" i="0" strike="noStrike" dirty="0"/>
                        <a:t>WebGoBack</a:t>
                      </a:r>
                    </a:p>
                  </a:txBody>
                  <a:tcPr horzOverflow="overflow"/>
                </a:tc>
              </a:tr>
              <a:tr h="508000">
                <a:tc>
                  <a:txBody>
                    <a:bodyPr/>
                    <a:lstStyle/>
                    <a:p>
                      <a:pPr algn="l" defTabSz="914400"/>
                      <a:r>
                        <a:rPr b="0" i="0" strike="noStrike" dirty="0"/>
                        <a:t>WebGoForward</a:t>
                      </a:r>
                    </a:p>
                  </a:txBody>
                  <a:tcPr horzOverflow="overflow"/>
                </a:tc>
              </a:tr>
              <a:tr h="508000">
                <a:tc>
                  <a:txBody>
                    <a:bodyPr/>
                    <a:lstStyle/>
                    <a:p>
                      <a:pPr algn="l" defTabSz="914400"/>
                      <a:r>
                        <a:rPr b="0" i="0" strike="noStrike" dirty="0"/>
                        <a:t>AddToFavorites</a:t>
                      </a:r>
                    </a:p>
                  </a:txBody>
                  <a:tcPr horzOverflow="overflow"/>
                </a:tc>
              </a:tr>
              <a:tr h="508000">
                <a:tc>
                  <a:txBody>
                    <a:bodyPr/>
                    <a:lstStyle/>
                    <a:p>
                      <a:pPr algn="l" defTabSz="914400"/>
                      <a:r>
                        <a:rPr b="0" i="0" strike="noStrike" dirty="0"/>
                        <a:t>BrowsePrevious</a:t>
                      </a:r>
                    </a:p>
                  </a:txBody>
                  <a:tcPr horzOverflow="overflow"/>
                </a:tc>
              </a:tr>
            </a:tbl>
          </a:graphicData>
        </a:graphic>
      </p:graphicFrame>
    </p:spTree>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BrowseNext</a:t>
                      </a:r>
                    </a:p>
                  </a:txBody>
                  <a:tcPr horzOverflow="overflow"/>
                </a:tc>
              </a:tr>
              <a:tr h="508000">
                <a:tc>
                  <a:txBody>
                    <a:bodyPr/>
                    <a:lstStyle/>
                    <a:p>
                      <a:pPr algn="l" defTabSz="914400"/>
                      <a:r>
                        <a:rPr b="0" i="0" strike="noStrike" dirty="0"/>
                        <a:t>BrowseSelector</a:t>
                      </a:r>
                    </a:p>
                  </a:txBody>
                  <a:tcPr horzOverflow="overflow"/>
                </a:tc>
              </a:tr>
              <a:tr h="508000">
                <a:tc>
                  <a:txBody>
                    <a:bodyPr/>
                    <a:lstStyle/>
                    <a:p>
                      <a:pPr algn="l" defTabSz="914400"/>
                      <a:r>
                        <a:rPr b="0" i="0" strike="noStrike" dirty="0"/>
                        <a:t>SmartArtInsert</a:t>
                      </a:r>
                    </a:p>
                  </a:txBody>
                  <a:tcPr horzOverflow="overflow"/>
                </a:tc>
              </a:tr>
              <a:tr h="508000">
                <a:tc>
                  <a:txBody>
                    <a:bodyPr/>
                    <a:lstStyle/>
                    <a:p>
                      <a:pPr algn="l" defTabSz="914400"/>
                      <a:r>
                        <a:rPr b="0" i="0" strike="noStrike" dirty="0"/>
                        <a:t>ShapeRerouteConnectors</a:t>
                      </a:r>
                    </a:p>
                  </a:txBody>
                  <a:tcPr horzOverflow="overflow"/>
                </a:tc>
              </a:tr>
              <a:tr h="508000">
                <a:tc>
                  <a:txBody>
                    <a:bodyPr/>
                    <a:lstStyle/>
                    <a:p>
                      <a:pPr algn="l" defTabSz="914400"/>
                      <a:r>
                        <a:rPr b="0" i="0" strike="noStrike" dirty="0"/>
                        <a:t>ObjectNudgeUp</a:t>
                      </a:r>
                    </a:p>
                  </a:txBody>
                  <a:tcPr horzOverflow="overflow"/>
                </a:tc>
              </a:tr>
              <a:tr h="508000">
                <a:tc>
                  <a:txBody>
                    <a:bodyPr/>
                    <a:lstStyle/>
                    <a:p>
                      <a:pPr algn="l" defTabSz="914400"/>
                      <a:r>
                        <a:rPr b="0" i="0" strike="noStrike" dirty="0"/>
                        <a:t>ObjectNudgeDown</a:t>
                      </a:r>
                    </a:p>
                  </a:txBody>
                  <a:tcPr horzOverflow="overflow"/>
                </a:tc>
              </a:tr>
              <a:tr h="508000">
                <a:tc>
                  <a:txBody>
                    <a:bodyPr/>
                    <a:lstStyle/>
                    <a:p>
                      <a:pPr algn="l" defTabSz="914400"/>
                      <a:r>
                        <a:rPr b="0" i="0" strike="noStrike" dirty="0"/>
                        <a:t>ObjectNudgeLeft</a:t>
                      </a:r>
                    </a:p>
                  </a:txBody>
                  <a:tcPr horzOverflow="overflow"/>
                </a:tc>
              </a:tr>
              <a:tr h="508000">
                <a:tc>
                  <a:txBody>
                    <a:bodyPr/>
                    <a:lstStyle/>
                    <a:p>
                      <a:pPr algn="l" defTabSz="914400"/>
                      <a:r>
                        <a:rPr b="0" i="0" strike="noStrike" dirty="0"/>
                        <a:t>ObjectNudgeRight</a:t>
                      </a:r>
                    </a:p>
                  </a:txBody>
                  <a:tcPr horzOverflow="overflow"/>
                </a:tc>
              </a:tr>
              <a:tr h="508000">
                <a:tc>
                  <a:txBody>
                    <a:bodyPr/>
                    <a:lstStyle/>
                    <a:p>
                      <a:pPr algn="l" defTabSz="914400"/>
                      <a:r>
                        <a:rPr b="0" i="0" strike="noStrike" dirty="0"/>
                        <a:t>ShapeCurve</a:t>
                      </a:r>
                    </a:p>
                  </a:txBody>
                  <a:tcPr horzOverflow="overflow"/>
                </a:tc>
              </a:tr>
              <a:tr h="508000">
                <a:tc>
                  <a:txBody>
                    <a:bodyPr/>
                    <a:lstStyle/>
                    <a:p>
                      <a:pPr algn="l" defTabSz="914400"/>
                      <a:r>
                        <a:rPr b="0" i="0" strike="noStrike" dirty="0"/>
                        <a:t>ShapeStraightConnector</a:t>
                      </a:r>
                    </a:p>
                  </a:txBody>
                  <a:tcPr horzOverflow="overflow"/>
                </a:tc>
              </a:tr>
            </a:tbl>
          </a:graphicData>
        </a:graphic>
      </p:graphicFrame>
    </p:spTree>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ShapeElbowConnector</a:t>
                      </a:r>
                    </a:p>
                  </a:txBody>
                  <a:tcPr horzOverflow="overflow"/>
                </a:tc>
              </a:tr>
              <a:tr h="508000">
                <a:tc>
                  <a:txBody>
                    <a:bodyPr/>
                    <a:lstStyle/>
                    <a:p>
                      <a:pPr algn="l" defTabSz="914400"/>
                      <a:r>
                        <a:rPr b="0" i="0" strike="noStrike" dirty="0"/>
                        <a:t>ObjectFillMoreColorsDialog</a:t>
                      </a:r>
                    </a:p>
                  </a:txBody>
                  <a:tcPr horzOverflow="overflow"/>
                </a:tc>
              </a:tr>
              <a:tr h="508000">
                <a:tc>
                  <a:txBody>
                    <a:bodyPr/>
                    <a:lstStyle/>
                    <a:p>
                      <a:pPr algn="l" defTabSz="914400"/>
                      <a:r>
                        <a:rPr b="0" i="0" strike="noStrike" dirty="0"/>
                        <a:t>ObjectBorderOutlineColorMoreColorsDialog</a:t>
                      </a:r>
                    </a:p>
                  </a:txBody>
                  <a:tcPr horzOverflow="overflow"/>
                </a:tc>
              </a:tr>
              <a:tr h="508000">
                <a:tc>
                  <a:txBody>
                    <a:bodyPr/>
                    <a:lstStyle/>
                    <a:p>
                      <a:pPr algn="l" defTabSz="914400"/>
                      <a:r>
                        <a:rPr b="0" i="0" strike="noStrike" dirty="0"/>
                        <a:t>LineStylesDialog</a:t>
                      </a:r>
                    </a:p>
                  </a:txBody>
                  <a:tcPr horzOverflow="overflow"/>
                </a:tc>
              </a:tr>
              <a:tr h="508000">
                <a:tc>
                  <a:txBody>
                    <a:bodyPr/>
                    <a:lstStyle/>
                    <a:p>
                      <a:pPr algn="l" defTabSz="914400"/>
                      <a:r>
                        <a:rPr b="0" i="0" strike="noStrike" dirty="0"/>
                        <a:t>ArrowsMore</a:t>
                      </a:r>
                    </a:p>
                  </a:txBody>
                  <a:tcPr horzOverflow="overflow"/>
                </a:tc>
              </a:tr>
              <a:tr h="508000">
                <a:tc>
                  <a:txBody>
                    <a:bodyPr/>
                    <a:lstStyle/>
                    <a:p>
                      <a:pPr algn="l" defTabSz="914400"/>
                      <a:r>
                        <a:rPr b="0" i="0" strike="noStrike" dirty="0"/>
                        <a:t>TextEffectAlignment</a:t>
                      </a:r>
                    </a:p>
                  </a:txBody>
                  <a:tcPr horzOverflow="overflow"/>
                </a:tc>
              </a:tr>
              <a:tr h="508000">
                <a:tc>
                  <a:txBody>
                    <a:bodyPr/>
                    <a:lstStyle/>
                    <a:p>
                      <a:pPr algn="l" defTabSz="914400"/>
                      <a:r>
                        <a:rPr b="0" i="0" strike="noStrike" dirty="0"/>
                        <a:t>TextEffectTracking</a:t>
                      </a:r>
                    </a:p>
                  </a:txBody>
                  <a:tcPr horzOverflow="overflow"/>
                </a:tc>
              </a:tr>
              <a:tr h="508000">
                <a:tc>
                  <a:txBody>
                    <a:bodyPr/>
                    <a:lstStyle/>
                    <a:p>
                      <a:pPr algn="l" defTabSz="914400"/>
                      <a:r>
                        <a:rPr b="0" i="0" strike="noStrike" dirty="0"/>
                        <a:t>WordArtVerticalText</a:t>
                      </a:r>
                    </a:p>
                  </a:txBody>
                  <a:tcPr horzOverflow="overflow"/>
                </a:tc>
              </a:tr>
              <a:tr h="508000">
                <a:tc>
                  <a:txBody>
                    <a:bodyPr/>
                    <a:lstStyle/>
                    <a:p>
                      <a:pPr algn="l" defTabSz="914400"/>
                      <a:r>
                        <a:rPr b="0" i="0" strike="noStrike" dirty="0"/>
                        <a:t>WordArtEvenTextHeightClassic</a:t>
                      </a:r>
                    </a:p>
                  </a:txBody>
                  <a:tcPr horzOverflow="overflow"/>
                </a:tc>
              </a:tr>
              <a:tr h="508000">
                <a:tc>
                  <a:txBody>
                    <a:bodyPr/>
                    <a:lstStyle/>
                    <a:p>
                      <a:pPr algn="l" defTabSz="914400"/>
                      <a:r>
                        <a:rPr b="0" i="0" strike="noStrike" dirty="0"/>
                        <a:t>ContrastMore</a:t>
                      </a:r>
                    </a:p>
                  </a:txBody>
                  <a:tcPr horzOverflow="overflow"/>
                </a:tc>
              </a:tr>
            </a:tbl>
          </a:graphicData>
        </a:graphic>
      </p:graphicFrame>
    </p:spTree>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ContrastLess</a:t>
                      </a:r>
                    </a:p>
                  </a:txBody>
                  <a:tcPr horzOverflow="overflow"/>
                </a:tc>
              </a:tr>
              <a:tr h="508000">
                <a:tc>
                  <a:txBody>
                    <a:bodyPr/>
                    <a:lstStyle/>
                    <a:p>
                      <a:pPr algn="l" defTabSz="914400"/>
                      <a:r>
                        <a:rPr b="0" i="0" strike="noStrike" dirty="0"/>
                        <a:t>BrightnessMore</a:t>
                      </a:r>
                    </a:p>
                  </a:txBody>
                  <a:tcPr horzOverflow="overflow"/>
                </a:tc>
              </a:tr>
              <a:tr h="508000">
                <a:tc>
                  <a:txBody>
                    <a:bodyPr/>
                    <a:lstStyle/>
                    <a:p>
                      <a:pPr algn="l" defTabSz="914400"/>
                      <a:r>
                        <a:rPr b="0" i="0" strike="noStrike" dirty="0"/>
                        <a:t>BrightnessLess</a:t>
                      </a:r>
                    </a:p>
                  </a:txBody>
                  <a:tcPr horzOverflow="overflow"/>
                </a:tc>
              </a:tr>
              <a:tr h="508000">
                <a:tc>
                  <a:txBody>
                    <a:bodyPr/>
                    <a:lstStyle/>
                    <a:p>
                      <a:pPr algn="l" defTabSz="914400"/>
                      <a:r>
                        <a:rPr b="0" i="0" strike="noStrike" dirty="0"/>
                        <a:t>ShadowNudgeUpClassic</a:t>
                      </a:r>
                    </a:p>
                  </a:txBody>
                  <a:tcPr horzOverflow="overflow"/>
                </a:tc>
              </a:tr>
              <a:tr h="508000">
                <a:tc>
                  <a:txBody>
                    <a:bodyPr/>
                    <a:lstStyle/>
                    <a:p>
                      <a:pPr algn="l" defTabSz="914400"/>
                      <a:r>
                        <a:rPr b="0" i="0" strike="noStrike" dirty="0"/>
                        <a:t>ShadowNudgeDownClassic</a:t>
                      </a:r>
                    </a:p>
                  </a:txBody>
                  <a:tcPr horzOverflow="overflow"/>
                </a:tc>
              </a:tr>
              <a:tr h="508000">
                <a:tc>
                  <a:txBody>
                    <a:bodyPr/>
                    <a:lstStyle/>
                    <a:p>
                      <a:pPr algn="l" defTabSz="914400"/>
                      <a:r>
                        <a:rPr b="0" i="0" strike="noStrike" dirty="0"/>
                        <a:t>ShadowNudgeLeftClassic</a:t>
                      </a:r>
                    </a:p>
                  </a:txBody>
                  <a:tcPr horzOverflow="overflow"/>
                </a:tc>
              </a:tr>
              <a:tr h="508000">
                <a:tc>
                  <a:txBody>
                    <a:bodyPr/>
                    <a:lstStyle/>
                    <a:p>
                      <a:pPr algn="l" defTabSz="914400"/>
                      <a:r>
                        <a:rPr b="0" i="0" strike="noStrike" dirty="0"/>
                        <a:t>ShadowNudgeRightClassic</a:t>
                      </a:r>
                    </a:p>
                  </a:txBody>
                  <a:tcPr horzOverflow="overflow"/>
                </a:tc>
              </a:tr>
              <a:tr h="508000">
                <a:tc>
                  <a:txBody>
                    <a:bodyPr/>
                    <a:lstStyle/>
                    <a:p>
                      <a:pPr algn="l" defTabSz="914400"/>
                      <a:r>
                        <a:rPr b="0" i="0" strike="noStrike" dirty="0"/>
                        <a:t>ObjectShadowColorMoreColorsDialog</a:t>
                      </a:r>
                    </a:p>
                  </a:txBody>
                  <a:tcPr horzOverflow="overflow"/>
                </a:tc>
              </a:tr>
              <a:tr h="508000">
                <a:tc>
                  <a:txBody>
                    <a:bodyPr/>
                    <a:lstStyle/>
                    <a:p>
                      <a:pPr algn="l" defTabSz="914400"/>
                      <a:r>
                        <a:rPr b="0" i="0" strike="noStrike" dirty="0"/>
                        <a:t>HighImportance</a:t>
                      </a:r>
                    </a:p>
                  </a:txBody>
                  <a:tcPr horzOverflow="overflow"/>
                </a:tc>
              </a:tr>
              <a:tr h="508000">
                <a:tc>
                  <a:txBody>
                    <a:bodyPr/>
                    <a:lstStyle/>
                    <a:p>
                      <a:pPr algn="l" defTabSz="914400"/>
                      <a:r>
                        <a:rPr b="0" i="0" strike="noStrike" dirty="0"/>
                        <a:t>LowImportance</a:t>
                      </a:r>
                    </a:p>
                  </a:txBody>
                  <a:tcPr horzOverflow="overflow"/>
                </a:tc>
              </a:tr>
            </a:tbl>
          </a:graphicData>
        </a:graphic>
      </p:graphicFrame>
    </p:spTree>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AttachMenu</a:t>
                      </a:r>
                    </a:p>
                  </a:txBody>
                  <a:tcPr horzOverflow="overflow"/>
                </a:tc>
              </a:tr>
              <a:tr h="508000">
                <a:tc>
                  <a:txBody>
                    <a:bodyPr/>
                    <a:lstStyle/>
                    <a:p>
                      <a:pPr algn="l" defTabSz="914400"/>
                      <a:r>
                        <a:rPr b="0" i="0" strike="noStrike" dirty="0"/>
                        <a:t>InviteAttendees</a:t>
                      </a:r>
                    </a:p>
                  </a:txBody>
                  <a:tcPr horzOverflow="overflow"/>
                </a:tc>
              </a:tr>
              <a:tr h="508000">
                <a:tc>
                  <a:txBody>
                    <a:bodyPr/>
                    <a:lstStyle/>
                    <a:p>
                      <a:pPr algn="l" defTabSz="914400"/>
                      <a:r>
                        <a:rPr b="0" i="0" strike="noStrike" dirty="0"/>
                        <a:t>AcceptInvitation</a:t>
                      </a:r>
                    </a:p>
                  </a:txBody>
                  <a:tcPr horzOverflow="overflow"/>
                </a:tc>
              </a:tr>
              <a:tr h="508000">
                <a:tc>
                  <a:txBody>
                    <a:bodyPr/>
                    <a:lstStyle/>
                    <a:p>
                      <a:pPr algn="l" defTabSz="914400"/>
                      <a:r>
                        <a:rPr b="0" i="0" strike="noStrike" dirty="0"/>
                        <a:t>DeclineInvitation</a:t>
                      </a:r>
                    </a:p>
                  </a:txBody>
                  <a:tcPr horzOverflow="overflow"/>
                </a:tc>
              </a:tr>
              <a:tr h="508000">
                <a:tc>
                  <a:txBody>
                    <a:bodyPr/>
                    <a:lstStyle/>
                    <a:p>
                      <a:pPr algn="l" defTabSz="914400"/>
                      <a:r>
                        <a:rPr b="0" i="0" strike="noStrike" dirty="0"/>
                        <a:t>TentativeAcceptInvitation</a:t>
                      </a:r>
                    </a:p>
                  </a:txBody>
                  <a:tcPr horzOverflow="overflow"/>
                </a:tc>
              </a:tr>
              <a:tr h="508000">
                <a:tc>
                  <a:txBody>
                    <a:bodyPr/>
                    <a:lstStyle/>
                    <a:p>
                      <a:pPr algn="l" defTabSz="914400"/>
                      <a:r>
                        <a:rPr b="0" i="0" strike="noStrike" dirty="0"/>
                        <a:t>NewContact</a:t>
                      </a:r>
                    </a:p>
                  </a:txBody>
                  <a:tcPr horzOverflow="overflow"/>
                </a:tc>
              </a:tr>
              <a:tr h="508000">
                <a:tc>
                  <a:txBody>
                    <a:bodyPr/>
                    <a:lstStyle/>
                    <a:p>
                      <a:pPr algn="l" defTabSz="914400"/>
                      <a:r>
                        <a:rPr b="0" i="0" strike="noStrike" dirty="0"/>
                        <a:t>NewTask</a:t>
                      </a:r>
                    </a:p>
                  </a:txBody>
                  <a:tcPr horzOverflow="overflow"/>
                </a:tc>
              </a:tr>
              <a:tr h="508000">
                <a:tc>
                  <a:txBody>
                    <a:bodyPr/>
                    <a:lstStyle/>
                    <a:p>
                      <a:pPr algn="l" defTabSz="914400"/>
                      <a:r>
                        <a:rPr b="0" i="0" strike="noStrike" dirty="0"/>
                        <a:t>NewAppointment</a:t>
                      </a:r>
                    </a:p>
                  </a:txBody>
                  <a:tcPr horzOverflow="overflow"/>
                </a:tc>
              </a:tr>
              <a:tr h="508000">
                <a:tc>
                  <a:txBody>
                    <a:bodyPr/>
                    <a:lstStyle/>
                    <a:p>
                      <a:pPr algn="l" defTabSz="914400"/>
                      <a:r>
                        <a:rPr b="0" i="0" strike="noStrike" dirty="0"/>
                        <a:t>TextAlignLeft</a:t>
                      </a:r>
                    </a:p>
                  </a:txBody>
                  <a:tcPr horzOverflow="overflow"/>
                </a:tc>
              </a:tr>
              <a:tr h="508000">
                <a:tc>
                  <a:txBody>
                    <a:bodyPr/>
                    <a:lstStyle/>
                    <a:p>
                      <a:pPr algn="l" defTabSz="914400"/>
                      <a:r>
                        <a:rPr b="0" i="0" strike="noStrike" dirty="0"/>
                        <a:t>TextAlignCenter</a:t>
                      </a:r>
                    </a:p>
                  </a:txBody>
                  <a:tcPr horzOverflow="overflow"/>
                </a:tc>
              </a:tr>
            </a:tbl>
          </a:graphicData>
        </a:graphic>
      </p:graphicFrame>
    </p:spTree>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ShapeRectangle</a:t>
                      </a:r>
                    </a:p>
                  </a:txBody>
                  <a:tcPr horzOverflow="overflow"/>
                </a:tc>
              </a:tr>
              <a:tr h="508000">
                <a:tc>
                  <a:txBody>
                    <a:bodyPr/>
                    <a:lstStyle/>
                    <a:p>
                      <a:pPr algn="l" defTabSz="914400"/>
                      <a:r>
                        <a:rPr b="0" i="0" strike="noStrike" dirty="0"/>
                        <a:t>ShapeRoundedRectangle</a:t>
                      </a:r>
                    </a:p>
                  </a:txBody>
                  <a:tcPr horzOverflow="overflow"/>
                </a:tc>
              </a:tr>
              <a:tr h="508000">
                <a:tc>
                  <a:txBody>
                    <a:bodyPr/>
                    <a:lstStyle/>
                    <a:p>
                      <a:pPr algn="l" defTabSz="914400"/>
                      <a:r>
                        <a:rPr b="0" i="0" strike="noStrike" dirty="0"/>
                        <a:t>ShapeIsoscelesTriangle</a:t>
                      </a:r>
                    </a:p>
                  </a:txBody>
                  <a:tcPr horzOverflow="overflow"/>
                </a:tc>
              </a:tr>
              <a:tr h="508000">
                <a:tc>
                  <a:txBody>
                    <a:bodyPr/>
                    <a:lstStyle/>
                    <a:p>
                      <a:pPr algn="l" defTabSz="914400"/>
                      <a:r>
                        <a:rPr b="0" i="0" strike="noStrike" dirty="0"/>
                        <a:t>ShapeOval</a:t>
                      </a:r>
                    </a:p>
                  </a:txBody>
                  <a:tcPr horzOverflow="overflow"/>
                </a:tc>
              </a:tr>
              <a:tr h="508000">
                <a:tc>
                  <a:txBody>
                    <a:bodyPr/>
                    <a:lstStyle/>
                    <a:p>
                      <a:pPr algn="l" defTabSz="914400"/>
                      <a:r>
                        <a:rPr b="0" i="0" strike="noStrike" dirty="0"/>
                        <a:t>ShapeSmileyFace</a:t>
                      </a:r>
                    </a:p>
                  </a:txBody>
                  <a:tcPr horzOverflow="overflow"/>
                </a:tc>
              </a:tr>
              <a:tr h="508000">
                <a:tc>
                  <a:txBody>
                    <a:bodyPr/>
                    <a:lstStyle/>
                    <a:p>
                      <a:pPr algn="l" defTabSz="914400"/>
                      <a:r>
                        <a:rPr b="0" i="0" strike="noStrike" dirty="0"/>
                        <a:t>ShapeDonut</a:t>
                      </a:r>
                    </a:p>
                  </a:txBody>
                  <a:tcPr horzOverflow="overflow"/>
                </a:tc>
              </a:tr>
              <a:tr h="508000">
                <a:tc>
                  <a:txBody>
                    <a:bodyPr/>
                    <a:lstStyle/>
                    <a:p>
                      <a:pPr algn="l" defTabSz="914400"/>
                      <a:r>
                        <a:rPr b="0" i="0" strike="noStrike" dirty="0"/>
                        <a:t>ShapeLeftBrace</a:t>
                      </a:r>
                    </a:p>
                  </a:txBody>
                  <a:tcPr horzOverflow="overflow"/>
                </a:tc>
              </a:tr>
              <a:tr h="508000">
                <a:tc>
                  <a:txBody>
                    <a:bodyPr/>
                    <a:lstStyle/>
                    <a:p>
                      <a:pPr algn="l" defTabSz="914400"/>
                      <a:r>
                        <a:rPr b="0" i="0" strike="noStrike" dirty="0"/>
                        <a:t>ShapeRightBrace</a:t>
                      </a:r>
                    </a:p>
                  </a:txBody>
                  <a:tcPr horzOverflow="overflow"/>
                </a:tc>
              </a:tr>
              <a:tr h="508000">
                <a:tc>
                  <a:txBody>
                    <a:bodyPr/>
                    <a:lstStyle/>
                    <a:p>
                      <a:pPr algn="l" defTabSz="914400"/>
                      <a:r>
                        <a:rPr b="0" i="0" strike="noStrike" dirty="0"/>
                        <a:t>ShapeArc</a:t>
                      </a:r>
                    </a:p>
                  </a:txBody>
                  <a:tcPr horzOverflow="overflow"/>
                </a:tc>
              </a:tr>
              <a:tr h="508000">
                <a:tc>
                  <a:txBody>
                    <a:bodyPr/>
                    <a:lstStyle/>
                    <a:p>
                      <a:pPr algn="l" defTabSz="914400"/>
                      <a:r>
                        <a:rPr b="0" i="0" strike="noStrike" dirty="0"/>
                        <a:t>ShapeLightningBolt</a:t>
                      </a:r>
                    </a:p>
                  </a:txBody>
                  <a:tcPr horzOverflow="overflow"/>
                </a:tc>
              </a:tr>
            </a:tbl>
          </a:graphicData>
        </a:graphic>
      </p:graphicFrame>
    </p:spTree>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ShapeHeart</a:t>
                      </a:r>
                    </a:p>
                  </a:txBody>
                  <a:tcPr horzOverflow="overflow"/>
                </a:tc>
              </a:tr>
              <a:tr h="508000">
                <a:tc>
                  <a:txBody>
                    <a:bodyPr/>
                    <a:lstStyle/>
                    <a:p>
                      <a:pPr algn="l" defTabSz="914400"/>
                      <a:r>
                        <a:rPr b="0" i="0" strike="noStrike" dirty="0"/>
                        <a:t>ShapeRightArrow</a:t>
                      </a:r>
                    </a:p>
                  </a:txBody>
                  <a:tcPr horzOverflow="overflow"/>
                </a:tc>
              </a:tr>
              <a:tr h="508000">
                <a:tc>
                  <a:txBody>
                    <a:bodyPr/>
                    <a:lstStyle/>
                    <a:p>
                      <a:pPr algn="l" defTabSz="914400"/>
                      <a:r>
                        <a:rPr b="0" i="0" strike="noStrike" dirty="0"/>
                        <a:t>ShapeLeftArrow</a:t>
                      </a:r>
                    </a:p>
                  </a:txBody>
                  <a:tcPr horzOverflow="overflow"/>
                </a:tc>
              </a:tr>
              <a:tr h="508000">
                <a:tc>
                  <a:txBody>
                    <a:bodyPr/>
                    <a:lstStyle/>
                    <a:p>
                      <a:pPr algn="l" defTabSz="914400"/>
                      <a:r>
                        <a:rPr b="0" i="0" strike="noStrike" dirty="0"/>
                        <a:t>ShapeUpArrow</a:t>
                      </a:r>
                    </a:p>
                  </a:txBody>
                  <a:tcPr horzOverflow="overflow"/>
                </a:tc>
              </a:tr>
              <a:tr h="508000">
                <a:tc>
                  <a:txBody>
                    <a:bodyPr/>
                    <a:lstStyle/>
                    <a:p>
                      <a:pPr algn="l" defTabSz="914400"/>
                      <a:r>
                        <a:rPr b="0" i="0" strike="noStrike" dirty="0"/>
                        <a:t>ShapeDownArrow</a:t>
                      </a:r>
                    </a:p>
                  </a:txBody>
                  <a:tcPr horzOverflow="overflow"/>
                </a:tc>
              </a:tr>
              <a:tr h="508000">
                <a:tc>
                  <a:txBody>
                    <a:bodyPr/>
                    <a:lstStyle/>
                    <a:p>
                      <a:pPr algn="l" defTabSz="914400"/>
                      <a:r>
                        <a:rPr b="0" i="0" strike="noStrike" dirty="0"/>
                        <a:t>ShapeRoundedRectangularCallout</a:t>
                      </a:r>
                    </a:p>
                  </a:txBody>
                  <a:tcPr horzOverflow="overflow"/>
                </a:tc>
              </a:tr>
              <a:tr h="508000">
                <a:tc>
                  <a:txBody>
                    <a:bodyPr/>
                    <a:lstStyle/>
                    <a:p>
                      <a:pPr algn="l" defTabSz="914400"/>
                      <a:r>
                        <a:rPr b="0" i="0" strike="noStrike" dirty="0"/>
                        <a:t>ShapeStar</a:t>
                      </a:r>
                    </a:p>
                  </a:txBody>
                  <a:tcPr horzOverflow="overflow"/>
                </a:tc>
              </a:tr>
              <a:tr h="508000">
                <a:tc>
                  <a:txBody>
                    <a:bodyPr/>
                    <a:lstStyle/>
                    <a:p>
                      <a:pPr algn="l" defTabSz="914400"/>
                      <a:r>
                        <a:rPr b="0" i="0" strike="noStrike" dirty="0"/>
                        <a:t>ShapeSeal8</a:t>
                      </a:r>
                    </a:p>
                  </a:txBody>
                  <a:tcPr horzOverflow="overflow"/>
                </a:tc>
              </a:tr>
              <a:tr h="508000">
                <a:tc>
                  <a:txBody>
                    <a:bodyPr/>
                    <a:lstStyle/>
                    <a:p>
                      <a:pPr algn="l" defTabSz="914400"/>
                      <a:r>
                        <a:rPr b="0" i="0" strike="noStrike" dirty="0"/>
                        <a:t>ShapeSeal16</a:t>
                      </a:r>
                    </a:p>
                  </a:txBody>
                  <a:tcPr horzOverflow="overflow"/>
                </a:tc>
              </a:tr>
              <a:tr h="508000">
                <a:tc>
                  <a:txBody>
                    <a:bodyPr/>
                    <a:lstStyle/>
                    <a:p>
                      <a:pPr algn="l" defTabSz="914400"/>
                      <a:r>
                        <a:rPr b="0" i="0" strike="noStrike" dirty="0"/>
                        <a:t>ShapeSeal24</a:t>
                      </a:r>
                    </a:p>
                  </a:txBody>
                  <a:tcPr horzOverflow="overflow"/>
                </a:tc>
              </a:tr>
            </a:tbl>
          </a:graphicData>
        </a:graphic>
      </p:graphicFrame>
    </p:spTree>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TextAlignRight</a:t>
                      </a:r>
                    </a:p>
                  </a:txBody>
                  <a:tcPr horzOverflow="overflow"/>
                </a:tc>
              </a:tr>
              <a:tr h="508000">
                <a:tc>
                  <a:txBody>
                    <a:bodyPr/>
                    <a:lstStyle/>
                    <a:p>
                      <a:pPr algn="l" defTabSz="914400"/>
                      <a:r>
                        <a:rPr b="0" i="0" strike="noStrike" dirty="0"/>
                        <a:t>TextAlignLetterJustify</a:t>
                      </a:r>
                    </a:p>
                  </a:txBody>
                  <a:tcPr horzOverflow="overflow"/>
                </a:tc>
              </a:tr>
              <a:tr h="508000">
                <a:tc>
                  <a:txBody>
                    <a:bodyPr/>
                    <a:lstStyle/>
                    <a:p>
                      <a:pPr algn="l" defTabSz="914400"/>
                      <a:r>
                        <a:rPr b="0" i="0" strike="noStrike" dirty="0"/>
                        <a:t>TextAlignWordJustify</a:t>
                      </a:r>
                    </a:p>
                  </a:txBody>
                  <a:tcPr horzOverflow="overflow"/>
                </a:tc>
              </a:tr>
              <a:tr h="508000">
                <a:tc>
                  <a:txBody>
                    <a:bodyPr/>
                    <a:lstStyle/>
                    <a:p>
                      <a:pPr algn="l" defTabSz="914400"/>
                      <a:r>
                        <a:rPr b="0" i="0" strike="noStrike" dirty="0"/>
                        <a:t>TextAlignStretchJustify</a:t>
                      </a:r>
                    </a:p>
                  </a:txBody>
                  <a:tcPr horzOverflow="overflow"/>
                </a:tc>
              </a:tr>
              <a:tr h="508000">
                <a:tc>
                  <a:txBody>
                    <a:bodyPr/>
                    <a:lstStyle/>
                    <a:p>
                      <a:pPr algn="l" defTabSz="914400"/>
                      <a:r>
                        <a:rPr b="0" i="0" strike="noStrike" dirty="0"/>
                        <a:t>PictureReset</a:t>
                      </a:r>
                    </a:p>
                  </a:txBody>
                  <a:tcPr horzOverflow="overflow"/>
                </a:tc>
              </a:tr>
              <a:tr h="508000">
                <a:tc>
                  <a:txBody>
                    <a:bodyPr/>
                    <a:lstStyle/>
                    <a:p>
                      <a:pPr algn="l" defTabSz="914400"/>
                      <a:r>
                        <a:rPr b="0" i="0" strike="noStrike" dirty="0"/>
                        <a:t>PictureRecolorAutomatic</a:t>
                      </a:r>
                    </a:p>
                  </a:txBody>
                  <a:tcPr horzOverflow="overflow"/>
                </a:tc>
              </a:tr>
              <a:tr h="508000">
                <a:tc>
                  <a:txBody>
                    <a:bodyPr/>
                    <a:lstStyle/>
                    <a:p>
                      <a:pPr algn="l" defTabSz="914400"/>
                      <a:r>
                        <a:rPr b="0" i="0" strike="noStrike" dirty="0"/>
                        <a:t>PictureRecolorGrayscale</a:t>
                      </a:r>
                    </a:p>
                  </a:txBody>
                  <a:tcPr horzOverflow="overflow"/>
                </a:tc>
              </a:tr>
              <a:tr h="508000">
                <a:tc>
                  <a:txBody>
                    <a:bodyPr/>
                    <a:lstStyle/>
                    <a:p>
                      <a:pPr algn="l" defTabSz="914400"/>
                      <a:r>
                        <a:rPr b="0" i="0" strike="noStrike" dirty="0"/>
                        <a:t>PictureRecolorBlackAndWhite</a:t>
                      </a:r>
                    </a:p>
                  </a:txBody>
                  <a:tcPr horzOverflow="overflow"/>
                </a:tc>
              </a:tr>
              <a:tr h="508000">
                <a:tc>
                  <a:txBody>
                    <a:bodyPr/>
                    <a:lstStyle/>
                    <a:p>
                      <a:pPr algn="l" defTabSz="914400"/>
                      <a:r>
                        <a:rPr b="0" i="0" strike="noStrike" dirty="0"/>
                        <a:t>PictureRecolorWashout</a:t>
                      </a:r>
                    </a:p>
                  </a:txBody>
                  <a:tcPr horzOverflow="overflow"/>
                </a:tc>
              </a:tr>
              <a:tr h="508000">
                <a:tc>
                  <a:txBody>
                    <a:bodyPr/>
                    <a:lstStyle/>
                    <a:p>
                      <a:pPr algn="l" defTabSz="914400"/>
                      <a:r>
                        <a:rPr b="0" i="0" strike="noStrike" dirty="0"/>
                        <a:t>TextWrappingSquare</a:t>
                      </a:r>
                    </a:p>
                  </a:txBody>
                  <a:tcPr horzOverflow="overflow"/>
                </a:tc>
              </a:tr>
            </a:tbl>
          </a:graphicData>
        </a:graphic>
      </p:graphicFrame>
    </p:spTree>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TextWrappingTight</a:t>
                      </a:r>
                    </a:p>
                  </a:txBody>
                  <a:tcPr horzOverflow="overflow"/>
                </a:tc>
              </a:tr>
              <a:tr h="508000">
                <a:tc>
                  <a:txBody>
                    <a:bodyPr/>
                    <a:lstStyle/>
                    <a:p>
                      <a:pPr algn="l" defTabSz="914400"/>
                      <a:r>
                        <a:rPr b="0" i="0" strike="noStrike" dirty="0"/>
                        <a:t>TextWrappingNoneClassic</a:t>
                      </a:r>
                    </a:p>
                  </a:txBody>
                  <a:tcPr horzOverflow="overflow"/>
                </a:tc>
              </a:tr>
              <a:tr h="508000">
                <a:tc>
                  <a:txBody>
                    <a:bodyPr/>
                    <a:lstStyle/>
                    <a:p>
                      <a:pPr algn="l" defTabSz="914400"/>
                      <a:r>
                        <a:rPr b="0" i="0" strike="noStrike" dirty="0"/>
                        <a:t>TextWrappingEditWrapPoints</a:t>
                      </a:r>
                    </a:p>
                  </a:txBody>
                  <a:tcPr horzOverflow="overflow"/>
                </a:tc>
              </a:tr>
              <a:tr h="508000">
                <a:tc>
                  <a:txBody>
                    <a:bodyPr/>
                    <a:lstStyle/>
                    <a:p>
                      <a:pPr algn="l" defTabSz="914400"/>
                      <a:r>
                        <a:rPr b="0" i="0" strike="noStrike" dirty="0"/>
                        <a:t>_3DEffectsOnOffClassic</a:t>
                      </a:r>
                    </a:p>
                  </a:txBody>
                  <a:tcPr horzOverflow="overflow"/>
                </a:tc>
              </a:tr>
              <a:tr h="508000">
                <a:tc>
                  <a:txBody>
                    <a:bodyPr/>
                    <a:lstStyle/>
                    <a:p>
                      <a:pPr algn="l" defTabSz="914400"/>
                      <a:r>
                        <a:rPr b="0" i="0" strike="noStrike" dirty="0"/>
                        <a:t>_3DTiltDownClassic</a:t>
                      </a:r>
                    </a:p>
                  </a:txBody>
                  <a:tcPr horzOverflow="overflow"/>
                </a:tc>
              </a:tr>
              <a:tr h="508000">
                <a:tc>
                  <a:txBody>
                    <a:bodyPr/>
                    <a:lstStyle/>
                    <a:p>
                      <a:pPr algn="l" defTabSz="914400"/>
                      <a:r>
                        <a:rPr b="0" i="0" strike="noStrike" dirty="0"/>
                        <a:t>_3DTiltUpClassic</a:t>
                      </a:r>
                    </a:p>
                  </a:txBody>
                  <a:tcPr horzOverflow="overflow"/>
                </a:tc>
              </a:tr>
              <a:tr h="508000">
                <a:tc>
                  <a:txBody>
                    <a:bodyPr/>
                    <a:lstStyle/>
                    <a:p>
                      <a:pPr algn="l" defTabSz="914400"/>
                      <a:r>
                        <a:rPr b="0" i="0" strike="noStrike" dirty="0"/>
                        <a:t>_3DTiltLeftClassic</a:t>
                      </a:r>
                    </a:p>
                  </a:txBody>
                  <a:tcPr horzOverflow="overflow"/>
                </a:tc>
              </a:tr>
              <a:tr h="508000">
                <a:tc>
                  <a:txBody>
                    <a:bodyPr/>
                    <a:lstStyle/>
                    <a:p>
                      <a:pPr algn="l" defTabSz="914400"/>
                      <a:r>
                        <a:rPr b="0" i="0" strike="noStrike" dirty="0"/>
                        <a:t>_3DTiltRightClassic</a:t>
                      </a:r>
                    </a:p>
                  </a:txBody>
                  <a:tcPr horzOverflow="overflow"/>
                </a:tc>
              </a:tr>
              <a:tr h="508000">
                <a:tc>
                  <a:txBody>
                    <a:bodyPr/>
                    <a:lstStyle/>
                    <a:p>
                      <a:pPr algn="l" defTabSz="914400"/>
                      <a:r>
                        <a:rPr b="0" i="0" strike="noStrike" dirty="0"/>
                        <a:t>_3DExtrusionDirectionClassic</a:t>
                      </a:r>
                    </a:p>
                  </a:txBody>
                  <a:tcPr horzOverflow="overflow"/>
                </a:tc>
              </a:tr>
              <a:tr h="508000">
                <a:tc>
                  <a:txBody>
                    <a:bodyPr/>
                    <a:lstStyle/>
                    <a:p>
                      <a:pPr algn="l" defTabSz="914400"/>
                      <a:r>
                        <a:rPr b="0" i="0" strike="noStrike" dirty="0"/>
                        <a:t>_3DLightingClassic</a:t>
                      </a:r>
                    </a:p>
                  </a:txBody>
                  <a:tcPr horzOverflow="overflow"/>
                </a:tc>
              </a:tr>
            </a:tbl>
          </a:graphicData>
        </a:graphic>
      </p:graphicFrame>
    </p:spTree>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_3DSurfaceMaterialClassic</a:t>
                      </a:r>
                    </a:p>
                  </a:txBody>
                  <a:tcPr horzOverflow="overflow"/>
                </a:tc>
              </a:tr>
              <a:tr h="508000">
                <a:tc>
                  <a:txBody>
                    <a:bodyPr/>
                    <a:lstStyle/>
                    <a:p>
                      <a:pPr algn="l" defTabSz="914400"/>
                      <a:r>
                        <a:rPr b="0" i="0" strike="noStrike" dirty="0"/>
                        <a:t>_3DExtrusionDepthNoneClassic</a:t>
                      </a:r>
                    </a:p>
                  </a:txBody>
                  <a:tcPr horzOverflow="overflow"/>
                </a:tc>
              </a:tr>
              <a:tr h="508000">
                <a:tc>
                  <a:txBody>
                    <a:bodyPr/>
                    <a:lstStyle/>
                    <a:p>
                      <a:pPr algn="l" defTabSz="914400"/>
                      <a:r>
                        <a:rPr b="0" i="0" strike="noStrike" dirty="0"/>
                        <a:t>_3DExtrusionDepth36Classic</a:t>
                      </a:r>
                    </a:p>
                  </a:txBody>
                  <a:tcPr horzOverflow="overflow"/>
                </a:tc>
              </a:tr>
              <a:tr h="508000">
                <a:tc>
                  <a:txBody>
                    <a:bodyPr/>
                    <a:lstStyle/>
                    <a:p>
                      <a:pPr algn="l" defTabSz="914400"/>
                      <a:r>
                        <a:rPr b="0" i="0" strike="noStrike" dirty="0"/>
                        <a:t>_3DExtrusionDepth72Classic</a:t>
                      </a:r>
                    </a:p>
                  </a:txBody>
                  <a:tcPr horzOverflow="overflow"/>
                </a:tc>
              </a:tr>
              <a:tr h="508000">
                <a:tc>
                  <a:txBody>
                    <a:bodyPr/>
                    <a:lstStyle/>
                    <a:p>
                      <a:pPr algn="l" defTabSz="914400"/>
                      <a:r>
                        <a:rPr b="0" i="0" strike="noStrike" dirty="0"/>
                        <a:t>_3DExtrusionDepth144Classic</a:t>
                      </a:r>
                    </a:p>
                  </a:txBody>
                  <a:tcPr horzOverflow="overflow"/>
                </a:tc>
              </a:tr>
              <a:tr h="508000">
                <a:tc>
                  <a:txBody>
                    <a:bodyPr/>
                    <a:lstStyle/>
                    <a:p>
                      <a:pPr algn="l" defTabSz="914400"/>
                      <a:r>
                        <a:rPr b="0" i="0" strike="noStrike" dirty="0"/>
                        <a:t>_3DExtrusionDepth288Classic</a:t>
                      </a:r>
                    </a:p>
                  </a:txBody>
                  <a:tcPr horzOverflow="overflow"/>
                </a:tc>
              </a:tr>
              <a:tr h="508000">
                <a:tc>
                  <a:txBody>
                    <a:bodyPr/>
                    <a:lstStyle/>
                    <a:p>
                      <a:pPr algn="l" defTabSz="914400"/>
                      <a:r>
                        <a:rPr b="0" i="0" strike="noStrike" dirty="0"/>
                        <a:t>_3DExtrusionDepthInfinityClassic</a:t>
                      </a:r>
                    </a:p>
                  </a:txBody>
                  <a:tcPr horzOverflow="overflow"/>
                </a:tc>
              </a:tr>
              <a:tr h="508000">
                <a:tc>
                  <a:txBody>
                    <a:bodyPr/>
                    <a:lstStyle/>
                    <a:p>
                      <a:pPr algn="l" defTabSz="914400"/>
                      <a:r>
                        <a:rPr b="0" i="0" strike="noStrike" dirty="0"/>
                        <a:t>_3DExtrusionPerspectiveClassic</a:t>
                      </a:r>
                    </a:p>
                  </a:txBody>
                  <a:tcPr horzOverflow="overflow"/>
                </a:tc>
              </a:tr>
              <a:tr h="508000">
                <a:tc>
                  <a:txBody>
                    <a:bodyPr/>
                    <a:lstStyle/>
                    <a:p>
                      <a:pPr algn="l" defTabSz="914400"/>
                      <a:r>
                        <a:rPr b="0" i="0" strike="noStrike" dirty="0"/>
                        <a:t>_3DExtrusionParallelClassic</a:t>
                      </a:r>
                    </a:p>
                  </a:txBody>
                  <a:tcPr horzOverflow="overflow"/>
                </a:tc>
              </a:tr>
              <a:tr h="508000">
                <a:tc>
                  <a:txBody>
                    <a:bodyPr/>
                    <a:lstStyle/>
                    <a:p>
                      <a:pPr algn="l" defTabSz="914400"/>
                      <a:r>
                        <a:rPr b="0" i="0" strike="noStrike" dirty="0"/>
                        <a:t>_3DLightingFlatClassic</a:t>
                      </a:r>
                    </a:p>
                  </a:txBody>
                  <a:tcPr horzOverflow="overflow"/>
                </a:tc>
              </a:tr>
            </a:tbl>
          </a:graphicData>
        </a:graphic>
      </p:graphicFrame>
    </p:spTree>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_3DLightingNormalClassic</a:t>
                      </a:r>
                    </a:p>
                  </a:txBody>
                  <a:tcPr horzOverflow="overflow"/>
                </a:tc>
              </a:tr>
              <a:tr h="508000">
                <a:tc>
                  <a:txBody>
                    <a:bodyPr/>
                    <a:lstStyle/>
                    <a:p>
                      <a:pPr algn="l" defTabSz="914400"/>
                      <a:r>
                        <a:rPr b="0" i="0" strike="noStrike" dirty="0"/>
                        <a:t>_3DLightingDimClassic</a:t>
                      </a:r>
                    </a:p>
                  </a:txBody>
                  <a:tcPr horzOverflow="overflow"/>
                </a:tc>
              </a:tr>
              <a:tr h="508000">
                <a:tc>
                  <a:txBody>
                    <a:bodyPr/>
                    <a:lstStyle/>
                    <a:p>
                      <a:pPr algn="l" defTabSz="914400"/>
                      <a:r>
                        <a:rPr b="0" i="0" strike="noStrike" dirty="0"/>
                        <a:t>_3DSurfaceMatteClassic</a:t>
                      </a:r>
                    </a:p>
                  </a:txBody>
                  <a:tcPr horzOverflow="overflow"/>
                </a:tc>
              </a:tr>
              <a:tr h="508000">
                <a:tc>
                  <a:txBody>
                    <a:bodyPr/>
                    <a:lstStyle/>
                    <a:p>
                      <a:pPr algn="l" defTabSz="914400"/>
                      <a:r>
                        <a:rPr b="0" i="0" strike="noStrike" dirty="0"/>
                        <a:t>_3DSurfacePlasticClassic</a:t>
                      </a:r>
                    </a:p>
                  </a:txBody>
                  <a:tcPr horzOverflow="overflow"/>
                </a:tc>
              </a:tr>
              <a:tr h="508000">
                <a:tc>
                  <a:txBody>
                    <a:bodyPr/>
                    <a:lstStyle/>
                    <a:p>
                      <a:pPr algn="l" defTabSz="914400"/>
                      <a:r>
                        <a:rPr b="0" i="0" strike="noStrike" dirty="0"/>
                        <a:t>_3DSurfaceMetalClassic</a:t>
                      </a:r>
                    </a:p>
                  </a:txBody>
                  <a:tcPr horzOverflow="overflow"/>
                </a:tc>
              </a:tr>
              <a:tr h="508000">
                <a:tc>
                  <a:txBody>
                    <a:bodyPr/>
                    <a:lstStyle/>
                    <a:p>
                      <a:pPr algn="l" defTabSz="914400"/>
                      <a:r>
                        <a:rPr b="0" i="0" strike="noStrike" dirty="0"/>
                        <a:t>_3DSurfaceWireFrameClassic</a:t>
                      </a:r>
                    </a:p>
                  </a:txBody>
                  <a:tcPr horzOverflow="overflow"/>
                </a:tc>
              </a:tr>
              <a:tr h="508000">
                <a:tc>
                  <a:txBody>
                    <a:bodyPr/>
                    <a:lstStyle/>
                    <a:p>
                      <a:pPr algn="l" defTabSz="914400"/>
                      <a:r>
                        <a:rPr b="0" i="0" strike="noStrike" dirty="0"/>
                        <a:t>ObjectEditText</a:t>
                      </a:r>
                    </a:p>
                  </a:txBody>
                  <a:tcPr horzOverflow="overflow"/>
                </a:tc>
              </a:tr>
              <a:tr h="508000">
                <a:tc>
                  <a:txBody>
                    <a:bodyPr/>
                    <a:lstStyle/>
                    <a:p>
                      <a:pPr algn="l" defTabSz="914400"/>
                      <a:r>
                        <a:rPr b="0" i="0" strike="noStrike" dirty="0"/>
                        <a:t>SnapToShapes</a:t>
                      </a:r>
                    </a:p>
                  </a:txBody>
                  <a:tcPr horzOverflow="overflow"/>
                </a:tc>
              </a:tr>
              <a:tr h="508000">
                <a:tc>
                  <a:txBody>
                    <a:bodyPr/>
                    <a:lstStyle/>
                    <a:p>
                      <a:pPr algn="l" defTabSz="914400"/>
                      <a:r>
                        <a:rPr b="0" i="0" strike="noStrike" dirty="0"/>
                        <a:t>TextWrappingMenuClassic</a:t>
                      </a:r>
                    </a:p>
                  </a:txBody>
                  <a:tcPr horzOverflow="overflow"/>
                </a:tc>
              </a:tr>
              <a:tr h="508000">
                <a:tc>
                  <a:txBody>
                    <a:bodyPr/>
                    <a:lstStyle/>
                    <a:p>
                      <a:pPr algn="l" defTabSz="914400"/>
                      <a:r>
                        <a:rPr b="0" i="0" strike="noStrike" dirty="0"/>
                        <a:t>WindowsArrangeIcons</a:t>
                      </a:r>
                    </a:p>
                  </a:txBody>
                  <a:tcPr horzOverflow="overflow"/>
                </a:tc>
              </a:tr>
            </a:tbl>
          </a:graphicData>
        </a:graphic>
      </p:graphicFrame>
    </p:spTree>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PictureFormatDialog</a:t>
                      </a:r>
                    </a:p>
                  </a:txBody>
                  <a:tcPr horzOverflow="overflow"/>
                </a:tc>
              </a:tr>
              <a:tr h="508000">
                <a:tc>
                  <a:txBody>
                    <a:bodyPr/>
                    <a:lstStyle/>
                    <a:p>
                      <a:pPr algn="l" defTabSz="914400"/>
                      <a:r>
                        <a:rPr b="0" i="0" strike="noStrike" dirty="0"/>
                        <a:t>ViewVisualBasicCode</a:t>
                      </a:r>
                    </a:p>
                  </a:txBody>
                  <a:tcPr horzOverflow="overflow"/>
                </a:tc>
              </a:tr>
              <a:tr h="508000">
                <a:tc>
                  <a:txBody>
                    <a:bodyPr/>
                    <a:lstStyle/>
                    <a:p>
                      <a:pPr algn="l" defTabSz="914400"/>
                      <a:r>
                        <a:rPr b="0" i="0" strike="noStrike" dirty="0"/>
                        <a:t>RemoveFromCalendar</a:t>
                      </a:r>
                    </a:p>
                  </a:txBody>
                  <a:tcPr horzOverflow="overflow"/>
                </a:tc>
              </a:tr>
              <a:tr h="508000">
                <a:tc>
                  <a:txBody>
                    <a:bodyPr/>
                    <a:lstStyle/>
                    <a:p>
                      <a:pPr algn="l" defTabSz="914400"/>
                      <a:r>
                        <a:rPr b="0" i="0" strike="noStrike" dirty="0"/>
                        <a:t>MasterViewClose</a:t>
                      </a:r>
                    </a:p>
                  </a:txBody>
                  <a:tcPr horzOverflow="overflow"/>
                </a:tc>
              </a:tr>
              <a:tr h="508000">
                <a:tc>
                  <a:txBody>
                    <a:bodyPr/>
                    <a:lstStyle/>
                    <a:p>
                      <a:pPr algn="l" defTabSz="914400"/>
                      <a:r>
                        <a:rPr b="0" i="0" strike="noStrike" dirty="0"/>
                        <a:t>CreateShortcutMenuFromMacro</a:t>
                      </a:r>
                    </a:p>
                  </a:txBody>
                  <a:tcPr horzOverflow="overflow"/>
                </a:tc>
              </a:tr>
              <a:tr h="508000">
                <a:tc>
                  <a:txBody>
                    <a:bodyPr/>
                    <a:lstStyle/>
                    <a:p>
                      <a:pPr algn="l" defTabSz="914400"/>
                      <a:r>
                        <a:rPr b="0" i="0" strike="noStrike" dirty="0"/>
                        <a:t>DrawingNewClassic</a:t>
                      </a:r>
                    </a:p>
                  </a:txBody>
                  <a:tcPr horzOverflow="overflow"/>
                </a:tc>
              </a:tr>
              <a:tr h="508000">
                <a:tc>
                  <a:txBody>
                    <a:bodyPr/>
                    <a:lstStyle/>
                    <a:p>
                      <a:pPr algn="l" defTabSz="914400"/>
                      <a:r>
                        <a:rPr b="0" i="0" strike="noStrike" dirty="0"/>
                        <a:t>HyperlinkInsert</a:t>
                      </a:r>
                    </a:p>
                  </a:txBody>
                  <a:tcPr horzOverflow="overflow"/>
                </a:tc>
              </a:tr>
              <a:tr h="508000">
                <a:tc>
                  <a:txBody>
                    <a:bodyPr/>
                    <a:lstStyle/>
                    <a:p>
                      <a:pPr algn="l" defTabSz="914400"/>
                      <a:r>
                        <a:rPr b="0" i="0" strike="noStrike" dirty="0"/>
                        <a:t>HyperlinkEdit</a:t>
                      </a:r>
                    </a:p>
                  </a:txBody>
                  <a:tcPr horzOverflow="overflow"/>
                </a:tc>
              </a:tr>
              <a:tr h="508000">
                <a:tc>
                  <a:txBody>
                    <a:bodyPr/>
                    <a:lstStyle/>
                    <a:p>
                      <a:pPr algn="l" defTabSz="914400"/>
                      <a:r>
                        <a:rPr b="0" i="0" strike="noStrike" dirty="0"/>
                        <a:t>ReviewNewComment</a:t>
                      </a:r>
                    </a:p>
                  </a:txBody>
                  <a:tcPr horzOverflow="overflow"/>
                </a:tc>
              </a:tr>
              <a:tr h="508000">
                <a:tc>
                  <a:txBody>
                    <a:bodyPr/>
                    <a:lstStyle/>
                    <a:p>
                      <a:pPr algn="l" defTabSz="914400"/>
                      <a:r>
                        <a:rPr b="0" i="0" strike="noStrike" dirty="0"/>
                        <a:t>ReviewPreviousComment</a:t>
                      </a:r>
                    </a:p>
                  </a:txBody>
                  <a:tcPr horzOverflow="overflow"/>
                </a:tc>
              </a:tr>
            </a:tbl>
          </a:graphicData>
        </a:graphic>
      </p:graphicFrame>
    </p:spTree>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ReviewNextComment</a:t>
                      </a:r>
                    </a:p>
                  </a:txBody>
                  <a:tcPr horzOverflow="overflow"/>
                </a:tc>
              </a:tr>
              <a:tr h="508000">
                <a:tc>
                  <a:txBody>
                    <a:bodyPr/>
                    <a:lstStyle/>
                    <a:p>
                      <a:pPr algn="l" defTabSz="914400"/>
                      <a:r>
                        <a:rPr b="0" i="0" strike="noStrike" dirty="0"/>
                        <a:t>ReviewDeleteComment</a:t>
                      </a:r>
                    </a:p>
                  </a:txBody>
                  <a:tcPr horzOverflow="overflow"/>
                </a:tc>
              </a:tr>
              <a:tr h="508000">
                <a:tc>
                  <a:txBody>
                    <a:bodyPr/>
                    <a:lstStyle/>
                    <a:p>
                      <a:pPr algn="l" defTabSz="914400"/>
                      <a:r>
                        <a:rPr b="0" i="0" strike="noStrike" dirty="0"/>
                        <a:t>ReviewShowOrHideComment</a:t>
                      </a:r>
                    </a:p>
                  </a:txBody>
                  <a:tcPr horzOverflow="overflow"/>
                </a:tc>
              </a:tr>
              <a:tr h="508000">
                <a:tc>
                  <a:txBody>
                    <a:bodyPr/>
                    <a:lstStyle/>
                    <a:p>
                      <a:pPr algn="l" defTabSz="914400"/>
                      <a:r>
                        <a:rPr b="0" i="0" strike="noStrike" dirty="0"/>
                        <a:t>ReviewShowAllComments</a:t>
                      </a:r>
                    </a:p>
                  </a:txBody>
                  <a:tcPr horzOverflow="overflow"/>
                </a:tc>
              </a:tr>
              <a:tr h="508000">
                <a:tc>
                  <a:txBody>
                    <a:bodyPr/>
                    <a:lstStyle/>
                    <a:p>
                      <a:pPr algn="l" defTabSz="914400"/>
                      <a:r>
                        <a:rPr b="0" i="0" strike="noStrike" dirty="0"/>
                        <a:t>PivotTableOptions</a:t>
                      </a:r>
                    </a:p>
                  </a:txBody>
                  <a:tcPr horzOverflow="overflow"/>
                </a:tc>
              </a:tr>
              <a:tr h="508000">
                <a:tc>
                  <a:txBody>
                    <a:bodyPr/>
                    <a:lstStyle/>
                    <a:p>
                      <a:pPr algn="l" defTabSz="914400"/>
                      <a:r>
                        <a:rPr b="0" i="0" strike="noStrike" dirty="0"/>
                        <a:t>DesignMode</a:t>
                      </a:r>
                    </a:p>
                  </a:txBody>
                  <a:tcPr horzOverflow="overflow"/>
                </a:tc>
              </a:tr>
              <a:tr h="508000">
                <a:tc>
                  <a:txBody>
                    <a:bodyPr/>
                    <a:lstStyle/>
                    <a:p>
                      <a:pPr algn="l" defTabSz="914400"/>
                      <a:r>
                        <a:rPr b="0" i="0" strike="noStrike" dirty="0"/>
                        <a:t>WordArtInsertDialogClassic</a:t>
                      </a:r>
                    </a:p>
                  </a:txBody>
                  <a:tcPr horzOverflow="overflow"/>
                </a:tc>
              </a:tr>
              <a:tr h="508000">
                <a:tc>
                  <a:txBody>
                    <a:bodyPr/>
                    <a:lstStyle/>
                    <a:p>
                      <a:pPr algn="l" defTabSz="914400"/>
                      <a:r>
                        <a:rPr b="0" i="0" strike="noStrike" dirty="0"/>
                        <a:t>FormFieldProperties</a:t>
                      </a:r>
                    </a:p>
                  </a:txBody>
                  <a:tcPr horzOverflow="overflow"/>
                </a:tc>
              </a:tr>
              <a:tr h="508000">
                <a:tc>
                  <a:txBody>
                    <a:bodyPr/>
                    <a:lstStyle/>
                    <a:p>
                      <a:pPr algn="l" defTabSz="914400"/>
                      <a:r>
                        <a:rPr b="0" i="0" strike="noStrike" dirty="0"/>
                        <a:t>PhoneticGuideEdit</a:t>
                      </a:r>
                    </a:p>
                  </a:txBody>
                  <a:tcPr horzOverflow="overflow"/>
                </a:tc>
              </a:tr>
              <a:tr h="508000">
                <a:tc>
                  <a:txBody>
                    <a:bodyPr/>
                    <a:lstStyle/>
                    <a:p>
                      <a:pPr algn="l" defTabSz="914400"/>
                      <a:r>
                        <a:rPr b="0" i="0" strike="noStrike" dirty="0"/>
                        <a:t>FullScreenViewClassic</a:t>
                      </a:r>
                    </a:p>
                  </a:txBody>
                  <a:tcPr horzOverflow="overflow"/>
                </a:tc>
              </a:tr>
            </a:tbl>
          </a:graphicData>
        </a:graphic>
      </p:graphicFrame>
    </p:spTree>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PhoneticGuideSettings</a:t>
                      </a:r>
                    </a:p>
                  </a:txBody>
                  <a:tcPr horzOverflow="overflow"/>
                </a:tc>
              </a:tr>
              <a:tr h="508000">
                <a:tc>
                  <a:txBody>
                    <a:bodyPr/>
                    <a:lstStyle/>
                    <a:p>
                      <a:pPr algn="l" defTabSz="914400"/>
                      <a:r>
                        <a:rPr b="0" i="0" strike="noStrike" dirty="0"/>
                        <a:t>PhoneticGuideFieldShow</a:t>
                      </a:r>
                    </a:p>
                  </a:txBody>
                  <a:tcPr horzOverflow="overflow"/>
                </a:tc>
              </a:tr>
              <a:tr h="508000">
                <a:tc>
                  <a:txBody>
                    <a:bodyPr/>
                    <a:lstStyle/>
                    <a:p>
                      <a:pPr algn="l" defTabSz="914400"/>
                      <a:r>
                        <a:rPr b="0" i="0" strike="noStrike" dirty="0"/>
                        <a:t>CircularReferences</a:t>
                      </a:r>
                    </a:p>
                  </a:txBody>
                  <a:tcPr horzOverflow="overflow"/>
                </a:tc>
              </a:tr>
              <a:tr h="508000">
                <a:tc>
                  <a:txBody>
                    <a:bodyPr/>
                    <a:lstStyle/>
                    <a:p>
                      <a:pPr algn="l" defTabSz="914400"/>
                      <a:r>
                        <a:rPr b="0" i="0" strike="noStrike" dirty="0"/>
                        <a:t>MasterDocumentExpandOrCollapseSubdocuments</a:t>
                      </a:r>
                    </a:p>
                  </a:txBody>
                  <a:tcPr horzOverflow="overflow"/>
                </a:tc>
              </a:tr>
              <a:tr h="508000">
                <a:tc>
                  <a:txBody>
                    <a:bodyPr/>
                    <a:lstStyle/>
                    <a:p>
                      <a:pPr algn="l" defTabSz="914400"/>
                      <a:r>
                        <a:rPr b="0" i="0" strike="noStrike" dirty="0"/>
                        <a:t>Chart3DConeChart</a:t>
                      </a:r>
                    </a:p>
                  </a:txBody>
                  <a:tcPr horzOverflow="overflow"/>
                </a:tc>
              </a:tr>
              <a:tr h="508000">
                <a:tc>
                  <a:txBody>
                    <a:bodyPr/>
                    <a:lstStyle/>
                    <a:p>
                      <a:pPr algn="l" defTabSz="914400"/>
                      <a:r>
                        <a:rPr b="0" i="0" strike="noStrike" dirty="0"/>
                        <a:t>InternationalCurrency</a:t>
                      </a:r>
                    </a:p>
                  </a:txBody>
                  <a:tcPr horzOverflow="overflow"/>
                </a:tc>
              </a:tr>
              <a:tr h="508000">
                <a:tc>
                  <a:txBody>
                    <a:bodyPr/>
                    <a:lstStyle/>
                    <a:p>
                      <a:pPr algn="l" defTabSz="914400"/>
                      <a:r>
                        <a:rPr b="0" i="0" strike="noStrike" dirty="0"/>
                        <a:t>ObjectsAlignCenterInFormHorixontally</a:t>
                      </a:r>
                    </a:p>
                  </a:txBody>
                  <a:tcPr horzOverflow="overflow"/>
                </a:tc>
              </a:tr>
              <a:tr h="508000">
                <a:tc>
                  <a:txBody>
                    <a:bodyPr/>
                    <a:lstStyle/>
                    <a:p>
                      <a:pPr algn="l" defTabSz="914400"/>
                      <a:r>
                        <a:rPr b="0" i="0" strike="noStrike" dirty="0"/>
                        <a:t>ObjectsAlignCenterInFormVertically</a:t>
                      </a:r>
                    </a:p>
                  </a:txBody>
                  <a:tcPr horzOverflow="overflow"/>
                </a:tc>
              </a:tr>
              <a:tr h="508000">
                <a:tc>
                  <a:txBody>
                    <a:bodyPr/>
                    <a:lstStyle/>
                    <a:p>
                      <a:pPr algn="l" defTabSz="914400"/>
                      <a:r>
                        <a:rPr b="0" i="0" strike="noStrike" dirty="0"/>
                        <a:t>SizeToControlWidth</a:t>
                      </a:r>
                    </a:p>
                  </a:txBody>
                  <a:tcPr horzOverflow="overflow"/>
                </a:tc>
              </a:tr>
              <a:tr h="508000">
                <a:tc>
                  <a:txBody>
                    <a:bodyPr/>
                    <a:lstStyle/>
                    <a:p>
                      <a:pPr algn="l" defTabSz="914400"/>
                      <a:r>
                        <a:rPr b="0" i="0" strike="noStrike" dirty="0"/>
                        <a:t>SizeToControlHeight</a:t>
                      </a:r>
                    </a:p>
                  </a:txBody>
                  <a:tcPr horzOverflow="overflow"/>
                </a:tc>
              </a:tr>
            </a:tbl>
          </a:graphicData>
        </a:graphic>
      </p:graphicFrame>
    </p:spTree>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SizeToControlHeightAndWidth</a:t>
                      </a:r>
                    </a:p>
                  </a:txBody>
                  <a:tcPr horzOverflow="overflow"/>
                </a:tc>
              </a:tr>
              <a:tr h="508000">
                <a:tc>
                  <a:txBody>
                    <a:bodyPr/>
                    <a:lstStyle/>
                    <a:p>
                      <a:pPr algn="l" defTabSz="914400"/>
                      <a:r>
                        <a:rPr b="0" i="0" strike="noStrike" dirty="0"/>
                        <a:t>HorizontalSpacingDecrease</a:t>
                      </a:r>
                    </a:p>
                  </a:txBody>
                  <a:tcPr horzOverflow="overflow"/>
                </a:tc>
              </a:tr>
              <a:tr h="508000">
                <a:tc>
                  <a:txBody>
                    <a:bodyPr/>
                    <a:lstStyle/>
                    <a:p>
                      <a:pPr algn="l" defTabSz="914400"/>
                      <a:r>
                        <a:rPr b="0" i="0" strike="noStrike" dirty="0"/>
                        <a:t>HorizontalSpacingIncrease</a:t>
                      </a:r>
                    </a:p>
                  </a:txBody>
                  <a:tcPr horzOverflow="overflow"/>
                </a:tc>
              </a:tr>
              <a:tr h="508000">
                <a:tc>
                  <a:txBody>
                    <a:bodyPr/>
                    <a:lstStyle/>
                    <a:p>
                      <a:pPr algn="l" defTabSz="914400"/>
                      <a:r>
                        <a:rPr b="0" i="0" strike="noStrike" dirty="0"/>
                        <a:t>ObjectsAlignDistributeHorizontallyRemove</a:t>
                      </a:r>
                    </a:p>
                  </a:txBody>
                  <a:tcPr horzOverflow="overflow"/>
                </a:tc>
              </a:tr>
              <a:tr h="508000">
                <a:tc>
                  <a:txBody>
                    <a:bodyPr/>
                    <a:lstStyle/>
                    <a:p>
                      <a:pPr algn="l" defTabSz="914400"/>
                      <a:r>
                        <a:rPr b="0" i="0" strike="noStrike" dirty="0"/>
                        <a:t>VerticalSpacingDecrease</a:t>
                      </a:r>
                    </a:p>
                  </a:txBody>
                  <a:tcPr horzOverflow="overflow"/>
                </a:tc>
              </a:tr>
              <a:tr h="508000">
                <a:tc>
                  <a:txBody>
                    <a:bodyPr/>
                    <a:lstStyle/>
                    <a:p>
                      <a:pPr algn="l" defTabSz="914400"/>
                      <a:r>
                        <a:rPr b="0" i="0" strike="noStrike" dirty="0"/>
                        <a:t>VerticalSpacingIncrease</a:t>
                      </a:r>
                    </a:p>
                  </a:txBody>
                  <a:tcPr horzOverflow="overflow"/>
                </a:tc>
              </a:tr>
              <a:tr h="508000">
                <a:tc>
                  <a:txBody>
                    <a:bodyPr/>
                    <a:lstStyle/>
                    <a:p>
                      <a:pPr algn="l" defTabSz="914400"/>
                      <a:r>
                        <a:rPr b="0" i="0" strike="noStrike" dirty="0"/>
                        <a:t>ObjectsAlignDistributeVerticallyRemove</a:t>
                      </a:r>
                    </a:p>
                  </a:txBody>
                  <a:tcPr horzOverflow="overflow"/>
                </a:tc>
              </a:tr>
              <a:tr h="508000">
                <a:tc>
                  <a:txBody>
                    <a:bodyPr/>
                    <a:lstStyle/>
                    <a:p>
                      <a:pPr algn="l" defTabSz="914400"/>
                      <a:r>
                        <a:rPr b="0" i="0" strike="noStrike" dirty="0"/>
                        <a:t>ObjectsArrangeBottom</a:t>
                      </a:r>
                    </a:p>
                  </a:txBody>
                  <a:tcPr horzOverflow="overflow"/>
                </a:tc>
              </a:tr>
              <a:tr h="508000">
                <a:tc>
                  <a:txBody>
                    <a:bodyPr/>
                    <a:lstStyle/>
                    <a:p>
                      <a:pPr algn="l" defTabSz="914400"/>
                      <a:r>
                        <a:rPr b="0" i="0" strike="noStrike" dirty="0"/>
                        <a:t>ObjectsArrangeRight</a:t>
                      </a:r>
                    </a:p>
                  </a:txBody>
                  <a:tcPr horzOverflow="overflow"/>
                </a:tc>
              </a:tr>
              <a:tr h="508000">
                <a:tc>
                  <a:txBody>
                    <a:bodyPr/>
                    <a:lstStyle/>
                    <a:p>
                      <a:pPr algn="l" defTabSz="914400"/>
                      <a:r>
                        <a:rPr b="0" i="0" strike="noStrike" dirty="0"/>
                        <a:t>CancelMeeting</a:t>
                      </a:r>
                    </a:p>
                  </a:txBody>
                  <a:tcPr horzOverflow="overflow"/>
                </a:tc>
              </a:tr>
            </a:tbl>
          </a:graphicData>
        </a:graphic>
      </p:graphicFrame>
    </p:spTree>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Private</a:t>
                      </a:r>
                    </a:p>
                  </a:txBody>
                  <a:tcPr horzOverflow="overflow"/>
                </a:tc>
              </a:tr>
              <a:tr h="508000">
                <a:tc>
                  <a:txBody>
                    <a:bodyPr/>
                    <a:lstStyle/>
                    <a:p>
                      <a:pPr algn="l" defTabSz="914400"/>
                      <a:r>
                        <a:rPr b="0" i="0" strike="noStrike" dirty="0"/>
                        <a:t>AcceptTask</a:t>
                      </a:r>
                    </a:p>
                  </a:txBody>
                  <a:tcPr horzOverflow="overflow"/>
                </a:tc>
              </a:tr>
              <a:tr h="508000">
                <a:tc>
                  <a:txBody>
                    <a:bodyPr/>
                    <a:lstStyle/>
                    <a:p>
                      <a:pPr algn="l" defTabSz="914400"/>
                      <a:r>
                        <a:rPr b="0" i="0" strike="noStrike" dirty="0"/>
                        <a:t>SaveAndNew</a:t>
                      </a:r>
                    </a:p>
                  </a:txBody>
                  <a:tcPr horzOverflow="overflow"/>
                </a:tc>
              </a:tr>
              <a:tr h="508000">
                <a:tc>
                  <a:txBody>
                    <a:bodyPr/>
                    <a:lstStyle/>
                    <a:p>
                      <a:pPr algn="l" defTabSz="914400"/>
                      <a:r>
                        <a:rPr b="0" i="0" strike="noStrike" dirty="0"/>
                        <a:t>CopyFolder</a:t>
                      </a:r>
                    </a:p>
                  </a:txBody>
                  <a:tcPr horzOverflow="overflow"/>
                </a:tc>
              </a:tr>
              <a:tr h="508000">
                <a:tc>
                  <a:txBody>
                    <a:bodyPr/>
                    <a:lstStyle/>
                    <a:p>
                      <a:pPr algn="l" defTabSz="914400"/>
                      <a:r>
                        <a:rPr b="0" i="0" strike="noStrike" dirty="0"/>
                        <a:t>EmptyTrash</a:t>
                      </a:r>
                    </a:p>
                  </a:txBody>
                  <a:tcPr horzOverflow="overflow"/>
                </a:tc>
              </a:tr>
              <a:tr h="508000">
                <a:tc>
                  <a:txBody>
                    <a:bodyPr/>
                    <a:lstStyle/>
                    <a:p>
                      <a:pPr algn="l" defTabSz="914400"/>
                      <a:r>
                        <a:rPr b="0" i="0" strike="noStrike" dirty="0"/>
                        <a:t>RecordInJournal</a:t>
                      </a:r>
                    </a:p>
                  </a:txBody>
                  <a:tcPr horzOverflow="overflow"/>
                </a:tc>
              </a:tr>
              <a:tr h="508000">
                <a:tc>
                  <a:txBody>
                    <a:bodyPr/>
                    <a:lstStyle/>
                    <a:p>
                      <a:pPr algn="l" defTabSz="914400"/>
                      <a:r>
                        <a:rPr b="0" i="0" strike="noStrike" dirty="0"/>
                        <a:t>MarkAsUnread</a:t>
                      </a:r>
                    </a:p>
                  </a:txBody>
                  <a:tcPr horzOverflow="overflow"/>
                </a:tc>
              </a:tr>
              <a:tr h="508000">
                <a:tc>
                  <a:txBody>
                    <a:bodyPr/>
                    <a:lstStyle/>
                    <a:p>
                      <a:pPr algn="l" defTabSz="914400"/>
                      <a:r>
                        <a:rPr b="0" i="0" strike="noStrike" dirty="0"/>
                        <a:t>CopyToFolder</a:t>
                      </a:r>
                    </a:p>
                  </a:txBody>
                  <a:tcPr horzOverflow="overflow"/>
                </a:tc>
              </a:tr>
              <a:tr h="508000">
                <a:tc>
                  <a:txBody>
                    <a:bodyPr/>
                    <a:lstStyle/>
                    <a:p>
                      <a:pPr algn="l" defTabSz="914400"/>
                      <a:r>
                        <a:rPr b="0" i="0" strike="noStrike" dirty="0"/>
                        <a:t>MoveToFolder</a:t>
                      </a:r>
                    </a:p>
                  </a:txBody>
                  <a:tcPr horzOverflow="overflow"/>
                </a:tc>
              </a:tr>
              <a:tr h="508000">
                <a:tc>
                  <a:txBody>
                    <a:bodyPr/>
                    <a:lstStyle/>
                    <a:p>
                      <a:pPr algn="l" defTabSz="914400"/>
                      <a:r>
                        <a:rPr b="0" i="0" strike="noStrike" dirty="0"/>
                        <a:t>ShapeFillColorPickerClassic</a:t>
                      </a:r>
                    </a:p>
                  </a:txBody>
                  <a:tcPr horzOverflow="overflow"/>
                </a:tc>
              </a:tr>
            </a:tbl>
          </a:graphicData>
        </a:graphic>
      </p:graphicFrame>
    </p:spTree>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ControlLineColorPicker</a:t>
                      </a:r>
                    </a:p>
                  </a:txBody>
                  <a:tcPr horzOverflow="overflow"/>
                </a:tc>
              </a:tr>
              <a:tr h="508000">
                <a:tc>
                  <a:txBody>
                    <a:bodyPr/>
                    <a:lstStyle/>
                    <a:p>
                      <a:pPr algn="l" defTabSz="914400"/>
                      <a:r>
                        <a:rPr b="0" i="0" strike="noStrike" dirty="0"/>
                        <a:t>VisualBasic</a:t>
                      </a:r>
                    </a:p>
                  </a:txBody>
                  <a:tcPr horzOverflow="overflow"/>
                </a:tc>
              </a:tr>
              <a:tr h="508000">
                <a:tc>
                  <a:txBody>
                    <a:bodyPr/>
                    <a:lstStyle/>
                    <a:p>
                      <a:pPr algn="l" defTabSz="914400"/>
                      <a:r>
                        <a:rPr b="0" i="0" strike="noStrike" dirty="0"/>
                        <a:t>DoubleBottomBorder</a:t>
                      </a:r>
                    </a:p>
                  </a:txBody>
                  <a:tcPr horzOverflow="overflow"/>
                </a:tc>
              </a:tr>
              <a:tr h="508000">
                <a:tc>
                  <a:txBody>
                    <a:bodyPr/>
                    <a:lstStyle/>
                    <a:p>
                      <a:pPr algn="l" defTabSz="914400"/>
                      <a:r>
                        <a:rPr b="0" i="0" strike="noStrike" dirty="0"/>
                        <a:t>BorderThickBottom</a:t>
                      </a:r>
                    </a:p>
                  </a:txBody>
                  <a:tcPr horzOverflow="overflow"/>
                </a:tc>
              </a:tr>
              <a:tr h="508000">
                <a:tc>
                  <a:txBody>
                    <a:bodyPr/>
                    <a:lstStyle/>
                    <a:p>
                      <a:pPr algn="l" defTabSz="914400"/>
                      <a:r>
                        <a:rPr b="0" i="0" strike="noStrike" dirty="0"/>
                        <a:t>BorderTopAndBottom</a:t>
                      </a:r>
                    </a:p>
                  </a:txBody>
                  <a:tcPr horzOverflow="overflow"/>
                </a:tc>
              </a:tr>
              <a:tr h="508000">
                <a:tc>
                  <a:txBody>
                    <a:bodyPr/>
                    <a:lstStyle/>
                    <a:p>
                      <a:pPr algn="l" defTabSz="914400"/>
                      <a:r>
                        <a:rPr b="0" i="0" strike="noStrike" dirty="0"/>
                        <a:t>BorderTopAndDoubleBottom</a:t>
                      </a:r>
                    </a:p>
                  </a:txBody>
                  <a:tcPr horzOverflow="overflow"/>
                </a:tc>
              </a:tr>
              <a:tr h="508000">
                <a:tc>
                  <a:txBody>
                    <a:bodyPr/>
                    <a:lstStyle/>
                    <a:p>
                      <a:pPr algn="l" defTabSz="914400"/>
                      <a:r>
                        <a:rPr b="0" i="0" strike="noStrike" dirty="0"/>
                        <a:t>BorderTopAndThickBottom</a:t>
                      </a:r>
                    </a:p>
                  </a:txBody>
                  <a:tcPr horzOverflow="overflow"/>
                </a:tc>
              </a:tr>
              <a:tr h="508000">
                <a:tc>
                  <a:txBody>
                    <a:bodyPr/>
                    <a:lstStyle/>
                    <a:p>
                      <a:pPr algn="l" defTabSz="914400"/>
                      <a:r>
                        <a:rPr b="0" i="0" strike="noStrike" dirty="0"/>
                        <a:t>BordersAll</a:t>
                      </a:r>
                    </a:p>
                  </a:txBody>
                  <a:tcPr horzOverflow="overflow"/>
                </a:tc>
              </a:tr>
              <a:tr h="508000">
                <a:tc>
                  <a:txBody>
                    <a:bodyPr/>
                    <a:lstStyle/>
                    <a:p>
                      <a:pPr algn="l" defTabSz="914400"/>
                      <a:r>
                        <a:rPr b="0" i="0" strike="noStrike" dirty="0"/>
                        <a:t>BorderThickOutside</a:t>
                      </a:r>
                    </a:p>
                  </a:txBody>
                  <a:tcPr horzOverflow="overflow"/>
                </a:tc>
              </a:tr>
              <a:tr h="508000">
                <a:tc>
                  <a:txBody>
                    <a:bodyPr/>
                    <a:lstStyle/>
                    <a:p>
                      <a:pPr algn="l" defTabSz="914400"/>
                      <a:r>
                        <a:rPr b="0" i="0" strike="noStrike" dirty="0"/>
                        <a:t>SlideBackgroundFormatDialog</a:t>
                      </a:r>
                    </a:p>
                  </a:txBody>
                  <a:tcPr horzOverflow="overflow"/>
                </a:tc>
              </a:tr>
            </a:tbl>
          </a:graphicData>
        </a:graphic>
      </p:graphicFrame>
    </p:spTree>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AutoSummarize</a:t>
                      </a:r>
                    </a:p>
                  </a:txBody>
                  <a:tcPr horzOverflow="overflow"/>
                </a:tc>
              </a:tr>
              <a:tr h="508000">
                <a:tc>
                  <a:txBody>
                    <a:bodyPr/>
                    <a:lstStyle/>
                    <a:p>
                      <a:pPr algn="l" defTabSz="914400"/>
                      <a:r>
                        <a:rPr b="0" i="0" strike="noStrike" dirty="0"/>
                        <a:t>ViewDocumentMap</a:t>
                      </a:r>
                    </a:p>
                  </a:txBody>
                  <a:tcPr horzOverflow="overflow"/>
                </a:tc>
              </a:tr>
              <a:tr h="508000">
                <a:tc>
                  <a:txBody>
                    <a:bodyPr/>
                    <a:lstStyle/>
                    <a:p>
                      <a:pPr algn="l" defTabSz="914400"/>
                      <a:r>
                        <a:rPr b="0" i="0" strike="noStrike" dirty="0"/>
                        <a:t>ReviewAcceptChange</a:t>
                      </a:r>
                    </a:p>
                  </a:txBody>
                  <a:tcPr horzOverflow="overflow"/>
                </a:tc>
              </a:tr>
              <a:tr h="508000">
                <a:tc>
                  <a:txBody>
                    <a:bodyPr/>
                    <a:lstStyle/>
                    <a:p>
                      <a:pPr algn="l" defTabSz="914400"/>
                      <a:r>
                        <a:rPr b="0" i="0" strike="noStrike" dirty="0"/>
                        <a:t>ReviewRejectChange</a:t>
                      </a:r>
                    </a:p>
                  </a:txBody>
                  <a:tcPr horzOverflow="overflow"/>
                </a:tc>
              </a:tr>
              <a:tr h="508000">
                <a:tc>
                  <a:txBody>
                    <a:bodyPr/>
                    <a:lstStyle/>
                    <a:p>
                      <a:pPr algn="l" defTabSz="914400"/>
                      <a:r>
                        <a:rPr b="0" i="0" strike="noStrike" dirty="0"/>
                        <a:t>TableDrawBorderPenStyle</a:t>
                      </a:r>
                    </a:p>
                  </a:txBody>
                  <a:tcPr horzOverflow="overflow"/>
                </a:tc>
              </a:tr>
              <a:tr h="508000">
                <a:tc>
                  <a:txBody>
                    <a:bodyPr/>
                    <a:lstStyle/>
                    <a:p>
                      <a:pPr algn="l" defTabSz="914400"/>
                      <a:r>
                        <a:rPr b="0" i="0" strike="noStrike" dirty="0"/>
                        <a:t>Font</a:t>
                      </a:r>
                    </a:p>
                  </a:txBody>
                  <a:tcPr horzOverflow="overflow"/>
                </a:tc>
              </a:tr>
              <a:tr h="508000">
                <a:tc>
                  <a:txBody>
                    <a:bodyPr/>
                    <a:lstStyle/>
                    <a:p>
                      <a:pPr algn="l" defTabSz="914400"/>
                      <a:r>
                        <a:rPr b="0" i="0" strike="noStrike" dirty="0"/>
                        <a:t>FontSize</a:t>
                      </a:r>
                    </a:p>
                  </a:txBody>
                  <a:tcPr horzOverflow="overflow"/>
                </a:tc>
              </a:tr>
              <a:tr h="508000">
                <a:tc>
                  <a:txBody>
                    <a:bodyPr/>
                    <a:lstStyle/>
                    <a:p>
                      <a:pPr algn="l" defTabSz="914400"/>
                      <a:r>
                        <a:rPr b="0" i="0" strike="noStrike" dirty="0"/>
                        <a:t>ZoomClassic</a:t>
                      </a:r>
                    </a:p>
                  </a:txBody>
                  <a:tcPr horzOverflow="overflow"/>
                </a:tc>
              </a:tr>
              <a:tr h="508000">
                <a:tc>
                  <a:txBody>
                    <a:bodyPr/>
                    <a:lstStyle/>
                    <a:p>
                      <a:pPr algn="l" defTabSz="914400"/>
                      <a:r>
                        <a:rPr b="0" i="0" strike="noStrike" dirty="0"/>
                        <a:t>CreateMap</a:t>
                      </a:r>
                    </a:p>
                  </a:txBody>
                  <a:tcPr horzOverflow="overflow"/>
                </a:tc>
              </a:tr>
              <a:tr h="508000">
                <a:tc>
                  <a:txBody>
                    <a:bodyPr/>
                    <a:lstStyle/>
                    <a:p>
                      <a:pPr algn="l" defTabSz="914400"/>
                      <a:r>
                        <a:rPr b="0" i="0" strike="noStrike" dirty="0"/>
                        <a:t>MergeCellsAcross</a:t>
                      </a:r>
                    </a:p>
                  </a:txBody>
                  <a:tcPr horzOverflow="overflow"/>
                </a:tc>
              </a:tr>
            </a:tbl>
          </a:graphicData>
        </a:graphic>
      </p:graphicFrame>
    </p:spTree>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FieldChooser</a:t>
                      </a:r>
                    </a:p>
                  </a:txBody>
                  <a:tcPr horzOverflow="overflow"/>
                </a:tc>
              </a:tr>
              <a:tr h="508000">
                <a:tc>
                  <a:txBody>
                    <a:bodyPr/>
                    <a:lstStyle/>
                    <a:p>
                      <a:pPr algn="l" defTabSz="914400"/>
                      <a:r>
                        <a:rPr b="0" i="0" strike="noStrike" dirty="0"/>
                        <a:t>MessageHeaderToggle</a:t>
                      </a:r>
                    </a:p>
                  </a:txBody>
                  <a:tcPr horzOverflow="overflow"/>
                </a:tc>
              </a:tr>
              <a:tr h="508000">
                <a:tc>
                  <a:txBody>
                    <a:bodyPr/>
                    <a:lstStyle/>
                    <a:p>
                      <a:pPr algn="l" defTabSz="914400"/>
                      <a:r>
                        <a:rPr b="0" i="0" strike="noStrike" dirty="0"/>
                        <a:t>MeetingRequest</a:t>
                      </a:r>
                    </a:p>
                  </a:txBody>
                  <a:tcPr horzOverflow="overflow"/>
                </a:tc>
              </a:tr>
              <a:tr h="508000">
                <a:tc>
                  <a:txBody>
                    <a:bodyPr/>
                    <a:lstStyle/>
                    <a:p>
                      <a:pPr algn="l" defTabSz="914400"/>
                      <a:r>
                        <a:rPr b="0" i="0" strike="noStrike" dirty="0"/>
                        <a:t>NewNote</a:t>
                      </a:r>
                    </a:p>
                  </a:txBody>
                  <a:tcPr horzOverflow="overflow"/>
                </a:tc>
              </a:tr>
              <a:tr h="508000">
                <a:tc>
                  <a:txBody>
                    <a:bodyPr/>
                    <a:lstStyle/>
                    <a:p>
                      <a:pPr algn="l" defTabSz="914400"/>
                      <a:r>
                        <a:rPr b="0" i="0" strike="noStrike" dirty="0"/>
                        <a:t>RecurrenceEdit</a:t>
                      </a:r>
                    </a:p>
                  </a:txBody>
                  <a:tcPr horzOverflow="overflow"/>
                </a:tc>
              </a:tr>
              <a:tr h="508000">
                <a:tc>
                  <a:txBody>
                    <a:bodyPr/>
                    <a:lstStyle/>
                    <a:p>
                      <a:pPr algn="l" defTabSz="914400"/>
                      <a:r>
                        <a:rPr b="0" i="0" strike="noStrike" dirty="0"/>
                        <a:t>SendStatusReport</a:t>
                      </a:r>
                    </a:p>
                  </a:txBody>
                  <a:tcPr horzOverflow="overflow"/>
                </a:tc>
              </a:tr>
              <a:tr h="508000">
                <a:tc>
                  <a:txBody>
                    <a:bodyPr/>
                    <a:lstStyle/>
                    <a:p>
                      <a:pPr algn="l" defTabSz="914400"/>
                      <a:r>
                        <a:rPr b="0" i="0" strike="noStrike" dirty="0"/>
                        <a:t>ImagerScan</a:t>
                      </a:r>
                    </a:p>
                  </a:txBody>
                  <a:tcPr horzOverflow="overflow"/>
                </a:tc>
              </a:tr>
              <a:tr h="508000">
                <a:tc>
                  <a:txBody>
                    <a:bodyPr/>
                    <a:lstStyle/>
                    <a:p>
                      <a:pPr algn="l" defTabSz="914400"/>
                      <a:r>
                        <a:rPr b="0" i="0" strike="noStrike" dirty="0"/>
                        <a:t>QueryReturnGallery</a:t>
                      </a:r>
                    </a:p>
                  </a:txBody>
                  <a:tcPr horzOverflow="overflow"/>
                </a:tc>
              </a:tr>
              <a:tr h="508000">
                <a:tc>
                  <a:txBody>
                    <a:bodyPr/>
                    <a:lstStyle/>
                    <a:p>
                      <a:pPr algn="l" defTabSz="914400"/>
                      <a:r>
                        <a:rPr b="0" i="0" strike="noStrike" dirty="0"/>
                        <a:t>SelectRecord</a:t>
                      </a:r>
                    </a:p>
                  </a:txBody>
                  <a:tcPr horzOverflow="overflow"/>
                </a:tc>
              </a:tr>
              <a:tr h="508000">
                <a:tc>
                  <a:txBody>
                    <a:bodyPr/>
                    <a:lstStyle/>
                    <a:p>
                      <a:pPr algn="l" defTabSz="914400"/>
                      <a:r>
                        <a:rPr b="0" i="0" strike="noStrike" dirty="0"/>
                        <a:t>SelectAllRecords</a:t>
                      </a:r>
                    </a:p>
                  </a:txBody>
                  <a:tcPr horzOverflow="overflow"/>
                </a:tc>
              </a:tr>
            </a:tbl>
          </a:graphicData>
        </a:graphic>
      </p:graphicFrame>
    </p:spTree>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TableTestValidationRules</a:t>
                      </a:r>
                    </a:p>
                  </a:txBody>
                  <a:tcPr horzOverflow="overflow"/>
                </a:tc>
              </a:tr>
              <a:tr h="508000">
                <a:tc>
                  <a:txBody>
                    <a:bodyPr/>
                    <a:lstStyle/>
                    <a:p>
                      <a:pPr algn="l" defTabSz="914400"/>
                      <a:r>
                        <a:rPr b="0" i="0" strike="noStrike" dirty="0"/>
                        <a:t>RelationshipsClearLayout</a:t>
                      </a:r>
                    </a:p>
                  </a:txBody>
                  <a:tcPr horzOverflow="overflow"/>
                </a:tc>
              </a:tr>
              <a:tr h="508000">
                <a:tc>
                  <a:txBody>
                    <a:bodyPr/>
                    <a:lstStyle/>
                    <a:p>
                      <a:pPr algn="l" defTabSz="914400"/>
                      <a:r>
                        <a:rPr b="0" i="0" strike="noStrike" dirty="0"/>
                        <a:t>SaveAsQuery</a:t>
                      </a:r>
                    </a:p>
                  </a:txBody>
                  <a:tcPr horzOverflow="overflow"/>
                </a:tc>
              </a:tr>
              <a:tr h="508000">
                <a:tc>
                  <a:txBody>
                    <a:bodyPr/>
                    <a:lstStyle/>
                    <a:p>
                      <a:pPr algn="l" defTabSz="914400"/>
                      <a:r>
                        <a:rPr b="0" i="0" strike="noStrike" dirty="0"/>
                        <a:t>LoadFromQuery</a:t>
                      </a:r>
                    </a:p>
                  </a:txBody>
                  <a:tcPr horzOverflow="overflow"/>
                </a:tc>
              </a:tr>
              <a:tr h="508000">
                <a:tc>
                  <a:txBody>
                    <a:bodyPr/>
                    <a:lstStyle/>
                    <a:p>
                      <a:pPr algn="l" defTabSz="914400"/>
                      <a:r>
                        <a:rPr b="0" i="0" strike="noStrike" dirty="0"/>
                        <a:t>DatasheetColumnRename</a:t>
                      </a:r>
                    </a:p>
                  </a:txBody>
                  <a:tcPr horzOverflow="overflow"/>
                </a:tc>
              </a:tr>
              <a:tr h="508000">
                <a:tc>
                  <a:txBody>
                    <a:bodyPr/>
                    <a:lstStyle/>
                    <a:p>
                      <a:pPr algn="l" defTabSz="914400"/>
                      <a:r>
                        <a:rPr b="0" i="0" strike="noStrike" dirty="0"/>
                        <a:t>FileServerLinkTables</a:t>
                      </a:r>
                    </a:p>
                  </a:txBody>
                  <a:tcPr horzOverflow="overflow"/>
                </a:tc>
              </a:tr>
              <a:tr h="508000">
                <a:tc>
                  <a:txBody>
                    <a:bodyPr/>
                    <a:lstStyle/>
                    <a:p>
                      <a:pPr algn="l" defTabSz="914400"/>
                      <a:r>
                        <a:rPr b="0" i="0" strike="noStrike" dirty="0"/>
                        <a:t>DatasheetColumnLookup</a:t>
                      </a:r>
                    </a:p>
                  </a:txBody>
                  <a:tcPr horzOverflow="overflow"/>
                </a:tc>
              </a:tr>
              <a:tr h="508000">
                <a:tc>
                  <a:txBody>
                    <a:bodyPr/>
                    <a:lstStyle/>
                    <a:p>
                      <a:pPr algn="l" defTabSz="914400"/>
                      <a:r>
                        <a:rPr b="0" i="0" strike="noStrike" dirty="0"/>
                        <a:t>RecordsRefreshRecords</a:t>
                      </a:r>
                    </a:p>
                  </a:txBody>
                  <a:tcPr horzOverflow="overflow"/>
                </a:tc>
              </a:tr>
              <a:tr h="508000">
                <a:tc>
                  <a:txBody>
                    <a:bodyPr/>
                    <a:lstStyle/>
                    <a:p>
                      <a:pPr algn="l" defTabSz="914400"/>
                      <a:r>
                        <a:rPr b="0" i="0" strike="noStrike" dirty="0"/>
                        <a:t>RelationshipsEditRelationships</a:t>
                      </a:r>
                    </a:p>
                  </a:txBody>
                  <a:tcPr horzOverflow="overflow"/>
                </a:tc>
              </a:tr>
              <a:tr h="508000">
                <a:tc>
                  <a:txBody>
                    <a:bodyPr/>
                    <a:lstStyle/>
                    <a:p>
                      <a:pPr algn="l" defTabSz="914400"/>
                      <a:r>
                        <a:rPr b="0" i="0" strike="noStrike" dirty="0"/>
                        <a:t>RelationshipsHideTable</a:t>
                      </a:r>
                    </a:p>
                  </a:txBody>
                  <a:tcPr horzOverflow="overflow"/>
                </a:tc>
              </a:tr>
            </a:tbl>
          </a:graphicData>
        </a:graphic>
      </p:graphicFrame>
    </p:spTree>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ReplicationRecoverDesignMaster</a:t>
                      </a:r>
                    </a:p>
                  </a:txBody>
                  <a:tcPr horzOverflow="overflow"/>
                </a:tc>
              </a:tr>
              <a:tr h="508000">
                <a:tc>
                  <a:txBody>
                    <a:bodyPr/>
                    <a:lstStyle/>
                    <a:p>
                      <a:pPr algn="l" defTabSz="914400"/>
                      <a:r>
                        <a:rPr b="0" i="0" strike="noStrike" dirty="0"/>
                        <a:t>ReplicationResolveConflicts</a:t>
                      </a:r>
                    </a:p>
                  </a:txBody>
                  <a:tcPr horzOverflow="overflow"/>
                </a:tc>
              </a:tr>
              <a:tr h="508000">
                <a:tc>
                  <a:txBody>
                    <a:bodyPr/>
                    <a:lstStyle/>
                    <a:p>
                      <a:pPr algn="l" defTabSz="914400"/>
                      <a:r>
                        <a:rPr b="0" i="0" strike="noStrike" dirty="0"/>
                        <a:t>ReplicationCreateReplica</a:t>
                      </a:r>
                    </a:p>
                  </a:txBody>
                  <a:tcPr horzOverflow="overflow"/>
                </a:tc>
              </a:tr>
              <a:tr h="508000">
                <a:tc>
                  <a:txBody>
                    <a:bodyPr/>
                    <a:lstStyle/>
                    <a:p>
                      <a:pPr algn="l" defTabSz="914400"/>
                      <a:r>
                        <a:rPr b="0" i="0" strike="noStrike" dirty="0"/>
                        <a:t>ReplicationSynchronizeNow</a:t>
                      </a:r>
                    </a:p>
                  </a:txBody>
                  <a:tcPr horzOverflow="overflow"/>
                </a:tc>
              </a:tr>
              <a:tr h="508000">
                <a:tc>
                  <a:txBody>
                    <a:bodyPr/>
                    <a:lstStyle/>
                    <a:p>
                      <a:pPr algn="l" defTabSz="914400"/>
                      <a:r>
                        <a:rPr b="0" i="0" strike="noStrike" dirty="0"/>
                        <a:t>SetDatabasePassword</a:t>
                      </a:r>
                    </a:p>
                  </a:txBody>
                  <a:tcPr horzOverflow="overflow"/>
                </a:tc>
              </a:tr>
              <a:tr h="508000">
                <a:tc>
                  <a:txBody>
                    <a:bodyPr/>
                    <a:lstStyle/>
                    <a:p>
                      <a:pPr algn="l" defTabSz="914400"/>
                      <a:r>
                        <a:rPr b="0" i="0" strike="noStrike" dirty="0"/>
                        <a:t>DatabaseUserLevelSecurityWizard</a:t>
                      </a:r>
                    </a:p>
                  </a:txBody>
                  <a:tcPr horzOverflow="overflow"/>
                </a:tc>
              </a:tr>
              <a:tr h="508000">
                <a:tc>
                  <a:txBody>
                    <a:bodyPr/>
                    <a:lstStyle/>
                    <a:p>
                      <a:pPr algn="l" defTabSz="914400"/>
                      <a:r>
                        <a:rPr b="0" i="0" strike="noStrike" dirty="0"/>
                        <a:t>DatabaseUserAndGroupAccounts</a:t>
                      </a:r>
                    </a:p>
                  </a:txBody>
                  <a:tcPr horzOverflow="overflow"/>
                </a:tc>
              </a:tr>
              <a:tr h="508000">
                <a:tc>
                  <a:txBody>
                    <a:bodyPr/>
                    <a:lstStyle/>
                    <a:p>
                      <a:pPr algn="l" defTabSz="914400"/>
                      <a:r>
                        <a:rPr b="0" i="0" strike="noStrike" dirty="0"/>
                        <a:t>ControlSpecialEffectEtched</a:t>
                      </a:r>
                    </a:p>
                  </a:txBody>
                  <a:tcPr horzOverflow="overflow"/>
                </a:tc>
              </a:tr>
              <a:tr h="508000">
                <a:tc>
                  <a:txBody>
                    <a:bodyPr/>
                    <a:lstStyle/>
                    <a:p>
                      <a:pPr algn="l" defTabSz="914400"/>
                      <a:r>
                        <a:rPr b="0" i="0" strike="noStrike" dirty="0"/>
                        <a:t>ControlSpecialEffectShadowed</a:t>
                      </a:r>
                    </a:p>
                  </a:txBody>
                  <a:tcPr horzOverflow="overflow"/>
                </a:tc>
              </a:tr>
              <a:tr h="508000">
                <a:tc>
                  <a:txBody>
                    <a:bodyPr/>
                    <a:lstStyle/>
                    <a:p>
                      <a:pPr algn="l" defTabSz="914400"/>
                      <a:r>
                        <a:rPr b="0" i="0" strike="noStrike" dirty="0"/>
                        <a:t>ControlSpecialEffectChiseled</a:t>
                      </a:r>
                    </a:p>
                  </a:txBody>
                  <a:tcPr horzOverflow="overflow"/>
                </a:tc>
              </a:tr>
            </a:tbl>
          </a:graphicData>
        </a:graphic>
      </p:graphicFrame>
    </p:spTree>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WindowsCascade</a:t>
                      </a:r>
                    </a:p>
                  </a:txBody>
                  <a:tcPr horzOverflow="overflow"/>
                </a:tc>
              </a:tr>
              <a:tr h="508000">
                <a:tc>
                  <a:txBody>
                    <a:bodyPr/>
                    <a:lstStyle/>
                    <a:p>
                      <a:pPr algn="l" defTabSz="914400"/>
                      <a:r>
                        <a:rPr b="0" i="0" strike="noStrike" dirty="0"/>
                        <a:t>PositionFitToWindow</a:t>
                      </a:r>
                    </a:p>
                  </a:txBody>
                  <a:tcPr horzOverflow="overflow"/>
                </a:tc>
              </a:tr>
              <a:tr h="508000">
                <a:tc>
                  <a:txBody>
                    <a:bodyPr/>
                    <a:lstStyle/>
                    <a:p>
                      <a:pPr algn="l" defTabSz="914400"/>
                      <a:r>
                        <a:rPr b="0" i="0" strike="noStrike" dirty="0"/>
                        <a:t>BorderInsideHorizontal</a:t>
                      </a:r>
                    </a:p>
                  </a:txBody>
                  <a:tcPr horzOverflow="overflow"/>
                </a:tc>
              </a:tr>
              <a:tr h="508000">
                <a:tc>
                  <a:txBody>
                    <a:bodyPr/>
                    <a:lstStyle/>
                    <a:p>
                      <a:pPr algn="l" defTabSz="914400"/>
                      <a:r>
                        <a:rPr b="0" i="0" strike="noStrike" dirty="0"/>
                        <a:t>BorderInsideVertical</a:t>
                      </a:r>
                    </a:p>
                  </a:txBody>
                  <a:tcPr horzOverflow="overflow"/>
                </a:tc>
              </a:tr>
              <a:tr h="508000">
                <a:tc>
                  <a:txBody>
                    <a:bodyPr/>
                    <a:lstStyle/>
                    <a:p>
                      <a:pPr algn="l" defTabSz="914400"/>
                      <a:r>
                        <a:rPr b="0" i="0" strike="noStrike" dirty="0"/>
                        <a:t>BorderDiagonalDown</a:t>
                      </a:r>
                    </a:p>
                  </a:txBody>
                  <a:tcPr horzOverflow="overflow"/>
                </a:tc>
              </a:tr>
              <a:tr h="508000">
                <a:tc>
                  <a:txBody>
                    <a:bodyPr/>
                    <a:lstStyle/>
                    <a:p>
                      <a:pPr algn="l" defTabSz="914400"/>
                      <a:r>
                        <a:rPr b="0" i="0" strike="noStrike" dirty="0"/>
                        <a:t>BorderDiagonalUp</a:t>
                      </a:r>
                    </a:p>
                  </a:txBody>
                  <a:tcPr horzOverflow="overflow"/>
                </a:tc>
              </a:tr>
              <a:tr h="508000">
                <a:tc>
                  <a:txBody>
                    <a:bodyPr/>
                    <a:lstStyle/>
                    <a:p>
                      <a:pPr algn="l" defTabSz="914400"/>
                      <a:r>
                        <a:rPr b="0" i="0" strike="noStrike" dirty="0"/>
                        <a:t>MagicEightBall</a:t>
                      </a:r>
                    </a:p>
                  </a:txBody>
                  <a:tcPr horzOverflow="overflow"/>
                </a:tc>
              </a:tr>
              <a:tr h="508000">
                <a:tc>
                  <a:txBody>
                    <a:bodyPr/>
                    <a:lstStyle/>
                    <a:p>
                      <a:pPr algn="l" defTabSz="914400"/>
                      <a:r>
                        <a:rPr b="0" i="0" strike="noStrike" dirty="0"/>
                        <a:t>TextDirectionLeftToRight</a:t>
                      </a:r>
                    </a:p>
                  </a:txBody>
                  <a:tcPr horzOverflow="overflow"/>
                </a:tc>
              </a:tr>
              <a:tr h="508000">
                <a:tc>
                  <a:txBody>
                    <a:bodyPr/>
                    <a:lstStyle/>
                    <a:p>
                      <a:pPr algn="l" defTabSz="914400"/>
                      <a:r>
                        <a:rPr b="0" i="0" strike="noStrike" dirty="0"/>
                        <a:t>TextDirectionRightToLeft</a:t>
                      </a:r>
                    </a:p>
                  </a:txBody>
                  <a:tcPr horzOverflow="overflow"/>
                </a:tc>
              </a:tr>
              <a:tr h="508000">
                <a:tc>
                  <a:txBody>
                    <a:bodyPr/>
                    <a:lstStyle/>
                    <a:p>
                      <a:pPr algn="l" defTabSz="914400"/>
                      <a:r>
                        <a:rPr b="0" i="0" strike="noStrike" dirty="0"/>
                        <a:t>ActiveXCheckBox</a:t>
                      </a:r>
                    </a:p>
                  </a:txBody>
                  <a:tcPr horzOverflow="overflow"/>
                </a:tc>
              </a:tr>
            </a:tbl>
          </a:graphicData>
        </a:graphic>
      </p:graphicFrame>
    </p:spTree>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FindDialogExcel</a:t>
                      </a:r>
                    </a:p>
                  </a:txBody>
                  <a:tcPr horzOverflow="overflow"/>
                </a:tc>
              </a:tr>
              <a:tr h="508000">
                <a:tc>
                  <a:txBody>
                    <a:bodyPr/>
                    <a:lstStyle/>
                    <a:p>
                      <a:pPr algn="l" defTabSz="914400"/>
                      <a:r>
                        <a:rPr b="0" i="0" strike="noStrike" dirty="0"/>
                        <a:t>ActiveXTextBox</a:t>
                      </a:r>
                    </a:p>
                  </a:txBody>
                  <a:tcPr horzOverflow="overflow"/>
                </a:tc>
              </a:tr>
              <a:tr h="508000">
                <a:tc>
                  <a:txBody>
                    <a:bodyPr/>
                    <a:lstStyle/>
                    <a:p>
                      <a:pPr algn="l" defTabSz="914400"/>
                      <a:r>
                        <a:rPr b="0" i="0" strike="noStrike" dirty="0"/>
                        <a:t>ActiveXButton</a:t>
                      </a:r>
                    </a:p>
                  </a:txBody>
                  <a:tcPr horzOverflow="overflow"/>
                </a:tc>
              </a:tr>
              <a:tr h="508000">
                <a:tc>
                  <a:txBody>
                    <a:bodyPr/>
                    <a:lstStyle/>
                    <a:p>
                      <a:pPr algn="l" defTabSz="914400"/>
                      <a:r>
                        <a:rPr b="0" i="0" strike="noStrike" dirty="0"/>
                        <a:t>ActiveXRadioButton</a:t>
                      </a:r>
                    </a:p>
                  </a:txBody>
                  <a:tcPr horzOverflow="overflow"/>
                </a:tc>
              </a:tr>
              <a:tr h="508000">
                <a:tc>
                  <a:txBody>
                    <a:bodyPr/>
                    <a:lstStyle/>
                    <a:p>
                      <a:pPr algn="l" defTabSz="914400"/>
                      <a:r>
                        <a:rPr b="0" i="0" strike="noStrike" dirty="0"/>
                        <a:t>ActiveXListBox</a:t>
                      </a:r>
                    </a:p>
                  </a:txBody>
                  <a:tcPr horzOverflow="overflow"/>
                </a:tc>
              </a:tr>
              <a:tr h="508000">
                <a:tc>
                  <a:txBody>
                    <a:bodyPr/>
                    <a:lstStyle/>
                    <a:p>
                      <a:pPr algn="l" defTabSz="914400"/>
                      <a:r>
                        <a:rPr b="0" i="0" strike="noStrike" dirty="0"/>
                        <a:t>ActiveXComboBox</a:t>
                      </a:r>
                    </a:p>
                  </a:txBody>
                  <a:tcPr horzOverflow="overflow"/>
                </a:tc>
              </a:tr>
              <a:tr h="508000">
                <a:tc>
                  <a:txBody>
                    <a:bodyPr/>
                    <a:lstStyle/>
                    <a:p>
                      <a:pPr algn="l" defTabSz="914400"/>
                      <a:r>
                        <a:rPr b="0" i="0" strike="noStrike" dirty="0"/>
                        <a:t>ActiveXToggleButton</a:t>
                      </a:r>
                    </a:p>
                  </a:txBody>
                  <a:tcPr horzOverflow="overflow"/>
                </a:tc>
              </a:tr>
              <a:tr h="508000">
                <a:tc>
                  <a:txBody>
                    <a:bodyPr/>
                    <a:lstStyle/>
                    <a:p>
                      <a:pPr algn="l" defTabSz="914400"/>
                      <a:r>
                        <a:rPr b="0" i="0" strike="noStrike" dirty="0"/>
                        <a:t>ActiveXSpinButton</a:t>
                      </a:r>
                    </a:p>
                  </a:txBody>
                  <a:tcPr horzOverflow="overflow"/>
                </a:tc>
              </a:tr>
              <a:tr h="508000">
                <a:tc>
                  <a:txBody>
                    <a:bodyPr/>
                    <a:lstStyle/>
                    <a:p>
                      <a:pPr algn="l" defTabSz="914400"/>
                      <a:r>
                        <a:rPr b="0" i="0" strike="noStrike" dirty="0"/>
                        <a:t>ActiveXScrollBar</a:t>
                      </a:r>
                    </a:p>
                  </a:txBody>
                  <a:tcPr horzOverflow="overflow"/>
                </a:tc>
              </a:tr>
              <a:tr h="508000">
                <a:tc>
                  <a:txBody>
                    <a:bodyPr/>
                    <a:lstStyle/>
                    <a:p>
                      <a:pPr algn="l" defTabSz="914400"/>
                      <a:r>
                        <a:rPr b="0" i="0" strike="noStrike" dirty="0"/>
                        <a:t>ActiveXLabel</a:t>
                      </a:r>
                    </a:p>
                  </a:txBody>
                  <a:tcPr horzOverflow="overflow"/>
                </a:tc>
              </a:tr>
            </a:tbl>
          </a:graphicData>
        </a:graphic>
      </p:graphicFrame>
    </p:spTree>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ShowBcc</a:t>
                      </a:r>
                    </a:p>
                  </a:txBody>
                  <a:tcPr horzOverflow="overflow"/>
                </a:tc>
              </a:tr>
              <a:tr h="508000">
                <a:tc>
                  <a:txBody>
                    <a:bodyPr/>
                    <a:lstStyle/>
                    <a:p>
                      <a:pPr algn="l" defTabSz="914400"/>
                      <a:r>
                        <a:rPr b="0" i="0" strike="noStrike" dirty="0"/>
                        <a:t>ShowFrom</a:t>
                      </a:r>
                    </a:p>
                  </a:txBody>
                  <a:tcPr horzOverflow="overflow"/>
                </a:tc>
              </a:tr>
              <a:tr h="508000">
                <a:tc>
                  <a:txBody>
                    <a:bodyPr/>
                    <a:lstStyle/>
                    <a:p>
                      <a:pPr algn="l" defTabSz="914400"/>
                      <a:r>
                        <a:rPr b="0" i="0" strike="noStrike" dirty="0"/>
                        <a:t>DefinePrintStyles</a:t>
                      </a:r>
                    </a:p>
                  </a:txBody>
                  <a:tcPr horzOverflow="overflow"/>
                </a:tc>
              </a:tr>
              <a:tr h="508000">
                <a:tc>
                  <a:txBody>
                    <a:bodyPr/>
                    <a:lstStyle/>
                    <a:p>
                      <a:pPr algn="l" defTabSz="914400"/>
                      <a:r>
                        <a:rPr b="0" i="0" strike="noStrike" dirty="0"/>
                        <a:t>TagMarkComplete</a:t>
                      </a:r>
                    </a:p>
                  </a:txBody>
                  <a:tcPr horzOverflow="overflow"/>
                </a:tc>
              </a:tr>
              <a:tr h="508000">
                <a:tc>
                  <a:txBody>
                    <a:bodyPr/>
                    <a:lstStyle/>
                    <a:p>
                      <a:pPr algn="l" defTabSz="914400"/>
                      <a:r>
                        <a:rPr b="0" i="0" strike="noStrike" dirty="0"/>
                        <a:t>NewContactFromSameCompany</a:t>
                      </a:r>
                    </a:p>
                  </a:txBody>
                  <a:tcPr horzOverflow="overflow"/>
                </a:tc>
              </a:tr>
              <a:tr h="508000">
                <a:tc>
                  <a:txBody>
                    <a:bodyPr/>
                    <a:lstStyle/>
                    <a:p>
                      <a:pPr algn="l" defTabSz="914400"/>
                      <a:r>
                        <a:rPr b="0" i="0" strike="noStrike" dirty="0"/>
                        <a:t>ChooseForm</a:t>
                      </a:r>
                    </a:p>
                  </a:txBody>
                  <a:tcPr horzOverflow="overflow"/>
                </a:tc>
              </a:tr>
              <a:tr h="508000">
                <a:tc>
                  <a:txBody>
                    <a:bodyPr/>
                    <a:lstStyle/>
                    <a:p>
                      <a:pPr algn="l" defTabSz="914400"/>
                      <a:r>
                        <a:rPr b="0" i="0" strike="noStrike" dirty="0"/>
                        <a:t>RecoverInviteToMeeting</a:t>
                      </a:r>
                    </a:p>
                  </a:txBody>
                  <a:tcPr horzOverflow="overflow"/>
                </a:tc>
              </a:tr>
              <a:tr h="508000">
                <a:tc>
                  <a:txBody>
                    <a:bodyPr/>
                    <a:lstStyle/>
                    <a:p>
                      <a:pPr algn="l" defTabSz="914400"/>
                      <a:r>
                        <a:rPr b="0" i="0" strike="noStrike" dirty="0"/>
                        <a:t>FormPublish</a:t>
                      </a:r>
                    </a:p>
                  </a:txBody>
                  <a:tcPr horzOverflow="overflow"/>
                </a:tc>
              </a:tr>
              <a:tr h="508000">
                <a:tc>
                  <a:txBody>
                    <a:bodyPr/>
                    <a:lstStyle/>
                    <a:p>
                      <a:pPr algn="l" defTabSz="914400"/>
                      <a:r>
                        <a:rPr b="0" i="0" strike="noStrike" dirty="0"/>
                        <a:t>SkipOccurrence</a:t>
                      </a:r>
                    </a:p>
                  </a:txBody>
                  <a:tcPr horzOverflow="overflow"/>
                </a:tc>
              </a:tr>
              <a:tr h="508000">
                <a:tc>
                  <a:txBody>
                    <a:bodyPr/>
                    <a:lstStyle/>
                    <a:p>
                      <a:pPr algn="l" defTabSz="914400"/>
                      <a:r>
                        <a:rPr b="0" i="0" strike="noStrike" dirty="0"/>
                        <a:t>RightToLeftDocument</a:t>
                      </a:r>
                    </a:p>
                  </a:txBody>
                  <a:tcPr horzOverflow="overflow"/>
                </a:tc>
              </a:tr>
            </a:tbl>
          </a:graphicData>
        </a:graphic>
      </p:graphicFrame>
    </p:spTree>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EditQuery</a:t>
                      </a:r>
                    </a:p>
                  </a:txBody>
                  <a:tcPr horzOverflow="overflow"/>
                </a:tc>
              </a:tr>
              <a:tr h="508000">
                <a:tc>
                  <a:txBody>
                    <a:bodyPr/>
                    <a:lstStyle/>
                    <a:p>
                      <a:pPr algn="l" defTabSz="914400"/>
                      <a:r>
                        <a:rPr b="0" i="0" strike="noStrike" dirty="0"/>
                        <a:t>DataRangeProperties</a:t>
                      </a:r>
                    </a:p>
                  </a:txBody>
                  <a:tcPr horzOverflow="overflow"/>
                </a:tc>
              </a:tr>
              <a:tr h="508000">
                <a:tc>
                  <a:txBody>
                    <a:bodyPr/>
                    <a:lstStyle/>
                    <a:p>
                      <a:pPr algn="l" defTabSz="914400"/>
                      <a:r>
                        <a:rPr b="0" i="0" strike="noStrike" dirty="0"/>
                        <a:t>RefreshAll</a:t>
                      </a:r>
                    </a:p>
                  </a:txBody>
                  <a:tcPr horzOverflow="overflow"/>
                </a:tc>
              </a:tr>
              <a:tr h="508000">
                <a:tc>
                  <a:txBody>
                    <a:bodyPr/>
                    <a:lstStyle/>
                    <a:p>
                      <a:pPr algn="l" defTabSz="914400"/>
                      <a:r>
                        <a:rPr b="0" i="0" strike="noStrike" dirty="0"/>
                        <a:t>RefreshCancel</a:t>
                      </a:r>
                    </a:p>
                  </a:txBody>
                  <a:tcPr horzOverflow="overflow"/>
                </a:tc>
              </a:tr>
              <a:tr h="508000">
                <a:tc>
                  <a:txBody>
                    <a:bodyPr/>
                    <a:lstStyle/>
                    <a:p>
                      <a:pPr algn="l" defTabSz="914400"/>
                      <a:r>
                        <a:rPr b="0" i="0" strike="noStrike" dirty="0"/>
                        <a:t>RefreshStatus</a:t>
                      </a:r>
                    </a:p>
                  </a:txBody>
                  <a:tcPr horzOverflow="overflow"/>
                </a:tc>
              </a:tr>
              <a:tr h="508000">
                <a:tc>
                  <a:txBody>
                    <a:bodyPr/>
                    <a:lstStyle/>
                    <a:p>
                      <a:pPr algn="l" defTabSz="914400"/>
                      <a:r>
                        <a:rPr b="0" i="0" strike="noStrike" dirty="0"/>
                        <a:t>ClearAll</a:t>
                      </a:r>
                    </a:p>
                  </a:txBody>
                  <a:tcPr horzOverflow="overflow"/>
                </a:tc>
              </a:tr>
              <a:tr h="508000">
                <a:tc>
                  <a:txBody>
                    <a:bodyPr/>
                    <a:lstStyle/>
                    <a:p>
                      <a:pPr algn="l" defTabSz="914400"/>
                      <a:r>
                        <a:rPr b="0" i="0" strike="noStrike" dirty="0"/>
                        <a:t>NewPostInThisFolder</a:t>
                      </a:r>
                    </a:p>
                  </a:txBody>
                  <a:tcPr horzOverflow="overflow"/>
                </a:tc>
              </a:tr>
              <a:tr h="508000">
                <a:tc>
                  <a:txBody>
                    <a:bodyPr/>
                    <a:lstStyle/>
                    <a:p>
                      <a:pPr algn="l" defTabSz="914400"/>
                      <a:r>
                        <a:rPr b="0" i="0" strike="noStrike" dirty="0"/>
                        <a:t>ReplyToAttendeesWithMessage</a:t>
                      </a:r>
                    </a:p>
                  </a:txBody>
                  <a:tcPr horzOverflow="overflow"/>
                </a:tc>
              </a:tr>
              <a:tr h="508000">
                <a:tc>
                  <a:txBody>
                    <a:bodyPr/>
                    <a:lstStyle/>
                    <a:p>
                      <a:pPr algn="l" defTabSz="914400"/>
                      <a:r>
                        <a:rPr b="0" i="0" strike="noStrike" dirty="0"/>
                        <a:t>SaveAndClose</a:t>
                      </a:r>
                    </a:p>
                  </a:txBody>
                  <a:tcPr horzOverflow="overflow"/>
                </a:tc>
              </a:tr>
              <a:tr h="508000">
                <a:tc>
                  <a:txBody>
                    <a:bodyPr/>
                    <a:lstStyle/>
                    <a:p>
                      <a:pPr algn="l" defTabSz="914400"/>
                      <a:r>
                        <a:rPr b="0" i="0" strike="noStrike" dirty="0"/>
                        <a:t>AssignTask</a:t>
                      </a:r>
                    </a:p>
                  </a:txBody>
                  <a:tcPr horzOverflow="overflow"/>
                </a:tc>
              </a:tr>
            </a:tbl>
          </a:graphicData>
        </a:graphic>
      </p:graphicFrame>
    </p:spTree>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Recurrence</a:t>
                      </a:r>
                    </a:p>
                  </a:txBody>
                  <a:tcPr horzOverflow="overflow"/>
                </a:tc>
              </a:tr>
              <a:tr h="508000">
                <a:tc>
                  <a:txBody>
                    <a:bodyPr/>
                    <a:lstStyle/>
                    <a:p>
                      <a:pPr algn="l" defTabSz="914400"/>
                      <a:r>
                        <a:rPr b="0" i="0" strike="noStrike" dirty="0"/>
                        <a:t>NewMessageToContact</a:t>
                      </a:r>
                    </a:p>
                  </a:txBody>
                  <a:tcPr horzOverflow="overflow"/>
                </a:tc>
              </a:tr>
              <a:tr h="508000">
                <a:tc>
                  <a:txBody>
                    <a:bodyPr/>
                    <a:lstStyle/>
                    <a:p>
                      <a:pPr algn="l" defTabSz="914400"/>
                      <a:r>
                        <a:rPr b="0" i="0" strike="noStrike" dirty="0"/>
                        <a:t>NewTaskForContact</a:t>
                      </a:r>
                    </a:p>
                  </a:txBody>
                  <a:tcPr horzOverflow="overflow"/>
                </a:tc>
              </a:tr>
              <a:tr h="508000">
                <a:tc>
                  <a:txBody>
                    <a:bodyPr/>
                    <a:lstStyle/>
                    <a:p>
                      <a:pPr algn="l" defTabSz="914400"/>
                      <a:r>
                        <a:rPr b="0" i="0" strike="noStrike" dirty="0"/>
                        <a:t>NewMeetingWithContact</a:t>
                      </a:r>
                    </a:p>
                  </a:txBody>
                  <a:tcPr horzOverflow="overflow"/>
                </a:tc>
              </a:tr>
              <a:tr h="508000">
                <a:tc>
                  <a:txBody>
                    <a:bodyPr/>
                    <a:lstStyle/>
                    <a:p>
                      <a:pPr algn="l" defTabSz="914400"/>
                      <a:r>
                        <a:rPr b="0" i="0" strike="noStrike" dirty="0"/>
                        <a:t>NewMessageToAttendees</a:t>
                      </a:r>
                    </a:p>
                  </a:txBody>
                  <a:tcPr horzOverflow="overflow"/>
                </a:tc>
              </a:tr>
              <a:tr h="508000">
                <a:tc>
                  <a:txBody>
                    <a:bodyPr/>
                    <a:lstStyle/>
                    <a:p>
                      <a:pPr algn="l" defTabSz="914400"/>
                      <a:r>
                        <a:rPr b="0" i="0" strike="noStrike" dirty="0"/>
                        <a:t>SendUpdate</a:t>
                      </a:r>
                    </a:p>
                  </a:txBody>
                  <a:tcPr horzOverflow="overflow"/>
                </a:tc>
              </a:tr>
              <a:tr h="508000">
                <a:tc>
                  <a:txBody>
                    <a:bodyPr/>
                    <a:lstStyle/>
                    <a:p>
                      <a:pPr algn="l" defTabSz="914400"/>
                      <a:r>
                        <a:rPr b="0" i="0" strike="noStrike" dirty="0"/>
                        <a:t>ReplyToAllAttendeesWithMessage</a:t>
                      </a:r>
                    </a:p>
                  </a:txBody>
                  <a:tcPr horzOverflow="overflow"/>
                </a:tc>
              </a:tr>
              <a:tr h="508000">
                <a:tc>
                  <a:txBody>
                    <a:bodyPr/>
                    <a:lstStyle/>
                    <a:p>
                      <a:pPr algn="l" defTabSz="914400"/>
                      <a:r>
                        <a:rPr b="0" i="0" strike="noStrike" dirty="0"/>
                        <a:t>PostReplyToFolder</a:t>
                      </a:r>
                    </a:p>
                  </a:txBody>
                  <a:tcPr horzOverflow="overflow"/>
                </a:tc>
              </a:tr>
              <a:tr h="508000">
                <a:tc>
                  <a:txBody>
                    <a:bodyPr/>
                    <a:lstStyle/>
                    <a:p>
                      <a:pPr algn="l" defTabSz="914400"/>
                      <a:r>
                        <a:rPr b="0" i="0" strike="noStrike" dirty="0"/>
                        <a:t>ViewAppointmentInCalendar</a:t>
                      </a:r>
                    </a:p>
                  </a:txBody>
                  <a:tcPr horzOverflow="overflow"/>
                </a:tc>
              </a:tr>
              <a:tr h="508000">
                <a:tc>
                  <a:txBody>
                    <a:bodyPr/>
                    <a:lstStyle/>
                    <a:p>
                      <a:pPr algn="l" defTabSz="914400"/>
                      <a:r>
                        <a:rPr b="0" i="0" strike="noStrike" dirty="0"/>
                        <a:t>NewJournalEntry</a:t>
                      </a:r>
                    </a:p>
                  </a:txBody>
                  <a:tcPr horzOverflow="overflow"/>
                </a:tc>
              </a:tr>
            </a:tbl>
          </a:graphicData>
        </a:graphic>
      </p:graphicFrame>
    </p:spTree>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NewMailMessage</a:t>
                      </a:r>
                    </a:p>
                  </a:txBody>
                  <a:tcPr horzOverflow="overflow"/>
                </a:tc>
              </a:tr>
              <a:tr h="508000">
                <a:tc>
                  <a:txBody>
                    <a:bodyPr/>
                    <a:lstStyle/>
                    <a:p>
                      <a:pPr algn="l" defTabSz="914400"/>
                      <a:r>
                        <a:rPr b="0" i="0" strike="noStrike" dirty="0"/>
                        <a:t>CancelAcceptTask</a:t>
                      </a:r>
                    </a:p>
                  </a:txBody>
                  <a:tcPr horzOverflow="overflow"/>
                </a:tc>
              </a:tr>
              <a:tr h="508000">
                <a:tc>
                  <a:txBody>
                    <a:bodyPr/>
                    <a:lstStyle/>
                    <a:p>
                      <a:pPr algn="l" defTabSz="914400"/>
                      <a:r>
                        <a:rPr b="0" i="0" strike="noStrike" dirty="0"/>
                        <a:t>CancelTaskAssignment</a:t>
                      </a:r>
                    </a:p>
                  </a:txBody>
                  <a:tcPr horzOverflow="overflow"/>
                </a:tc>
              </a:tr>
              <a:tr h="508000">
                <a:tc>
                  <a:txBody>
                    <a:bodyPr/>
                    <a:lstStyle/>
                    <a:p>
                      <a:pPr algn="l" defTabSz="914400"/>
                      <a:r>
                        <a:rPr b="0" i="0" strike="noStrike" dirty="0"/>
                        <a:t>CancelDeclineTask</a:t>
                      </a:r>
                    </a:p>
                  </a:txBody>
                  <a:tcPr horzOverflow="overflow"/>
                </a:tc>
              </a:tr>
              <a:tr h="508000">
                <a:tc>
                  <a:txBody>
                    <a:bodyPr/>
                    <a:lstStyle/>
                    <a:p>
                      <a:pPr algn="l" defTabSz="914400"/>
                      <a:r>
                        <a:rPr b="0" i="0" strike="noStrike" dirty="0"/>
                        <a:t>NewTaskRequest2</a:t>
                      </a:r>
                    </a:p>
                  </a:txBody>
                  <a:tcPr horzOverflow="overflow"/>
                </a:tc>
              </a:tr>
              <a:tr h="508000">
                <a:tc>
                  <a:txBody>
                    <a:bodyPr/>
                    <a:lstStyle/>
                    <a:p>
                      <a:pPr algn="l" defTabSz="914400"/>
                      <a:r>
                        <a:rPr b="0" i="0" strike="noStrike" dirty="0"/>
                        <a:t>RecurrenceEditSeries</a:t>
                      </a:r>
                    </a:p>
                  </a:txBody>
                  <a:tcPr horzOverflow="overflow"/>
                </a:tc>
              </a:tr>
              <a:tr h="508000">
                <a:tc>
                  <a:txBody>
                    <a:bodyPr/>
                    <a:lstStyle/>
                    <a:p>
                      <a:pPr algn="l" defTabSz="914400"/>
                      <a:r>
                        <a:rPr b="0" i="0" strike="noStrike" dirty="0"/>
                        <a:t>DataValidation</a:t>
                      </a:r>
                    </a:p>
                  </a:txBody>
                  <a:tcPr horzOverflow="overflow"/>
                </a:tc>
              </a:tr>
              <a:tr h="508000">
                <a:tc>
                  <a:txBody>
                    <a:bodyPr/>
                    <a:lstStyle/>
                    <a:p>
                      <a:pPr algn="l" defTabSz="914400"/>
                      <a:r>
                        <a:rPr b="0" i="0" strike="noStrike" dirty="0"/>
                        <a:t>DataValidationCircleInvalid</a:t>
                      </a:r>
                    </a:p>
                  </a:txBody>
                  <a:tcPr horzOverflow="overflow"/>
                </a:tc>
              </a:tr>
              <a:tr h="508000">
                <a:tc>
                  <a:txBody>
                    <a:bodyPr/>
                    <a:lstStyle/>
                    <a:p>
                      <a:pPr algn="l" defTabSz="914400"/>
                      <a:r>
                        <a:rPr b="0" i="0" strike="noStrike" dirty="0"/>
                        <a:t>ReviewShareWorkbook</a:t>
                      </a:r>
                    </a:p>
                  </a:txBody>
                  <a:tcPr horzOverflow="overflow"/>
                </a:tc>
              </a:tr>
              <a:tr h="508000">
                <a:tc>
                  <a:txBody>
                    <a:bodyPr/>
                    <a:lstStyle/>
                    <a:p>
                      <a:pPr algn="l" defTabSz="914400"/>
                      <a:r>
                        <a:rPr b="0" i="0" strike="noStrike" dirty="0"/>
                        <a:t>ReviewTrackChanges</a:t>
                      </a:r>
                    </a:p>
                  </a:txBody>
                  <a:tcPr horzOverflow="overflow"/>
                </a:tc>
              </a:tr>
            </a:tbl>
          </a:graphicData>
        </a:graphic>
      </p:graphicFrame>
    </p:spTree>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ReviewHighlightChanges</a:t>
                      </a:r>
                    </a:p>
                  </a:txBody>
                  <a:tcPr horzOverflow="overflow"/>
                </a:tc>
              </a:tr>
              <a:tr h="508000">
                <a:tc>
                  <a:txBody>
                    <a:bodyPr/>
                    <a:lstStyle/>
                    <a:p>
                      <a:pPr algn="l" defTabSz="914400"/>
                      <a:r>
                        <a:rPr b="0" i="0" strike="noStrike" dirty="0"/>
                        <a:t>DatabaseQueryNew</a:t>
                      </a:r>
                    </a:p>
                  </a:txBody>
                  <a:tcPr horzOverflow="overflow"/>
                </a:tc>
              </a:tr>
              <a:tr h="508000">
                <a:tc>
                  <a:txBody>
                    <a:bodyPr/>
                    <a:lstStyle/>
                    <a:p>
                      <a:pPr algn="l" defTabSz="914400"/>
                      <a:r>
                        <a:rPr b="0" i="0" strike="noStrike" dirty="0"/>
                        <a:t>DataValidationClearValidationCircles</a:t>
                      </a:r>
                    </a:p>
                  </a:txBody>
                  <a:tcPr horzOverflow="overflow"/>
                </a:tc>
              </a:tr>
              <a:tr h="508000">
                <a:tc>
                  <a:txBody>
                    <a:bodyPr/>
                    <a:lstStyle/>
                    <a:p>
                      <a:pPr algn="l" defTabSz="914400"/>
                      <a:r>
                        <a:rPr b="0" i="0" strike="noStrike" dirty="0"/>
                        <a:t>ReviewEditComment</a:t>
                      </a:r>
                    </a:p>
                  </a:txBody>
                  <a:tcPr horzOverflow="overflow"/>
                </a:tc>
              </a:tr>
              <a:tr h="508000">
                <a:tc>
                  <a:txBody>
                    <a:bodyPr/>
                    <a:lstStyle/>
                    <a:p>
                      <a:pPr algn="l" defTabSz="914400"/>
                      <a:r>
                        <a:rPr b="0" i="0" strike="noStrike" dirty="0"/>
                        <a:t>TableDrawTable</a:t>
                      </a:r>
                    </a:p>
                  </a:txBody>
                  <a:tcPr horzOverflow="overflow"/>
                </a:tc>
              </a:tr>
              <a:tr h="508000">
                <a:tc>
                  <a:txBody>
                    <a:bodyPr/>
                    <a:lstStyle/>
                    <a:p>
                      <a:pPr algn="l" defTabSz="914400"/>
                      <a:r>
                        <a:rPr b="0" i="0" strike="noStrike" dirty="0"/>
                        <a:t>TableEraser</a:t>
                      </a:r>
                    </a:p>
                  </a:txBody>
                  <a:tcPr horzOverflow="overflow"/>
                </a:tc>
              </a:tr>
              <a:tr h="508000">
                <a:tc>
                  <a:txBody>
                    <a:bodyPr/>
                    <a:lstStyle/>
                    <a:p>
                      <a:pPr algn="l" defTabSz="914400"/>
                      <a:r>
                        <a:rPr b="0" i="0" strike="noStrike" dirty="0"/>
                        <a:t>TableCellAlignTop</a:t>
                      </a:r>
                    </a:p>
                  </a:txBody>
                  <a:tcPr horzOverflow="overflow"/>
                </a:tc>
              </a:tr>
              <a:tr h="508000">
                <a:tc>
                  <a:txBody>
                    <a:bodyPr/>
                    <a:lstStyle/>
                    <a:p>
                      <a:pPr algn="l" defTabSz="914400"/>
                      <a:r>
                        <a:rPr b="0" i="0" strike="noStrike" dirty="0"/>
                        <a:t>TableCellAlignCenterVertically</a:t>
                      </a:r>
                    </a:p>
                  </a:txBody>
                  <a:tcPr horzOverflow="overflow"/>
                </a:tc>
              </a:tr>
              <a:tr h="508000">
                <a:tc>
                  <a:txBody>
                    <a:bodyPr/>
                    <a:lstStyle/>
                    <a:p>
                      <a:pPr algn="l" defTabSz="914400"/>
                      <a:r>
                        <a:rPr b="0" i="0" strike="noStrike" dirty="0"/>
                        <a:t>TableCellAlignBottom</a:t>
                      </a:r>
                    </a:p>
                  </a:txBody>
                  <a:tcPr horzOverflow="overflow"/>
                </a:tc>
              </a:tr>
              <a:tr h="508000">
                <a:tc>
                  <a:txBody>
                    <a:bodyPr/>
                    <a:lstStyle/>
                    <a:p>
                      <a:pPr algn="l" defTabSz="914400"/>
                      <a:r>
                        <a:rPr b="0" i="0" strike="noStrike" dirty="0"/>
                        <a:t>TableColumnsDistribute</a:t>
                      </a:r>
                    </a:p>
                  </a:txBody>
                  <a:tcPr horzOverflow="overflow"/>
                </a:tc>
              </a:tr>
            </a:tbl>
          </a:graphicData>
        </a:graphic>
      </p:graphicFrame>
    </p:spTree>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TableRowsDistribute</a:t>
                      </a:r>
                    </a:p>
                  </a:txBody>
                  <a:tcPr horzOverflow="overflow"/>
                </a:tc>
              </a:tr>
              <a:tr h="508000">
                <a:tc>
                  <a:txBody>
                    <a:bodyPr/>
                    <a:lstStyle/>
                    <a:p>
                      <a:pPr algn="l" defTabSz="914400"/>
                      <a:r>
                        <a:rPr b="0" i="0" strike="noStrike" dirty="0"/>
                        <a:t>FileCompactAndRepairDatabase</a:t>
                      </a:r>
                    </a:p>
                  </a:txBody>
                  <a:tcPr horzOverflow="overflow"/>
                </a:tc>
              </a:tr>
              <a:tr h="508000">
                <a:tc>
                  <a:txBody>
                    <a:bodyPr/>
                    <a:lstStyle/>
                    <a:p>
                      <a:pPr algn="l" defTabSz="914400"/>
                      <a:r>
                        <a:rPr b="0" i="0" strike="noStrike" dirty="0"/>
                        <a:t>DatabaseMakeMdeFile</a:t>
                      </a:r>
                    </a:p>
                  </a:txBody>
                  <a:tcPr horzOverflow="overflow"/>
                </a:tc>
              </a:tr>
              <a:tr h="508000">
                <a:tc>
                  <a:txBody>
                    <a:bodyPr/>
                    <a:lstStyle/>
                    <a:p>
                      <a:pPr algn="l" defTabSz="914400"/>
                      <a:r>
                        <a:rPr b="0" i="0" strike="noStrike" dirty="0"/>
                        <a:t>DatabaseEncodeDecode</a:t>
                      </a:r>
                    </a:p>
                  </a:txBody>
                  <a:tcPr horzOverflow="overflow"/>
                </a:tc>
              </a:tr>
              <a:tr h="508000">
                <a:tc>
                  <a:txBody>
                    <a:bodyPr/>
                    <a:lstStyle/>
                    <a:p>
                      <a:pPr algn="l" defTabSz="914400"/>
                      <a:r>
                        <a:rPr b="0" i="0" strike="noStrike" dirty="0"/>
                        <a:t>SizeToTallest</a:t>
                      </a:r>
                    </a:p>
                  </a:txBody>
                  <a:tcPr horzOverflow="overflow"/>
                </a:tc>
              </a:tr>
              <a:tr h="508000">
                <a:tc>
                  <a:txBody>
                    <a:bodyPr/>
                    <a:lstStyle/>
                    <a:p>
                      <a:pPr algn="l" defTabSz="914400"/>
                      <a:r>
                        <a:rPr b="0" i="0" strike="noStrike" dirty="0"/>
                        <a:t>SizeToShortest</a:t>
                      </a:r>
                    </a:p>
                  </a:txBody>
                  <a:tcPr horzOverflow="overflow"/>
                </a:tc>
              </a:tr>
              <a:tr h="508000">
                <a:tc>
                  <a:txBody>
                    <a:bodyPr/>
                    <a:lstStyle/>
                    <a:p>
                      <a:pPr algn="l" defTabSz="914400"/>
                      <a:r>
                        <a:rPr b="0" i="0" strike="noStrike" dirty="0"/>
                        <a:t>SizeToWidest</a:t>
                      </a:r>
                    </a:p>
                  </a:txBody>
                  <a:tcPr horzOverflow="overflow"/>
                </a:tc>
              </a:tr>
              <a:tr h="508000">
                <a:tc>
                  <a:txBody>
                    <a:bodyPr/>
                    <a:lstStyle/>
                    <a:p>
                      <a:pPr algn="l" defTabSz="914400"/>
                      <a:r>
                        <a:rPr b="0" i="0" strike="noStrike" dirty="0"/>
                        <a:t>SizeToNarrowest</a:t>
                      </a:r>
                    </a:p>
                  </a:txBody>
                  <a:tcPr horzOverflow="overflow"/>
                </a:tc>
              </a:tr>
              <a:tr h="508000">
                <a:tc>
                  <a:txBody>
                    <a:bodyPr/>
                    <a:lstStyle/>
                    <a:p>
                      <a:pPr algn="l" defTabSz="914400"/>
                      <a:r>
                        <a:rPr b="0" i="0" strike="noStrike" dirty="0"/>
                        <a:t>QueryUnionQuery</a:t>
                      </a:r>
                    </a:p>
                  </a:txBody>
                  <a:tcPr horzOverflow="overflow"/>
                </a:tc>
              </a:tr>
              <a:tr h="508000">
                <a:tc>
                  <a:txBody>
                    <a:bodyPr/>
                    <a:lstStyle/>
                    <a:p>
                      <a:pPr algn="l" defTabSz="914400"/>
                      <a:r>
                        <a:rPr b="0" i="0" strike="noStrike" dirty="0"/>
                        <a:t>QueryDataDefinition</a:t>
                      </a:r>
                    </a:p>
                  </a:txBody>
                  <a:tcPr horzOverflow="overflow"/>
                </a:tc>
              </a:tr>
            </a:tbl>
          </a:graphicData>
        </a:graphic>
      </p:graphicFrame>
    </p:spTree>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QuerySqlPassThroughQuery</a:t>
                      </a:r>
                    </a:p>
                  </a:txBody>
                  <a:tcPr horzOverflow="overflow"/>
                </a:tc>
              </a:tr>
              <a:tr h="508000">
                <a:tc>
                  <a:txBody>
                    <a:bodyPr/>
                    <a:lstStyle/>
                    <a:p>
                      <a:pPr algn="l" defTabSz="914400"/>
                      <a:r>
                        <a:rPr b="0" i="0" strike="noStrike" dirty="0"/>
                        <a:t>ClearGrid</a:t>
                      </a:r>
                    </a:p>
                  </a:txBody>
                  <a:tcPr horzOverflow="overflow"/>
                </a:tc>
              </a:tr>
              <a:tr h="508000">
                <a:tc>
                  <a:txBody>
                    <a:bodyPr/>
                    <a:lstStyle/>
                    <a:p>
                      <a:pPr algn="l" defTabSz="914400"/>
                      <a:r>
                        <a:rPr b="0" i="0" strike="noStrike" dirty="0"/>
                        <a:t>ActiveXFrame</a:t>
                      </a:r>
                    </a:p>
                  </a:txBody>
                  <a:tcPr horzOverflow="overflow"/>
                </a:tc>
              </a:tr>
              <a:tr h="508000">
                <a:tc>
                  <a:txBody>
                    <a:bodyPr/>
                    <a:lstStyle/>
                    <a:p>
                      <a:pPr algn="l" defTabSz="914400"/>
                      <a:r>
                        <a:rPr b="0" i="0" strike="noStrike" dirty="0"/>
                        <a:t>ActiveXImage</a:t>
                      </a:r>
                    </a:p>
                  </a:txBody>
                  <a:tcPr horzOverflow="overflow"/>
                </a:tc>
              </a:tr>
              <a:tr h="508000">
                <a:tc>
                  <a:txBody>
                    <a:bodyPr/>
                    <a:lstStyle/>
                    <a:p>
                      <a:pPr algn="l" defTabSz="914400"/>
                      <a:r>
                        <a:rPr b="0" i="0" strike="noStrike" dirty="0"/>
                        <a:t>ShapeConnectorStyleStraight</a:t>
                      </a:r>
                    </a:p>
                  </a:txBody>
                  <a:tcPr horzOverflow="overflow"/>
                </a:tc>
              </a:tr>
              <a:tr h="508000">
                <a:tc>
                  <a:txBody>
                    <a:bodyPr/>
                    <a:lstStyle/>
                    <a:p>
                      <a:pPr algn="l" defTabSz="914400"/>
                      <a:r>
                        <a:rPr b="0" i="0" strike="noStrike" dirty="0"/>
                        <a:t>ShapeConnectorStyleElbow</a:t>
                      </a:r>
                    </a:p>
                  </a:txBody>
                  <a:tcPr horzOverflow="overflow"/>
                </a:tc>
              </a:tr>
              <a:tr h="508000">
                <a:tc>
                  <a:txBody>
                    <a:bodyPr/>
                    <a:lstStyle/>
                    <a:p>
                      <a:pPr algn="l" defTabSz="914400"/>
                      <a:r>
                        <a:rPr b="0" i="0" strike="noStrike" dirty="0"/>
                        <a:t>ShapeConnectorStyleCurved</a:t>
                      </a:r>
                    </a:p>
                  </a:txBody>
                  <a:tcPr horzOverflow="overflow"/>
                </a:tc>
              </a:tr>
              <a:tr h="508000">
                <a:tc>
                  <a:txBody>
                    <a:bodyPr/>
                    <a:lstStyle/>
                    <a:p>
                      <a:pPr algn="l" defTabSz="914400"/>
                      <a:r>
                        <a:rPr b="0" i="0" strike="noStrike" dirty="0"/>
                        <a:t>WordArtEditTextClassic</a:t>
                      </a:r>
                    </a:p>
                  </a:txBody>
                  <a:tcPr horzOverflow="overflow"/>
                </a:tc>
              </a:tr>
              <a:tr h="508000">
                <a:tc>
                  <a:txBody>
                    <a:bodyPr/>
                    <a:lstStyle/>
                    <a:p>
                      <a:pPr algn="l" defTabSz="914400"/>
                      <a:r>
                        <a:rPr b="0" i="0" strike="noStrike" dirty="0"/>
                        <a:t>FilterByResource</a:t>
                      </a:r>
                    </a:p>
                  </a:txBody>
                  <a:tcPr horzOverflow="overflow"/>
                </a:tc>
              </a:tr>
              <a:tr h="508000">
                <a:tc>
                  <a:txBody>
                    <a:bodyPr/>
                    <a:lstStyle/>
                    <a:p>
                      <a:pPr algn="l" defTabSz="914400"/>
                      <a:r>
                        <a:rPr b="0" i="0" strike="noStrike" dirty="0"/>
                        <a:t>TableInsertCellsDialog</a:t>
                      </a:r>
                    </a:p>
                  </a:txBody>
                  <a:tcPr horzOverflow="overflow"/>
                </a:tc>
              </a:tr>
            </a:tbl>
          </a:graphicData>
        </a:graphic>
      </p:graphicFrame>
    </p:spTree>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DeleteCells2</a:t>
                      </a:r>
                    </a:p>
                  </a:txBody>
                  <a:tcPr horzOverflow="overflow"/>
                </a:tc>
              </a:tr>
              <a:tr h="508000">
                <a:tc>
                  <a:txBody>
                    <a:bodyPr/>
                    <a:lstStyle/>
                    <a:p>
                      <a:pPr algn="l" defTabSz="914400"/>
                      <a:r>
                        <a:rPr b="0" i="0" strike="noStrike" dirty="0"/>
                        <a:t>TableDeleteRows</a:t>
                      </a:r>
                    </a:p>
                  </a:txBody>
                  <a:tcPr horzOverflow="overflow"/>
                </a:tc>
              </a:tr>
              <a:tr h="508000">
                <a:tc>
                  <a:txBody>
                    <a:bodyPr/>
                    <a:lstStyle/>
                    <a:p>
                      <a:pPr algn="l" defTabSz="914400"/>
                      <a:r>
                        <a:rPr b="0" i="0" strike="noStrike" dirty="0"/>
                        <a:t>TableDeleteColumns</a:t>
                      </a:r>
                    </a:p>
                  </a:txBody>
                  <a:tcPr horzOverflow="overflow"/>
                </a:tc>
              </a:tr>
              <a:tr h="508000">
                <a:tc>
                  <a:txBody>
                    <a:bodyPr/>
                    <a:lstStyle/>
                    <a:p>
                      <a:pPr algn="l" defTabSz="914400"/>
                      <a:r>
                        <a:rPr b="0" i="0" strike="noStrike" dirty="0"/>
                        <a:t>Organizer</a:t>
                      </a:r>
                    </a:p>
                  </a:txBody>
                  <a:tcPr horzOverflow="overflow"/>
                </a:tc>
              </a:tr>
              <a:tr h="508000">
                <a:tc>
                  <a:txBody>
                    <a:bodyPr/>
                    <a:lstStyle/>
                    <a:p>
                      <a:pPr algn="l" defTabSz="914400"/>
                      <a:r>
                        <a:rPr b="0" i="0" strike="noStrike" dirty="0"/>
                        <a:t>ShadowOnOrOffClassic</a:t>
                      </a:r>
                    </a:p>
                  </a:txBody>
                  <a:tcPr horzOverflow="overflow"/>
                </a:tc>
              </a:tr>
              <a:tr h="508000">
                <a:tc>
                  <a:txBody>
                    <a:bodyPr/>
                    <a:lstStyle/>
                    <a:p>
                      <a:pPr algn="l" defTabSz="914400"/>
                      <a:r>
                        <a:rPr b="0" i="0" strike="noStrike" dirty="0"/>
                        <a:t>MacroRecorderStop</a:t>
                      </a:r>
                    </a:p>
                  </a:txBody>
                  <a:tcPr horzOverflow="overflow"/>
                </a:tc>
              </a:tr>
              <a:tr h="508000">
                <a:tc>
                  <a:txBody>
                    <a:bodyPr/>
                    <a:lstStyle/>
                    <a:p>
                      <a:pPr algn="l" defTabSz="914400"/>
                      <a:r>
                        <a:rPr b="0" i="0" strike="noStrike" dirty="0"/>
                        <a:t>FileSendAsAttachment</a:t>
                      </a:r>
                    </a:p>
                  </a:txBody>
                  <a:tcPr horzOverflow="overflow"/>
                </a:tc>
              </a:tr>
              <a:tr h="508000">
                <a:tc>
                  <a:txBody>
                    <a:bodyPr/>
                    <a:lstStyle/>
                    <a:p>
                      <a:pPr algn="l" defTabSz="914400"/>
                      <a:r>
                        <a:rPr b="0" i="0" strike="noStrike" dirty="0"/>
                        <a:t>AutoSummaryViewByHighlight</a:t>
                      </a:r>
                    </a:p>
                  </a:txBody>
                  <a:tcPr horzOverflow="overflow"/>
                </a:tc>
              </a:tr>
              <a:tr h="508000">
                <a:tc>
                  <a:txBody>
                    <a:bodyPr/>
                    <a:lstStyle/>
                    <a:p>
                      <a:pPr algn="l" defTabSz="914400"/>
                      <a:r>
                        <a:rPr b="0" i="0" strike="noStrike" dirty="0"/>
                        <a:t>MasterDocument</a:t>
                      </a:r>
                    </a:p>
                  </a:txBody>
                  <a:tcPr horzOverflow="overflow"/>
                </a:tc>
              </a:tr>
              <a:tr h="508000">
                <a:tc>
                  <a:txBody>
                    <a:bodyPr/>
                    <a:lstStyle/>
                    <a:p>
                      <a:pPr algn="l" defTabSz="914400"/>
                      <a:r>
                        <a:rPr b="0" i="0" strike="noStrike" dirty="0"/>
                        <a:t>ChangeCase</a:t>
                      </a:r>
                    </a:p>
                  </a:txBody>
                  <a:tcPr horzOverflow="overflow"/>
                </a:tc>
              </a:tr>
            </a:tbl>
          </a:graphicData>
        </a:graphic>
      </p:graphicFrame>
    </p:spTree>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ListNumFieldInsert</a:t>
                      </a:r>
                    </a:p>
                  </a:txBody>
                  <a:tcPr horzOverflow="overflow"/>
                </a:tc>
              </a:tr>
              <a:tr h="508000">
                <a:tc>
                  <a:txBody>
                    <a:bodyPr/>
                    <a:lstStyle/>
                    <a:p>
                      <a:pPr algn="l" defTabSz="914400"/>
                      <a:r>
                        <a:rPr b="0" i="0" strike="noStrike" dirty="0"/>
                        <a:t>ParagraphSpaceBeforeNone</a:t>
                      </a:r>
                    </a:p>
                  </a:txBody>
                  <a:tcPr horzOverflow="overflow"/>
                </a:tc>
              </a:tr>
              <a:tr h="508000">
                <a:tc>
                  <a:txBody>
                    <a:bodyPr/>
                    <a:lstStyle/>
                    <a:p>
                      <a:pPr algn="l" defTabSz="914400"/>
                      <a:r>
                        <a:rPr b="0" i="0" strike="noStrike" dirty="0"/>
                        <a:t>ParagraphSpaceBefore</a:t>
                      </a:r>
                    </a:p>
                  </a:txBody>
                  <a:tcPr horzOverflow="overflow"/>
                </a:tc>
              </a:tr>
              <a:tr h="508000">
                <a:tc>
                  <a:txBody>
                    <a:bodyPr/>
                    <a:lstStyle/>
                    <a:p>
                      <a:pPr algn="l" defTabSz="914400"/>
                      <a:r>
                        <a:rPr b="0" i="0" strike="noStrike" dirty="0"/>
                        <a:t>ParagraphSpaceAddOrRemoveBefore</a:t>
                      </a:r>
                    </a:p>
                  </a:txBody>
                  <a:tcPr horzOverflow="overflow"/>
                </a:tc>
              </a:tr>
              <a:tr h="508000">
                <a:tc>
                  <a:txBody>
                    <a:bodyPr/>
                    <a:lstStyle/>
                    <a:p>
                      <a:pPr algn="l" defTabSz="914400"/>
                      <a:r>
                        <a:rPr b="0" i="0" strike="noStrike" dirty="0"/>
                        <a:t>PagePreviousWord</a:t>
                      </a:r>
                    </a:p>
                  </a:txBody>
                  <a:tcPr horzOverflow="overflow"/>
                </a:tc>
              </a:tr>
              <a:tr h="508000">
                <a:tc>
                  <a:txBody>
                    <a:bodyPr/>
                    <a:lstStyle/>
                    <a:p>
                      <a:pPr algn="l" defTabSz="914400"/>
                      <a:r>
                        <a:rPr b="0" i="0" strike="noStrike" dirty="0"/>
                        <a:t>PageNextWord</a:t>
                      </a:r>
                    </a:p>
                  </a:txBody>
                  <a:tcPr horzOverflow="overflow"/>
                </a:tc>
              </a:tr>
              <a:tr h="508000">
                <a:tc>
                  <a:txBody>
                    <a:bodyPr/>
                    <a:lstStyle/>
                    <a:p>
                      <a:pPr algn="l" defTabSz="914400"/>
                      <a:r>
                        <a:rPr b="0" i="0" strike="noStrike" dirty="0"/>
                        <a:t>MailMergeRecepientsUseExistingList</a:t>
                      </a:r>
                    </a:p>
                  </a:txBody>
                  <a:tcPr horzOverflow="overflow"/>
                </a:tc>
              </a:tr>
              <a:tr h="508000">
                <a:tc>
                  <a:txBody>
                    <a:bodyPr/>
                    <a:lstStyle/>
                    <a:p>
                      <a:pPr algn="l" defTabSz="914400"/>
                      <a:r>
                        <a:rPr b="0" i="0" strike="noStrike" dirty="0"/>
                        <a:t>FootnoteNextWord</a:t>
                      </a:r>
                    </a:p>
                  </a:txBody>
                  <a:tcPr horzOverflow="overflow"/>
                </a:tc>
              </a:tr>
              <a:tr h="508000">
                <a:tc>
                  <a:txBody>
                    <a:bodyPr/>
                    <a:lstStyle/>
                    <a:p>
                      <a:pPr algn="l" defTabSz="914400"/>
                      <a:r>
                        <a:rPr b="0" i="0" strike="noStrike" dirty="0"/>
                        <a:t>EndnoteInsertWord</a:t>
                      </a:r>
                    </a:p>
                  </a:txBody>
                  <a:tcPr horzOverflow="overflow"/>
                </a:tc>
              </a:tr>
              <a:tr h="508000">
                <a:tc>
                  <a:txBody>
                    <a:bodyPr/>
                    <a:lstStyle/>
                    <a:p>
                      <a:pPr algn="l" defTabSz="914400"/>
                      <a:r>
                        <a:rPr b="0" i="0" strike="noStrike" dirty="0"/>
                        <a:t>IndexMarkEntry</a:t>
                      </a:r>
                    </a:p>
                  </a:txBody>
                  <a:tcPr horzOverflow="overflow"/>
                </a:tc>
              </a:tr>
            </a:tbl>
          </a:graphicData>
        </a:graphic>
      </p:graphicFrame>
    </p:spTree>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CitationMark</a:t>
                      </a:r>
                    </a:p>
                  </a:txBody>
                  <a:tcPr horzOverflow="overflow"/>
                </a:tc>
              </a:tr>
              <a:tr h="508000">
                <a:tc>
                  <a:txBody>
                    <a:bodyPr/>
                    <a:lstStyle/>
                    <a:p>
                      <a:pPr algn="l" defTabSz="914400"/>
                      <a:r>
                        <a:rPr b="0" i="0" strike="noStrike" dirty="0"/>
                        <a:t>IndexInsert</a:t>
                      </a:r>
                    </a:p>
                  </a:txBody>
                  <a:tcPr horzOverflow="overflow"/>
                </a:tc>
              </a:tr>
              <a:tr h="508000">
                <a:tc>
                  <a:txBody>
                    <a:bodyPr/>
                    <a:lstStyle/>
                    <a:p>
                      <a:pPr algn="l" defTabSz="914400"/>
                      <a:r>
                        <a:rPr b="0" i="0" strike="noStrike" dirty="0"/>
                        <a:t>TableOfContentsDialog</a:t>
                      </a:r>
                    </a:p>
                  </a:txBody>
                  <a:tcPr horzOverflow="overflow"/>
                </a:tc>
              </a:tr>
              <a:tr h="508000">
                <a:tc>
                  <a:txBody>
                    <a:bodyPr/>
                    <a:lstStyle/>
                    <a:p>
                      <a:pPr algn="l" defTabSz="914400"/>
                      <a:r>
                        <a:rPr b="0" i="0" strike="noStrike" dirty="0"/>
                        <a:t>TableOfFiguresInsert</a:t>
                      </a:r>
                    </a:p>
                  </a:txBody>
                  <a:tcPr horzOverflow="overflow"/>
                </a:tc>
              </a:tr>
              <a:tr h="508000">
                <a:tc>
                  <a:txBody>
                    <a:bodyPr/>
                    <a:lstStyle/>
                    <a:p>
                      <a:pPr algn="l" defTabSz="914400"/>
                      <a:r>
                        <a:rPr b="0" i="0" strike="noStrike" dirty="0"/>
                        <a:t>TableOfAuthoritiesInsert</a:t>
                      </a:r>
                    </a:p>
                  </a:txBody>
                  <a:tcPr horzOverflow="overflow"/>
                </a:tc>
              </a:tr>
              <a:tr h="508000">
                <a:tc>
                  <a:txBody>
                    <a:bodyPr/>
                    <a:lstStyle/>
                    <a:p>
                      <a:pPr algn="l" defTabSz="914400"/>
                      <a:r>
                        <a:rPr b="0" i="0" strike="noStrike" dirty="0"/>
                        <a:t>TextBoxLinkCreate</a:t>
                      </a:r>
                    </a:p>
                  </a:txBody>
                  <a:tcPr horzOverflow="overflow"/>
                </a:tc>
              </a:tr>
              <a:tr h="508000">
                <a:tc>
                  <a:txBody>
                    <a:bodyPr/>
                    <a:lstStyle/>
                    <a:p>
                      <a:pPr algn="l" defTabSz="914400"/>
                      <a:r>
                        <a:rPr b="0" i="0" strike="noStrike" dirty="0"/>
                        <a:t>TextBoxLinkBreak</a:t>
                      </a:r>
                    </a:p>
                  </a:txBody>
                  <a:tcPr horzOverflow="overflow"/>
                </a:tc>
              </a:tr>
              <a:tr h="508000">
                <a:tc>
                  <a:txBody>
                    <a:bodyPr/>
                    <a:lstStyle/>
                    <a:p>
                      <a:pPr algn="l" defTabSz="914400"/>
                      <a:r>
                        <a:rPr b="0" i="0" strike="noStrike" dirty="0"/>
                        <a:t>TextBoxNextLinked</a:t>
                      </a:r>
                    </a:p>
                  </a:txBody>
                  <a:tcPr horzOverflow="overflow"/>
                </a:tc>
              </a:tr>
              <a:tr h="508000">
                <a:tc>
                  <a:txBody>
                    <a:bodyPr/>
                    <a:lstStyle/>
                    <a:p>
                      <a:pPr algn="l" defTabSz="914400"/>
                      <a:r>
                        <a:rPr b="0" i="0" strike="noStrike" dirty="0"/>
                        <a:t>TextBoxPreviousLinked</a:t>
                      </a:r>
                    </a:p>
                  </a:txBody>
                  <a:tcPr horzOverflow="overflow"/>
                </a:tc>
              </a:tr>
              <a:tr h="508000">
                <a:tc>
                  <a:txBody>
                    <a:bodyPr/>
                    <a:lstStyle/>
                    <a:p>
                      <a:pPr algn="l" defTabSz="914400"/>
                      <a:r>
                        <a:rPr b="0" i="0" strike="noStrike" dirty="0"/>
                        <a:t>CompareAndCombine</a:t>
                      </a:r>
                    </a:p>
                  </a:txBody>
                  <a:tcPr horzOverflow="overflow"/>
                </a:tc>
              </a:tr>
            </a:tbl>
          </a:graphicData>
        </a:graphic>
      </p:graphicFrame>
    </p:spTree>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PrintOptionsMenuWord</a:t>
                      </a:r>
                    </a:p>
                  </a:txBody>
                  <a:tcPr horzOverflow="overflow"/>
                </a:tc>
              </a:tr>
              <a:tr h="508000">
                <a:tc>
                  <a:txBody>
                    <a:bodyPr/>
                    <a:lstStyle/>
                    <a:p>
                      <a:pPr algn="l" defTabSz="914400"/>
                      <a:r>
                        <a:rPr b="0" i="0" strike="noStrike" dirty="0"/>
                        <a:t>PageNumberFormat</a:t>
                      </a:r>
                    </a:p>
                  </a:txBody>
                  <a:tcPr horzOverflow="overflow"/>
                </a:tc>
              </a:tr>
              <a:tr h="508000">
                <a:tc>
                  <a:txBody>
                    <a:bodyPr/>
                    <a:lstStyle/>
                    <a:p>
                      <a:pPr algn="l" defTabSz="914400"/>
                      <a:r>
                        <a:rPr b="0" i="0" strike="noStrike" dirty="0"/>
                        <a:t>CancelInvitation</a:t>
                      </a:r>
                    </a:p>
                  </a:txBody>
                  <a:tcPr horzOverflow="overflow"/>
                </a:tc>
              </a:tr>
              <a:tr h="508000">
                <a:tc>
                  <a:txBody>
                    <a:bodyPr/>
                    <a:lstStyle/>
                    <a:p>
                      <a:pPr algn="l" defTabSz="914400"/>
                      <a:r>
                        <a:rPr b="0" i="0" strike="noStrike" dirty="0"/>
                        <a:t>ContactWebPage</a:t>
                      </a:r>
                    </a:p>
                  </a:txBody>
                  <a:tcPr horzOverflow="overflow"/>
                </a:tc>
              </a:tr>
              <a:tr h="508000">
                <a:tc>
                  <a:txBody>
                    <a:bodyPr/>
                    <a:lstStyle/>
                    <a:p>
                      <a:pPr algn="l" defTabSz="914400"/>
                      <a:r>
                        <a:rPr b="0" i="0" strike="noStrike" dirty="0"/>
                        <a:t>AttachItem</a:t>
                      </a:r>
                    </a:p>
                  </a:txBody>
                  <a:tcPr horzOverflow="overflow"/>
                </a:tc>
              </a:tr>
              <a:tr h="508000">
                <a:tc>
                  <a:txBody>
                    <a:bodyPr/>
                    <a:lstStyle/>
                    <a:p>
                      <a:pPr algn="l" defTabSz="914400"/>
                      <a:r>
                        <a:rPr b="0" i="0" strike="noStrike" dirty="0"/>
                        <a:t>SendAgain</a:t>
                      </a:r>
                    </a:p>
                  </a:txBody>
                  <a:tcPr horzOverflow="overflow"/>
                </a:tc>
              </a:tr>
              <a:tr h="508000">
                <a:tc>
                  <a:txBody>
                    <a:bodyPr/>
                    <a:lstStyle/>
                    <a:p>
                      <a:pPr algn="l" defTabSz="914400"/>
                      <a:r>
                        <a:rPr b="0" i="0" strike="noStrike" dirty="0"/>
                        <a:t>EditComposePage</a:t>
                      </a:r>
                    </a:p>
                  </a:txBody>
                  <a:tcPr horzOverflow="overflow"/>
                </a:tc>
              </a:tr>
              <a:tr h="508000">
                <a:tc>
                  <a:txBody>
                    <a:bodyPr/>
                    <a:lstStyle/>
                    <a:p>
                      <a:pPr algn="l" defTabSz="914400"/>
                      <a:r>
                        <a:rPr b="0" i="0" strike="noStrike" dirty="0"/>
                        <a:t>EditReadPage</a:t>
                      </a:r>
                    </a:p>
                  </a:txBody>
                  <a:tcPr horzOverflow="overflow"/>
                </a:tc>
              </a:tr>
              <a:tr h="508000">
                <a:tc>
                  <a:txBody>
                    <a:bodyPr/>
                    <a:lstStyle/>
                    <a:p>
                      <a:pPr algn="l" defTabSz="914400"/>
                      <a:r>
                        <a:rPr b="0" i="0" strike="noStrike" dirty="0"/>
                        <a:t>DesignThisForm</a:t>
                      </a:r>
                    </a:p>
                  </a:txBody>
                  <a:tcPr horzOverflow="overflow"/>
                </a:tc>
              </a:tr>
              <a:tr h="508000">
                <a:tc>
                  <a:txBody>
                    <a:bodyPr/>
                    <a:lstStyle/>
                    <a:p>
                      <a:pPr algn="l" defTabSz="914400"/>
                      <a:r>
                        <a:rPr b="0" i="0" strike="noStrike" dirty="0"/>
                        <a:t>FileNewDefault</a:t>
                      </a:r>
                    </a:p>
                  </a:txBody>
                  <a:tcPr horzOverflow="overflow"/>
                </a:tc>
              </a:tr>
            </a:tbl>
          </a:graphicData>
        </a:graphic>
      </p:graphicFrame>
    </p:spTree>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FilePrintQuick</a:t>
                      </a:r>
                    </a:p>
                  </a:txBody>
                  <a:tcPr horzOverflow="overflow"/>
                </a:tc>
              </a:tr>
              <a:tr h="508000">
                <a:tc>
                  <a:txBody>
                    <a:bodyPr/>
                    <a:lstStyle/>
                    <a:p>
                      <a:pPr algn="l" defTabSz="914400"/>
                      <a:r>
                        <a:rPr b="0" i="0" strike="noStrike" dirty="0"/>
                        <a:t>WindowsTileVertically</a:t>
                      </a:r>
                    </a:p>
                  </a:txBody>
                  <a:tcPr horzOverflow="overflow"/>
                </a:tc>
              </a:tr>
              <a:tr h="508000">
                <a:tc>
                  <a:txBody>
                    <a:bodyPr/>
                    <a:lstStyle/>
                    <a:p>
                      <a:pPr algn="l" defTabSz="914400"/>
                      <a:r>
                        <a:rPr b="0" i="0" strike="noStrike" dirty="0"/>
                        <a:t>WindowsTileHorizontally</a:t>
                      </a:r>
                    </a:p>
                  </a:txBody>
                  <a:tcPr horzOverflow="overflow"/>
                </a:tc>
              </a:tr>
              <a:tr h="508000">
                <a:tc>
                  <a:txBody>
                    <a:bodyPr/>
                    <a:lstStyle/>
                    <a:p>
                      <a:pPr algn="l" defTabSz="914400"/>
                      <a:r>
                        <a:rPr b="0" i="0" strike="noStrike" dirty="0"/>
                        <a:t>SpellingAndGrammar</a:t>
                      </a:r>
                    </a:p>
                  </a:txBody>
                  <a:tcPr horzOverflow="overflow"/>
                </a:tc>
              </a:tr>
              <a:tr h="508000">
                <a:tc>
                  <a:txBody>
                    <a:bodyPr/>
                    <a:lstStyle/>
                    <a:p>
                      <a:pPr algn="l" defTabSz="914400"/>
                      <a:r>
                        <a:rPr b="0" i="0" strike="noStrike" dirty="0"/>
                        <a:t>CopyToPersonalCalendar</a:t>
                      </a:r>
                    </a:p>
                  </a:txBody>
                  <a:tcPr horzOverflow="overflow"/>
                </a:tc>
              </a:tr>
              <a:tr h="508000">
                <a:tc>
                  <a:txBody>
                    <a:bodyPr/>
                    <a:lstStyle/>
                    <a:p>
                      <a:pPr algn="l" defTabSz="914400"/>
                      <a:r>
                        <a:rPr b="0" i="0" strike="noStrike" dirty="0"/>
                        <a:t>CopyToPersonalTaskList</a:t>
                      </a:r>
                    </a:p>
                  </a:txBody>
                  <a:tcPr horzOverflow="overflow"/>
                </a:tc>
              </a:tr>
              <a:tr h="508000">
                <a:tc>
                  <a:txBody>
                    <a:bodyPr/>
                    <a:lstStyle/>
                    <a:p>
                      <a:pPr algn="l" defTabSz="914400"/>
                      <a:r>
                        <a:rPr b="0" i="0" strike="noStrike" dirty="0"/>
                        <a:t>Post</a:t>
                      </a:r>
                    </a:p>
                  </a:txBody>
                  <a:tcPr horzOverflow="overflow"/>
                </a:tc>
              </a:tr>
              <a:tr h="508000">
                <a:tc>
                  <a:txBody>
                    <a:bodyPr/>
                    <a:lstStyle/>
                    <a:p>
                      <a:pPr algn="l" defTabSz="914400"/>
                      <a:r>
                        <a:rPr b="0" i="0" strike="noStrike" dirty="0"/>
                        <a:t>NewOfficeDocument</a:t>
                      </a:r>
                    </a:p>
                  </a:txBody>
                  <a:tcPr horzOverflow="overflow"/>
                </a:tc>
              </a:tr>
              <a:tr h="508000">
                <a:tc>
                  <a:txBody>
                    <a:bodyPr/>
                    <a:lstStyle/>
                    <a:p>
                      <a:pPr algn="l" defTabSz="914400"/>
                      <a:r>
                        <a:rPr b="0" i="0" strike="noStrike" dirty="0"/>
                        <a:t>CreateClassModule</a:t>
                      </a:r>
                    </a:p>
                  </a:txBody>
                  <a:tcPr horzOverflow="overflow"/>
                </a:tc>
              </a:tr>
              <a:tr h="508000">
                <a:tc>
                  <a:txBody>
                    <a:bodyPr/>
                    <a:lstStyle/>
                    <a:p>
                      <a:pPr algn="l" defTabSz="914400"/>
                      <a:r>
                        <a:rPr b="0" i="0" strike="noStrike" dirty="0"/>
                        <a:t>ControlTabControl</a:t>
                      </a:r>
                    </a:p>
                  </a:txBody>
                  <a:tcPr horzOverflow="overflow"/>
                </a:tc>
              </a:tr>
            </a:tbl>
          </a:graphicData>
        </a:graphic>
      </p:graphicFrame>
    </p:spTree>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ControlPage</a:t>
                      </a:r>
                    </a:p>
                  </a:txBody>
                  <a:tcPr horzOverflow="overflow"/>
                </a:tc>
              </a:tr>
              <a:tr h="508000">
                <a:tc>
                  <a:txBody>
                    <a:bodyPr/>
                    <a:lstStyle/>
                    <a:p>
                      <a:pPr algn="l" defTabSz="914400"/>
                      <a:r>
                        <a:rPr b="0" i="0" strike="noStrike" dirty="0"/>
                        <a:t>ReviewPreviousChangeClassic</a:t>
                      </a:r>
                    </a:p>
                  </a:txBody>
                  <a:tcPr horzOverflow="overflow"/>
                </a:tc>
              </a:tr>
              <a:tr h="508000">
                <a:tc>
                  <a:txBody>
                    <a:bodyPr/>
                    <a:lstStyle/>
                    <a:p>
                      <a:pPr algn="l" defTabSz="914400"/>
                      <a:r>
                        <a:rPr b="0" i="0" strike="noStrike" dirty="0"/>
                        <a:t>ReviewNextChangeClassic</a:t>
                      </a:r>
                    </a:p>
                  </a:txBody>
                  <a:tcPr horzOverflow="overflow"/>
                </a:tc>
              </a:tr>
              <a:tr h="508000">
                <a:tc>
                  <a:txBody>
                    <a:bodyPr/>
                    <a:lstStyle/>
                    <a:p>
                      <a:pPr algn="l" defTabSz="914400"/>
                      <a:r>
                        <a:rPr b="0" i="0" strike="noStrike" dirty="0"/>
                        <a:t>DialMenu</a:t>
                      </a:r>
                    </a:p>
                  </a:txBody>
                  <a:tcPr horzOverflow="overflow"/>
                </a:tc>
              </a:tr>
              <a:tr h="508000">
                <a:tc>
                  <a:txBody>
                    <a:bodyPr/>
                    <a:lstStyle/>
                    <a:p>
                      <a:pPr algn="l" defTabSz="914400"/>
                      <a:r>
                        <a:rPr b="0" i="0" strike="noStrike" dirty="0"/>
                        <a:t>SendDefault</a:t>
                      </a:r>
                    </a:p>
                  </a:txBody>
                  <a:tcPr horzOverflow="overflow"/>
                </a:tc>
              </a:tr>
              <a:tr h="508000">
                <a:tc>
                  <a:txBody>
                    <a:bodyPr/>
                    <a:lstStyle/>
                    <a:p>
                      <a:pPr algn="l" defTabSz="914400"/>
                      <a:r>
                        <a:rPr b="0" i="0" strike="noStrike" dirty="0"/>
                        <a:t>MessageProperties</a:t>
                      </a:r>
                    </a:p>
                  </a:txBody>
                  <a:tcPr horzOverflow="overflow"/>
                </a:tc>
              </a:tr>
              <a:tr h="508000">
                <a:tc>
                  <a:txBody>
                    <a:bodyPr/>
                    <a:lstStyle/>
                    <a:p>
                      <a:pPr algn="l" defTabSz="914400"/>
                      <a:r>
                        <a:rPr b="0" i="0" strike="noStrike" dirty="0"/>
                        <a:t>PictureInsertFromFile</a:t>
                      </a:r>
                    </a:p>
                  </a:txBody>
                  <a:tcPr horzOverflow="overflow"/>
                </a:tc>
              </a:tr>
              <a:tr h="508000">
                <a:tc>
                  <a:txBody>
                    <a:bodyPr/>
                    <a:lstStyle/>
                    <a:p>
                      <a:pPr algn="l" defTabSz="914400"/>
                      <a:r>
                        <a:rPr b="0" i="0" strike="noStrike" dirty="0"/>
                        <a:t>TableDrawBorderPenWeight</a:t>
                      </a:r>
                    </a:p>
                  </a:txBody>
                  <a:tcPr horzOverflow="overflow"/>
                </a:tc>
              </a:tr>
              <a:tr h="508000">
                <a:tc>
                  <a:txBody>
                    <a:bodyPr/>
                    <a:lstStyle/>
                    <a:p>
                      <a:pPr algn="l" defTabSz="914400"/>
                      <a:r>
                        <a:rPr b="0" i="0" strike="noStrike" dirty="0"/>
                        <a:t>FormatObject2</a:t>
                      </a:r>
                    </a:p>
                  </a:txBody>
                  <a:tcPr horzOverflow="overflow"/>
                </a:tc>
              </a:tr>
              <a:tr h="508000">
                <a:tc>
                  <a:txBody>
                    <a:bodyPr/>
                    <a:lstStyle/>
                    <a:p>
                      <a:pPr algn="l" defTabSz="914400"/>
                      <a:r>
                        <a:rPr b="0" i="0" strike="noStrike" dirty="0"/>
                        <a:t>TableShowGridlines</a:t>
                      </a:r>
                    </a:p>
                  </a:txBody>
                  <a:tcPr horzOverflow="overflow"/>
                </a:tc>
              </a:tr>
            </a:tbl>
          </a:graphicData>
        </a:graphic>
      </p:graphicFrame>
    </p:spTree>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TableBorderPenColorPicker</a:t>
                      </a:r>
                    </a:p>
                  </a:txBody>
                  <a:tcPr horzOverflow="overflow"/>
                </a:tc>
              </a:tr>
              <a:tr h="508000">
                <a:tc>
                  <a:txBody>
                    <a:bodyPr/>
                    <a:lstStyle/>
                    <a:p>
                      <a:pPr algn="l" defTabSz="914400"/>
                      <a:r>
                        <a:rPr b="0" i="0" strike="noStrike" dirty="0"/>
                        <a:t>ShowAutoShapesAndDrawingBars</a:t>
                      </a:r>
                    </a:p>
                  </a:txBody>
                  <a:tcPr horzOverflow="overflow"/>
                </a:tc>
              </a:tr>
              <a:tr h="508000">
                <a:tc>
                  <a:txBody>
                    <a:bodyPr/>
                    <a:lstStyle/>
                    <a:p>
                      <a:pPr algn="l" defTabSz="914400"/>
                      <a:r>
                        <a:rPr b="0" i="0" strike="noStrike" dirty="0"/>
                        <a:t>ShapeStraightConnectorArrow</a:t>
                      </a:r>
                    </a:p>
                  </a:txBody>
                  <a:tcPr horzOverflow="overflow"/>
                </a:tc>
              </a:tr>
              <a:tr h="508000">
                <a:tc>
                  <a:txBody>
                    <a:bodyPr/>
                    <a:lstStyle/>
                    <a:p>
                      <a:pPr algn="l" defTabSz="914400"/>
                      <a:r>
                        <a:rPr b="0" i="0" strike="noStrike" dirty="0"/>
                        <a:t>ShapeElbowConnectorArrow</a:t>
                      </a:r>
                    </a:p>
                  </a:txBody>
                  <a:tcPr horzOverflow="overflow"/>
                </a:tc>
              </a:tr>
              <a:tr h="508000">
                <a:tc>
                  <a:txBody>
                    <a:bodyPr/>
                    <a:lstStyle/>
                    <a:p>
                      <a:pPr algn="l" defTabSz="914400"/>
                      <a:r>
                        <a:rPr b="0" i="0" strike="noStrike" dirty="0"/>
                        <a:t>SourceControlAddObjects</a:t>
                      </a:r>
                    </a:p>
                  </a:txBody>
                  <a:tcPr horzOverflow="overflow"/>
                </a:tc>
              </a:tr>
              <a:tr h="508000">
                <a:tc>
                  <a:txBody>
                    <a:bodyPr/>
                    <a:lstStyle/>
                    <a:p>
                      <a:pPr algn="l" defTabSz="914400"/>
                      <a:r>
                        <a:rPr b="0" i="0" strike="noStrike" dirty="0"/>
                        <a:t>SourceControlGetLatestVersion</a:t>
                      </a:r>
                    </a:p>
                  </a:txBody>
                  <a:tcPr horzOverflow="overflow"/>
                </a:tc>
              </a:tr>
              <a:tr h="508000">
                <a:tc>
                  <a:txBody>
                    <a:bodyPr/>
                    <a:lstStyle/>
                    <a:p>
                      <a:pPr algn="l" defTabSz="914400"/>
                      <a:r>
                        <a:rPr b="0" i="0" strike="noStrike" dirty="0"/>
                        <a:t>SourceControlCheckOut</a:t>
                      </a:r>
                    </a:p>
                  </a:txBody>
                  <a:tcPr horzOverflow="overflow"/>
                </a:tc>
              </a:tr>
              <a:tr h="508000">
                <a:tc>
                  <a:txBody>
                    <a:bodyPr/>
                    <a:lstStyle/>
                    <a:p>
                      <a:pPr algn="l" defTabSz="914400"/>
                      <a:r>
                        <a:rPr b="0" i="0" strike="noStrike" dirty="0"/>
                        <a:t>SourceControlCheckIn</a:t>
                      </a:r>
                    </a:p>
                  </a:txBody>
                  <a:tcPr horzOverflow="overflow"/>
                </a:tc>
              </a:tr>
              <a:tr h="508000">
                <a:tc>
                  <a:txBody>
                    <a:bodyPr/>
                    <a:lstStyle/>
                    <a:p>
                      <a:pPr algn="l" defTabSz="914400"/>
                      <a:r>
                        <a:rPr b="0" i="0" strike="noStrike" dirty="0"/>
                        <a:t>SourceControlUndoCheckOut</a:t>
                      </a:r>
                    </a:p>
                  </a:txBody>
                  <a:tcPr horzOverflow="overflow"/>
                </a:tc>
              </a:tr>
              <a:tr h="508000">
                <a:tc>
                  <a:txBody>
                    <a:bodyPr/>
                    <a:lstStyle/>
                    <a:p>
                      <a:pPr algn="l" defTabSz="914400"/>
                      <a:r>
                        <a:rPr b="0" i="0" strike="noStrike" dirty="0"/>
                        <a:t>SourceControlShareObjects</a:t>
                      </a:r>
                    </a:p>
                  </a:txBody>
                  <a:tcPr horzOverflow="overflow"/>
                </a:tc>
              </a:tr>
            </a:tbl>
          </a:graphicData>
        </a:graphic>
      </p:graphicFrame>
    </p:spTree>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SourceControlShowDifferences</a:t>
                      </a:r>
                    </a:p>
                  </a:txBody>
                  <a:tcPr horzOverflow="overflow"/>
                </a:tc>
              </a:tr>
              <a:tr h="508000">
                <a:tc>
                  <a:txBody>
                    <a:bodyPr/>
                    <a:lstStyle/>
                    <a:p>
                      <a:pPr algn="l" defTabSz="914400"/>
                      <a:r>
                        <a:rPr b="0" i="0" strike="noStrike" dirty="0"/>
                        <a:t>SourceControlShowHistory</a:t>
                      </a:r>
                    </a:p>
                  </a:txBody>
                  <a:tcPr horzOverflow="overflow"/>
                </a:tc>
              </a:tr>
              <a:tr h="508000">
                <a:tc>
                  <a:txBody>
                    <a:bodyPr/>
                    <a:lstStyle/>
                    <a:p>
                      <a:pPr algn="l" defTabSz="914400"/>
                      <a:r>
                        <a:rPr b="0" i="0" strike="noStrike" dirty="0"/>
                        <a:t>SourceControlRun</a:t>
                      </a:r>
                    </a:p>
                  </a:txBody>
                  <a:tcPr horzOverflow="overflow"/>
                </a:tc>
              </a:tr>
              <a:tr h="508000">
                <a:tc>
                  <a:txBody>
                    <a:bodyPr/>
                    <a:lstStyle/>
                    <a:p>
                      <a:pPr algn="l" defTabSz="914400"/>
                      <a:r>
                        <a:rPr b="0" i="0" strike="noStrike" dirty="0"/>
                        <a:t>SourceControlProperties</a:t>
                      </a:r>
                    </a:p>
                  </a:txBody>
                  <a:tcPr horzOverflow="overflow"/>
                </a:tc>
              </a:tr>
              <a:tr h="508000">
                <a:tc>
                  <a:txBody>
                    <a:bodyPr/>
                    <a:lstStyle/>
                    <a:p>
                      <a:pPr algn="l" defTabSz="914400"/>
                      <a:r>
                        <a:rPr b="0" i="0" strike="noStrike" dirty="0"/>
                        <a:t>SourceControlCreateDatabaseFromProject</a:t>
                      </a:r>
                    </a:p>
                  </a:txBody>
                  <a:tcPr horzOverflow="overflow"/>
                </a:tc>
              </a:tr>
              <a:tr h="508000">
                <a:tc>
                  <a:txBody>
                    <a:bodyPr/>
                    <a:lstStyle/>
                    <a:p>
                      <a:pPr algn="l" defTabSz="914400"/>
                      <a:r>
                        <a:rPr b="0" i="0" strike="noStrike" dirty="0"/>
                        <a:t>SourceControlAddDatabase</a:t>
                      </a:r>
                    </a:p>
                  </a:txBody>
                  <a:tcPr horzOverflow="overflow"/>
                </a:tc>
              </a:tr>
              <a:tr h="508000">
                <a:tc>
                  <a:txBody>
                    <a:bodyPr/>
                    <a:lstStyle/>
                    <a:p>
                      <a:pPr algn="l" defTabSz="914400"/>
                      <a:r>
                        <a:rPr b="0" i="0" strike="noStrike" dirty="0"/>
                        <a:t>SourceControlOptions</a:t>
                      </a:r>
                    </a:p>
                  </a:txBody>
                  <a:tcPr horzOverflow="overflow"/>
                </a:tc>
              </a:tr>
              <a:tr h="508000">
                <a:tc>
                  <a:txBody>
                    <a:bodyPr/>
                    <a:lstStyle/>
                    <a:p>
                      <a:pPr algn="l" defTabSz="914400"/>
                      <a:r>
                        <a:rPr b="0" i="0" strike="noStrike" dirty="0"/>
                        <a:t>SourceControlRefreshStatus</a:t>
                      </a:r>
                    </a:p>
                  </a:txBody>
                  <a:tcPr horzOverflow="overflow"/>
                </a:tc>
              </a:tr>
              <a:tr h="508000">
                <a:tc>
                  <a:txBody>
                    <a:bodyPr/>
                    <a:lstStyle/>
                    <a:p>
                      <a:pPr algn="l" defTabSz="914400"/>
                      <a:r>
                        <a:rPr b="0" i="0" strike="noStrike" dirty="0"/>
                        <a:t>DatabaseMoveToSharePoint</a:t>
                      </a:r>
                    </a:p>
                  </a:txBody>
                  <a:tcPr horzOverflow="overflow"/>
                </a:tc>
              </a:tr>
              <a:tr h="508000">
                <a:tc>
                  <a:txBody>
                    <a:bodyPr/>
                    <a:lstStyle/>
                    <a:p>
                      <a:pPr algn="l" defTabSz="914400"/>
                      <a:r>
                        <a:rPr b="0" i="0" strike="noStrike" dirty="0"/>
                        <a:t>NewPostInThisFolder3</a:t>
                      </a:r>
                    </a:p>
                  </a:txBody>
                  <a:tcPr horzOverflow="overflow"/>
                </a:tc>
              </a:tr>
            </a:tbl>
          </a:graphicData>
        </a:graphic>
      </p:graphicFrame>
    </p:spTree>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SlideDelete</a:t>
                      </a:r>
                    </a:p>
                  </a:txBody>
                  <a:tcPr horzOverflow="overflow"/>
                </a:tc>
              </a:tr>
              <a:tr h="508000">
                <a:tc>
                  <a:txBody>
                    <a:bodyPr/>
                    <a:lstStyle/>
                    <a:p>
                      <a:pPr algn="l" defTabSz="914400"/>
                      <a:r>
                        <a:rPr b="0" i="0" strike="noStrike" dirty="0"/>
                        <a:t>ViewHandoutMasterView</a:t>
                      </a:r>
                    </a:p>
                  </a:txBody>
                  <a:tcPr horzOverflow="overflow"/>
                </a:tc>
              </a:tr>
              <a:tr h="508000">
                <a:tc>
                  <a:txBody>
                    <a:bodyPr/>
                    <a:lstStyle/>
                    <a:p>
                      <a:pPr algn="l" defTabSz="914400"/>
                      <a:r>
                        <a:rPr b="0" i="0" strike="noStrike" dirty="0"/>
                        <a:t>ViewNotesMasterView</a:t>
                      </a:r>
                    </a:p>
                  </a:txBody>
                  <a:tcPr horzOverflow="overflow"/>
                </a:tc>
              </a:tr>
              <a:tr h="508000">
                <a:tc>
                  <a:txBody>
                    <a:bodyPr/>
                    <a:lstStyle/>
                    <a:p>
                      <a:pPr algn="l" defTabSz="914400"/>
                      <a:r>
                        <a:rPr b="0" i="0" strike="noStrike" dirty="0"/>
                        <a:t>SlidesReuseSlides</a:t>
                      </a:r>
                    </a:p>
                  </a:txBody>
                  <a:tcPr horzOverflow="overflow"/>
                </a:tc>
              </a:tr>
              <a:tr h="508000">
                <a:tc>
                  <a:txBody>
                    <a:bodyPr/>
                    <a:lstStyle/>
                    <a:p>
                      <a:pPr algn="l" defTabSz="914400"/>
                      <a:r>
                        <a:rPr b="0" i="0" strike="noStrike" dirty="0"/>
                        <a:t>SlidesFromOutline</a:t>
                      </a:r>
                    </a:p>
                  </a:txBody>
                  <a:tcPr horzOverflow="overflow"/>
                </a:tc>
              </a:tr>
              <a:tr h="508000">
                <a:tc>
                  <a:txBody>
                    <a:bodyPr/>
                    <a:lstStyle/>
                    <a:p>
                      <a:pPr algn="l" defTabSz="914400"/>
                      <a:r>
                        <a:rPr b="0" i="0" strike="noStrike" dirty="0"/>
                        <a:t>MovieFromFileInsert</a:t>
                      </a:r>
                    </a:p>
                  </a:txBody>
                  <a:tcPr horzOverflow="overflow"/>
                </a:tc>
              </a:tr>
              <a:tr h="508000">
                <a:tc>
                  <a:txBody>
                    <a:bodyPr/>
                    <a:lstStyle/>
                    <a:p>
                      <a:pPr algn="l" defTabSz="914400"/>
                      <a:r>
                        <a:rPr b="0" i="0" strike="noStrike" dirty="0"/>
                        <a:t>SoundInsertFromFile</a:t>
                      </a:r>
                    </a:p>
                  </a:txBody>
                  <a:tcPr horzOverflow="overflow"/>
                </a:tc>
              </a:tr>
              <a:tr h="508000">
                <a:tc>
                  <a:txBody>
                    <a:bodyPr/>
                    <a:lstStyle/>
                    <a:p>
                      <a:pPr algn="l" defTabSz="914400"/>
                      <a:r>
                        <a:rPr b="0" i="0" strike="noStrike" dirty="0"/>
                        <a:t>FontsReplaceFonts</a:t>
                      </a:r>
                    </a:p>
                  </a:txBody>
                  <a:tcPr horzOverflow="overflow"/>
                </a:tc>
              </a:tr>
              <a:tr h="508000">
                <a:tc>
                  <a:txBody>
                    <a:bodyPr/>
                    <a:lstStyle/>
                    <a:p>
                      <a:pPr algn="l" defTabSz="914400"/>
                      <a:r>
                        <a:rPr b="0" i="0" strike="noStrike" dirty="0"/>
                        <a:t>SpeakerNotes</a:t>
                      </a:r>
                    </a:p>
                  </a:txBody>
                  <a:tcPr horzOverflow="overflow"/>
                </a:tc>
              </a:tr>
              <a:tr h="508000">
                <a:tc>
                  <a:txBody>
                    <a:bodyPr/>
                    <a:lstStyle/>
                    <a:p>
                      <a:pPr algn="l" defTabSz="914400"/>
                      <a:r>
                        <a:rPr b="0" i="0" strike="noStrike" dirty="0"/>
                        <a:t>BlackAndWhiteAutomatic</a:t>
                      </a:r>
                    </a:p>
                  </a:txBody>
                  <a:tcPr horzOverflow="overflow"/>
                </a:tc>
              </a:tr>
            </a:tbl>
          </a:graphicData>
        </a:graphic>
      </p:graphicFrame>
    </p:spTree>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BlackAndWhiteBlack</a:t>
                      </a:r>
                    </a:p>
                  </a:txBody>
                  <a:tcPr horzOverflow="overflow"/>
                </a:tc>
              </a:tr>
              <a:tr h="508000">
                <a:tc>
                  <a:txBody>
                    <a:bodyPr/>
                    <a:lstStyle/>
                    <a:p>
                      <a:pPr algn="l" defTabSz="914400"/>
                      <a:r>
                        <a:rPr b="0" i="0" strike="noStrike" dirty="0"/>
                        <a:t>BlackAndWhiteBlackWithGrayscaleFill</a:t>
                      </a:r>
                    </a:p>
                  </a:txBody>
                  <a:tcPr horzOverflow="overflow"/>
                </a:tc>
              </a:tr>
              <a:tr h="508000">
                <a:tc>
                  <a:txBody>
                    <a:bodyPr/>
                    <a:lstStyle/>
                    <a:p>
                      <a:pPr algn="l" defTabSz="914400"/>
                      <a:r>
                        <a:rPr b="0" i="0" strike="noStrike" dirty="0"/>
                        <a:t>BlackAndWhiteBlackWithWhiteFill</a:t>
                      </a:r>
                    </a:p>
                  </a:txBody>
                  <a:tcPr horzOverflow="overflow"/>
                </a:tc>
              </a:tr>
              <a:tr h="508000">
                <a:tc>
                  <a:txBody>
                    <a:bodyPr/>
                    <a:lstStyle/>
                    <a:p>
                      <a:pPr algn="l" defTabSz="914400"/>
                      <a:r>
                        <a:rPr b="0" i="0" strike="noStrike" dirty="0"/>
                        <a:t>BlackAndWhiteDontShow</a:t>
                      </a:r>
                    </a:p>
                  </a:txBody>
                  <a:tcPr horzOverflow="overflow"/>
                </a:tc>
              </a:tr>
              <a:tr h="508000">
                <a:tc>
                  <a:txBody>
                    <a:bodyPr/>
                    <a:lstStyle/>
                    <a:p>
                      <a:pPr algn="l" defTabSz="914400"/>
                      <a:r>
                        <a:rPr b="0" i="0" strike="noStrike" dirty="0"/>
                        <a:t>BlackAndWhiteGrayWithWhiteFill</a:t>
                      </a:r>
                    </a:p>
                  </a:txBody>
                  <a:tcPr horzOverflow="overflow"/>
                </a:tc>
              </a:tr>
              <a:tr h="508000">
                <a:tc>
                  <a:txBody>
                    <a:bodyPr/>
                    <a:lstStyle/>
                    <a:p>
                      <a:pPr algn="l" defTabSz="914400"/>
                      <a:r>
                        <a:rPr b="0" i="0" strike="noStrike" dirty="0"/>
                        <a:t>BlackAndWhiteGrayscale</a:t>
                      </a:r>
                    </a:p>
                  </a:txBody>
                  <a:tcPr horzOverflow="overflow"/>
                </a:tc>
              </a:tr>
              <a:tr h="508000">
                <a:tc>
                  <a:txBody>
                    <a:bodyPr/>
                    <a:lstStyle/>
                    <a:p>
                      <a:pPr algn="l" defTabSz="914400"/>
                      <a:r>
                        <a:rPr b="0" i="0" strike="noStrike" dirty="0"/>
                        <a:t>BlackAndWhiteInverseGrayscale</a:t>
                      </a:r>
                    </a:p>
                  </a:txBody>
                  <a:tcPr horzOverflow="overflow"/>
                </a:tc>
              </a:tr>
              <a:tr h="508000">
                <a:tc>
                  <a:txBody>
                    <a:bodyPr/>
                    <a:lstStyle/>
                    <a:p>
                      <a:pPr algn="l" defTabSz="914400"/>
                      <a:r>
                        <a:rPr b="0" i="0" strike="noStrike" dirty="0"/>
                        <a:t>BlackAndWhiteWhite</a:t>
                      </a:r>
                    </a:p>
                  </a:txBody>
                  <a:tcPr horzOverflow="overflow"/>
                </a:tc>
              </a:tr>
              <a:tr h="508000">
                <a:tc>
                  <a:txBody>
                    <a:bodyPr/>
                    <a:lstStyle/>
                    <a:p>
                      <a:pPr algn="l" defTabSz="914400"/>
                      <a:r>
                        <a:rPr b="0" i="0" strike="noStrike" dirty="0"/>
                        <a:t>BlackAndWhiteLightGrayscale</a:t>
                      </a:r>
                    </a:p>
                  </a:txBody>
                  <a:tcPr horzOverflow="overflow"/>
                </a:tc>
              </a:tr>
              <a:tr h="508000">
                <a:tc>
                  <a:txBody>
                    <a:bodyPr/>
                    <a:lstStyle/>
                    <a:p>
                      <a:pPr algn="l" defTabSz="914400"/>
                      <a:r>
                        <a:rPr b="0" i="0" strike="noStrike" dirty="0"/>
                        <a:t>RecordNarration</a:t>
                      </a:r>
                    </a:p>
                  </a:txBody>
                  <a:tcPr horzOverflow="overflow"/>
                </a:tc>
              </a:tr>
            </a:tbl>
          </a:graphicData>
        </a:graphic>
      </p:graphicFrame>
    </p:spTree>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p:nvPr/>
        </p:nvGraphicFramePr>
        <p:xfrm rot="0">
          <a:off x="508000" y="508000"/>
          <a:ext cx="11176000" cy="5588000"/>
        </p:xfrm>
        <a:graphic>
          <a:graphicData uri="http://schemas.openxmlformats.org/drawingml/2006/table">
            <a:tbl>
              <a:tblPr firstRow="1" bandRow="1">
                <a:tableStyleId>{5C22544A-7EE6-4342-B048-85BDC9FD1C3A}</a:tableStyleId>
              </a:tblPr>
              <a:tblGrid>
                <a:gridCol w="11176000"/>
              </a:tblGrid>
              <a:tr h="508000">
                <a:tc>
                  <a:txBody>
                    <a:bodyPr/>
                    <a:lstStyle/>
                    <a:p>
                      <a:pPr algn="l" defTabSz="914400"/>
                      <a:r>
                        <a:rPr b="1" i="0" strike="noStrike" dirty="0"/>
                        <a:t>imageMso</a:t>
                      </a:r>
                    </a:p>
                  </a:txBody>
                  <a:tcPr horzOverflow="overflow"/>
                </a:tc>
              </a:tr>
              <a:tr h="508000">
                <a:tc>
                  <a:txBody>
                    <a:bodyPr/>
                    <a:lstStyle/>
                    <a:p>
                      <a:pPr algn="l" defTabSz="914400"/>
                      <a:r>
                        <a:rPr b="0" i="0" strike="noStrike" dirty="0"/>
                        <a:t>SlideShowSetUpDialog</a:t>
                      </a:r>
                    </a:p>
                  </a:txBody>
                  <a:tcPr horzOverflow="overflow"/>
                </a:tc>
              </a:tr>
              <a:tr h="508000">
                <a:tc>
                  <a:txBody>
                    <a:bodyPr/>
                    <a:lstStyle/>
                    <a:p>
                      <a:pPr algn="l" defTabSz="914400"/>
                      <a:r>
                        <a:rPr b="0" i="0" strike="noStrike" dirty="0"/>
                        <a:t>SummarizeSlide</a:t>
                      </a:r>
                    </a:p>
                  </a:txBody>
                  <a:tcPr horzOverflow="overflow"/>
                </a:tc>
              </a:tr>
              <a:tr h="508000">
                <a:tc>
                  <a:txBody>
                    <a:bodyPr/>
                    <a:lstStyle/>
                    <a:p>
                      <a:pPr algn="l" defTabSz="914400"/>
                      <a:r>
                        <a:rPr b="0" i="0" strike="noStrike" dirty="0"/>
                        <a:t>TextWrappingTopAndBottom</a:t>
                      </a:r>
                    </a:p>
                  </a:txBody>
                  <a:tcPr horzOverflow="overflow"/>
                </a:tc>
              </a:tr>
              <a:tr h="508000">
                <a:tc>
                  <a:txBody>
                    <a:bodyPr/>
                    <a:lstStyle/>
                    <a:p>
                      <a:pPr algn="l" defTabSz="914400"/>
                      <a:r>
                        <a:rPr b="0" i="0" strike="noStrike" dirty="0"/>
                        <a:t>TextWrappingThrough</a:t>
                      </a:r>
                    </a:p>
                  </a:txBody>
                  <a:tcPr horzOverflow="overflow"/>
                </a:tc>
              </a:tr>
              <a:tr h="508000">
                <a:tc>
                  <a:txBody>
                    <a:bodyPr/>
                    <a:lstStyle/>
                    <a:p>
                      <a:pPr algn="l" defTabSz="914400"/>
                      <a:r>
                        <a:rPr b="0" i="0" strike="noStrike" dirty="0"/>
                        <a:t>MoveToFolderMenu</a:t>
                      </a:r>
                    </a:p>
                  </a:txBody>
                  <a:tcPr horzOverflow="overflow"/>
                </a:tc>
              </a:tr>
              <a:tr h="508000">
                <a:tc>
                  <a:txBody>
                    <a:bodyPr/>
                    <a:lstStyle/>
                    <a:p>
                      <a:pPr algn="l" defTabSz="914400"/>
                      <a:r>
                        <a:rPr b="0" i="0" strike="noStrike" dirty="0"/>
                        <a:t>MacroRecordOrStop</a:t>
                      </a:r>
                    </a:p>
                  </a:txBody>
                  <a:tcPr horzOverflow="overflow"/>
                </a:tc>
              </a:tr>
              <a:tr h="508000">
                <a:tc>
                  <a:txBody>
                    <a:bodyPr/>
                    <a:lstStyle/>
                    <a:p>
                      <a:pPr algn="l" defTabSz="914400"/>
                      <a:r>
                        <a:rPr b="0" i="0" strike="noStrike" dirty="0"/>
                        <a:t>PasteAsHyperlink</a:t>
                      </a:r>
                    </a:p>
                  </a:txBody>
                  <a:tcPr horzOverflow="overflow"/>
                </a:tc>
              </a:tr>
              <a:tr h="508000">
                <a:tc>
                  <a:txBody>
                    <a:bodyPr/>
                    <a:lstStyle/>
                    <a:p>
                      <a:pPr algn="l" defTabSz="914400"/>
                      <a:r>
                        <a:rPr b="0" i="0" strike="noStrike" dirty="0"/>
                        <a:t>ParagraphDistributed</a:t>
                      </a:r>
                    </a:p>
                  </a:txBody>
                  <a:tcPr horzOverflow="overflow"/>
                </a:tc>
              </a:tr>
              <a:tr h="508000">
                <a:tc>
                  <a:txBody>
                    <a:bodyPr/>
                    <a:lstStyle/>
                    <a:p>
                      <a:pPr algn="l" defTabSz="914400"/>
                      <a:r>
                        <a:rPr b="0" i="0" strike="noStrike" dirty="0"/>
                        <a:t>HyphenationOptions</a:t>
                      </a:r>
                    </a:p>
                  </a:txBody>
                  <a:tcPr horzOverflow="overflow"/>
                </a:tc>
              </a:tr>
              <a:tr h="508000">
                <a:tc>
                  <a:txBody>
                    <a:bodyPr/>
                    <a:lstStyle/>
                    <a:p>
                      <a:pPr algn="l" defTabSz="914400"/>
                      <a:r>
                        <a:rPr b="0" i="0" strike="noStrike" dirty="0"/>
                        <a:t>TableRowsOrColumnsDistribute</a:t>
                      </a:r>
                    </a:p>
                  </a:txBody>
                  <a:tcPr horzOverflow="overflow"/>
                </a:tc>
              </a:tr>
            </a:tbl>
          </a:graphicData>
        </a:graphic>
      </p:graphicFrame>
    </p:spTree>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1280160"/>
          </a:xfrm>
          <a:prstGeom prst="rect">
            <a:avLst/>
          </a:prstGeom>
          <a:ln>
            <a:headEnd type="none"/>
            <a:tailEnd type="none"/>
          </a:ln>
        </p:spPr>
        <p:txBody>
          <a:bodyPr wrap="square">
            <a:spAutoFit/>
          </a:bodyPr>
          <a:lstStyle/>
          <a:p>
            <a:pPr algn="l" defTabSz="914400">
              <a:defRPr sz="3600" b="1" dirty="0"/>
            </a:pPr>
            <a:r>
              <a:rPr b="1" i="0" strike="noStrike" dirty="0"/>
              <a:t>Change </a:t>
            </a:r>
            <a:r>
              <a:rPr b="1" i="0" strike="noStrike" dirty="0"/>
              <a:t>Tracking </a:t>
            </a:r>
            <a:r>
              <a:rPr b="1" i="0" strike="noStrike" dirty="0"/>
              <a:t>XE </a:t>
            </a:r>
            <a:r>
              <a:rPr b="1" i="0" strike="noStrike" dirty="0"/>
              <a:t>"Change </a:t>
            </a:r>
            <a:r>
              <a:rPr b="1" i="0" strike="noStrike" dirty="0"/>
              <a:t>tracking" </a:t>
            </a:r>
            <a:r>
              <a:rPr b="1" i="0" strike="noStrike" dirty="0"/>
              <a:t> </a:t>
            </a:r>
            <a:r>
              <a:rPr b="1" i="0" strike="noStrike" dirty="0"/>
              <a:t>XE </a:t>
            </a:r>
            <a:r>
              <a:rPr b="1" i="0" strike="noStrike" dirty="0"/>
              <a:t>"Tracking </a:t>
            </a:r>
            <a:r>
              <a:rPr b="1" i="0" strike="noStrike" dirty="0"/>
              <a:t>changes"</a:t>
            </a:r>
          </a:p>
        </p:txBody>
      </p:sp>
      <p:sp>
        <p:nvSpPr>
          <p:cNvPr id="3" name="TextBox3"/>
          <p:cNvSpPr txBox="1">
            <a:spLocks noChangeArrowheads="1"/>
          </p:cNvSpPr>
          <p:nvPr/>
        </p:nvSpPr>
        <p:spPr>
          <a:xfrm rot="0">
            <a:off x="508000" y="1813560"/>
            <a:ext cx="11176000" cy="640080"/>
          </a:xfrm>
          <a:prstGeom prst="rect">
            <a:avLst/>
          </a:prstGeom>
          <a:ln>
            <a:headEnd type="none"/>
            <a:tailEnd type="none"/>
          </a:ln>
        </p:spPr>
        <p:txBody>
          <a:bodyPr wrap="square">
            <a:spAutoFit/>
          </a:bodyPr>
          <a:lstStyle/>
          <a:p>
            <a:pPr algn="l" defTabSz="914400"/>
            <a:r>
              <a:rPr b="0" i="0" strike="noStrike" dirty="0"/>
              <a:t>This </a:t>
            </a:r>
            <a:r>
              <a:rPr b="0" i="0" strike="noStrike" dirty="0"/>
              <a:t>section </a:t>
            </a:r>
            <a:r>
              <a:rPr b="0" i="0" strike="noStrike" dirty="0"/>
              <a:t>identifies </a:t>
            </a:r>
            <a:r>
              <a:rPr b="0" i="0" strike="noStrike" dirty="0"/>
              <a:t>changes </a:t>
            </a:r>
            <a:r>
              <a:rPr b="0" i="0" strike="noStrike" dirty="0"/>
              <a:t>that </a:t>
            </a:r>
            <a:r>
              <a:rPr b="0" i="0" strike="noStrike" dirty="0"/>
              <a:t>were </a:t>
            </a:r>
            <a:r>
              <a:rPr b="0" i="0" strike="noStrike" dirty="0"/>
              <a:t>made </a:t>
            </a:r>
            <a:r>
              <a:rPr b="0" i="0" strike="noStrike" dirty="0"/>
              <a:t>to </a:t>
            </a:r>
            <a:r>
              <a:rPr b="0" i="0" strike="noStrike" dirty="0"/>
              <a:t>this </a:t>
            </a:r>
            <a:r>
              <a:rPr b="0" i="0" strike="noStrike" dirty="0"/>
              <a:t>document </a:t>
            </a:r>
            <a:r>
              <a:rPr b="0" i="0" strike="noStrike" dirty="0"/>
              <a:t>since </a:t>
            </a:r>
            <a:r>
              <a:rPr b="0" i="0" strike="noStrike" dirty="0"/>
              <a:t>the </a:t>
            </a:r>
            <a:r>
              <a:rPr b="0" i="0" strike="noStrike" dirty="0"/>
              <a:t>last </a:t>
            </a:r>
            <a:r>
              <a:rPr b="0" i="0" strike="noStrike" dirty="0"/>
              <a:t>release. </a:t>
            </a:r>
            <a:r>
              <a:rPr b="0" i="0" strike="noStrike" dirty="0"/>
              <a:t>Changes </a:t>
            </a:r>
            <a:r>
              <a:rPr b="0" i="0" strike="noStrike" dirty="0"/>
              <a:t>are </a:t>
            </a:r>
            <a:r>
              <a:rPr b="0" i="0" strike="noStrike" dirty="0"/>
              <a:t>classified </a:t>
            </a:r>
            <a:r>
              <a:rPr b="0" i="0" strike="noStrike" dirty="0"/>
              <a:t>as </a:t>
            </a:r>
            <a:r>
              <a:rPr b="0" i="0" strike="noStrike" dirty="0"/>
              <a:t>Major, </a:t>
            </a:r>
            <a:r>
              <a:rPr b="0" i="0" strike="noStrike" dirty="0"/>
              <a:t>Minor, </a:t>
            </a:r>
            <a:r>
              <a:rPr b="0" i="0" strike="noStrike" dirty="0"/>
              <a:t>or </a:t>
            </a:r>
            <a:r>
              <a:rPr b="0" i="0" strike="noStrike" dirty="0"/>
              <a:t>None. </a:t>
            </a:r>
          </a:p>
        </p:txBody>
      </p:sp>
      <p:sp>
        <p:nvSpPr>
          <p:cNvPr id="4" name="TextBox4"/>
          <p:cNvSpPr txBox="1">
            <a:spLocks noChangeArrowheads="1"/>
          </p:cNvSpPr>
          <p:nvPr/>
        </p:nvSpPr>
        <p:spPr>
          <a:xfrm rot="0">
            <a:off x="508000" y="2479040"/>
            <a:ext cx="11176000" cy="960120"/>
          </a:xfrm>
          <a:prstGeom prst="rect">
            <a:avLst/>
          </a:prstGeom>
          <a:ln>
            <a:headEnd type="none"/>
            <a:tailEnd type="none"/>
          </a:ln>
        </p:spPr>
        <p:txBody>
          <a:bodyPr wrap="square">
            <a:spAutoFit/>
          </a:bodyPr>
          <a:lstStyle/>
          <a:p>
            <a:pPr algn="l" defTabSz="914400"/>
            <a:r>
              <a:rPr b="0" i="0" strike="noStrike" dirty="0"/>
              <a:t>The </a:t>
            </a:r>
            <a:r>
              <a:rPr b="0" i="0" strike="noStrike" dirty="0"/>
              <a:t>revision </a:t>
            </a:r>
            <a:r>
              <a:rPr b="0" i="0" strike="noStrike" dirty="0"/>
              <a:t>class </a:t>
            </a:r>
            <a:r>
              <a:rPr b="1" i="0" strike="noStrike" dirty="0"/>
              <a:t>Major</a:t>
            </a:r>
            <a:r>
              <a:rPr b="0" i="0" strike="noStrike" dirty="0"/>
              <a:t> </a:t>
            </a:r>
            <a:r>
              <a:rPr b="0" i="0" strike="noStrike" dirty="0"/>
              <a:t>means </a:t>
            </a:r>
            <a:r>
              <a:rPr b="0" i="0" strike="noStrike" dirty="0"/>
              <a:t>that </a:t>
            </a:r>
            <a:r>
              <a:rPr b="0" i="0" strike="noStrike" dirty="0"/>
              <a:t>the </a:t>
            </a:r>
            <a:r>
              <a:rPr b="0" i="0" strike="noStrike" dirty="0"/>
              <a:t>technical </a:t>
            </a:r>
            <a:r>
              <a:rPr b="0" i="0" strike="noStrike" dirty="0"/>
              <a:t>content </a:t>
            </a:r>
            <a:r>
              <a:rPr b="0" i="0" strike="noStrike" dirty="0"/>
              <a:t>in </a:t>
            </a:r>
            <a:r>
              <a:rPr b="0" i="0" strike="noStrike" dirty="0"/>
              <a:t>the </a:t>
            </a:r>
            <a:r>
              <a:rPr b="0" i="0" strike="noStrike" dirty="0"/>
              <a:t>document </a:t>
            </a:r>
            <a:r>
              <a:rPr b="0" i="0" strike="noStrike" dirty="0"/>
              <a:t>was </a:t>
            </a:r>
            <a:r>
              <a:rPr b="0" i="0" strike="noStrike" dirty="0"/>
              <a:t>significantly </a:t>
            </a:r>
            <a:r>
              <a:rPr b="0" i="0" strike="noStrike" dirty="0"/>
              <a:t>revised. </a:t>
            </a:r>
            <a:r>
              <a:rPr b="0" i="0" strike="noStrike" dirty="0"/>
              <a:t>Major </a:t>
            </a:r>
            <a:r>
              <a:rPr b="0" i="0" strike="noStrike" dirty="0"/>
              <a:t>changes </a:t>
            </a:r>
            <a:r>
              <a:rPr b="0" i="0" strike="noStrike" dirty="0"/>
              <a:t>affect </a:t>
            </a:r>
            <a:r>
              <a:rPr b="0" i="0" strike="noStrike" dirty="0"/>
              <a:t>protocol </a:t>
            </a:r>
            <a:r>
              <a:rPr b="0" i="0" strike="noStrike" dirty="0"/>
              <a:t>interoperability </a:t>
            </a:r>
            <a:r>
              <a:rPr b="0" i="0" strike="noStrike" dirty="0"/>
              <a:t>or </a:t>
            </a:r>
            <a:r>
              <a:rPr b="0" i="0" strike="noStrike" dirty="0"/>
              <a:t>implementation. </a:t>
            </a:r>
            <a:r>
              <a:rPr b="0" i="0" strike="noStrike" dirty="0"/>
              <a:t>Examples </a:t>
            </a:r>
            <a:r>
              <a:rPr b="0" i="0" strike="noStrike" dirty="0"/>
              <a:t>of </a:t>
            </a:r>
            <a:r>
              <a:rPr b="0" i="0" strike="noStrike" dirty="0"/>
              <a:t>major </a:t>
            </a:r>
            <a:r>
              <a:rPr b="0" i="0" strike="noStrike" dirty="0"/>
              <a:t>changes </a:t>
            </a:r>
            <a:r>
              <a:rPr b="0" i="0" strike="noStrike" dirty="0"/>
              <a:t>are:</a:t>
            </a:r>
          </a:p>
        </p:txBody>
      </p:sp>
      <p:sp>
        <p:nvSpPr>
          <p:cNvPr id="5" name="TextBox5"/>
          <p:cNvSpPr txBox="1">
            <a:spLocks noChangeArrowheads="1"/>
          </p:cNvSpPr>
          <p:nvPr/>
        </p:nvSpPr>
        <p:spPr>
          <a:xfrm rot="0">
            <a:off x="508000" y="3464560"/>
            <a:ext cx="11176000" cy="320040"/>
          </a:xfrm>
          <a:prstGeom prst="rect">
            <a:avLst/>
          </a:prstGeom>
          <a:ln>
            <a:headEnd type="none"/>
            <a:tailEnd type="none"/>
          </a:ln>
        </p:spPr>
        <p:txBody>
          <a:bodyPr wrap="square">
            <a:spAutoFit/>
          </a:bodyPr>
          <a:lstStyle/>
          <a:p>
            <a:pPr lvl="1" indent="283464" algn="l" defTabSz="914400">
              <a:buChar char="•"/>
            </a:pPr>
            <a:r>
              <a:rPr b="0" i="0" strike="noStrike" dirty="0"/>
              <a:t>A </a:t>
            </a:r>
            <a:r>
              <a:rPr b="0" i="0" strike="noStrike" dirty="0"/>
              <a:t>document </a:t>
            </a:r>
            <a:r>
              <a:rPr b="0" i="0" strike="noStrike" dirty="0"/>
              <a:t>revision </a:t>
            </a:r>
            <a:r>
              <a:rPr b="0" i="0" strike="noStrike" dirty="0"/>
              <a:t>that </a:t>
            </a:r>
            <a:r>
              <a:rPr b="0" i="0" strike="noStrike" dirty="0"/>
              <a:t>incorporates </a:t>
            </a:r>
            <a:r>
              <a:rPr b="0" i="0" strike="noStrike" dirty="0"/>
              <a:t>changes </a:t>
            </a:r>
            <a:r>
              <a:rPr b="0" i="0" strike="noStrike" dirty="0"/>
              <a:t>to </a:t>
            </a:r>
            <a:r>
              <a:rPr b="0" i="0" strike="noStrike" dirty="0"/>
              <a:t>interoperability </a:t>
            </a:r>
            <a:r>
              <a:rPr b="0" i="0" strike="noStrike" dirty="0"/>
              <a:t>requirements.</a:t>
            </a:r>
          </a:p>
        </p:txBody>
      </p:sp>
      <p:sp>
        <p:nvSpPr>
          <p:cNvPr id="6" name="TextBox6"/>
          <p:cNvSpPr txBox="1">
            <a:spLocks noChangeArrowheads="1"/>
          </p:cNvSpPr>
          <p:nvPr/>
        </p:nvSpPr>
        <p:spPr>
          <a:xfrm rot="0">
            <a:off x="508000" y="3810000"/>
            <a:ext cx="11176000" cy="320040"/>
          </a:xfrm>
          <a:prstGeom prst="rect">
            <a:avLst/>
          </a:prstGeom>
          <a:ln>
            <a:headEnd type="none"/>
            <a:tailEnd type="none"/>
          </a:ln>
        </p:spPr>
        <p:txBody>
          <a:bodyPr wrap="square">
            <a:spAutoFit/>
          </a:bodyPr>
          <a:lstStyle/>
          <a:p>
            <a:pPr lvl="1" indent="283464" algn="l" defTabSz="914400">
              <a:buChar char="•"/>
            </a:pPr>
            <a:r>
              <a:rPr b="0" i="0" strike="noStrike" dirty="0"/>
              <a:t>A </a:t>
            </a:r>
            <a:r>
              <a:rPr b="0" i="0" strike="noStrike" dirty="0"/>
              <a:t>document </a:t>
            </a:r>
            <a:r>
              <a:rPr b="0" i="0" strike="noStrike" dirty="0"/>
              <a:t>revision </a:t>
            </a:r>
            <a:r>
              <a:rPr b="0" i="0" strike="noStrike" dirty="0"/>
              <a:t>that </a:t>
            </a:r>
            <a:r>
              <a:rPr b="0" i="0" strike="noStrike" dirty="0"/>
              <a:t>captures </a:t>
            </a:r>
            <a:r>
              <a:rPr b="0" i="0" strike="noStrike" dirty="0"/>
              <a:t>changes </a:t>
            </a:r>
            <a:r>
              <a:rPr b="0" i="0" strike="noStrike" dirty="0"/>
              <a:t>to </a:t>
            </a:r>
            <a:r>
              <a:rPr b="0" i="0" strike="noStrike" dirty="0"/>
              <a:t>protocol </a:t>
            </a:r>
            <a:r>
              <a:rPr b="0" i="0" strike="noStrike" dirty="0"/>
              <a:t>functionality.</a:t>
            </a:r>
          </a:p>
        </p:txBody>
      </p:sp>
      <p:sp>
        <p:nvSpPr>
          <p:cNvPr id="7" name="TextBox7"/>
          <p:cNvSpPr txBox="1">
            <a:spLocks noChangeArrowheads="1"/>
          </p:cNvSpPr>
          <p:nvPr/>
        </p:nvSpPr>
        <p:spPr>
          <a:xfrm rot="0">
            <a:off x="508000" y="4155440"/>
            <a:ext cx="11176000" cy="960120"/>
          </a:xfrm>
          <a:prstGeom prst="rect">
            <a:avLst/>
          </a:prstGeom>
          <a:ln>
            <a:headEnd type="none"/>
            <a:tailEnd type="none"/>
          </a:ln>
        </p:spPr>
        <p:txBody>
          <a:bodyPr wrap="square">
            <a:spAutoFit/>
          </a:bodyPr>
          <a:lstStyle/>
          <a:p>
            <a:pPr algn="l" defTabSz="914400"/>
            <a:r>
              <a:rPr b="0" i="0" strike="noStrike" dirty="0"/>
              <a:t>The </a:t>
            </a:r>
            <a:r>
              <a:rPr b="0" i="0" strike="noStrike" dirty="0"/>
              <a:t>revision </a:t>
            </a:r>
            <a:r>
              <a:rPr b="0" i="0" strike="noStrike" dirty="0"/>
              <a:t>class </a:t>
            </a:r>
            <a:r>
              <a:rPr b="1" i="0" strike="noStrike" dirty="0"/>
              <a:t>Minor</a:t>
            </a:r>
            <a:r>
              <a:rPr b="0" i="0" strike="noStrike" dirty="0"/>
              <a:t> </a:t>
            </a:r>
            <a:r>
              <a:rPr b="0" i="0" strike="noStrike" dirty="0"/>
              <a:t>means </a:t>
            </a:r>
            <a:r>
              <a:rPr b="0" i="0" strike="noStrike" dirty="0"/>
              <a:t>that </a:t>
            </a:r>
            <a:r>
              <a:rPr b="0" i="0" strike="noStrike" dirty="0"/>
              <a:t>the </a:t>
            </a:r>
            <a:r>
              <a:rPr b="0" i="0" strike="noStrike" dirty="0"/>
              <a:t>meaning </a:t>
            </a:r>
            <a:r>
              <a:rPr b="0" i="0" strike="noStrike" dirty="0"/>
              <a:t>of </a:t>
            </a:r>
            <a:r>
              <a:rPr b="0" i="0" strike="noStrike" dirty="0"/>
              <a:t>the </a:t>
            </a:r>
            <a:r>
              <a:rPr b="0" i="0" strike="noStrike" dirty="0"/>
              <a:t>technical </a:t>
            </a:r>
            <a:r>
              <a:rPr b="0" i="0" strike="noStrike" dirty="0"/>
              <a:t>content </a:t>
            </a:r>
            <a:r>
              <a:rPr b="0" i="0" strike="noStrike" dirty="0"/>
              <a:t>was </a:t>
            </a:r>
            <a:r>
              <a:rPr b="0" i="0" strike="noStrike" dirty="0"/>
              <a:t>clarified. </a:t>
            </a:r>
            <a:r>
              <a:rPr b="0" i="0" strike="noStrike" dirty="0"/>
              <a:t>Minor </a:t>
            </a:r>
            <a:r>
              <a:rPr b="0" i="0" strike="noStrike" dirty="0"/>
              <a:t>changes </a:t>
            </a:r>
            <a:r>
              <a:rPr b="0" i="0" strike="noStrike" dirty="0"/>
              <a:t>do </a:t>
            </a:r>
            <a:r>
              <a:rPr b="0" i="0" strike="noStrike" dirty="0"/>
              <a:t>not </a:t>
            </a:r>
            <a:r>
              <a:rPr b="0" i="0" strike="noStrike" dirty="0"/>
              <a:t>affect </a:t>
            </a:r>
            <a:r>
              <a:rPr b="0" i="0" strike="noStrike" dirty="0"/>
              <a:t>protocol </a:t>
            </a:r>
            <a:r>
              <a:rPr b="0" i="0" strike="noStrike" dirty="0"/>
              <a:t>interoperability </a:t>
            </a:r>
            <a:r>
              <a:rPr b="0" i="0" strike="noStrike" dirty="0"/>
              <a:t>or </a:t>
            </a:r>
            <a:r>
              <a:rPr b="0" i="0" strike="noStrike" dirty="0"/>
              <a:t>implementation. </a:t>
            </a:r>
            <a:r>
              <a:rPr b="0" i="0" strike="noStrike" dirty="0"/>
              <a:t>Examples </a:t>
            </a:r>
            <a:r>
              <a:rPr b="0" i="0" strike="noStrike" dirty="0"/>
              <a:t>of </a:t>
            </a:r>
            <a:r>
              <a:rPr b="0" i="0" strike="noStrike" dirty="0"/>
              <a:t>minor </a:t>
            </a:r>
            <a:r>
              <a:rPr b="0" i="0" strike="noStrike" dirty="0"/>
              <a:t>changes </a:t>
            </a:r>
            <a:r>
              <a:rPr b="0" i="0" strike="noStrike" dirty="0"/>
              <a:t>are </a:t>
            </a:r>
            <a:r>
              <a:rPr b="0" i="0" strike="noStrike" dirty="0"/>
              <a:t>updates </a:t>
            </a:r>
            <a:r>
              <a:rPr b="0" i="0" strike="noStrike" dirty="0"/>
              <a:t>to </a:t>
            </a:r>
            <a:r>
              <a:rPr b="0" i="0" strike="noStrike" dirty="0"/>
              <a:t>clarify </a:t>
            </a:r>
            <a:r>
              <a:rPr b="0" i="0" strike="noStrike" dirty="0"/>
              <a:t>ambiguity </a:t>
            </a:r>
            <a:r>
              <a:rPr b="0" i="0" strike="noStrike" dirty="0"/>
              <a:t>at </a:t>
            </a:r>
            <a:r>
              <a:rPr b="0" i="0" strike="noStrike" dirty="0"/>
              <a:t>the </a:t>
            </a:r>
            <a:r>
              <a:rPr b="0" i="0" strike="noStrike" dirty="0"/>
              <a:t>sentence, </a:t>
            </a:r>
            <a:r>
              <a:rPr b="0" i="0" strike="noStrike" dirty="0"/>
              <a:t>paragraph, </a:t>
            </a:r>
            <a:r>
              <a:rPr b="0" i="0" strike="noStrike" dirty="0"/>
              <a:t>or </a:t>
            </a:r>
            <a:r>
              <a:rPr b="0" i="0" strike="noStrike" dirty="0"/>
              <a:t>table </a:t>
            </a:r>
            <a:r>
              <a:rPr b="0" i="0" strike="noStrike" dirty="0"/>
              <a:t>level.</a:t>
            </a:r>
          </a:p>
        </p:txBody>
      </p:sp>
      <p:sp>
        <p:nvSpPr>
          <p:cNvPr id="8" name="TextBox8"/>
          <p:cNvSpPr txBox="1">
            <a:spLocks noChangeArrowheads="1"/>
          </p:cNvSpPr>
          <p:nvPr/>
        </p:nvSpPr>
        <p:spPr>
          <a:xfrm rot="0">
            <a:off x="508000" y="5140960"/>
            <a:ext cx="11176000" cy="960120"/>
          </a:xfrm>
          <a:prstGeom prst="rect">
            <a:avLst/>
          </a:prstGeom>
          <a:ln>
            <a:headEnd type="none"/>
            <a:tailEnd type="none"/>
          </a:ln>
        </p:spPr>
        <p:txBody>
          <a:bodyPr wrap="square">
            <a:spAutoFit/>
          </a:bodyPr>
          <a:lstStyle/>
          <a:p>
            <a:pPr algn="l" defTabSz="914400"/>
            <a:r>
              <a:rPr b="0" i="0" strike="noStrike" dirty="0"/>
              <a:t>The </a:t>
            </a:r>
            <a:r>
              <a:rPr b="0" i="0" strike="noStrike" dirty="0"/>
              <a:t>revision </a:t>
            </a:r>
            <a:r>
              <a:rPr b="0" i="0" strike="noStrike" dirty="0"/>
              <a:t>class </a:t>
            </a:r>
            <a:r>
              <a:rPr b="1" i="0" strike="noStrike" dirty="0"/>
              <a:t>None</a:t>
            </a:r>
            <a:r>
              <a:rPr b="0" i="0" strike="noStrike" dirty="0"/>
              <a:t> </a:t>
            </a:r>
            <a:r>
              <a:rPr b="0" i="0" strike="noStrike" dirty="0"/>
              <a:t>means </a:t>
            </a:r>
            <a:r>
              <a:rPr b="0" i="0" strike="noStrike" dirty="0"/>
              <a:t>that </a:t>
            </a:r>
            <a:r>
              <a:rPr b="0" i="0" strike="noStrike" dirty="0"/>
              <a:t>no </a:t>
            </a:r>
            <a:r>
              <a:rPr b="0" i="0" strike="noStrike" dirty="0"/>
              <a:t>new </a:t>
            </a:r>
            <a:r>
              <a:rPr b="0" i="0" strike="noStrike" dirty="0"/>
              <a:t>technical </a:t>
            </a:r>
            <a:r>
              <a:rPr b="0" i="0" strike="noStrike" dirty="0"/>
              <a:t>changes </a:t>
            </a:r>
            <a:r>
              <a:rPr b="0" i="0" strike="noStrike" dirty="0"/>
              <a:t>were </a:t>
            </a:r>
            <a:r>
              <a:rPr b="0" i="0" strike="noStrike" dirty="0"/>
              <a:t>introduced. </a:t>
            </a:r>
            <a:r>
              <a:rPr b="0" i="0" strike="noStrike" dirty="0"/>
              <a:t>Minor </a:t>
            </a:r>
            <a:r>
              <a:rPr b="0" i="0" strike="noStrike" dirty="0"/>
              <a:t>editorial </a:t>
            </a:r>
            <a:r>
              <a:rPr b="0" i="0" strike="noStrike" dirty="0"/>
              <a:t>and </a:t>
            </a:r>
            <a:r>
              <a:rPr b="0" i="0" strike="noStrike" dirty="0"/>
              <a:t>formatting </a:t>
            </a:r>
            <a:r>
              <a:rPr b="0" i="0" strike="noStrike" dirty="0"/>
              <a:t>changes </a:t>
            </a:r>
            <a:r>
              <a:rPr b="0" i="0" strike="noStrike" dirty="0"/>
              <a:t>may </a:t>
            </a:r>
            <a:r>
              <a:rPr b="0" i="0" strike="noStrike" dirty="0"/>
              <a:t>have </a:t>
            </a:r>
            <a:r>
              <a:rPr b="0" i="0" strike="noStrike" dirty="0"/>
              <a:t>been </a:t>
            </a:r>
            <a:r>
              <a:rPr b="0" i="0" strike="noStrike" dirty="0"/>
              <a:t>made, </a:t>
            </a:r>
            <a:r>
              <a:rPr b="0" i="0" strike="noStrike" dirty="0"/>
              <a:t>but </a:t>
            </a:r>
            <a:r>
              <a:rPr b="0" i="0" strike="noStrike" dirty="0"/>
              <a:t>the </a:t>
            </a:r>
            <a:r>
              <a:rPr b="0" i="0" strike="noStrike" dirty="0"/>
              <a:t>relevant </a:t>
            </a:r>
            <a:r>
              <a:rPr b="0" i="0" strike="noStrike" dirty="0"/>
              <a:t>technical </a:t>
            </a:r>
            <a:r>
              <a:rPr b="0" i="0" strike="noStrike" dirty="0"/>
              <a:t>content </a:t>
            </a:r>
            <a:r>
              <a:rPr b="0" i="0" strike="noStrike" dirty="0"/>
              <a:t>is </a:t>
            </a:r>
            <a:r>
              <a:rPr b="0" i="0" strike="noStrike" dirty="0"/>
              <a:t>identical </a:t>
            </a:r>
            <a:r>
              <a:rPr b="0" i="0" strike="noStrike" dirty="0"/>
              <a:t>to </a:t>
            </a:r>
            <a:r>
              <a:rPr b="0" i="0" strike="noStrike" dirty="0"/>
              <a:t>the </a:t>
            </a:r>
            <a:r>
              <a:rPr b="0" i="0" strike="noStrike" dirty="0"/>
              <a:t>last </a:t>
            </a:r>
            <a:r>
              <a:rPr b="0" i="0" strike="noStrike" dirty="0"/>
              <a:t>released </a:t>
            </a:r>
            <a:r>
              <a:rPr b="0" i="0" strike="noStrike" dirty="0"/>
              <a:t>version.</a:t>
            </a:r>
          </a:p>
        </p:txBody>
      </p:sp>
    </p:spTree>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b="0" i="0" strike="noStrike" dirty="0"/>
              <a:t>The </a:t>
            </a:r>
            <a:r>
              <a:rPr b="0" i="0" strike="noStrike" dirty="0"/>
              <a:t>changes </a:t>
            </a:r>
            <a:r>
              <a:rPr b="0" i="0" strike="noStrike" dirty="0"/>
              <a:t>made </a:t>
            </a:r>
            <a:r>
              <a:rPr b="0" i="0" strike="noStrike" dirty="0"/>
              <a:t>to </a:t>
            </a:r>
            <a:r>
              <a:rPr b="0" i="0" strike="noStrike" dirty="0"/>
              <a:t>this </a:t>
            </a:r>
            <a:r>
              <a:rPr b="0" i="0" strike="noStrike" dirty="0"/>
              <a:t>document </a:t>
            </a:r>
            <a:r>
              <a:rPr b="0" i="0" strike="noStrike" dirty="0"/>
              <a:t>are </a:t>
            </a:r>
            <a:r>
              <a:rPr b="0" i="0" strike="noStrike" dirty="0"/>
              <a:t>listed </a:t>
            </a:r>
            <a:r>
              <a:rPr b="0" i="0" strike="noStrike" dirty="0"/>
              <a:t>in </a:t>
            </a:r>
            <a:r>
              <a:rPr b="0" i="0" strike="noStrike" dirty="0"/>
              <a:t>the </a:t>
            </a:r>
            <a:r>
              <a:rPr b="0" i="0" strike="noStrike" dirty="0"/>
              <a:t>following </a:t>
            </a:r>
            <a:r>
              <a:rPr b="0" i="0" strike="noStrike" dirty="0"/>
              <a:t>table. </a:t>
            </a:r>
            <a:r>
              <a:rPr b="0" i="0" strike="noStrike" dirty="0"/>
              <a:t>For </a:t>
            </a:r>
            <a:r>
              <a:rPr b="0" i="0" strike="noStrike" dirty="0"/>
              <a:t>more </a:t>
            </a:r>
            <a:r>
              <a:rPr b="0" i="0" strike="noStrike" dirty="0"/>
              <a:t>information, </a:t>
            </a:r>
            <a:r>
              <a:rPr b="0" i="0" strike="noStrike" dirty="0"/>
              <a:t>please </a:t>
            </a:r>
            <a:r>
              <a:rPr b="0" i="0" strike="noStrike" dirty="0"/>
              <a:t>contact </a:t>
            </a:r>
            <a:r>
              <a:rPr>
                <a:hlinkClick r:id="rId2" action="ppaction://hlinkfile"/>
              </a:rPr>
              <a:t>dochelp@microsoft.com</a:t>
            </a:r>
            <a:r>
              <a:rPr b="0" i="0" strike="noStrike" dirty="0"/>
              <a:t>.</a:t>
            </a:r>
          </a:p>
        </p:txBody>
      </p:sp>
      <p:graphicFrame>
        <p:nvGraphicFramePr>
          <p:cNvPr id="3" name="Table 3"/>
          <p:cNvGraphicFramePr/>
          <p:nvPr/>
        </p:nvGraphicFramePr>
        <p:xfrm rot="0">
          <a:off x="508000" y="1173480"/>
          <a:ext cx="11176000" cy="1016000"/>
        </p:xfrm>
        <a:graphic>
          <a:graphicData uri="http://schemas.openxmlformats.org/drawingml/2006/table">
            <a:tbl>
              <a:tblPr firstRow="1" bandRow="1">
                <a:tableStyleId>{5C22544A-7EE6-4342-B048-85BDC9FD1C3A}</a:tableStyleId>
              </a:tblPr>
              <a:tblGrid>
                <a:gridCol w="3721100"/>
                <a:gridCol w="3721100"/>
                <a:gridCol w="3721100"/>
              </a:tblGrid>
              <a:tr h="508000">
                <a:tc>
                  <a:txBody>
                    <a:bodyPr/>
                    <a:lstStyle/>
                    <a:p>
                      <a:pPr algn="l" defTabSz="914400"/>
                      <a:r>
                        <a:rPr b="1" i="0" strike="noStrike" dirty="0"/>
                        <a:t>Section</a:t>
                      </a:r>
                    </a:p>
                  </a:txBody>
                  <a:tcPr horzOverflow="overflow"/>
                </a:tc>
                <a:tc>
                  <a:txBody>
                    <a:bodyPr/>
                    <a:lstStyle/>
                    <a:p>
                      <a:pPr algn="l" defTabSz="914400"/>
                      <a:r>
                        <a:rPr b="1" i="0" strike="noStrike" dirty="0"/>
                        <a:t>Description</a:t>
                      </a:r>
                    </a:p>
                  </a:txBody>
                  <a:tcPr horzOverflow="overflow"/>
                </a:tc>
                <a:tc>
                  <a:txBody>
                    <a:bodyPr/>
                    <a:lstStyle/>
                    <a:p>
                      <a:pPr algn="l" defTabSz="914400"/>
                      <a:r>
                        <a:rPr b="1" i="0" strike="noStrike" dirty="0"/>
                        <a:t>Revision class</a:t>
                      </a:r>
                    </a:p>
                  </a:txBody>
                  <a:tcPr horzOverflow="overflow"/>
                </a:tc>
              </a:tr>
              <a:tr h="508000">
                <a:tc>
                  <a:txBody>
                    <a:bodyPr/>
                    <a:lstStyle/>
                    <a:p>
                      <a:pPr algn="l" defTabSz="914400"/>
                      <a:r>
                        <a:rPr dirty="0"/>
                        <a:t>4</a:t>
                      </a:r>
                    </a:p>
                    <a:p>
                      <a:pPr defTabSz="914400"/>
                      <a:r>
                        <a:rPr b="0" i="0" strike="noStrike" dirty="0"/>
                        <a:t> Appendix B: Product Behavior</a:t>
                      </a:r>
                      <a:endParaRPr dirty="0"/>
                    </a:p>
                  </a:txBody>
                  <a:tcPr horzOverflow="overflow"/>
                </a:tc>
                <a:tc>
                  <a:txBody>
                    <a:bodyPr/>
                    <a:lstStyle/>
                    <a:p>
                      <a:pPr algn="l" defTabSz="914400"/>
                      <a:r>
                        <a:rPr b="0" i="0" strike="noStrike" dirty="0"/>
                        <a:t>Updated list of supported products.</a:t>
                      </a:r>
                    </a:p>
                  </a:txBody>
                  <a:tcPr horzOverflow="overflow"/>
                </a:tc>
                <a:tc>
                  <a:txBody>
                    <a:bodyPr/>
                    <a:lstStyle/>
                    <a:p>
                      <a:pPr algn="l" defTabSz="914400"/>
                      <a:r>
                        <a:rPr b="0" i="0" strike="noStrike" dirty="0"/>
                        <a:t>major</a:t>
                      </a:r>
                    </a:p>
                  </a:txBody>
                  <a:tcPr horzOverflow="overflow"/>
                </a:tc>
              </a:tr>
            </a:tbl>
          </a:graphicData>
        </a:graphic>
      </p:graphicFrame>
      <p:sp>
        <p:nvSpPr>
          <p:cNvPr id="4" name="TextBox4"/>
          <p:cNvSpPr txBox="1">
            <a:spLocks noChangeArrowheads="1"/>
          </p:cNvSpPr>
          <p:nvPr/>
        </p:nvSpPr>
        <p:spPr>
          <a:xfrm rot="0">
            <a:off x="508000" y="2240280"/>
            <a:ext cx="11176000" cy="640080"/>
          </a:xfrm>
          <a:prstGeom prst="rect">
            <a:avLst/>
          </a:prstGeom>
          <a:ln>
            <a:headEnd type="none"/>
            <a:tailEnd type="none"/>
          </a:ln>
        </p:spPr>
        <p:txBody>
          <a:bodyPr wrap="square">
            <a:spAutoFit/>
          </a:bodyPr>
          <a:lstStyle/>
          <a:p>
            <a:pPr algn="l" defTabSz="914400">
              <a:defRPr sz="3600" b="1" dirty="0"/>
            </a:pPr>
            <a:r>
              <a:rPr b="1" i="0" strike="noStrike" dirty="0"/>
              <a:t>Index</a:t>
            </a:r>
          </a:p>
        </p:txBody>
      </p:sp>
      <p:sp>
        <p:nvSpPr>
          <p:cNvPr id="5" name="TextBox5"/>
          <p:cNvSpPr txBox="1">
            <a:spLocks noChangeArrowheads="1"/>
          </p:cNvSpPr>
          <p:nvPr/>
        </p:nvSpPr>
        <p:spPr>
          <a:xfrm rot="0">
            <a:off x="508000" y="2905760"/>
            <a:ext cx="11176000" cy="320040"/>
          </a:xfrm>
          <a:prstGeom prst="rect">
            <a:avLst/>
          </a:prstGeom>
          <a:ln>
            <a:headEnd type="none"/>
            <a:tailEnd type="none"/>
          </a:ln>
        </p:spPr>
        <p:txBody>
          <a:bodyPr wrap="square">
            <a:spAutoFit/>
          </a:bodyPr>
          <a:lstStyle/>
          <a:p>
            <a:pPr algn="l" defTabSz="914400"/>
            <a:r>
              <a:rPr b="1" i="1" strike="noStrike" dirty="0"/>
              <a:t>C</a:t>
            </a:r>
          </a:p>
        </p:txBody>
      </p:sp>
      <p:sp>
        <p:nvSpPr>
          <p:cNvPr id="6" name="TextBox6"/>
          <p:cNvSpPr txBox="1">
            <a:spLocks noChangeArrowheads="1"/>
          </p:cNvSpPr>
          <p:nvPr/>
        </p:nvSpPr>
        <p:spPr>
          <a:xfrm rot="0">
            <a:off x="508000" y="3251200"/>
            <a:ext cx="11176000" cy="320040"/>
          </a:xfrm>
          <a:prstGeom prst="rect">
            <a:avLst/>
          </a:prstGeom>
          <a:ln>
            <a:headEnd type="none"/>
            <a:tailEnd type="none"/>
          </a:ln>
        </p:spPr>
        <p:txBody>
          <a:bodyPr wrap="square">
            <a:spAutoFit/>
          </a:bodyPr>
          <a:lstStyle/>
          <a:p>
            <a:pPr algn="l" defTabSz="914400"/>
            <a:r>
              <a:rPr/>
              <a:t>Change </a:t>
            </a:r>
            <a:r>
              <a:rPr/>
              <a:t>tracking</a:t>
            </a:r>
            <a:r>
              <a:rPr b="0" i="0" strike="noStrike" dirty="0"/>
              <a:t> </a:t>
            </a:r>
            <a:r>
              <a:rPr b="0" i="0" strike="noStrike" dirty="0"/>
              <a:t>PAGEREF </a:t>
            </a:r>
            <a:r>
              <a:rPr b="0" i="0" strike="noStrike" dirty="0"/>
              <a:t>section_7e45371b0f1d4ff6b01f2fcbef31233f523</a:t>
            </a:r>
          </a:p>
        </p:txBody>
      </p:sp>
      <p:sp>
        <p:nvSpPr>
          <p:cNvPr id="7" name="TextBox7"/>
          <p:cNvSpPr txBox="1">
            <a:spLocks noChangeArrowheads="1"/>
          </p:cNvSpPr>
          <p:nvPr/>
        </p:nvSpPr>
        <p:spPr>
          <a:xfrm rot="0">
            <a:off x="508000" y="3596640"/>
            <a:ext cx="11176000" cy="320040"/>
          </a:xfrm>
          <a:prstGeom prst="rect">
            <a:avLst/>
          </a:prstGeom>
          <a:ln>
            <a:headEnd type="none"/>
            <a:tailEnd type="none"/>
          </a:ln>
        </p:spPr>
        <p:txBody>
          <a:bodyPr wrap="square">
            <a:spAutoFit/>
          </a:bodyPr>
          <a:lstStyle/>
          <a:p>
            <a:pPr algn="l" defTabSz="914400"/>
            <a:r>
              <a:rPr b="0" i="0" strike="noStrike" dirty="0"/>
              <a:t>Custom </a:t>
            </a:r>
            <a:r>
              <a:rPr b="0" i="0" strike="noStrike" dirty="0"/>
              <a:t>UI</a:t>
            </a:r>
          </a:p>
        </p:txBody>
      </p:sp>
      <p:sp>
        <p:nvSpPr>
          <p:cNvPr id="8" name="TextBox8"/>
          <p:cNvSpPr txBox="1">
            <a:spLocks noChangeArrowheads="1"/>
          </p:cNvSpPr>
          <p:nvPr/>
        </p:nvSpPr>
        <p:spPr>
          <a:xfrm rot="0">
            <a:off x="508000" y="3942080"/>
            <a:ext cx="11176000" cy="320040"/>
          </a:xfrm>
          <a:prstGeom prst="rect">
            <a:avLst/>
          </a:prstGeom>
          <a:ln>
            <a:headEnd type="none"/>
            <a:tailEnd type="none"/>
          </a:ln>
        </p:spPr>
        <p:txBody>
          <a:bodyPr wrap="square">
            <a:spAutoFit/>
          </a:bodyPr>
          <a:lstStyle/>
          <a:p>
            <a:pPr algn="l" defTabSz="914400"/>
            <a:r>
              <a:rPr/>
              <a:t>parts</a:t>
            </a:r>
            <a:r>
              <a:rPr b="0" i="0" strike="noStrike" dirty="0"/>
              <a:t> </a:t>
            </a:r>
            <a:r>
              <a:rPr b="0" i="0" strike="noStrike" dirty="0"/>
              <a:t>PAGEREF </a:t>
            </a:r>
            <a:r>
              <a:rPr b="0" i="0" strike="noStrike" dirty="0"/>
              <a:t>section_edc80b0591694ff795ee03af067f35b19</a:t>
            </a:r>
          </a:p>
        </p:txBody>
      </p:sp>
      <p:sp>
        <p:nvSpPr>
          <p:cNvPr id="9" name="TextBox9"/>
          <p:cNvSpPr txBox="1">
            <a:spLocks noChangeArrowheads="1"/>
          </p:cNvSpPr>
          <p:nvPr/>
        </p:nvSpPr>
        <p:spPr>
          <a:xfrm rot="0">
            <a:off x="508000" y="4287520"/>
            <a:ext cx="11176000" cy="320040"/>
          </a:xfrm>
          <a:prstGeom prst="rect">
            <a:avLst/>
          </a:prstGeom>
          <a:ln>
            <a:headEnd type="none"/>
            <a:tailEnd type="none"/>
          </a:ln>
        </p:spPr>
        <p:txBody>
          <a:bodyPr wrap="square">
            <a:spAutoFit/>
          </a:bodyPr>
          <a:lstStyle/>
          <a:p>
            <a:pPr algn="l" defTabSz="914400"/>
            <a:r>
              <a:rPr b="0" i="0" strike="noStrike" dirty="0"/>
              <a:t>Custom </a:t>
            </a:r>
            <a:r>
              <a:rPr b="0" i="0" strike="noStrike" dirty="0"/>
              <a:t>UI </a:t>
            </a:r>
            <a:r>
              <a:rPr b="0" i="0" strike="noStrike" dirty="0"/>
              <a:t>control </a:t>
            </a:r>
            <a:r>
              <a:rPr b="0" i="0" strike="noStrike" dirty="0"/>
              <a:t>id </a:t>
            </a:r>
            <a:r>
              <a:rPr b="0" i="0" strike="noStrike" dirty="0"/>
              <a:t>table</a:t>
            </a:r>
          </a:p>
        </p:txBody>
      </p:sp>
      <p:sp>
        <p:nvSpPr>
          <p:cNvPr id="10" name="TextBox10"/>
          <p:cNvSpPr txBox="1">
            <a:spLocks noChangeArrowheads="1"/>
          </p:cNvSpPr>
          <p:nvPr/>
        </p:nvSpPr>
        <p:spPr>
          <a:xfrm rot="0">
            <a:off x="508000" y="4632960"/>
            <a:ext cx="11176000" cy="320040"/>
          </a:xfrm>
          <a:prstGeom prst="rect">
            <a:avLst/>
          </a:prstGeom>
          <a:ln>
            <a:headEnd type="none"/>
            <a:tailEnd type="none"/>
          </a:ln>
        </p:spPr>
        <p:txBody>
          <a:bodyPr wrap="square">
            <a:spAutoFit/>
          </a:bodyPr>
          <a:lstStyle/>
          <a:p>
            <a:pPr algn="l" defTabSz="914400"/>
            <a:r>
              <a:rPr/>
              <a:t>imageMso </a:t>
            </a:r>
            <a:r>
              <a:rPr/>
              <a:t>table</a:t>
            </a:r>
            <a:r>
              <a:rPr b="0" i="0" strike="noStrike" dirty="0"/>
              <a:t> </a:t>
            </a:r>
            <a:r>
              <a:rPr b="0" i="0" strike="noStrike" dirty="0"/>
              <a:t>PAGEREF </a:t>
            </a:r>
            <a:r>
              <a:rPr b="0" i="0" strike="noStrike" dirty="0"/>
              <a:t>section_fe2124a15aaa4adfb2855d58da9d5e2a419</a:t>
            </a:r>
          </a:p>
        </p:txBody>
      </p:sp>
      <p:sp>
        <p:nvSpPr>
          <p:cNvPr id="11" name="TextBox11"/>
          <p:cNvSpPr txBox="1">
            <a:spLocks noChangeArrowheads="1"/>
          </p:cNvSpPr>
          <p:nvPr/>
        </p:nvSpPr>
        <p:spPr>
          <a:xfrm rot="0">
            <a:off x="508000" y="4978400"/>
            <a:ext cx="11176000" cy="320040"/>
          </a:xfrm>
          <a:prstGeom prst="rect">
            <a:avLst/>
          </a:prstGeom>
          <a:ln>
            <a:headEnd type="none"/>
            <a:tailEnd type="none"/>
          </a:ln>
        </p:spPr>
        <p:txBody>
          <a:bodyPr wrap="square">
            <a:spAutoFit/>
          </a:bodyPr>
          <a:lstStyle/>
          <a:p>
            <a:pPr algn="l" defTabSz="914400"/>
            <a:r>
              <a:rPr b="1" i="1" strike="noStrike" dirty="0"/>
              <a:t>E</a:t>
            </a:r>
          </a:p>
        </p:txBody>
      </p:sp>
      <p:sp>
        <p:nvSpPr>
          <p:cNvPr id="12" name="TextBox12"/>
          <p:cNvSpPr txBox="1">
            <a:spLocks noChangeArrowheads="1"/>
          </p:cNvSpPr>
          <p:nvPr/>
        </p:nvSpPr>
        <p:spPr>
          <a:xfrm rot="0">
            <a:off x="508000" y="5323840"/>
            <a:ext cx="11176000" cy="320040"/>
          </a:xfrm>
          <a:prstGeom prst="rect">
            <a:avLst/>
          </a:prstGeom>
          <a:ln>
            <a:headEnd type="none"/>
            <a:tailEnd type="none"/>
          </a:ln>
        </p:spPr>
        <p:txBody>
          <a:bodyPr wrap="square">
            <a:spAutoFit/>
          </a:bodyPr>
          <a:lstStyle/>
          <a:p>
            <a:pPr algn="l" defTabSz="914400"/>
            <a:r>
              <a:rPr/>
              <a:t>Elements</a:t>
            </a:r>
            <a:r>
              <a:rPr b="0" i="0" strike="noStrike" dirty="0"/>
              <a:t> </a:t>
            </a:r>
            <a:r>
              <a:rPr b="0" i="0" strike="noStrike" dirty="0"/>
              <a:t>PAGEREF </a:t>
            </a:r>
            <a:r>
              <a:rPr b="0" i="0" strike="noStrike" dirty="0"/>
              <a:t>section_d842006e31874f66a17d0819a3cc94b511</a:t>
            </a:r>
          </a:p>
        </p:txBody>
      </p:sp>
      <p:sp>
        <p:nvSpPr>
          <p:cNvPr id="13" name="TextBox13"/>
          <p:cNvSpPr txBox="1">
            <a:spLocks noChangeArrowheads="1"/>
          </p:cNvSpPr>
          <p:nvPr/>
        </p:nvSpPr>
        <p:spPr>
          <a:xfrm rot="0">
            <a:off x="508000" y="5669280"/>
            <a:ext cx="11176000" cy="320040"/>
          </a:xfrm>
          <a:prstGeom prst="rect">
            <a:avLst/>
          </a:prstGeom>
          <a:ln>
            <a:headEnd type="none"/>
            <a:tailEnd type="none"/>
          </a:ln>
        </p:spPr>
        <p:txBody>
          <a:bodyPr wrap="square">
            <a:spAutoFit/>
          </a:bodyPr>
          <a:lstStyle/>
          <a:p>
            <a:pPr algn="l" defTabSz="914400"/>
            <a:r>
              <a:rPr/>
              <a:t>box </a:t>
            </a:r>
            <a:r>
              <a:rPr/>
              <a:t>(box </a:t>
            </a:r>
            <a:r>
              <a:rPr/>
              <a:t>grouping </a:t>
            </a:r>
            <a:r>
              <a:rPr/>
              <a:t>container)</a:t>
            </a:r>
            <a:r>
              <a:rPr b="0" i="0" strike="noStrike" dirty="0"/>
              <a:t> </a:t>
            </a:r>
            <a:r>
              <a:rPr b="0" i="0" strike="noStrike" dirty="0"/>
              <a:t>PAGEREF </a:t>
            </a:r>
            <a:r>
              <a:rPr b="0" i="0" strike="noStrike" dirty="0"/>
              <a:t>section_fb660d68051e4a86ab97e0d93b32817e11</a:t>
            </a:r>
          </a:p>
        </p:txBody>
      </p:sp>
      <p:sp>
        <p:nvSpPr>
          <p:cNvPr id="14" name="TextBox14"/>
          <p:cNvSpPr txBox="1">
            <a:spLocks noChangeArrowheads="1"/>
          </p:cNvSpPr>
          <p:nvPr/>
        </p:nvSpPr>
        <p:spPr>
          <a:xfrm rot="0">
            <a:off x="508000" y="6014720"/>
            <a:ext cx="11176000" cy="320040"/>
          </a:xfrm>
          <a:prstGeom prst="rect">
            <a:avLst/>
          </a:prstGeom>
          <a:ln>
            <a:headEnd type="none"/>
            <a:tailEnd type="none"/>
          </a:ln>
        </p:spPr>
        <p:txBody>
          <a:bodyPr wrap="square">
            <a:spAutoFit/>
          </a:bodyPr>
          <a:lstStyle/>
          <a:p>
            <a:pPr algn="l" defTabSz="914400"/>
            <a:r>
              <a:rPr/>
              <a:t>button </a:t>
            </a:r>
            <a:r>
              <a:rPr/>
              <a:t>(button </a:t>
            </a:r>
            <a:r>
              <a:rPr/>
              <a:t>inside </a:t>
            </a:r>
            <a:r>
              <a:rPr/>
              <a:t>of </a:t>
            </a:r>
            <a:r>
              <a:rPr/>
              <a:t>a </a:t>
            </a:r>
            <a:r>
              <a:rPr/>
              <a:t>split </a:t>
            </a:r>
            <a:r>
              <a:rPr/>
              <a:t>button)</a:t>
            </a:r>
            <a:r>
              <a:rPr b="0" i="0" strike="noStrike" dirty="0"/>
              <a:t> </a:t>
            </a:r>
            <a:r>
              <a:rPr b="0" i="0" strike="noStrike" dirty="0"/>
              <a:t>PAGEREF </a:t>
            </a:r>
            <a:r>
              <a:rPr b="0" i="0" strike="noStrike" dirty="0"/>
              <a:t>section_2257e779b94944cb8ec0719a46421f3e34</a:t>
            </a:r>
          </a:p>
        </p:txBody>
      </p:sp>
    </p:spTree>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a:t>button </a:t>
            </a:r>
            <a:r>
              <a:rPr/>
              <a:t>(button)</a:t>
            </a:r>
            <a:r>
              <a:rPr b="0" i="0" strike="noStrike" dirty="0"/>
              <a:t> </a:t>
            </a:r>
            <a:r>
              <a:rPr b="0" i="0" strike="noStrike" dirty="0"/>
              <a:t>PAGEREF </a:t>
            </a:r>
            <a:r>
              <a:rPr b="0" i="0" strike="noStrike" dirty="0"/>
              <a:t>section_846e8fb607d3460b816bbcfae841c95b15</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a:t>button </a:t>
            </a:r>
            <a:r>
              <a:rPr/>
              <a:t>(unsized </a:t>
            </a:r>
            <a:r>
              <a:rPr/>
              <a:t>button)</a:t>
            </a:r>
            <a:r>
              <a:rPr b="0" i="0" strike="noStrike" dirty="0"/>
              <a:t> </a:t>
            </a:r>
            <a:r>
              <a:rPr b="0" i="0" strike="noStrike" dirty="0"/>
              <a:t>PAGEREF </a:t>
            </a:r>
            <a:r>
              <a:rPr b="0" i="0" strike="noStrike" dirty="0"/>
              <a:t>section_2e7b9955ff774a2f9d93401f0541e8fd25</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a:t>buttonGroup </a:t>
            </a:r>
            <a:r>
              <a:rPr/>
              <a:t>(button </a:t>
            </a:r>
            <a:r>
              <a:rPr/>
              <a:t>grouping </a:t>
            </a:r>
            <a:r>
              <a:rPr/>
              <a:t>container)</a:t>
            </a:r>
            <a:r>
              <a:rPr b="0" i="0" strike="noStrike" dirty="0"/>
              <a:t> </a:t>
            </a:r>
            <a:r>
              <a:rPr b="0" i="0" strike="noStrike" dirty="0"/>
              <a:t>PAGEREF </a:t>
            </a:r>
            <a:r>
              <a:rPr b="0" i="0" strike="noStrike" dirty="0"/>
              <a:t>section_d9f6097943e740e6bd211f9693600c2143</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a:t>checkBox </a:t>
            </a:r>
            <a:r>
              <a:rPr/>
              <a:t>(check </a:t>
            </a:r>
            <a:r>
              <a:rPr/>
              <a:t>box)</a:t>
            </a:r>
            <a:r>
              <a:rPr b="0" i="0" strike="noStrike" dirty="0"/>
              <a:t> </a:t>
            </a:r>
            <a:r>
              <a:rPr b="0" i="0" strike="noStrike" dirty="0"/>
              <a:t>PAGEREF </a:t>
            </a:r>
            <a:r>
              <a:rPr b="0" i="0" strike="noStrike" dirty="0"/>
              <a:t>section_d189aedcd7634295bc2b07746447dfde46</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a:t>comboBox </a:t>
            </a:r>
            <a:r>
              <a:rPr/>
              <a:t>(combo </a:t>
            </a:r>
            <a:r>
              <a:rPr/>
              <a:t>box)</a:t>
            </a:r>
            <a:r>
              <a:rPr b="0" i="0" strike="noStrike" dirty="0"/>
              <a:t> </a:t>
            </a:r>
            <a:r>
              <a:rPr b="0" i="0" strike="noStrike" dirty="0"/>
              <a:t>PAGEREF </a:t>
            </a:r>
            <a:r>
              <a:rPr b="0" i="0" strike="noStrike" dirty="0"/>
              <a:t>section_3caf6b1834cb4352bd3177a26980c00e56</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a:t>command </a:t>
            </a:r>
            <a:r>
              <a:rPr/>
              <a:t>(repurposed </a:t>
            </a:r>
            <a:r>
              <a:rPr/>
              <a:t>command)</a:t>
            </a:r>
            <a:r>
              <a:rPr b="0" i="0" strike="noStrike" dirty="0"/>
              <a:t> </a:t>
            </a:r>
            <a:r>
              <a:rPr b="0" i="0" strike="noStrike" dirty="0"/>
              <a:t>PAGEREF </a:t>
            </a:r>
            <a:r>
              <a:rPr b="0" i="0" strike="noStrike" dirty="0"/>
              <a:t>section_21316865fbce4a3fa9ffa8277cce5f2d67</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a:t>commands </a:t>
            </a:r>
            <a:r>
              <a:rPr/>
              <a:t>(list </a:t>
            </a:r>
            <a:r>
              <a:rPr/>
              <a:t>of </a:t>
            </a:r>
            <a:r>
              <a:rPr/>
              <a:t>repurposed </a:t>
            </a:r>
            <a:r>
              <a:rPr/>
              <a:t>commands)</a:t>
            </a:r>
            <a:r>
              <a:rPr b="0" i="0" strike="noStrike" dirty="0"/>
              <a:t> </a:t>
            </a:r>
            <a:r>
              <a:rPr b="0" i="0" strike="noStrike" dirty="0"/>
              <a:t>PAGEREF </a:t>
            </a:r>
            <a:r>
              <a:rPr b="0" i="0" strike="noStrike" dirty="0"/>
              <a:t>section_f914543a2b8e48d4bf5e98b1326e7fc269</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a:t>contextualTabs </a:t>
            </a:r>
            <a:r>
              <a:rPr/>
              <a:t>(list </a:t>
            </a:r>
            <a:r>
              <a:rPr/>
              <a:t>of </a:t>
            </a:r>
            <a:r>
              <a:rPr/>
              <a:t>contextual </a:t>
            </a:r>
            <a:r>
              <a:rPr/>
              <a:t>tab </a:t>
            </a:r>
            <a:r>
              <a:rPr/>
              <a:t>sets)</a:t>
            </a:r>
            <a:r>
              <a:rPr b="0" i="0" strike="noStrike" dirty="0"/>
              <a:t> </a:t>
            </a:r>
            <a:r>
              <a:rPr b="0" i="0" strike="noStrike" dirty="0"/>
              <a:t>PAGEREF </a:t>
            </a:r>
            <a:r>
              <a:rPr b="0" i="0" strike="noStrike" dirty="0"/>
              <a:t>section_75ae6d6f6a8549a2a5fb84b970d54ffb69</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a:t>control </a:t>
            </a:r>
            <a:r>
              <a:rPr/>
              <a:t>(control </a:t>
            </a:r>
            <a:r>
              <a:rPr/>
              <a:t>clone)</a:t>
            </a:r>
            <a:r>
              <a:rPr b="0" i="0" strike="noStrike" dirty="0"/>
              <a:t> </a:t>
            </a:r>
            <a:r>
              <a:rPr b="0" i="0" strike="noStrike" dirty="0"/>
              <a:t>PAGEREF </a:t>
            </a:r>
            <a:r>
              <a:rPr b="0" i="0" strike="noStrike" dirty="0"/>
              <a:t>section_f2bf1b5d049246a488f7dc1a9528f75578</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a:t>control </a:t>
            </a:r>
            <a:r>
              <a:rPr/>
              <a:t>(Quick </a:t>
            </a:r>
            <a:r>
              <a:rPr/>
              <a:t>Access </a:t>
            </a:r>
            <a:r>
              <a:rPr/>
              <a:t>Toolbar </a:t>
            </a:r>
            <a:r>
              <a:rPr/>
              <a:t>control </a:t>
            </a:r>
            <a:r>
              <a:rPr/>
              <a:t>clone)</a:t>
            </a:r>
            <a:r>
              <a:rPr b="0" i="0" strike="noStrike" dirty="0"/>
              <a:t> </a:t>
            </a:r>
            <a:r>
              <a:rPr b="0" i="0" strike="noStrike" dirty="0"/>
              <a:t>PAGEREF </a:t>
            </a:r>
            <a:r>
              <a:rPr b="0" i="0" strike="noStrike" dirty="0"/>
              <a:t>section_14909d674b9f4796badae79edaedcdf287</a:t>
            </a:r>
          </a:p>
        </p:txBody>
      </p:sp>
      <p:sp>
        <p:nvSpPr>
          <p:cNvPr id="12" name="TextBox12"/>
          <p:cNvSpPr txBox="1">
            <a:spLocks noChangeArrowheads="1"/>
          </p:cNvSpPr>
          <p:nvPr/>
        </p:nvSpPr>
        <p:spPr>
          <a:xfrm rot="0">
            <a:off x="508000" y="3962400"/>
            <a:ext cx="11176000" cy="320040"/>
          </a:xfrm>
          <a:prstGeom prst="rect">
            <a:avLst/>
          </a:prstGeom>
          <a:ln>
            <a:headEnd type="none"/>
            <a:tailEnd type="none"/>
          </a:ln>
        </p:spPr>
        <p:txBody>
          <a:bodyPr wrap="square">
            <a:spAutoFit/>
          </a:bodyPr>
          <a:lstStyle/>
          <a:p>
            <a:pPr algn="l" defTabSz="914400"/>
            <a:r>
              <a:rPr/>
              <a:t>control </a:t>
            </a:r>
            <a:r>
              <a:rPr/>
              <a:t>(unsized </a:t>
            </a:r>
            <a:r>
              <a:rPr/>
              <a:t>control </a:t>
            </a:r>
            <a:r>
              <a:rPr/>
              <a:t>clone)</a:t>
            </a:r>
            <a:r>
              <a:rPr b="0" i="0" strike="noStrike" dirty="0"/>
              <a:t> </a:t>
            </a:r>
            <a:r>
              <a:rPr b="0" i="0" strike="noStrike" dirty="0"/>
              <a:t>PAGEREF </a:t>
            </a:r>
            <a:r>
              <a:rPr b="0" i="0" strike="noStrike" dirty="0"/>
              <a:t>section_ada8edc4b469410e8bd05d667ffe7dbf70</a:t>
            </a:r>
          </a:p>
        </p:txBody>
      </p:sp>
      <p:sp>
        <p:nvSpPr>
          <p:cNvPr id="13" name="TextBox13"/>
          <p:cNvSpPr txBox="1">
            <a:spLocks noChangeArrowheads="1"/>
          </p:cNvSpPr>
          <p:nvPr/>
        </p:nvSpPr>
        <p:spPr>
          <a:xfrm rot="0">
            <a:off x="508000" y="4307840"/>
            <a:ext cx="11176000" cy="320040"/>
          </a:xfrm>
          <a:prstGeom prst="rect">
            <a:avLst/>
          </a:prstGeom>
          <a:ln>
            <a:headEnd type="none"/>
            <a:tailEnd type="none"/>
          </a:ln>
        </p:spPr>
        <p:txBody>
          <a:bodyPr wrap="square">
            <a:spAutoFit/>
          </a:bodyPr>
          <a:lstStyle/>
          <a:p>
            <a:pPr algn="l" defTabSz="914400"/>
            <a:r>
              <a:rPr/>
              <a:t>customUI </a:t>
            </a:r>
            <a:r>
              <a:rPr/>
              <a:t>(custom </a:t>
            </a:r>
            <a:r>
              <a:rPr/>
              <a:t>UI </a:t>
            </a:r>
            <a:r>
              <a:rPr/>
              <a:t>document </a:t>
            </a:r>
            <a:r>
              <a:rPr/>
              <a:t>root)</a:t>
            </a:r>
            <a:r>
              <a:rPr b="0" i="0" strike="noStrike" dirty="0"/>
              <a:t> </a:t>
            </a:r>
            <a:r>
              <a:rPr b="0" i="0" strike="noStrike" dirty="0"/>
              <a:t>PAGEREF </a:t>
            </a:r>
            <a:r>
              <a:rPr b="0" i="0" strike="noStrike" dirty="0"/>
              <a:t>section_8a27e8523f8b424aac6732c58181e9d396</a:t>
            </a:r>
          </a:p>
        </p:txBody>
      </p:sp>
      <p:sp>
        <p:nvSpPr>
          <p:cNvPr id="14" name="TextBox14"/>
          <p:cNvSpPr txBox="1">
            <a:spLocks noChangeArrowheads="1"/>
          </p:cNvSpPr>
          <p:nvPr/>
        </p:nvSpPr>
        <p:spPr>
          <a:xfrm rot="0">
            <a:off x="508000" y="4653280"/>
            <a:ext cx="11176000" cy="320040"/>
          </a:xfrm>
          <a:prstGeom prst="rect">
            <a:avLst/>
          </a:prstGeom>
          <a:ln>
            <a:headEnd type="none"/>
            <a:tailEnd type="none"/>
          </a:ln>
        </p:spPr>
        <p:txBody>
          <a:bodyPr wrap="square">
            <a:spAutoFit/>
          </a:bodyPr>
          <a:lstStyle/>
          <a:p>
            <a:pPr algn="l" defTabSz="914400"/>
            <a:r>
              <a:rPr/>
              <a:t>dialogBoxLauncher </a:t>
            </a:r>
            <a:r>
              <a:rPr/>
              <a:t>(dialog </a:t>
            </a:r>
            <a:r>
              <a:rPr/>
              <a:t>box </a:t>
            </a:r>
            <a:r>
              <a:rPr/>
              <a:t>launcher)</a:t>
            </a:r>
            <a:r>
              <a:rPr b="0" i="0" strike="noStrike" dirty="0"/>
              <a:t> </a:t>
            </a:r>
            <a:r>
              <a:rPr b="0" i="0" strike="noStrike" dirty="0"/>
              <a:t>PAGEREF </a:t>
            </a:r>
            <a:r>
              <a:rPr b="0" i="0" strike="noStrike" dirty="0"/>
              <a:t>section_76d9f8786b2749ff8c4cee008f345cac97</a:t>
            </a:r>
          </a:p>
        </p:txBody>
      </p:sp>
      <p:sp>
        <p:nvSpPr>
          <p:cNvPr id="15" name="TextBox15"/>
          <p:cNvSpPr txBox="1">
            <a:spLocks noChangeArrowheads="1"/>
          </p:cNvSpPr>
          <p:nvPr/>
        </p:nvSpPr>
        <p:spPr>
          <a:xfrm rot="0">
            <a:off x="508000" y="4998720"/>
            <a:ext cx="11176000" cy="640080"/>
          </a:xfrm>
          <a:prstGeom prst="rect">
            <a:avLst/>
          </a:prstGeom>
          <a:ln>
            <a:headEnd type="none"/>
            <a:tailEnd type="none"/>
          </a:ln>
        </p:spPr>
        <p:txBody>
          <a:bodyPr wrap="square">
            <a:spAutoFit/>
          </a:bodyPr>
          <a:lstStyle/>
          <a:p>
            <a:pPr algn="l" defTabSz="914400"/>
            <a:r>
              <a:rPr/>
              <a:t>documentControls </a:t>
            </a:r>
            <a:r>
              <a:rPr/>
              <a:t>(list </a:t>
            </a:r>
            <a:r>
              <a:rPr/>
              <a:t>of </a:t>
            </a:r>
            <a:r>
              <a:rPr/>
              <a:t>document-specific </a:t>
            </a:r>
            <a:r>
              <a:rPr/>
              <a:t>Quick </a:t>
            </a:r>
            <a:r>
              <a:rPr/>
              <a:t>Access </a:t>
            </a:r>
            <a:r>
              <a:rPr/>
              <a:t>Toolbar </a:t>
            </a:r>
            <a:r>
              <a:rPr/>
              <a:t>controls)</a:t>
            </a:r>
            <a:r>
              <a:rPr b="0" i="0" strike="noStrike" dirty="0"/>
              <a:t> </a:t>
            </a:r>
            <a:r>
              <a:rPr b="0" i="0" strike="noStrike" dirty="0"/>
              <a:t>PAGEREF </a:t>
            </a:r>
            <a:r>
              <a:rPr b="0" i="0" strike="noStrike" dirty="0"/>
              <a:t>section_de33fcbe3b5b4d30b875d2ec922cf32f98</a:t>
            </a:r>
          </a:p>
        </p:txBody>
      </p:sp>
      <p:sp>
        <p:nvSpPr>
          <p:cNvPr id="16" name="TextBox16"/>
          <p:cNvSpPr txBox="1">
            <a:spLocks noChangeArrowheads="1"/>
          </p:cNvSpPr>
          <p:nvPr/>
        </p:nvSpPr>
        <p:spPr>
          <a:xfrm rot="0">
            <a:off x="508000" y="5664200"/>
            <a:ext cx="11176000" cy="320040"/>
          </a:xfrm>
          <a:prstGeom prst="rect">
            <a:avLst/>
          </a:prstGeom>
          <a:ln>
            <a:headEnd type="none"/>
            <a:tailEnd type="none"/>
          </a:ln>
        </p:spPr>
        <p:txBody>
          <a:bodyPr wrap="square">
            <a:spAutoFit/>
          </a:bodyPr>
          <a:lstStyle/>
          <a:p>
            <a:pPr algn="l" defTabSz="914400"/>
            <a:r>
              <a:rPr/>
              <a:t>dropDown </a:t>
            </a:r>
            <a:r>
              <a:rPr/>
              <a:t>(drop-down </a:t>
            </a:r>
            <a:r>
              <a:rPr/>
              <a:t>control)</a:t>
            </a:r>
            <a:r>
              <a:rPr b="0" i="0" strike="noStrike" dirty="0"/>
              <a:t> </a:t>
            </a:r>
            <a:r>
              <a:rPr b="0" i="0" strike="noStrike" dirty="0"/>
              <a:t>PAGEREF </a:t>
            </a:r>
            <a:r>
              <a:rPr b="0" i="0" strike="noStrike" dirty="0"/>
              <a:t>section_700e4451870640c58d7b896e4ae21b6999</a:t>
            </a:r>
          </a:p>
        </p:txBody>
      </p:sp>
      <p:sp>
        <p:nvSpPr>
          <p:cNvPr id="17" name="TextBox17"/>
          <p:cNvSpPr txBox="1">
            <a:spLocks noChangeArrowheads="1"/>
          </p:cNvSpPr>
          <p:nvPr/>
        </p:nvSpPr>
        <p:spPr>
          <a:xfrm rot="0">
            <a:off x="508000" y="6009640"/>
            <a:ext cx="11176000" cy="320040"/>
          </a:xfrm>
          <a:prstGeom prst="rect">
            <a:avLst/>
          </a:prstGeom>
          <a:ln>
            <a:headEnd type="none"/>
            <a:tailEnd type="none"/>
          </a:ln>
        </p:spPr>
        <p:txBody>
          <a:bodyPr wrap="square">
            <a:spAutoFit/>
          </a:bodyPr>
          <a:lstStyle/>
          <a:p>
            <a:pPr algn="l" defTabSz="914400"/>
            <a:r>
              <a:rPr/>
              <a:t>dynamicMenu </a:t>
            </a:r>
            <a:r>
              <a:rPr/>
              <a:t>(dynamic </a:t>
            </a:r>
            <a:r>
              <a:rPr/>
              <a:t>menu)</a:t>
            </a:r>
            <a:r>
              <a:rPr b="0" i="0" strike="noStrike" dirty="0"/>
              <a:t> </a:t>
            </a:r>
            <a:r>
              <a:rPr b="0" i="0" strike="noStrike" dirty="0"/>
              <a:t>PAGEREF </a:t>
            </a:r>
            <a:r>
              <a:rPr b="0" i="0" strike="noStrike" dirty="0"/>
              <a:t>section_26d7db807ea442d09a063f63365043c7120</a:t>
            </a:r>
          </a:p>
        </p:txBody>
      </p:sp>
    </p:spTree>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a:t>dynamicMenu </a:t>
            </a:r>
            <a:r>
              <a:rPr/>
              <a:t>(unsized </a:t>
            </a:r>
            <a:r>
              <a:rPr/>
              <a:t>dynamic </a:t>
            </a:r>
            <a:r>
              <a:rPr/>
              <a:t>menu)</a:t>
            </a:r>
            <a:r>
              <a:rPr b="0" i="0" strike="noStrike" dirty="0"/>
              <a:t> </a:t>
            </a:r>
            <a:r>
              <a:rPr b="0" i="0" strike="noStrike" dirty="0"/>
              <a:t>PAGEREF </a:t>
            </a:r>
            <a:r>
              <a:rPr b="0" i="0" strike="noStrike" dirty="0"/>
              <a:t>section_fd0825c70f294038861754af0dec8c7d111</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a:t>editBox </a:t>
            </a:r>
            <a:r>
              <a:rPr/>
              <a:t>(edit </a:t>
            </a:r>
            <a:r>
              <a:rPr/>
              <a:t>box)</a:t>
            </a:r>
            <a:r>
              <a:rPr b="0" i="0" strike="noStrike" dirty="0"/>
              <a:t> </a:t>
            </a:r>
            <a:r>
              <a:rPr b="0" i="0" strike="noStrike" dirty="0"/>
              <a:t>PAGEREF </a:t>
            </a:r>
            <a:r>
              <a:rPr b="0" i="0" strike="noStrike" dirty="0"/>
              <a:t>section_7b552756a970466db7c2ee5bbe171e34131</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a:t>gallery </a:t>
            </a:r>
            <a:r>
              <a:rPr/>
              <a:t>(gallery)</a:t>
            </a:r>
            <a:r>
              <a:rPr b="0" i="0" strike="noStrike" dirty="0"/>
              <a:t> </a:t>
            </a:r>
            <a:r>
              <a:rPr b="0" i="0" strike="noStrike" dirty="0"/>
              <a:t>PAGEREF </a:t>
            </a:r>
            <a:r>
              <a:rPr b="0" i="0" strike="noStrike" dirty="0"/>
              <a:t>section_017f9f94700f4846ba19c695ad32929f140</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a:t>gallery </a:t>
            </a:r>
            <a:r>
              <a:rPr/>
              <a:t>(unsized </a:t>
            </a:r>
            <a:r>
              <a:rPr/>
              <a:t>gallery)</a:t>
            </a:r>
            <a:r>
              <a:rPr b="0" i="0" strike="noStrike" dirty="0"/>
              <a:t> </a:t>
            </a:r>
            <a:r>
              <a:rPr b="0" i="0" strike="noStrike" dirty="0"/>
              <a:t>PAGEREF </a:t>
            </a:r>
            <a:r>
              <a:rPr b="0" i="0" strike="noStrike" dirty="0"/>
              <a:t>section_7bfba338481f453e97670e0855c8f029156</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a:t>group </a:t>
            </a:r>
            <a:r>
              <a:rPr/>
              <a:t>(group)</a:t>
            </a:r>
            <a:r>
              <a:rPr b="0" i="0" strike="noStrike" dirty="0"/>
              <a:t> </a:t>
            </a:r>
            <a:r>
              <a:rPr b="0" i="0" strike="noStrike" dirty="0"/>
              <a:t>PAGEREF </a:t>
            </a:r>
            <a:r>
              <a:rPr b="0" i="0" strike="noStrike" dirty="0"/>
              <a:t>section_190f51e63a3c4cf8affbcec9b906aae4170</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a:t>item </a:t>
            </a:r>
            <a:r>
              <a:rPr/>
              <a:t>(selection </a:t>
            </a:r>
            <a:r>
              <a:rPr/>
              <a:t>item)</a:t>
            </a:r>
            <a:r>
              <a:rPr b="0" i="0" strike="noStrike" dirty="0"/>
              <a:t> </a:t>
            </a:r>
            <a:r>
              <a:rPr b="0" i="0" strike="noStrike" dirty="0"/>
              <a:t>PAGEREF </a:t>
            </a:r>
            <a:r>
              <a:rPr b="0" i="0" strike="noStrike" dirty="0"/>
              <a:t>section_6417edcc85b847f781fd56918e8df537178</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a:t>labelControl </a:t>
            </a:r>
            <a:r>
              <a:rPr/>
              <a:t>(text </a:t>
            </a:r>
            <a:r>
              <a:rPr/>
              <a:t>label)</a:t>
            </a:r>
            <a:r>
              <a:rPr b="0" i="0" strike="noStrike" dirty="0"/>
              <a:t> </a:t>
            </a:r>
            <a:r>
              <a:rPr b="0" i="0" strike="noStrike" dirty="0"/>
              <a:t>PAGEREF </a:t>
            </a:r>
            <a:r>
              <a:rPr b="0" i="0" strike="noStrike" dirty="0"/>
              <a:t>section_965555a293db48a6a6bf5dd08a13f6bb181</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a:t>menu </a:t>
            </a:r>
            <a:r>
              <a:rPr/>
              <a:t>(dynamic </a:t>
            </a:r>
            <a:r>
              <a:rPr/>
              <a:t>menu </a:t>
            </a:r>
            <a:r>
              <a:rPr/>
              <a:t>root </a:t>
            </a:r>
            <a:r>
              <a:rPr/>
              <a:t>XML </a:t>
            </a:r>
            <a:r>
              <a:rPr/>
              <a:t>element)</a:t>
            </a:r>
            <a:r>
              <a:rPr b="0" i="0" strike="noStrike" dirty="0"/>
              <a:t> </a:t>
            </a:r>
            <a:r>
              <a:rPr b="0" i="0" strike="noStrike" dirty="0"/>
              <a:t>PAGEREF </a:t>
            </a:r>
            <a:r>
              <a:rPr b="0" i="0" strike="noStrike" dirty="0"/>
              <a:t>section_e662c00135584511a56507a3e32021e3219</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a:t>menu </a:t>
            </a:r>
            <a:r>
              <a:rPr/>
              <a:t>(menu </a:t>
            </a:r>
            <a:r>
              <a:rPr/>
              <a:t>with </a:t>
            </a:r>
            <a:r>
              <a:rPr/>
              <a:t>title)</a:t>
            </a:r>
            <a:r>
              <a:rPr b="0" i="0" strike="noStrike" dirty="0"/>
              <a:t> </a:t>
            </a:r>
            <a:r>
              <a:rPr b="0" i="0" strike="noStrike" dirty="0"/>
              <a:t>PAGEREF </a:t>
            </a:r>
            <a:r>
              <a:rPr b="0" i="0" strike="noStrike" dirty="0"/>
              <a:t>section_f785dc2b045b4b86b5424a10d264dace198</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a:t>menu </a:t>
            </a:r>
            <a:r>
              <a:rPr/>
              <a:t>(menu)</a:t>
            </a:r>
            <a:r>
              <a:rPr b="0" i="0" strike="noStrike" dirty="0"/>
              <a:t> </a:t>
            </a:r>
            <a:r>
              <a:rPr b="0" i="0" strike="noStrike" dirty="0"/>
              <a:t>PAGEREF </a:t>
            </a:r>
            <a:r>
              <a:rPr b="0" i="0" strike="noStrike" dirty="0"/>
              <a:t>section_0243b261903e43d98e8b43f66ea0bcaf208</a:t>
            </a:r>
          </a:p>
        </p:txBody>
      </p:sp>
      <p:sp>
        <p:nvSpPr>
          <p:cNvPr id="12" name="TextBox12"/>
          <p:cNvSpPr txBox="1">
            <a:spLocks noChangeArrowheads="1"/>
          </p:cNvSpPr>
          <p:nvPr/>
        </p:nvSpPr>
        <p:spPr>
          <a:xfrm rot="0">
            <a:off x="508000" y="3962400"/>
            <a:ext cx="11176000" cy="320040"/>
          </a:xfrm>
          <a:prstGeom prst="rect">
            <a:avLst/>
          </a:prstGeom>
          <a:ln>
            <a:headEnd type="none"/>
            <a:tailEnd type="none"/>
          </a:ln>
        </p:spPr>
        <p:txBody>
          <a:bodyPr wrap="square">
            <a:spAutoFit/>
          </a:bodyPr>
          <a:lstStyle/>
          <a:p>
            <a:pPr algn="l" defTabSz="914400"/>
            <a:r>
              <a:rPr/>
              <a:t>menu </a:t>
            </a:r>
            <a:r>
              <a:rPr/>
              <a:t>(unsized </a:t>
            </a:r>
            <a:r>
              <a:rPr/>
              <a:t>menu)</a:t>
            </a:r>
            <a:r>
              <a:rPr b="0" i="0" strike="noStrike" dirty="0"/>
              <a:t> </a:t>
            </a:r>
            <a:r>
              <a:rPr b="0" i="0" strike="noStrike" dirty="0"/>
              <a:t>PAGEREF </a:t>
            </a:r>
            <a:r>
              <a:rPr b="0" i="0" strike="noStrike" dirty="0"/>
              <a:t>section_1590adf87f2a4ec8944f9c4329e7ff98189</a:t>
            </a:r>
          </a:p>
        </p:txBody>
      </p:sp>
      <p:sp>
        <p:nvSpPr>
          <p:cNvPr id="13" name="TextBox13"/>
          <p:cNvSpPr txBox="1">
            <a:spLocks noChangeArrowheads="1"/>
          </p:cNvSpPr>
          <p:nvPr/>
        </p:nvSpPr>
        <p:spPr>
          <a:xfrm rot="0">
            <a:off x="508000" y="4307840"/>
            <a:ext cx="11176000" cy="320040"/>
          </a:xfrm>
          <a:prstGeom prst="rect">
            <a:avLst/>
          </a:prstGeom>
          <a:ln>
            <a:headEnd type="none"/>
            <a:tailEnd type="none"/>
          </a:ln>
        </p:spPr>
        <p:txBody>
          <a:bodyPr wrap="square">
            <a:spAutoFit/>
          </a:bodyPr>
          <a:lstStyle/>
          <a:p>
            <a:pPr algn="l" defTabSz="914400"/>
            <a:r>
              <a:rPr/>
              <a:t>menuSeparator </a:t>
            </a:r>
            <a:r>
              <a:rPr/>
              <a:t>(menu </a:t>
            </a:r>
            <a:r>
              <a:rPr/>
              <a:t>separator)</a:t>
            </a:r>
            <a:r>
              <a:rPr b="0" i="0" strike="noStrike" dirty="0"/>
              <a:t> </a:t>
            </a:r>
            <a:r>
              <a:rPr b="0" i="0" strike="noStrike" dirty="0"/>
              <a:t>PAGEREF </a:t>
            </a:r>
            <a:r>
              <a:rPr b="0" i="0" strike="noStrike" dirty="0"/>
              <a:t>section_00c26e34b4a84c97a4f6d547a555a686221</a:t>
            </a:r>
          </a:p>
        </p:txBody>
      </p:sp>
      <p:sp>
        <p:nvSpPr>
          <p:cNvPr id="14" name="TextBox14"/>
          <p:cNvSpPr txBox="1">
            <a:spLocks noChangeArrowheads="1"/>
          </p:cNvSpPr>
          <p:nvPr/>
        </p:nvSpPr>
        <p:spPr>
          <a:xfrm rot="0">
            <a:off x="508000" y="4653280"/>
            <a:ext cx="11176000" cy="320040"/>
          </a:xfrm>
          <a:prstGeom prst="rect">
            <a:avLst/>
          </a:prstGeom>
          <a:ln>
            <a:headEnd type="none"/>
            <a:tailEnd type="none"/>
          </a:ln>
        </p:spPr>
        <p:txBody>
          <a:bodyPr wrap="square">
            <a:spAutoFit/>
          </a:bodyPr>
          <a:lstStyle/>
          <a:p>
            <a:pPr algn="l" defTabSz="914400"/>
            <a:r>
              <a:rPr/>
              <a:t>officeMenu </a:t>
            </a:r>
            <a:r>
              <a:rPr/>
              <a:t>(Office </a:t>
            </a:r>
            <a:r>
              <a:rPr/>
              <a:t>menu)</a:t>
            </a:r>
            <a:r>
              <a:rPr b="0" i="0" strike="noStrike" dirty="0"/>
              <a:t> </a:t>
            </a:r>
            <a:r>
              <a:rPr b="0" i="0" strike="noStrike" dirty="0"/>
              <a:t>PAGEREF </a:t>
            </a:r>
            <a:r>
              <a:rPr b="0" i="0" strike="noStrike" dirty="0"/>
              <a:t>section_d9422554dbaf42e09e4b6416a80b0844224</a:t>
            </a:r>
          </a:p>
        </p:txBody>
      </p:sp>
      <p:sp>
        <p:nvSpPr>
          <p:cNvPr id="15" name="TextBox15"/>
          <p:cNvSpPr txBox="1">
            <a:spLocks noChangeArrowheads="1"/>
          </p:cNvSpPr>
          <p:nvPr/>
        </p:nvSpPr>
        <p:spPr>
          <a:xfrm rot="0">
            <a:off x="508000" y="4998720"/>
            <a:ext cx="11176000" cy="320040"/>
          </a:xfrm>
          <a:prstGeom prst="rect">
            <a:avLst/>
          </a:prstGeom>
          <a:ln>
            <a:headEnd type="none"/>
            <a:tailEnd type="none"/>
          </a:ln>
        </p:spPr>
        <p:txBody>
          <a:bodyPr wrap="square">
            <a:spAutoFit/>
          </a:bodyPr>
          <a:lstStyle/>
          <a:p>
            <a:pPr algn="l" defTabSz="914400"/>
            <a:r>
              <a:rPr/>
              <a:t>qat </a:t>
            </a:r>
            <a:r>
              <a:rPr/>
              <a:t>(Quick </a:t>
            </a:r>
            <a:r>
              <a:rPr/>
              <a:t>Access </a:t>
            </a:r>
            <a:r>
              <a:rPr/>
              <a:t>Toolbar)</a:t>
            </a:r>
            <a:r>
              <a:rPr b="0" i="0" strike="noStrike" dirty="0"/>
              <a:t> </a:t>
            </a:r>
            <a:r>
              <a:rPr b="0" i="0" strike="noStrike" dirty="0"/>
              <a:t>PAGEREF </a:t>
            </a:r>
            <a:r>
              <a:rPr b="0" i="0" strike="noStrike" dirty="0"/>
              <a:t>section_93e2f741a06c40968dbf5a97fefca545225</a:t>
            </a:r>
          </a:p>
        </p:txBody>
      </p:sp>
      <p:sp>
        <p:nvSpPr>
          <p:cNvPr id="16" name="TextBox16"/>
          <p:cNvSpPr txBox="1">
            <a:spLocks noChangeArrowheads="1"/>
          </p:cNvSpPr>
          <p:nvPr/>
        </p:nvSpPr>
        <p:spPr>
          <a:xfrm rot="0">
            <a:off x="508000" y="5344160"/>
            <a:ext cx="11176000" cy="320040"/>
          </a:xfrm>
          <a:prstGeom prst="rect">
            <a:avLst/>
          </a:prstGeom>
          <a:ln>
            <a:headEnd type="none"/>
            <a:tailEnd type="none"/>
          </a:ln>
        </p:spPr>
        <p:txBody>
          <a:bodyPr wrap="square">
            <a:spAutoFit/>
          </a:bodyPr>
          <a:lstStyle/>
          <a:p>
            <a:pPr algn="l" defTabSz="914400"/>
            <a:r>
              <a:rPr/>
              <a:t>ribbon </a:t>
            </a:r>
            <a:r>
              <a:rPr/>
              <a:t>(ribbon)</a:t>
            </a:r>
            <a:r>
              <a:rPr b="0" i="0" strike="noStrike" dirty="0"/>
              <a:t> </a:t>
            </a:r>
            <a:r>
              <a:rPr b="0" i="0" strike="noStrike" dirty="0"/>
              <a:t>PAGEREF </a:t>
            </a:r>
            <a:r>
              <a:rPr b="0" i="0" strike="noStrike" dirty="0"/>
              <a:t>section_574eeee87a03406ab95ff9e51e53dd9d226</a:t>
            </a:r>
          </a:p>
        </p:txBody>
      </p:sp>
      <p:sp>
        <p:nvSpPr>
          <p:cNvPr id="17" name="TextBox17"/>
          <p:cNvSpPr txBox="1">
            <a:spLocks noChangeArrowheads="1"/>
          </p:cNvSpPr>
          <p:nvPr/>
        </p:nvSpPr>
        <p:spPr>
          <a:xfrm rot="0">
            <a:off x="508000" y="5689600"/>
            <a:ext cx="11176000" cy="320040"/>
          </a:xfrm>
          <a:prstGeom prst="rect">
            <a:avLst/>
          </a:prstGeom>
          <a:ln>
            <a:headEnd type="none"/>
            <a:tailEnd type="none"/>
          </a:ln>
        </p:spPr>
        <p:txBody>
          <a:bodyPr wrap="square">
            <a:spAutoFit/>
          </a:bodyPr>
          <a:lstStyle/>
          <a:p>
            <a:pPr algn="l" defTabSz="914400"/>
            <a:r>
              <a:rPr/>
              <a:t>separator </a:t>
            </a:r>
            <a:r>
              <a:rPr/>
              <a:t>(separator)</a:t>
            </a:r>
            <a:r>
              <a:rPr b="0" i="0" strike="noStrike" dirty="0"/>
              <a:t> </a:t>
            </a:r>
            <a:r>
              <a:rPr b="0" i="0" strike="noStrike" dirty="0"/>
              <a:t>PAGEREF </a:t>
            </a:r>
            <a:r>
              <a:rPr b="0" i="0" strike="noStrike" dirty="0"/>
              <a:t>section_21312cb8be0f412c8184acd533a1410b227</a:t>
            </a:r>
          </a:p>
        </p:txBody>
      </p:sp>
    </p:spTree>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640080"/>
          </a:xfrm>
          <a:prstGeom prst="rect">
            <a:avLst/>
          </a:prstGeom>
          <a:ln>
            <a:headEnd type="none"/>
            <a:tailEnd type="none"/>
          </a:ln>
        </p:spPr>
        <p:txBody>
          <a:bodyPr wrap="square">
            <a:spAutoFit/>
          </a:bodyPr>
          <a:lstStyle/>
          <a:p>
            <a:pPr algn="l" defTabSz="914400"/>
            <a:r>
              <a:rPr/>
              <a:t>sharedControls </a:t>
            </a:r>
            <a:r>
              <a:rPr/>
              <a:t>(list </a:t>
            </a:r>
            <a:r>
              <a:rPr/>
              <a:t>of </a:t>
            </a:r>
            <a:r>
              <a:rPr/>
              <a:t>shared </a:t>
            </a:r>
            <a:r>
              <a:rPr/>
              <a:t>Quick </a:t>
            </a:r>
            <a:r>
              <a:rPr/>
              <a:t>Access </a:t>
            </a:r>
            <a:r>
              <a:rPr/>
              <a:t>Toolbar </a:t>
            </a:r>
            <a:r>
              <a:rPr/>
              <a:t>controls)</a:t>
            </a:r>
            <a:r>
              <a:rPr b="0" i="0" strike="noStrike" dirty="0"/>
              <a:t> </a:t>
            </a:r>
            <a:r>
              <a:rPr b="0" i="0" strike="noStrike" dirty="0"/>
              <a:t>PAGEREF </a:t>
            </a:r>
            <a:r>
              <a:rPr b="0" i="0" strike="noStrike" dirty="0"/>
              <a:t>section_0ca32ee5aae74ff18baa8a8c9be2ebb3230</a:t>
            </a:r>
          </a:p>
        </p:txBody>
      </p:sp>
      <p:sp>
        <p:nvSpPr>
          <p:cNvPr id="3" name="TextBox3"/>
          <p:cNvSpPr txBox="1">
            <a:spLocks noChangeArrowheads="1"/>
          </p:cNvSpPr>
          <p:nvPr/>
        </p:nvSpPr>
        <p:spPr>
          <a:xfrm rot="0">
            <a:off x="508000" y="1173480"/>
            <a:ext cx="11176000" cy="320040"/>
          </a:xfrm>
          <a:prstGeom prst="rect">
            <a:avLst/>
          </a:prstGeom>
          <a:ln>
            <a:headEnd type="none"/>
            <a:tailEnd type="none"/>
          </a:ln>
        </p:spPr>
        <p:txBody>
          <a:bodyPr wrap="square">
            <a:spAutoFit/>
          </a:bodyPr>
          <a:lstStyle/>
          <a:p>
            <a:pPr algn="l" defTabSz="914400"/>
            <a:r>
              <a:rPr/>
              <a:t>splitButton </a:t>
            </a:r>
            <a:r>
              <a:rPr/>
              <a:t>(split </a:t>
            </a:r>
            <a:r>
              <a:rPr/>
              <a:t>button </a:t>
            </a:r>
            <a:r>
              <a:rPr/>
              <a:t>with </a:t>
            </a:r>
            <a:r>
              <a:rPr/>
              <a:t>title)</a:t>
            </a:r>
            <a:r>
              <a:rPr b="0" i="0" strike="noStrike" dirty="0"/>
              <a:t> </a:t>
            </a:r>
            <a:r>
              <a:rPr b="0" i="0" strike="noStrike" dirty="0"/>
              <a:t>PAGEREF </a:t>
            </a:r>
            <a:r>
              <a:rPr b="0" i="0" strike="noStrike" dirty="0"/>
              <a:t>section_1c6721206402408b96dde98650c12da5239</a:t>
            </a:r>
          </a:p>
        </p:txBody>
      </p:sp>
      <p:sp>
        <p:nvSpPr>
          <p:cNvPr id="4" name="TextBox4"/>
          <p:cNvSpPr txBox="1">
            <a:spLocks noChangeArrowheads="1"/>
          </p:cNvSpPr>
          <p:nvPr/>
        </p:nvSpPr>
        <p:spPr>
          <a:xfrm rot="0">
            <a:off x="508000" y="1518920"/>
            <a:ext cx="11176000" cy="320040"/>
          </a:xfrm>
          <a:prstGeom prst="rect">
            <a:avLst/>
          </a:prstGeom>
          <a:ln>
            <a:headEnd type="none"/>
            <a:tailEnd type="none"/>
          </a:ln>
        </p:spPr>
        <p:txBody>
          <a:bodyPr wrap="square">
            <a:spAutoFit/>
          </a:bodyPr>
          <a:lstStyle/>
          <a:p>
            <a:pPr algn="l" defTabSz="914400"/>
            <a:r>
              <a:rPr/>
              <a:t>splitButton </a:t>
            </a:r>
            <a:r>
              <a:rPr/>
              <a:t>(split </a:t>
            </a:r>
            <a:r>
              <a:rPr/>
              <a:t>button)</a:t>
            </a:r>
            <a:r>
              <a:rPr b="0" i="0" strike="noStrike" dirty="0"/>
              <a:t> </a:t>
            </a:r>
            <a:r>
              <a:rPr b="0" i="0" strike="noStrike" dirty="0"/>
              <a:t>PAGEREF </a:t>
            </a:r>
            <a:r>
              <a:rPr b="0" i="0" strike="noStrike" dirty="0"/>
              <a:t>section_aa41c698c7e84486b15fb73bedbf2be8248</a:t>
            </a:r>
          </a:p>
        </p:txBody>
      </p:sp>
      <p:sp>
        <p:nvSpPr>
          <p:cNvPr id="5" name="TextBox5"/>
          <p:cNvSpPr txBox="1">
            <a:spLocks noChangeArrowheads="1"/>
          </p:cNvSpPr>
          <p:nvPr/>
        </p:nvSpPr>
        <p:spPr>
          <a:xfrm rot="0">
            <a:off x="508000" y="1864360"/>
            <a:ext cx="11176000" cy="320040"/>
          </a:xfrm>
          <a:prstGeom prst="rect">
            <a:avLst/>
          </a:prstGeom>
          <a:ln>
            <a:headEnd type="none"/>
            <a:tailEnd type="none"/>
          </a:ln>
        </p:spPr>
        <p:txBody>
          <a:bodyPr wrap="square">
            <a:spAutoFit/>
          </a:bodyPr>
          <a:lstStyle/>
          <a:p>
            <a:pPr algn="l" defTabSz="914400"/>
            <a:r>
              <a:rPr/>
              <a:t>splitButton </a:t>
            </a:r>
            <a:r>
              <a:rPr/>
              <a:t>(unsized </a:t>
            </a:r>
            <a:r>
              <a:rPr/>
              <a:t>split </a:t>
            </a:r>
            <a:r>
              <a:rPr/>
              <a:t>button)</a:t>
            </a:r>
            <a:r>
              <a:rPr b="0" i="0" strike="noStrike" dirty="0"/>
              <a:t> </a:t>
            </a:r>
            <a:r>
              <a:rPr b="0" i="0" strike="noStrike" dirty="0"/>
              <a:t>PAGEREF </a:t>
            </a:r>
            <a:r>
              <a:rPr b="0" i="0" strike="noStrike" dirty="0"/>
              <a:t>section_6477dffcc8f24fc9815b637dabf3911d231</a:t>
            </a:r>
          </a:p>
        </p:txBody>
      </p:sp>
      <p:sp>
        <p:nvSpPr>
          <p:cNvPr id="6" name="TextBox6"/>
          <p:cNvSpPr txBox="1">
            <a:spLocks noChangeArrowheads="1"/>
          </p:cNvSpPr>
          <p:nvPr/>
        </p:nvSpPr>
        <p:spPr>
          <a:xfrm rot="0">
            <a:off x="508000" y="2209800"/>
            <a:ext cx="11176000" cy="320040"/>
          </a:xfrm>
          <a:prstGeom prst="rect">
            <a:avLst/>
          </a:prstGeom>
          <a:ln>
            <a:headEnd type="none"/>
            <a:tailEnd type="none"/>
          </a:ln>
        </p:spPr>
        <p:txBody>
          <a:bodyPr wrap="square">
            <a:spAutoFit/>
          </a:bodyPr>
          <a:lstStyle/>
          <a:p>
            <a:pPr algn="l" defTabSz="914400"/>
            <a:r>
              <a:rPr/>
              <a:t>tab </a:t>
            </a:r>
            <a:r>
              <a:rPr/>
              <a:t>(tab)</a:t>
            </a:r>
            <a:r>
              <a:rPr b="0" i="0" strike="noStrike" dirty="0"/>
              <a:t> </a:t>
            </a:r>
            <a:r>
              <a:rPr b="0" i="0" strike="noStrike" dirty="0"/>
              <a:t>PAGEREF </a:t>
            </a:r>
            <a:r>
              <a:rPr b="0" i="0" strike="noStrike" dirty="0"/>
              <a:t>section_141f881ca5a4473f944955d3d36579ed257</a:t>
            </a:r>
          </a:p>
        </p:txBody>
      </p:sp>
      <p:sp>
        <p:nvSpPr>
          <p:cNvPr id="7" name="TextBox7"/>
          <p:cNvSpPr txBox="1">
            <a:spLocks noChangeArrowheads="1"/>
          </p:cNvSpPr>
          <p:nvPr/>
        </p:nvSpPr>
        <p:spPr>
          <a:xfrm rot="0">
            <a:off x="508000" y="2555240"/>
            <a:ext cx="11176000" cy="320040"/>
          </a:xfrm>
          <a:prstGeom prst="rect">
            <a:avLst/>
          </a:prstGeom>
          <a:ln>
            <a:headEnd type="none"/>
            <a:tailEnd type="none"/>
          </a:ln>
        </p:spPr>
        <p:txBody>
          <a:bodyPr wrap="square">
            <a:spAutoFit/>
          </a:bodyPr>
          <a:lstStyle/>
          <a:p>
            <a:pPr algn="l" defTabSz="914400"/>
            <a:r>
              <a:rPr/>
              <a:t>tabs </a:t>
            </a:r>
            <a:r>
              <a:rPr/>
              <a:t>(list </a:t>
            </a:r>
            <a:r>
              <a:rPr/>
              <a:t>of </a:t>
            </a:r>
            <a:r>
              <a:rPr/>
              <a:t>tabs)</a:t>
            </a:r>
            <a:r>
              <a:rPr b="0" i="0" strike="noStrike" dirty="0"/>
              <a:t> </a:t>
            </a:r>
            <a:r>
              <a:rPr b="0" i="0" strike="noStrike" dirty="0"/>
              <a:t>PAGEREF </a:t>
            </a:r>
            <a:r>
              <a:rPr b="0" i="0" strike="noStrike" dirty="0"/>
              <a:t>section_6cbd1ae9780f421886aec536f6c0e97a261</a:t>
            </a:r>
          </a:p>
        </p:txBody>
      </p:sp>
      <p:sp>
        <p:nvSpPr>
          <p:cNvPr id="8" name="TextBox8"/>
          <p:cNvSpPr txBox="1">
            <a:spLocks noChangeArrowheads="1"/>
          </p:cNvSpPr>
          <p:nvPr/>
        </p:nvSpPr>
        <p:spPr>
          <a:xfrm rot="0">
            <a:off x="508000" y="2900680"/>
            <a:ext cx="11176000" cy="320040"/>
          </a:xfrm>
          <a:prstGeom prst="rect">
            <a:avLst/>
          </a:prstGeom>
          <a:ln>
            <a:headEnd type="none"/>
            <a:tailEnd type="none"/>
          </a:ln>
        </p:spPr>
        <p:txBody>
          <a:bodyPr wrap="square">
            <a:spAutoFit/>
          </a:bodyPr>
          <a:lstStyle/>
          <a:p>
            <a:pPr algn="l" defTabSz="914400"/>
            <a:r>
              <a:rPr/>
              <a:t>tabSet </a:t>
            </a:r>
            <a:r>
              <a:rPr/>
              <a:t>(contextual </a:t>
            </a:r>
            <a:r>
              <a:rPr/>
              <a:t>tab </a:t>
            </a:r>
            <a:r>
              <a:rPr/>
              <a:t>set)</a:t>
            </a:r>
            <a:r>
              <a:rPr b="0" i="0" strike="noStrike" dirty="0"/>
              <a:t> </a:t>
            </a:r>
            <a:r>
              <a:rPr b="0" i="0" strike="noStrike" dirty="0"/>
              <a:t>PAGEREF </a:t>
            </a:r>
            <a:r>
              <a:rPr b="0" i="0" strike="noStrike" dirty="0"/>
              <a:t>section_90a00968474745128601b61440747033262</a:t>
            </a:r>
          </a:p>
        </p:txBody>
      </p:sp>
      <p:sp>
        <p:nvSpPr>
          <p:cNvPr id="9" name="TextBox9"/>
          <p:cNvSpPr txBox="1">
            <a:spLocks noChangeArrowheads="1"/>
          </p:cNvSpPr>
          <p:nvPr/>
        </p:nvSpPr>
        <p:spPr>
          <a:xfrm rot="0">
            <a:off x="508000" y="3246120"/>
            <a:ext cx="11176000" cy="640080"/>
          </a:xfrm>
          <a:prstGeom prst="rect">
            <a:avLst/>
          </a:prstGeom>
          <a:ln>
            <a:headEnd type="none"/>
            <a:tailEnd type="none"/>
          </a:ln>
        </p:spPr>
        <p:txBody>
          <a:bodyPr wrap="square">
            <a:spAutoFit/>
          </a:bodyPr>
          <a:lstStyle/>
          <a:p>
            <a:pPr algn="l" defTabSz="914400"/>
            <a:r>
              <a:rPr/>
              <a:t>toggleButton </a:t>
            </a:r>
            <a:r>
              <a:rPr/>
              <a:t>(toggle </a:t>
            </a:r>
            <a:r>
              <a:rPr/>
              <a:t>button </a:t>
            </a:r>
            <a:r>
              <a:rPr/>
              <a:t>inside </a:t>
            </a:r>
            <a:r>
              <a:rPr/>
              <a:t>of </a:t>
            </a:r>
            <a:r>
              <a:rPr/>
              <a:t>a </a:t>
            </a:r>
            <a:r>
              <a:rPr/>
              <a:t>split </a:t>
            </a:r>
            <a:r>
              <a:rPr/>
              <a:t>button)</a:t>
            </a:r>
            <a:r>
              <a:rPr b="0" i="0" strike="noStrike" dirty="0"/>
              <a:t> </a:t>
            </a:r>
            <a:r>
              <a:rPr b="0" i="0" strike="noStrike" dirty="0"/>
              <a:t>PAGEREF </a:t>
            </a:r>
            <a:r>
              <a:rPr b="0" i="0" strike="noStrike" dirty="0"/>
              <a:t>section_539b9c44822d45cb8abe66b65a8bc14c283</a:t>
            </a:r>
          </a:p>
        </p:txBody>
      </p:sp>
      <p:sp>
        <p:nvSpPr>
          <p:cNvPr id="10" name="TextBox10"/>
          <p:cNvSpPr txBox="1">
            <a:spLocks noChangeArrowheads="1"/>
          </p:cNvSpPr>
          <p:nvPr/>
        </p:nvSpPr>
        <p:spPr>
          <a:xfrm rot="0">
            <a:off x="508000" y="3911600"/>
            <a:ext cx="11176000" cy="320040"/>
          </a:xfrm>
          <a:prstGeom prst="rect">
            <a:avLst/>
          </a:prstGeom>
          <a:ln>
            <a:headEnd type="none"/>
            <a:tailEnd type="none"/>
          </a:ln>
        </p:spPr>
        <p:txBody>
          <a:bodyPr wrap="square">
            <a:spAutoFit/>
          </a:bodyPr>
          <a:lstStyle/>
          <a:p>
            <a:pPr algn="l" defTabSz="914400"/>
            <a:r>
              <a:rPr/>
              <a:t>toggleButton </a:t>
            </a:r>
            <a:r>
              <a:rPr/>
              <a:t>(toggle </a:t>
            </a:r>
            <a:r>
              <a:rPr/>
              <a:t>button)</a:t>
            </a:r>
            <a:r>
              <a:rPr b="0" i="0" strike="noStrike" dirty="0"/>
              <a:t> </a:t>
            </a:r>
            <a:r>
              <a:rPr b="0" i="0" strike="noStrike" dirty="0"/>
              <a:t>PAGEREF </a:t>
            </a:r>
            <a:r>
              <a:rPr b="0" i="0" strike="noStrike" dirty="0"/>
              <a:t>section_ec42bfd0149c495b895c3bc708b8a149273</a:t>
            </a:r>
          </a:p>
        </p:txBody>
      </p:sp>
      <p:sp>
        <p:nvSpPr>
          <p:cNvPr id="11" name="TextBox11"/>
          <p:cNvSpPr txBox="1">
            <a:spLocks noChangeArrowheads="1"/>
          </p:cNvSpPr>
          <p:nvPr/>
        </p:nvSpPr>
        <p:spPr>
          <a:xfrm rot="0">
            <a:off x="508000" y="4257040"/>
            <a:ext cx="11176000" cy="320040"/>
          </a:xfrm>
          <a:prstGeom prst="rect">
            <a:avLst/>
          </a:prstGeom>
          <a:ln>
            <a:headEnd type="none"/>
            <a:tailEnd type="none"/>
          </a:ln>
        </p:spPr>
        <p:txBody>
          <a:bodyPr wrap="square">
            <a:spAutoFit/>
          </a:bodyPr>
          <a:lstStyle/>
          <a:p>
            <a:pPr algn="l" defTabSz="914400"/>
            <a:r>
              <a:rPr/>
              <a:t>toggleButton </a:t>
            </a:r>
            <a:r>
              <a:rPr/>
              <a:t>(unsized </a:t>
            </a:r>
            <a:r>
              <a:rPr/>
              <a:t>toggle </a:t>
            </a:r>
            <a:r>
              <a:rPr/>
              <a:t>button)</a:t>
            </a:r>
            <a:r>
              <a:rPr b="0" i="0" strike="noStrike" dirty="0"/>
              <a:t> </a:t>
            </a:r>
            <a:r>
              <a:rPr b="0" i="0" strike="noStrike" dirty="0"/>
              <a:t>PAGEREF </a:t>
            </a:r>
            <a:r>
              <a:rPr b="0" i="0" strike="noStrike" dirty="0"/>
              <a:t>section_69b127857fce431591c145aa114726ea263</a:t>
            </a:r>
          </a:p>
        </p:txBody>
      </p:sp>
      <p:sp>
        <p:nvSpPr>
          <p:cNvPr id="12" name="TextBox12"/>
          <p:cNvSpPr txBox="1">
            <a:spLocks noChangeArrowheads="1"/>
          </p:cNvSpPr>
          <p:nvPr/>
        </p:nvSpPr>
        <p:spPr>
          <a:xfrm rot="0">
            <a:off x="508000" y="4602480"/>
            <a:ext cx="11176000" cy="320040"/>
          </a:xfrm>
          <a:prstGeom prst="rect">
            <a:avLst/>
          </a:prstGeom>
          <a:ln>
            <a:headEnd type="none"/>
            <a:tailEnd type="none"/>
          </a:ln>
        </p:spPr>
        <p:txBody>
          <a:bodyPr wrap="square">
            <a:spAutoFit/>
          </a:bodyPr>
          <a:lstStyle/>
          <a:p>
            <a:pPr algn="l" defTabSz="914400"/>
            <a:r>
              <a:rPr b="1" i="1" strike="noStrike" dirty="0"/>
              <a:t>G</a:t>
            </a:r>
          </a:p>
        </p:txBody>
      </p:sp>
      <p:sp>
        <p:nvSpPr>
          <p:cNvPr id="13" name="TextBox13"/>
          <p:cNvSpPr txBox="1">
            <a:spLocks noChangeArrowheads="1"/>
          </p:cNvSpPr>
          <p:nvPr/>
        </p:nvSpPr>
        <p:spPr>
          <a:xfrm rot="0">
            <a:off x="508000" y="4947920"/>
            <a:ext cx="11176000" cy="320040"/>
          </a:xfrm>
          <a:prstGeom prst="rect">
            <a:avLst/>
          </a:prstGeom>
          <a:ln>
            <a:headEnd type="none"/>
            <a:tailEnd type="none"/>
          </a:ln>
        </p:spPr>
        <p:txBody>
          <a:bodyPr wrap="square">
            <a:spAutoFit/>
          </a:bodyPr>
          <a:lstStyle/>
          <a:p>
            <a:pPr algn="l" defTabSz="914400"/>
            <a:r>
              <a:rPr/>
              <a:t>Glossary</a:t>
            </a:r>
            <a:r>
              <a:rPr b="0" i="0" strike="noStrike" dirty="0"/>
              <a:t> </a:t>
            </a:r>
            <a:r>
              <a:rPr b="0" i="0" strike="noStrike" dirty="0"/>
              <a:t>PAGEREF </a:t>
            </a:r>
            <a:r>
              <a:rPr b="0" i="0" strike="noStrike" dirty="0"/>
              <a:t>section_315de154485a48fca96e8c1a2b3209647</a:t>
            </a:r>
          </a:p>
        </p:txBody>
      </p:sp>
      <p:sp>
        <p:nvSpPr>
          <p:cNvPr id="14" name="TextBox14"/>
          <p:cNvSpPr txBox="1">
            <a:spLocks noChangeArrowheads="1"/>
          </p:cNvSpPr>
          <p:nvPr/>
        </p:nvSpPr>
        <p:spPr>
          <a:xfrm rot="0">
            <a:off x="508000" y="5293360"/>
            <a:ext cx="11176000" cy="320040"/>
          </a:xfrm>
          <a:prstGeom prst="rect">
            <a:avLst/>
          </a:prstGeom>
          <a:ln>
            <a:headEnd type="none"/>
            <a:tailEnd type="none"/>
          </a:ln>
        </p:spPr>
        <p:txBody>
          <a:bodyPr wrap="square">
            <a:spAutoFit/>
          </a:bodyPr>
          <a:lstStyle/>
          <a:p>
            <a:pPr algn="l" defTabSz="914400"/>
            <a:r>
              <a:rPr b="1" i="1" strike="noStrike" dirty="0"/>
              <a:t>I</a:t>
            </a:r>
          </a:p>
        </p:txBody>
      </p:sp>
      <p:sp>
        <p:nvSpPr>
          <p:cNvPr id="15" name="TextBox15"/>
          <p:cNvSpPr txBox="1">
            <a:spLocks noChangeArrowheads="1"/>
          </p:cNvSpPr>
          <p:nvPr/>
        </p:nvSpPr>
        <p:spPr>
          <a:xfrm rot="0">
            <a:off x="508000" y="5638800"/>
            <a:ext cx="11176000" cy="320040"/>
          </a:xfrm>
          <a:prstGeom prst="rect">
            <a:avLst/>
          </a:prstGeom>
          <a:ln>
            <a:headEnd type="none"/>
            <a:tailEnd type="none"/>
          </a:ln>
        </p:spPr>
        <p:txBody>
          <a:bodyPr wrap="square">
            <a:spAutoFit/>
          </a:bodyPr>
          <a:lstStyle/>
          <a:p>
            <a:pPr algn="l" defTabSz="914400"/>
            <a:r>
              <a:rPr b="0" i="0" strike="noStrike" dirty="0"/>
              <a:t>idMso </a:t>
            </a:r>
            <a:r>
              <a:rPr b="0" i="0" strike="noStrike" dirty="0"/>
              <a:t>tables</a:t>
            </a:r>
          </a:p>
        </p:txBody>
      </p:sp>
      <p:sp>
        <p:nvSpPr>
          <p:cNvPr id="16" name="TextBox16"/>
          <p:cNvSpPr txBox="1">
            <a:spLocks noChangeArrowheads="1"/>
          </p:cNvSpPr>
          <p:nvPr/>
        </p:nvSpPr>
        <p:spPr>
          <a:xfrm rot="0">
            <a:off x="508000" y="5984240"/>
            <a:ext cx="11176000" cy="320040"/>
          </a:xfrm>
          <a:prstGeom prst="rect">
            <a:avLst/>
          </a:prstGeom>
          <a:ln>
            <a:headEnd type="none"/>
            <a:tailEnd type="none"/>
          </a:ln>
        </p:spPr>
        <p:txBody>
          <a:bodyPr wrap="square">
            <a:spAutoFit/>
          </a:bodyPr>
          <a:lstStyle/>
          <a:p>
            <a:pPr algn="l" defTabSz="914400"/>
            <a:r>
              <a:rPr/>
              <a:t>Excel </a:t>
            </a:r>
            <a:r>
              <a:rPr/>
              <a:t>2007</a:t>
            </a:r>
            <a:r>
              <a:rPr b="0" i="0" strike="noStrike" dirty="0"/>
              <a:t> </a:t>
            </a:r>
            <a:r>
              <a:rPr b="0" i="0" strike="noStrike" dirty="0"/>
              <a:t>PAGEREF </a:t>
            </a:r>
            <a:r>
              <a:rPr b="0" i="0" strike="noStrike" dirty="0"/>
              <a:t>section_bb5bb594ec8c45f68424f98e8308b25a358</a:t>
            </a:r>
          </a:p>
        </p:txBody>
      </p:sp>
    </p:spTree>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a:t>PowerPoint </a:t>
            </a:r>
            <a:r>
              <a:rPr/>
              <a:t>2007</a:t>
            </a:r>
            <a:r>
              <a:rPr b="0" i="0" strike="noStrike" dirty="0"/>
              <a:t> </a:t>
            </a:r>
            <a:r>
              <a:rPr b="0" i="0" strike="noStrike" dirty="0"/>
              <a:t>PAGEREF </a:t>
            </a:r>
            <a:r>
              <a:rPr b="0" i="0" strike="noStrike" dirty="0"/>
              <a:t>section_f2a8e3c014cb4ad388cda8b5b1b9a8a0393</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a:t>Word </a:t>
            </a:r>
            <a:r>
              <a:rPr/>
              <a:t>2007</a:t>
            </a:r>
            <a:r>
              <a:rPr b="0" i="0" strike="noStrike" dirty="0"/>
              <a:t> </a:t>
            </a:r>
            <a:r>
              <a:rPr b="0" i="0" strike="noStrike" dirty="0"/>
              <a:t>PAGEREF </a:t>
            </a:r>
            <a:r>
              <a:rPr b="0" i="0" strike="noStrike" dirty="0"/>
              <a:t>section_a9f90d736e694bb78e384f268cd42038304</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a:t>Informative </a:t>
            </a:r>
            <a:r>
              <a:rPr/>
              <a:t>references</a:t>
            </a:r>
            <a:r>
              <a:rPr b="0" i="0" strike="noStrike" dirty="0"/>
              <a:t> </a:t>
            </a:r>
            <a:r>
              <a:rPr b="0" i="0" strike="noStrike" dirty="0"/>
              <a:t>PAGEREF </a:t>
            </a:r>
            <a:r>
              <a:rPr b="0" i="0" strike="noStrike" dirty="0"/>
              <a:t>section_dbe3a851c6b94ae0ba7984f1e88432d18</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a:t>Introduction</a:t>
            </a:r>
            <a:r>
              <a:rPr b="0" i="0" strike="noStrike" dirty="0"/>
              <a:t> </a:t>
            </a:r>
            <a:r>
              <a:rPr b="0" i="0" strike="noStrike" dirty="0"/>
              <a:t>PAGEREF </a:t>
            </a:r>
            <a:r>
              <a:rPr b="0" i="0" strike="noStrike" dirty="0"/>
              <a:t>section_5b5f9bab46874f838f2cb743c813e4c37</a:t>
            </a:r>
          </a:p>
        </p:txBody>
      </p:sp>
      <p:sp>
        <p:nvSpPr>
          <p:cNvPr id="6" name="TextBox6"/>
          <p:cNvSpPr txBox="1">
            <a:spLocks noChangeArrowheads="1"/>
          </p:cNvSpPr>
          <p:nvPr/>
        </p:nvSpPr>
        <p:spPr>
          <a:xfrm rot="0">
            <a:off x="508000" y="1889760"/>
            <a:ext cx="11176000" cy="320040"/>
          </a:xfrm>
          <a:prstGeom prst="rect">
            <a:avLst/>
          </a:prstGeom>
          <a:ln>
            <a:headEnd type="none"/>
            <a:tailEnd type="none"/>
          </a:ln>
        </p:spPr>
        <p:txBody>
          <a:bodyPr wrap="square">
            <a:spAutoFit/>
          </a:bodyPr>
          <a:lstStyle/>
          <a:p>
            <a:pPr algn="l" defTabSz="914400"/>
            <a:r>
              <a:rPr b="1" i="1" strike="noStrike" dirty="0"/>
              <a:t>N</a:t>
            </a:r>
          </a:p>
        </p:txBody>
      </p:sp>
      <p:sp>
        <p:nvSpPr>
          <p:cNvPr id="7" name="TextBox7"/>
          <p:cNvSpPr txBox="1">
            <a:spLocks noChangeArrowheads="1"/>
          </p:cNvSpPr>
          <p:nvPr/>
        </p:nvSpPr>
        <p:spPr>
          <a:xfrm rot="0">
            <a:off x="508000" y="2235200"/>
            <a:ext cx="11176000" cy="320040"/>
          </a:xfrm>
          <a:prstGeom prst="rect">
            <a:avLst/>
          </a:prstGeom>
          <a:ln>
            <a:headEnd type="none"/>
            <a:tailEnd type="none"/>
          </a:ln>
        </p:spPr>
        <p:txBody>
          <a:bodyPr wrap="square">
            <a:spAutoFit/>
          </a:bodyPr>
          <a:lstStyle/>
          <a:p>
            <a:pPr algn="l" defTabSz="914400"/>
            <a:r>
              <a:rPr/>
              <a:t>Normative </a:t>
            </a:r>
            <a:r>
              <a:rPr/>
              <a:t>references</a:t>
            </a:r>
            <a:r>
              <a:rPr b="0" i="0" strike="noStrike" dirty="0"/>
              <a:t> </a:t>
            </a:r>
            <a:r>
              <a:rPr b="0" i="0" strike="noStrike" dirty="0"/>
              <a:t>PAGEREF </a:t>
            </a:r>
            <a:r>
              <a:rPr b="0" i="0" strike="noStrike" dirty="0"/>
              <a:t>section_ea98067859b3466892052fedb66150138</a:t>
            </a:r>
          </a:p>
        </p:txBody>
      </p:sp>
      <p:sp>
        <p:nvSpPr>
          <p:cNvPr id="8" name="TextBox8"/>
          <p:cNvSpPr txBox="1">
            <a:spLocks noChangeArrowheads="1"/>
          </p:cNvSpPr>
          <p:nvPr/>
        </p:nvSpPr>
        <p:spPr>
          <a:xfrm rot="0">
            <a:off x="508000" y="2580640"/>
            <a:ext cx="11176000" cy="320040"/>
          </a:xfrm>
          <a:prstGeom prst="rect">
            <a:avLst/>
          </a:prstGeom>
          <a:ln>
            <a:headEnd type="none"/>
            <a:tailEnd type="none"/>
          </a:ln>
        </p:spPr>
        <p:txBody>
          <a:bodyPr wrap="square">
            <a:spAutoFit/>
          </a:bodyPr>
          <a:lstStyle/>
          <a:p>
            <a:pPr algn="l" defTabSz="914400"/>
            <a:r>
              <a:rPr b="1" i="1" strike="noStrike" dirty="0"/>
              <a:t>P</a:t>
            </a:r>
          </a:p>
        </p:txBody>
      </p:sp>
      <p:sp>
        <p:nvSpPr>
          <p:cNvPr id="9" name="TextBox9"/>
          <p:cNvSpPr txBox="1">
            <a:spLocks noChangeArrowheads="1"/>
          </p:cNvSpPr>
          <p:nvPr/>
        </p:nvSpPr>
        <p:spPr>
          <a:xfrm rot="0">
            <a:off x="508000" y="2926080"/>
            <a:ext cx="11176000" cy="320040"/>
          </a:xfrm>
          <a:prstGeom prst="rect">
            <a:avLst/>
          </a:prstGeom>
          <a:ln>
            <a:headEnd type="none"/>
            <a:tailEnd type="none"/>
          </a:ln>
        </p:spPr>
        <p:txBody>
          <a:bodyPr wrap="square">
            <a:spAutoFit/>
          </a:bodyPr>
          <a:lstStyle/>
          <a:p>
            <a:pPr algn="l" defTabSz="914400"/>
            <a:r>
              <a:rPr b="0" i="0" strike="noStrike" dirty="0"/>
              <a:t>Parts</a:t>
            </a:r>
          </a:p>
        </p:txBody>
      </p:sp>
      <p:sp>
        <p:nvSpPr>
          <p:cNvPr id="10" name="TextBox10"/>
          <p:cNvSpPr txBox="1">
            <a:spLocks noChangeArrowheads="1"/>
          </p:cNvSpPr>
          <p:nvPr/>
        </p:nvSpPr>
        <p:spPr>
          <a:xfrm rot="0">
            <a:off x="508000" y="3271520"/>
            <a:ext cx="11176000" cy="320040"/>
          </a:xfrm>
          <a:prstGeom prst="rect">
            <a:avLst/>
          </a:prstGeom>
          <a:ln>
            <a:headEnd type="none"/>
            <a:tailEnd type="none"/>
          </a:ln>
        </p:spPr>
        <p:txBody>
          <a:bodyPr wrap="square">
            <a:spAutoFit/>
          </a:bodyPr>
          <a:lstStyle/>
          <a:p>
            <a:pPr algn="l" defTabSz="914400"/>
            <a:r>
              <a:rPr/>
              <a:t>additional </a:t>
            </a:r>
            <a:r>
              <a:rPr/>
              <a:t>part </a:t>
            </a:r>
            <a:r>
              <a:rPr/>
              <a:t>types</a:t>
            </a:r>
            <a:r>
              <a:rPr b="0" i="0" strike="noStrike" dirty="0"/>
              <a:t> </a:t>
            </a:r>
            <a:r>
              <a:rPr b="0" i="0" strike="noStrike" dirty="0"/>
              <a:t>PAGEREF </a:t>
            </a:r>
            <a:r>
              <a:rPr b="0" i="0" strike="noStrike" dirty="0"/>
              <a:t>section_728fd283b4524a14ba8c33100cf6f0889</a:t>
            </a:r>
          </a:p>
        </p:txBody>
      </p:sp>
      <p:sp>
        <p:nvSpPr>
          <p:cNvPr id="11" name="TextBox11"/>
          <p:cNvSpPr txBox="1">
            <a:spLocks noChangeArrowheads="1"/>
          </p:cNvSpPr>
          <p:nvPr/>
        </p:nvSpPr>
        <p:spPr>
          <a:xfrm rot="0">
            <a:off x="508000" y="3616960"/>
            <a:ext cx="11176000" cy="320040"/>
          </a:xfrm>
          <a:prstGeom prst="rect">
            <a:avLst/>
          </a:prstGeom>
          <a:ln>
            <a:headEnd type="none"/>
            <a:tailEnd type="none"/>
          </a:ln>
        </p:spPr>
        <p:txBody>
          <a:bodyPr wrap="square">
            <a:spAutoFit/>
          </a:bodyPr>
          <a:lstStyle/>
          <a:p>
            <a:pPr algn="l" defTabSz="914400"/>
            <a:r>
              <a:rPr/>
              <a:t>quick </a:t>
            </a:r>
            <a:r>
              <a:rPr/>
              <a:t>access </a:t>
            </a:r>
            <a:r>
              <a:rPr/>
              <a:t>toolbar </a:t>
            </a:r>
            <a:r>
              <a:rPr/>
              <a:t>customizations </a:t>
            </a:r>
            <a:r>
              <a:rPr/>
              <a:t>part</a:t>
            </a:r>
            <a:r>
              <a:rPr b="0" i="0" strike="noStrike" dirty="0"/>
              <a:t> </a:t>
            </a:r>
            <a:r>
              <a:rPr b="0" i="0" strike="noStrike" dirty="0"/>
              <a:t>PAGEREF </a:t>
            </a:r>
            <a:r>
              <a:rPr b="0" i="0" strike="noStrike" dirty="0"/>
              <a:t>section_087c607c5565418c8d31772b91d93ff39</a:t>
            </a:r>
          </a:p>
        </p:txBody>
      </p:sp>
      <p:sp>
        <p:nvSpPr>
          <p:cNvPr id="12" name="TextBox12"/>
          <p:cNvSpPr txBox="1">
            <a:spLocks noChangeArrowheads="1"/>
          </p:cNvSpPr>
          <p:nvPr/>
        </p:nvSpPr>
        <p:spPr>
          <a:xfrm rot="0">
            <a:off x="508000" y="3962400"/>
            <a:ext cx="11176000" cy="320040"/>
          </a:xfrm>
          <a:prstGeom prst="rect">
            <a:avLst/>
          </a:prstGeom>
          <a:ln>
            <a:headEnd type="none"/>
            <a:tailEnd type="none"/>
          </a:ln>
        </p:spPr>
        <p:txBody>
          <a:bodyPr wrap="square">
            <a:spAutoFit/>
          </a:bodyPr>
          <a:lstStyle/>
          <a:p>
            <a:pPr algn="l" defTabSz="914400"/>
            <a:r>
              <a:rPr/>
              <a:t>ribbon </a:t>
            </a:r>
            <a:r>
              <a:rPr/>
              <a:t>extensibility </a:t>
            </a:r>
            <a:r>
              <a:rPr/>
              <a:t>part</a:t>
            </a:r>
            <a:r>
              <a:rPr b="0" i="0" strike="noStrike" dirty="0"/>
              <a:t> </a:t>
            </a:r>
            <a:r>
              <a:rPr b="0" i="0" strike="noStrike" dirty="0"/>
              <a:t>PAGEREF </a:t>
            </a:r>
            <a:r>
              <a:rPr b="0" i="0" strike="noStrike" dirty="0"/>
              <a:t>section_52faf7b6fecc48d996dbee80a631a5ac10</a:t>
            </a:r>
          </a:p>
        </p:txBody>
      </p:sp>
      <p:sp>
        <p:nvSpPr>
          <p:cNvPr id="13" name="TextBox13"/>
          <p:cNvSpPr txBox="1">
            <a:spLocks noChangeArrowheads="1"/>
          </p:cNvSpPr>
          <p:nvPr/>
        </p:nvSpPr>
        <p:spPr>
          <a:xfrm rot="0">
            <a:off x="508000" y="4307840"/>
            <a:ext cx="11176000" cy="320040"/>
          </a:xfrm>
          <a:prstGeom prst="rect">
            <a:avLst/>
          </a:prstGeom>
          <a:ln>
            <a:headEnd type="none"/>
            <a:tailEnd type="none"/>
          </a:ln>
        </p:spPr>
        <p:txBody>
          <a:bodyPr wrap="square">
            <a:spAutoFit/>
          </a:bodyPr>
          <a:lstStyle/>
          <a:p>
            <a:pPr algn="l" defTabSz="914400"/>
            <a:r>
              <a:rPr/>
              <a:t>Product </a:t>
            </a:r>
            <a:r>
              <a:rPr/>
              <a:t>behavior</a:t>
            </a:r>
            <a:r>
              <a:rPr b="0" i="0" strike="noStrike" dirty="0"/>
              <a:t> </a:t>
            </a:r>
            <a:r>
              <a:rPr b="0" i="0" strike="noStrike" dirty="0"/>
              <a:t>PAGEREF </a:t>
            </a:r>
            <a:r>
              <a:rPr b="0" i="0" strike="noStrike" dirty="0"/>
              <a:t>section_30685057c9f24d9c82acf3274539540f522</a:t>
            </a:r>
          </a:p>
        </p:txBody>
      </p:sp>
      <p:sp>
        <p:nvSpPr>
          <p:cNvPr id="14" name="TextBox14"/>
          <p:cNvSpPr txBox="1">
            <a:spLocks noChangeArrowheads="1"/>
          </p:cNvSpPr>
          <p:nvPr/>
        </p:nvSpPr>
        <p:spPr>
          <a:xfrm rot="0">
            <a:off x="508000" y="4653280"/>
            <a:ext cx="11176000" cy="320040"/>
          </a:xfrm>
          <a:prstGeom prst="rect">
            <a:avLst/>
          </a:prstGeom>
          <a:ln>
            <a:headEnd type="none"/>
            <a:tailEnd type="none"/>
          </a:ln>
        </p:spPr>
        <p:txBody>
          <a:bodyPr wrap="square">
            <a:spAutoFit/>
          </a:bodyPr>
          <a:lstStyle/>
          <a:p>
            <a:pPr algn="l" defTabSz="914400"/>
            <a:r>
              <a:rPr b="1" i="1" strike="noStrike" dirty="0"/>
              <a:t>R</a:t>
            </a:r>
          </a:p>
        </p:txBody>
      </p:sp>
      <p:sp>
        <p:nvSpPr>
          <p:cNvPr id="15" name="TextBox15"/>
          <p:cNvSpPr txBox="1">
            <a:spLocks noChangeArrowheads="1"/>
          </p:cNvSpPr>
          <p:nvPr/>
        </p:nvSpPr>
        <p:spPr>
          <a:xfrm rot="0">
            <a:off x="508000" y="4998720"/>
            <a:ext cx="11176000" cy="320040"/>
          </a:xfrm>
          <a:prstGeom prst="rect">
            <a:avLst/>
          </a:prstGeom>
          <a:ln>
            <a:headEnd type="none"/>
            <a:tailEnd type="none"/>
          </a:ln>
        </p:spPr>
        <p:txBody>
          <a:bodyPr wrap="square">
            <a:spAutoFit/>
          </a:bodyPr>
          <a:lstStyle/>
          <a:p>
            <a:pPr algn="l" defTabSz="914400"/>
            <a:r>
              <a:rPr b="0" i="0" strike="noStrike" dirty="0"/>
              <a:t>References</a:t>
            </a:r>
          </a:p>
        </p:txBody>
      </p:sp>
      <p:sp>
        <p:nvSpPr>
          <p:cNvPr id="16" name="TextBox16"/>
          <p:cNvSpPr txBox="1">
            <a:spLocks noChangeArrowheads="1"/>
          </p:cNvSpPr>
          <p:nvPr/>
        </p:nvSpPr>
        <p:spPr>
          <a:xfrm rot="0">
            <a:off x="508000" y="5344160"/>
            <a:ext cx="11176000" cy="320040"/>
          </a:xfrm>
          <a:prstGeom prst="rect">
            <a:avLst/>
          </a:prstGeom>
          <a:ln>
            <a:headEnd type="none"/>
            <a:tailEnd type="none"/>
          </a:ln>
        </p:spPr>
        <p:txBody>
          <a:bodyPr wrap="square">
            <a:spAutoFit/>
          </a:bodyPr>
          <a:lstStyle/>
          <a:p>
            <a:pPr algn="l" defTabSz="914400"/>
            <a:r>
              <a:rPr/>
              <a:t>informative</a:t>
            </a:r>
            <a:r>
              <a:rPr b="0" i="0" strike="noStrike" dirty="0"/>
              <a:t> </a:t>
            </a:r>
            <a:r>
              <a:rPr b="0" i="0" strike="noStrike" dirty="0"/>
              <a:t>PAGEREF </a:t>
            </a:r>
            <a:r>
              <a:rPr b="0" i="0" strike="noStrike" dirty="0"/>
              <a:t>section_dbe3a851c6b94ae0ba7984f1e88432d18</a:t>
            </a:r>
          </a:p>
        </p:txBody>
      </p:sp>
      <p:sp>
        <p:nvSpPr>
          <p:cNvPr id="17" name="TextBox17"/>
          <p:cNvSpPr txBox="1">
            <a:spLocks noChangeArrowheads="1"/>
          </p:cNvSpPr>
          <p:nvPr/>
        </p:nvSpPr>
        <p:spPr>
          <a:xfrm rot="0">
            <a:off x="508000" y="5689600"/>
            <a:ext cx="11176000" cy="320040"/>
          </a:xfrm>
          <a:prstGeom prst="rect">
            <a:avLst/>
          </a:prstGeom>
          <a:ln>
            <a:headEnd type="none"/>
            <a:tailEnd type="none"/>
          </a:ln>
        </p:spPr>
        <p:txBody>
          <a:bodyPr wrap="square">
            <a:spAutoFit/>
          </a:bodyPr>
          <a:lstStyle/>
          <a:p>
            <a:pPr algn="l" defTabSz="914400"/>
            <a:r>
              <a:rPr/>
              <a:t>normative</a:t>
            </a:r>
            <a:r>
              <a:rPr b="0" i="0" strike="noStrike" dirty="0"/>
              <a:t> </a:t>
            </a:r>
            <a:r>
              <a:rPr b="0" i="0" strike="noStrike" dirty="0"/>
              <a:t>PAGEREF </a:t>
            </a:r>
            <a:r>
              <a:rPr b="0" i="0" strike="noStrike" dirty="0"/>
              <a:t>section_ea98067859b3466892052fedb66150138</a:t>
            </a:r>
          </a:p>
        </p:txBody>
      </p:sp>
    </p:spTree>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2"/>
          <p:cNvSpPr txBox="1">
            <a:spLocks noChangeArrowheads="1"/>
          </p:cNvSpPr>
          <p:nvPr/>
        </p:nvSpPr>
        <p:spPr>
          <a:xfrm rot="0">
            <a:off x="508000" y="508000"/>
            <a:ext cx="11176000" cy="320040"/>
          </a:xfrm>
          <a:prstGeom prst="rect">
            <a:avLst/>
          </a:prstGeom>
          <a:ln>
            <a:headEnd type="none"/>
            <a:tailEnd type="none"/>
          </a:ln>
        </p:spPr>
        <p:txBody>
          <a:bodyPr wrap="square">
            <a:spAutoFit/>
          </a:bodyPr>
          <a:lstStyle/>
          <a:p>
            <a:pPr algn="l" defTabSz="914400"/>
            <a:r>
              <a:rPr b="1" i="1" strike="noStrike" dirty="0"/>
              <a:t>S</a:t>
            </a:r>
          </a:p>
        </p:txBody>
      </p:sp>
      <p:sp>
        <p:nvSpPr>
          <p:cNvPr id="3" name="TextBox3"/>
          <p:cNvSpPr txBox="1">
            <a:spLocks noChangeArrowheads="1"/>
          </p:cNvSpPr>
          <p:nvPr/>
        </p:nvSpPr>
        <p:spPr>
          <a:xfrm rot="0">
            <a:off x="508000" y="853440"/>
            <a:ext cx="11176000" cy="320040"/>
          </a:xfrm>
          <a:prstGeom prst="rect">
            <a:avLst/>
          </a:prstGeom>
          <a:ln>
            <a:headEnd type="none"/>
            <a:tailEnd type="none"/>
          </a:ln>
        </p:spPr>
        <p:txBody>
          <a:bodyPr wrap="square">
            <a:spAutoFit/>
          </a:bodyPr>
          <a:lstStyle/>
          <a:p>
            <a:pPr algn="l" defTabSz="914400"/>
            <a:r>
              <a:rPr/>
              <a:t>Simple </a:t>
            </a:r>
            <a:r>
              <a:rPr/>
              <a:t>types</a:t>
            </a:r>
            <a:r>
              <a:rPr b="0" i="0" strike="noStrike" dirty="0"/>
              <a:t> </a:t>
            </a:r>
            <a:r>
              <a:rPr b="0" i="0" strike="noStrike" dirty="0"/>
              <a:t>PAGEREF </a:t>
            </a:r>
            <a:r>
              <a:rPr b="0" i="0" strike="noStrike" dirty="0"/>
              <a:t>section_869c8c9a45f84119b068f61e76d04322292</a:t>
            </a:r>
          </a:p>
        </p:txBody>
      </p:sp>
      <p:sp>
        <p:nvSpPr>
          <p:cNvPr id="4" name="TextBox4"/>
          <p:cNvSpPr txBox="1">
            <a:spLocks noChangeArrowheads="1"/>
          </p:cNvSpPr>
          <p:nvPr/>
        </p:nvSpPr>
        <p:spPr>
          <a:xfrm rot="0">
            <a:off x="508000" y="1198880"/>
            <a:ext cx="11176000" cy="320040"/>
          </a:xfrm>
          <a:prstGeom prst="rect">
            <a:avLst/>
          </a:prstGeom>
          <a:ln>
            <a:headEnd type="none"/>
            <a:tailEnd type="none"/>
          </a:ln>
        </p:spPr>
        <p:txBody>
          <a:bodyPr wrap="square">
            <a:spAutoFit/>
          </a:bodyPr>
          <a:lstStyle/>
          <a:p>
            <a:pPr algn="l" defTabSz="914400"/>
            <a:r>
              <a:rPr/>
              <a:t>ST_BoxStyle </a:t>
            </a:r>
            <a:r>
              <a:rPr/>
              <a:t>(box </a:t>
            </a:r>
            <a:r>
              <a:rPr/>
              <a:t>style)</a:t>
            </a:r>
            <a:r>
              <a:rPr b="0" i="0" strike="noStrike" dirty="0"/>
              <a:t> </a:t>
            </a:r>
            <a:r>
              <a:rPr b="0" i="0" strike="noStrike" dirty="0"/>
              <a:t>PAGEREF </a:t>
            </a:r>
            <a:r>
              <a:rPr b="0" i="0" strike="noStrike" dirty="0"/>
              <a:t>section_3a299df5af064f4f813db0043d772546292</a:t>
            </a:r>
          </a:p>
        </p:txBody>
      </p:sp>
      <p:sp>
        <p:nvSpPr>
          <p:cNvPr id="5" name="TextBox5"/>
          <p:cNvSpPr txBox="1">
            <a:spLocks noChangeArrowheads="1"/>
          </p:cNvSpPr>
          <p:nvPr/>
        </p:nvSpPr>
        <p:spPr>
          <a:xfrm rot="0">
            <a:off x="508000" y="1544320"/>
            <a:ext cx="11176000" cy="320040"/>
          </a:xfrm>
          <a:prstGeom prst="rect">
            <a:avLst/>
          </a:prstGeom>
          <a:ln>
            <a:headEnd type="none"/>
            <a:tailEnd type="none"/>
          </a:ln>
        </p:spPr>
        <p:txBody>
          <a:bodyPr wrap="square">
            <a:spAutoFit/>
          </a:bodyPr>
          <a:lstStyle/>
          <a:p>
            <a:pPr algn="l" defTabSz="914400"/>
            <a:r>
              <a:rPr/>
              <a:t>ST_Delegate </a:t>
            </a:r>
            <a:r>
              <a:rPr/>
              <a:t>(callback </a:t>
            </a:r>
            <a:r>
              <a:rPr/>
              <a:t>function </a:t>
            </a:r>
            <a:r>
              <a:rPr/>
              <a:t>name)</a:t>
            </a:r>
            <a:r>
              <a:rPr b="0" i="0" strike="noStrike" dirty="0"/>
              <a:t> </a:t>
            </a:r>
            <a:r>
              <a:rPr b="0" i="0" strike="noStrike" dirty="0"/>
              <a:t>PAGEREF </a:t>
            </a:r>
            <a:r>
              <a:rPr b="0" i="0" strike="noStrike" dirty="0"/>
              <a:t>section_188cc098eef7453e895cd96e8e99576c292</a:t>
            </a:r>
          </a:p>
        </p:txBody>
      </p:sp>
      <p:sp>
        <p:nvSpPr>
          <p:cNvPr id="6" name="TextBox6"/>
          <p:cNvSpPr txBox="1">
            <a:spLocks noChangeArrowheads="1"/>
          </p:cNvSpPr>
          <p:nvPr/>
        </p:nvSpPr>
        <p:spPr>
          <a:xfrm rot="0">
            <a:off x="508000" y="1889760"/>
            <a:ext cx="11176000" cy="640080"/>
          </a:xfrm>
          <a:prstGeom prst="rect">
            <a:avLst/>
          </a:prstGeom>
          <a:ln>
            <a:headEnd type="none"/>
            <a:tailEnd type="none"/>
          </a:ln>
        </p:spPr>
        <p:txBody>
          <a:bodyPr wrap="square">
            <a:spAutoFit/>
          </a:bodyPr>
          <a:lstStyle/>
          <a:p>
            <a:pPr algn="l" defTabSz="914400"/>
            <a:r>
              <a:rPr/>
              <a:t>ST_GalleryItemWidthHeight </a:t>
            </a:r>
            <a:r>
              <a:rPr/>
              <a:t>(gallery </a:t>
            </a:r>
            <a:r>
              <a:rPr/>
              <a:t>item </a:t>
            </a:r>
            <a:r>
              <a:rPr/>
              <a:t>width </a:t>
            </a:r>
            <a:r>
              <a:rPr/>
              <a:t>or </a:t>
            </a:r>
            <a:r>
              <a:rPr/>
              <a:t>height)</a:t>
            </a:r>
            <a:r>
              <a:rPr b="0" i="0" strike="noStrike" dirty="0"/>
              <a:t> </a:t>
            </a:r>
            <a:r>
              <a:rPr b="0" i="0" strike="noStrike" dirty="0"/>
              <a:t>PAGEREF </a:t>
            </a:r>
            <a:r>
              <a:rPr b="0" i="0" strike="noStrike" dirty="0"/>
              <a:t>section_76f0a96c409d49a5927028e9b6b7f0a4295</a:t>
            </a:r>
          </a:p>
        </p:txBody>
      </p:sp>
      <p:sp>
        <p:nvSpPr>
          <p:cNvPr id="7" name="TextBox7"/>
          <p:cNvSpPr txBox="1">
            <a:spLocks noChangeArrowheads="1"/>
          </p:cNvSpPr>
          <p:nvPr/>
        </p:nvSpPr>
        <p:spPr>
          <a:xfrm rot="0">
            <a:off x="508000" y="2555240"/>
            <a:ext cx="11176000" cy="640080"/>
          </a:xfrm>
          <a:prstGeom prst="rect">
            <a:avLst/>
          </a:prstGeom>
          <a:ln>
            <a:headEnd type="none"/>
            <a:tailEnd type="none"/>
          </a:ln>
        </p:spPr>
        <p:txBody>
          <a:bodyPr wrap="square">
            <a:spAutoFit/>
          </a:bodyPr>
          <a:lstStyle/>
          <a:p>
            <a:pPr algn="l" defTabSz="914400"/>
            <a:r>
              <a:rPr/>
              <a:t>ST_GalleryRowColumnCount </a:t>
            </a:r>
            <a:r>
              <a:rPr/>
              <a:t>(gallery </a:t>
            </a:r>
            <a:r>
              <a:rPr/>
              <a:t>row </a:t>
            </a:r>
            <a:r>
              <a:rPr/>
              <a:t>or </a:t>
            </a:r>
            <a:r>
              <a:rPr/>
              <a:t>column </a:t>
            </a:r>
            <a:r>
              <a:rPr/>
              <a:t>count)</a:t>
            </a:r>
            <a:r>
              <a:rPr b="0" i="0" strike="noStrike" dirty="0"/>
              <a:t> </a:t>
            </a:r>
            <a:r>
              <a:rPr b="0" i="0" strike="noStrike" dirty="0"/>
              <a:t>PAGEREF </a:t>
            </a:r>
            <a:r>
              <a:rPr b="0" i="0" strike="noStrike" dirty="0"/>
              <a:t>section_b09148682e5949dd96cfdf995849a1bf295</a:t>
            </a:r>
          </a:p>
        </p:txBody>
      </p:sp>
      <p:sp>
        <p:nvSpPr>
          <p:cNvPr id="8" name="TextBox8"/>
          <p:cNvSpPr txBox="1">
            <a:spLocks noChangeArrowheads="1"/>
          </p:cNvSpPr>
          <p:nvPr/>
        </p:nvSpPr>
        <p:spPr>
          <a:xfrm rot="0">
            <a:off x="508000" y="3220720"/>
            <a:ext cx="11176000" cy="320040"/>
          </a:xfrm>
          <a:prstGeom prst="rect">
            <a:avLst/>
          </a:prstGeom>
          <a:ln>
            <a:headEnd type="none"/>
            <a:tailEnd type="none"/>
          </a:ln>
        </p:spPr>
        <p:txBody>
          <a:bodyPr wrap="square">
            <a:spAutoFit/>
          </a:bodyPr>
          <a:lstStyle/>
          <a:p>
            <a:pPr algn="l" defTabSz="914400"/>
            <a:r>
              <a:rPr/>
              <a:t>ST_ID </a:t>
            </a:r>
            <a:r>
              <a:rPr/>
              <a:t>(control </a:t>
            </a:r>
            <a:r>
              <a:rPr/>
              <a:t>identifier)</a:t>
            </a:r>
            <a:r>
              <a:rPr b="0" i="0" strike="noStrike" dirty="0"/>
              <a:t> </a:t>
            </a:r>
            <a:r>
              <a:rPr b="0" i="0" strike="noStrike" dirty="0"/>
              <a:t>PAGEREF </a:t>
            </a:r>
            <a:r>
              <a:rPr b="0" i="0" strike="noStrike" dirty="0"/>
              <a:t>section_18fbbd72e04f48148f9a45b2c4cc8393296</a:t>
            </a:r>
          </a:p>
        </p:txBody>
      </p:sp>
      <p:sp>
        <p:nvSpPr>
          <p:cNvPr id="9" name="TextBox9"/>
          <p:cNvSpPr txBox="1">
            <a:spLocks noChangeArrowheads="1"/>
          </p:cNvSpPr>
          <p:nvPr/>
        </p:nvSpPr>
        <p:spPr>
          <a:xfrm rot="0">
            <a:off x="508000" y="3566160"/>
            <a:ext cx="11176000" cy="320040"/>
          </a:xfrm>
          <a:prstGeom prst="rect">
            <a:avLst/>
          </a:prstGeom>
          <a:ln>
            <a:headEnd type="none"/>
            <a:tailEnd type="none"/>
          </a:ln>
        </p:spPr>
        <p:txBody>
          <a:bodyPr wrap="square">
            <a:spAutoFit/>
          </a:bodyPr>
          <a:lstStyle/>
          <a:p>
            <a:pPr algn="l" defTabSz="914400"/>
            <a:r>
              <a:rPr/>
              <a:t>ST_ItemSize </a:t>
            </a:r>
            <a:r>
              <a:rPr/>
              <a:t>(menu </a:t>
            </a:r>
            <a:r>
              <a:rPr/>
              <a:t>item </a:t>
            </a:r>
            <a:r>
              <a:rPr/>
              <a:t>size)</a:t>
            </a:r>
            <a:r>
              <a:rPr b="0" i="0" strike="noStrike" dirty="0"/>
              <a:t> </a:t>
            </a:r>
            <a:r>
              <a:rPr b="0" i="0" strike="noStrike" dirty="0"/>
              <a:t>PAGEREF </a:t>
            </a:r>
            <a:r>
              <a:rPr b="0" i="0" strike="noStrike" dirty="0"/>
              <a:t>section_c65c8b6052e5404dad5a8c09627c60eb297</a:t>
            </a:r>
          </a:p>
        </p:txBody>
      </p:sp>
      <p:sp>
        <p:nvSpPr>
          <p:cNvPr id="10" name="TextBox10"/>
          <p:cNvSpPr txBox="1">
            <a:spLocks noChangeArrowheads="1"/>
          </p:cNvSpPr>
          <p:nvPr/>
        </p:nvSpPr>
        <p:spPr>
          <a:xfrm rot="0">
            <a:off x="508000" y="3911600"/>
            <a:ext cx="11176000" cy="320040"/>
          </a:xfrm>
          <a:prstGeom prst="rect">
            <a:avLst/>
          </a:prstGeom>
          <a:ln>
            <a:headEnd type="none"/>
            <a:tailEnd type="none"/>
          </a:ln>
        </p:spPr>
        <p:txBody>
          <a:bodyPr wrap="square">
            <a:spAutoFit/>
          </a:bodyPr>
          <a:lstStyle/>
          <a:p>
            <a:pPr algn="l" defTabSz="914400"/>
            <a:r>
              <a:rPr/>
              <a:t>ST_Keytip </a:t>
            </a:r>
            <a:r>
              <a:rPr/>
              <a:t>(key </a:t>
            </a:r>
            <a:r>
              <a:rPr/>
              <a:t>tip)</a:t>
            </a:r>
            <a:r>
              <a:rPr b="0" i="0" strike="noStrike" dirty="0"/>
              <a:t> </a:t>
            </a:r>
            <a:r>
              <a:rPr b="0" i="0" strike="noStrike" dirty="0"/>
              <a:t>PAGEREF </a:t>
            </a:r>
            <a:r>
              <a:rPr b="0" i="0" strike="noStrike" dirty="0"/>
              <a:t>section_78170415e2fa4fc0899a76096fdc6aa6297</a:t>
            </a:r>
          </a:p>
        </p:txBody>
      </p:sp>
      <p:sp>
        <p:nvSpPr>
          <p:cNvPr id="11" name="TextBox11"/>
          <p:cNvSpPr txBox="1">
            <a:spLocks noChangeArrowheads="1"/>
          </p:cNvSpPr>
          <p:nvPr/>
        </p:nvSpPr>
        <p:spPr>
          <a:xfrm rot="0">
            <a:off x="508000" y="4257040"/>
            <a:ext cx="11176000" cy="320040"/>
          </a:xfrm>
          <a:prstGeom prst="rect">
            <a:avLst/>
          </a:prstGeom>
          <a:ln>
            <a:headEnd type="none"/>
            <a:tailEnd type="none"/>
          </a:ln>
        </p:spPr>
        <p:txBody>
          <a:bodyPr wrap="square">
            <a:spAutoFit/>
          </a:bodyPr>
          <a:lstStyle/>
          <a:p>
            <a:pPr algn="l" defTabSz="914400"/>
            <a:r>
              <a:rPr/>
              <a:t>ST_LongString </a:t>
            </a:r>
            <a:r>
              <a:rPr/>
              <a:t>(long </a:t>
            </a:r>
            <a:r>
              <a:rPr/>
              <a:t>string)</a:t>
            </a:r>
            <a:r>
              <a:rPr b="0" i="0" strike="noStrike" dirty="0"/>
              <a:t> </a:t>
            </a:r>
            <a:r>
              <a:rPr b="0" i="0" strike="noStrike" dirty="0"/>
              <a:t>PAGEREF </a:t>
            </a:r>
            <a:r>
              <a:rPr b="0" i="0" strike="noStrike" dirty="0"/>
              <a:t>section_94ee0d879533413ebf87bbee57270f7e298</a:t>
            </a:r>
          </a:p>
        </p:txBody>
      </p:sp>
      <p:sp>
        <p:nvSpPr>
          <p:cNvPr id="12" name="TextBox12"/>
          <p:cNvSpPr txBox="1">
            <a:spLocks noChangeArrowheads="1"/>
          </p:cNvSpPr>
          <p:nvPr/>
        </p:nvSpPr>
        <p:spPr>
          <a:xfrm rot="0">
            <a:off x="508000" y="4602480"/>
            <a:ext cx="11176000" cy="320040"/>
          </a:xfrm>
          <a:prstGeom prst="rect">
            <a:avLst/>
          </a:prstGeom>
          <a:ln>
            <a:headEnd type="none"/>
            <a:tailEnd type="none"/>
          </a:ln>
        </p:spPr>
        <p:txBody>
          <a:bodyPr wrap="square">
            <a:spAutoFit/>
          </a:bodyPr>
          <a:lstStyle/>
          <a:p>
            <a:pPr algn="l" defTabSz="914400"/>
            <a:r>
              <a:rPr/>
              <a:t>ST_QID </a:t>
            </a:r>
            <a:r>
              <a:rPr/>
              <a:t>(qualified </a:t>
            </a:r>
            <a:r>
              <a:rPr/>
              <a:t>control </a:t>
            </a:r>
            <a:r>
              <a:rPr/>
              <a:t>identifier)</a:t>
            </a:r>
            <a:r>
              <a:rPr b="0" i="0" strike="noStrike" dirty="0"/>
              <a:t> </a:t>
            </a:r>
            <a:r>
              <a:rPr b="0" i="0" strike="noStrike" dirty="0"/>
              <a:t>PAGEREF </a:t>
            </a:r>
            <a:r>
              <a:rPr b="0" i="0" strike="noStrike" dirty="0"/>
              <a:t>section_7c80b304b2f8432a83ee7f8ec792af0c298</a:t>
            </a:r>
          </a:p>
        </p:txBody>
      </p:sp>
      <p:sp>
        <p:nvSpPr>
          <p:cNvPr id="13" name="TextBox13"/>
          <p:cNvSpPr txBox="1">
            <a:spLocks noChangeArrowheads="1"/>
          </p:cNvSpPr>
          <p:nvPr/>
        </p:nvSpPr>
        <p:spPr>
          <a:xfrm rot="0">
            <a:off x="508000" y="4947920"/>
            <a:ext cx="11176000" cy="320040"/>
          </a:xfrm>
          <a:prstGeom prst="rect">
            <a:avLst/>
          </a:prstGeom>
          <a:ln>
            <a:headEnd type="none"/>
            <a:tailEnd type="none"/>
          </a:ln>
        </p:spPr>
        <p:txBody>
          <a:bodyPr wrap="square">
            <a:spAutoFit/>
          </a:bodyPr>
          <a:lstStyle/>
          <a:p>
            <a:pPr algn="l" defTabSz="914400"/>
            <a:r>
              <a:rPr/>
              <a:t>ST_Size </a:t>
            </a:r>
            <a:r>
              <a:rPr/>
              <a:t>(control </a:t>
            </a:r>
            <a:r>
              <a:rPr/>
              <a:t>size)</a:t>
            </a:r>
            <a:r>
              <a:rPr b="0" i="0" strike="noStrike" dirty="0"/>
              <a:t> </a:t>
            </a:r>
            <a:r>
              <a:rPr b="0" i="0" strike="noStrike" dirty="0"/>
              <a:t>PAGEREF </a:t>
            </a:r>
            <a:r>
              <a:rPr b="0" i="0" strike="noStrike" dirty="0"/>
              <a:t>section_acf53d2ea68046de946752a2f4a51631300</a:t>
            </a:r>
          </a:p>
        </p:txBody>
      </p:sp>
      <p:sp>
        <p:nvSpPr>
          <p:cNvPr id="14" name="TextBox14"/>
          <p:cNvSpPr txBox="1">
            <a:spLocks noChangeArrowheads="1"/>
          </p:cNvSpPr>
          <p:nvPr/>
        </p:nvSpPr>
        <p:spPr>
          <a:xfrm rot="0">
            <a:off x="508000" y="5293360"/>
            <a:ext cx="11176000" cy="320040"/>
          </a:xfrm>
          <a:prstGeom prst="rect">
            <a:avLst/>
          </a:prstGeom>
          <a:ln>
            <a:headEnd type="none"/>
            <a:tailEnd type="none"/>
          </a:ln>
        </p:spPr>
        <p:txBody>
          <a:bodyPr wrap="square">
            <a:spAutoFit/>
          </a:bodyPr>
          <a:lstStyle/>
          <a:p>
            <a:pPr algn="l" defTabSz="914400"/>
            <a:r>
              <a:rPr/>
              <a:t>ST_String </a:t>
            </a:r>
            <a:r>
              <a:rPr/>
              <a:t>(short </a:t>
            </a:r>
            <a:r>
              <a:rPr/>
              <a:t>string)</a:t>
            </a:r>
            <a:r>
              <a:rPr b="0" i="0" strike="noStrike" dirty="0"/>
              <a:t> </a:t>
            </a:r>
            <a:r>
              <a:rPr b="0" i="0" strike="noStrike" dirty="0"/>
              <a:t>PAGEREF </a:t>
            </a:r>
            <a:r>
              <a:rPr b="0" i="0" strike="noStrike" dirty="0"/>
              <a:t>section_d104fcb261774eb9a4000a5f8ddcd539301</a:t>
            </a:r>
          </a:p>
        </p:txBody>
      </p:sp>
      <p:sp>
        <p:nvSpPr>
          <p:cNvPr id="15" name="TextBox15"/>
          <p:cNvSpPr txBox="1">
            <a:spLocks noChangeArrowheads="1"/>
          </p:cNvSpPr>
          <p:nvPr/>
        </p:nvSpPr>
        <p:spPr>
          <a:xfrm rot="0">
            <a:off x="508000" y="5638800"/>
            <a:ext cx="11176000" cy="320040"/>
          </a:xfrm>
          <a:prstGeom prst="rect">
            <a:avLst/>
          </a:prstGeom>
          <a:ln>
            <a:headEnd type="none"/>
            <a:tailEnd type="none"/>
          </a:ln>
        </p:spPr>
        <p:txBody>
          <a:bodyPr wrap="square">
            <a:spAutoFit/>
          </a:bodyPr>
          <a:lstStyle/>
          <a:p>
            <a:pPr algn="l" defTabSz="914400"/>
            <a:r>
              <a:rPr/>
              <a:t>ST_StringLength </a:t>
            </a:r>
            <a:r>
              <a:rPr/>
              <a:t>(string </a:t>
            </a:r>
            <a:r>
              <a:rPr/>
              <a:t>length)</a:t>
            </a:r>
            <a:r>
              <a:rPr b="0" i="0" strike="noStrike" dirty="0"/>
              <a:t> </a:t>
            </a:r>
            <a:r>
              <a:rPr b="0" i="0" strike="noStrike" dirty="0"/>
              <a:t>PAGEREF </a:t>
            </a:r>
            <a:r>
              <a:rPr b="0" i="0" strike="noStrike" dirty="0"/>
              <a:t>section_4a327c6229ec496e935fa1aa77d26d5e302</a:t>
            </a:r>
          </a:p>
        </p:txBody>
      </p:sp>
      <p:sp>
        <p:nvSpPr>
          <p:cNvPr id="16" name="SyncfusionLicense"/>
          <p:cNvSpPr txBox="1">
            <a:spLocks noChangeArrowheads="1"/>
          </p:cNvSpPr>
          <p:nvPr/>
        </p:nvSpPr>
        <p:spPr>
          <a:xfrm rot="0">
            <a:off x="0" y="5715000"/>
            <a:ext cx="12192000" cy="1143000"/>
          </a:xfrm>
          <a:prstGeom prst="rect">
            <a:avLst/>
          </a:prstGeom>
          <a:solidFill>
            <a:srgbClr val="FFFFFF"/>
          </a:solidFill>
          <a:ln>
            <a:headEnd type="none"/>
            <a:tailEnd type="none"/>
          </a:ln>
        </p:spPr>
        <p:txBody>
          <a:bodyPr anchor="ctr" wrap="square">
            <a:spAutoFit/>
          </a:bodyPr>
          <a:lstStyle/>
          <a:p>
            <a:pPr algn="ctr" defTabSz="914400">
              <a:defRPr sz="1800" dirty="0">
                <a:solidFill>
                  <a:srgbClr val="FF0000"/>
                </a:solidFill>
              </a:defRPr>
            </a:pPr>
            <a:r>
              <a:rPr/>
              <a:t>Created with a trial version of Syncfusion PowerPoint library or registered the wrong key in your application. Click </a:t>
            </a:r>
            <a:r>
              <a:rPr dirty="0">
                <a:solidFill>
                  <a:srgbClr val="0000FF"/>
                </a:solidFill>
                <a:hlinkClick r:id="rId2" action="ppaction://hlinkfile">
                  <a:extLst>
                    <a:ext uri="{A12FA001-AC4F-418D-AE19-62706E023703}">
                      <ahyp:hlinkClr xmlns:ahyp="http://schemas.microsoft.com/office/drawing/2018/hyperlinkcolor" val="tx"/>
                    </a:ext>
                  </a:extLst>
                </a:hlinkClick>
              </a:rPr>
              <a:t>here</a:t>
            </a:r>
            <a:r>
              <a:rPr/>
              <a:t> to obtain the valid key.</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docProps/app.xml><?xml version="1.0" encoding="utf-8"?>
<Properties xmlns="http://schemas.openxmlformats.org/officeDocument/2006/extended-properties">
  <Application>Essential Presentation</Application>
  <Characters>0</Characters>
  <Lines>0</Lines>
  <MMClips>0</MMClips>
  <Notes>0</Notes>
  <Pages>0</Pages>
  <Paragraphs>0</Paragraphs>
  <HiddenSlides>0</HiddenSlides>
  <LinksUpToDate>false</LinksUpToDate>
  <ScaleCrop>false</ScaleCrop>
  <Slides>0</Slides>
  <TotalTime>0</TotalTime>
  <Words>0</Words>
  <AppVersion>16.0000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erms:modified xsi:type="dcterms:W3CDTF">2026-07-29T12:31:42Z</dcterms:modified>
</cp:coreProperties>
</file>